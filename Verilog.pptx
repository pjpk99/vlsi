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176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165.xml" ContentType="application/vnd.openxmlformats-officedocument.presentationml.slide+xml"/>
  <Override PartName="/ppt/slides/slide183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72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188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s/slide166.xml" ContentType="application/vnd.openxmlformats-officedocument.presentationml.slide+xml"/>
  <Override PartName="/ppt/slides/slide177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55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slides/slide162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s/slide180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78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slides/slide167.xml" ContentType="application/vnd.openxmlformats-officedocument.presentationml.slide+xml"/>
  <Override PartName="/ppt/slides/slide185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74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s/slide18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17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186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8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2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91" r:id="rId13"/>
    <p:sldId id="267" r:id="rId14"/>
    <p:sldId id="290" r:id="rId15"/>
    <p:sldId id="268" r:id="rId16"/>
    <p:sldId id="303" r:id="rId17"/>
    <p:sldId id="304" r:id="rId18"/>
    <p:sldId id="269" r:id="rId19"/>
    <p:sldId id="310" r:id="rId20"/>
    <p:sldId id="296" r:id="rId21"/>
    <p:sldId id="297" r:id="rId22"/>
    <p:sldId id="298" r:id="rId23"/>
    <p:sldId id="270" r:id="rId24"/>
    <p:sldId id="271" r:id="rId25"/>
    <p:sldId id="311" r:id="rId26"/>
    <p:sldId id="272" r:id="rId27"/>
    <p:sldId id="295" r:id="rId28"/>
    <p:sldId id="273" r:id="rId29"/>
    <p:sldId id="302" r:id="rId30"/>
    <p:sldId id="274" r:id="rId31"/>
    <p:sldId id="275" r:id="rId32"/>
    <p:sldId id="313" r:id="rId33"/>
    <p:sldId id="471" r:id="rId34"/>
    <p:sldId id="305" r:id="rId35"/>
    <p:sldId id="306" r:id="rId36"/>
    <p:sldId id="307" r:id="rId37"/>
    <p:sldId id="316" r:id="rId38"/>
    <p:sldId id="314" r:id="rId39"/>
    <p:sldId id="317" r:id="rId40"/>
    <p:sldId id="318" r:id="rId41"/>
    <p:sldId id="319" r:id="rId42"/>
    <p:sldId id="320" r:id="rId43"/>
    <p:sldId id="322" r:id="rId44"/>
    <p:sldId id="323" r:id="rId45"/>
    <p:sldId id="308" r:id="rId46"/>
    <p:sldId id="324" r:id="rId47"/>
    <p:sldId id="326" r:id="rId48"/>
    <p:sldId id="277" r:id="rId49"/>
    <p:sldId id="278" r:id="rId50"/>
    <p:sldId id="279" r:id="rId51"/>
    <p:sldId id="280" r:id="rId52"/>
    <p:sldId id="282" r:id="rId53"/>
    <p:sldId id="283" r:id="rId54"/>
    <p:sldId id="284" r:id="rId55"/>
    <p:sldId id="286" r:id="rId56"/>
    <p:sldId id="285" r:id="rId57"/>
    <p:sldId id="281" r:id="rId58"/>
    <p:sldId id="287" r:id="rId59"/>
    <p:sldId id="288" r:id="rId60"/>
    <p:sldId id="289" r:id="rId61"/>
    <p:sldId id="327" r:id="rId62"/>
    <p:sldId id="328" r:id="rId63"/>
    <p:sldId id="299" r:id="rId64"/>
    <p:sldId id="300" r:id="rId65"/>
    <p:sldId id="329" r:id="rId66"/>
    <p:sldId id="330" r:id="rId67"/>
    <p:sldId id="331" r:id="rId68"/>
    <p:sldId id="332" r:id="rId69"/>
    <p:sldId id="333" r:id="rId70"/>
    <p:sldId id="301" r:id="rId71"/>
    <p:sldId id="334" r:id="rId72"/>
    <p:sldId id="344" r:id="rId73"/>
    <p:sldId id="345" r:id="rId74"/>
    <p:sldId id="342" r:id="rId75"/>
    <p:sldId id="337" r:id="rId76"/>
    <p:sldId id="338" r:id="rId77"/>
    <p:sldId id="340" r:id="rId78"/>
    <p:sldId id="339" r:id="rId79"/>
    <p:sldId id="343" r:id="rId80"/>
    <p:sldId id="346" r:id="rId81"/>
    <p:sldId id="335" r:id="rId82"/>
    <p:sldId id="347" r:id="rId83"/>
    <p:sldId id="348" r:id="rId84"/>
    <p:sldId id="349" r:id="rId85"/>
    <p:sldId id="350" r:id="rId86"/>
    <p:sldId id="355" r:id="rId87"/>
    <p:sldId id="357" r:id="rId88"/>
    <p:sldId id="356" r:id="rId89"/>
    <p:sldId id="358" r:id="rId90"/>
    <p:sldId id="359" r:id="rId91"/>
    <p:sldId id="360" r:id="rId92"/>
    <p:sldId id="361" r:id="rId93"/>
    <p:sldId id="366" r:id="rId94"/>
    <p:sldId id="473" r:id="rId95"/>
    <p:sldId id="472" r:id="rId96"/>
    <p:sldId id="362" r:id="rId97"/>
    <p:sldId id="363" r:id="rId98"/>
    <p:sldId id="369" r:id="rId99"/>
    <p:sldId id="365" r:id="rId100"/>
    <p:sldId id="370" r:id="rId101"/>
    <p:sldId id="371" r:id="rId102"/>
    <p:sldId id="364" r:id="rId103"/>
    <p:sldId id="372" r:id="rId104"/>
    <p:sldId id="373" r:id="rId105"/>
    <p:sldId id="367" r:id="rId106"/>
    <p:sldId id="374" r:id="rId107"/>
    <p:sldId id="375" r:id="rId108"/>
    <p:sldId id="376" r:id="rId109"/>
    <p:sldId id="385" r:id="rId110"/>
    <p:sldId id="377" r:id="rId111"/>
    <p:sldId id="378" r:id="rId112"/>
    <p:sldId id="381" r:id="rId113"/>
    <p:sldId id="382" r:id="rId114"/>
    <p:sldId id="383" r:id="rId115"/>
    <p:sldId id="384" r:id="rId116"/>
    <p:sldId id="386" r:id="rId117"/>
    <p:sldId id="387" r:id="rId118"/>
    <p:sldId id="380" r:id="rId119"/>
    <p:sldId id="388" r:id="rId120"/>
    <p:sldId id="393" r:id="rId121"/>
    <p:sldId id="389" r:id="rId122"/>
    <p:sldId id="390" r:id="rId123"/>
    <p:sldId id="391" r:id="rId124"/>
    <p:sldId id="394" r:id="rId125"/>
    <p:sldId id="395" r:id="rId126"/>
    <p:sldId id="392" r:id="rId127"/>
    <p:sldId id="397" r:id="rId128"/>
    <p:sldId id="401" r:id="rId129"/>
    <p:sldId id="399" r:id="rId130"/>
    <p:sldId id="400" r:id="rId131"/>
    <p:sldId id="402" r:id="rId132"/>
    <p:sldId id="403" r:id="rId133"/>
    <p:sldId id="404" r:id="rId134"/>
    <p:sldId id="398" r:id="rId135"/>
    <p:sldId id="406" r:id="rId136"/>
    <p:sldId id="412" r:id="rId137"/>
    <p:sldId id="407" r:id="rId138"/>
    <p:sldId id="405" r:id="rId139"/>
    <p:sldId id="411" r:id="rId140"/>
    <p:sldId id="409" r:id="rId141"/>
    <p:sldId id="413" r:id="rId142"/>
    <p:sldId id="414" r:id="rId143"/>
    <p:sldId id="410" r:id="rId144"/>
    <p:sldId id="415" r:id="rId145"/>
    <p:sldId id="418" r:id="rId146"/>
    <p:sldId id="419" r:id="rId147"/>
    <p:sldId id="416" r:id="rId148"/>
    <p:sldId id="417" r:id="rId149"/>
    <p:sldId id="420" r:id="rId150"/>
    <p:sldId id="421" r:id="rId151"/>
    <p:sldId id="422" r:id="rId152"/>
    <p:sldId id="423" r:id="rId153"/>
    <p:sldId id="424" r:id="rId154"/>
    <p:sldId id="426" r:id="rId155"/>
    <p:sldId id="425" r:id="rId156"/>
    <p:sldId id="427" r:id="rId157"/>
    <p:sldId id="431" r:id="rId158"/>
    <p:sldId id="428" r:id="rId159"/>
    <p:sldId id="430" r:id="rId160"/>
    <p:sldId id="432" r:id="rId161"/>
    <p:sldId id="433" r:id="rId162"/>
    <p:sldId id="434" r:id="rId163"/>
    <p:sldId id="437" r:id="rId164"/>
    <p:sldId id="436" r:id="rId165"/>
    <p:sldId id="435" r:id="rId166"/>
    <p:sldId id="438" r:id="rId167"/>
    <p:sldId id="439" r:id="rId168"/>
    <p:sldId id="440" r:id="rId169"/>
    <p:sldId id="441" r:id="rId170"/>
    <p:sldId id="442" r:id="rId171"/>
    <p:sldId id="443" r:id="rId172"/>
    <p:sldId id="445" r:id="rId173"/>
    <p:sldId id="446" r:id="rId174"/>
    <p:sldId id="447" r:id="rId175"/>
    <p:sldId id="448" r:id="rId176"/>
    <p:sldId id="450" r:id="rId177"/>
    <p:sldId id="451" r:id="rId178"/>
    <p:sldId id="452" r:id="rId179"/>
    <p:sldId id="460" r:id="rId180"/>
    <p:sldId id="461" r:id="rId181"/>
    <p:sldId id="462" r:id="rId182"/>
    <p:sldId id="463" r:id="rId183"/>
    <p:sldId id="464" r:id="rId184"/>
    <p:sldId id="465" r:id="rId185"/>
    <p:sldId id="467" r:id="rId186"/>
    <p:sldId id="444" r:id="rId187"/>
    <p:sldId id="469" r:id="rId188"/>
    <p:sldId id="468" r:id="rId189"/>
    <p:sldId id="470" r:id="rId1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87" autoAdjust="0"/>
    <p:restoredTop sz="94624" autoAdjust="0"/>
  </p:normalViewPr>
  <p:slideViewPr>
    <p:cSldViewPr>
      <p:cViewPr varScale="1">
        <p:scale>
          <a:sx n="66" d="100"/>
          <a:sy n="66" d="100"/>
        </p:scale>
        <p:origin x="-15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91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93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16F4-30E0-459E-98F0-323F9F4A6D2B}" type="datetimeFigureOut">
              <a:rPr lang="en-US" smtClean="0"/>
              <a:pPr/>
              <a:t>11-Oct-24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43434-629D-41BB-829C-3AAE8C3DF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hyperlink" Target="http://bravelearn.com/wp-content/uploads/2017/01/mux_bl.jpg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gi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gif"/><Relationship Id="rId2" Type="http://schemas.openxmlformats.org/officeDocument/2006/relationships/image" Target="../media/image99.gif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gif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jpeg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Verilog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1800" dirty="0" err="1"/>
              <a:t>Verilog</a:t>
            </a:r>
            <a:r>
              <a:rPr lang="en-US" sz="1800" dirty="0"/>
              <a:t> HDL originated in 1983 at Gateway Design Automation.</a:t>
            </a:r>
            <a:endParaRPr lang="en-US" sz="1800" dirty="0" smtClean="0"/>
          </a:p>
          <a:p>
            <a:r>
              <a:rPr lang="en-US" sz="1800" dirty="0" smtClean="0"/>
              <a:t>HDL are </a:t>
            </a:r>
            <a:r>
              <a:rPr lang="en-US" sz="1800" dirty="0"/>
              <a:t>popular for logic </a:t>
            </a:r>
            <a:r>
              <a:rPr lang="en-US" sz="1800" dirty="0" smtClean="0"/>
              <a:t>verification</a:t>
            </a:r>
          </a:p>
          <a:p>
            <a:r>
              <a:rPr lang="en-US" sz="1800" dirty="0" smtClean="0"/>
              <a:t>Designers  manually translate </a:t>
            </a:r>
            <a:r>
              <a:rPr lang="en-US" sz="1800" dirty="0"/>
              <a:t>the HDL-based design into a schematic circuit with </a:t>
            </a:r>
            <a:r>
              <a:rPr lang="en-US" sz="1800" dirty="0" smtClean="0"/>
              <a:t>interconnections between gates</a:t>
            </a:r>
          </a:p>
          <a:p>
            <a:r>
              <a:rPr lang="en-US" sz="1800" dirty="0"/>
              <a:t>Digital circuits could be described at a register transfer level (RTL) by use </a:t>
            </a:r>
            <a:r>
              <a:rPr lang="en-US" sz="1800" dirty="0" smtClean="0"/>
              <a:t>of an </a:t>
            </a:r>
            <a:r>
              <a:rPr lang="en-US" sz="1800" dirty="0"/>
              <a:t>HDL</a:t>
            </a:r>
            <a:r>
              <a:rPr lang="en-US" sz="1800" dirty="0" smtClean="0"/>
              <a:t>.</a:t>
            </a:r>
          </a:p>
          <a:p>
            <a:r>
              <a:rPr lang="en-US" sz="1800" dirty="0"/>
              <a:t>The details of gates and their interconnections </a:t>
            </a:r>
            <a:r>
              <a:rPr lang="en-US" sz="1800" dirty="0" smtClean="0"/>
              <a:t>to implement </a:t>
            </a:r>
            <a:r>
              <a:rPr lang="en-US" sz="1800" dirty="0"/>
              <a:t>the circuit were automatically extracted by logic synthesis tools from the </a:t>
            </a:r>
            <a:r>
              <a:rPr lang="en-US" sz="1800" dirty="0" smtClean="0"/>
              <a:t>RTL description</a:t>
            </a:r>
            <a:r>
              <a:rPr lang="en-US" sz="1800" dirty="0"/>
              <a:t>.</a:t>
            </a:r>
            <a:endParaRPr lang="en-US" sz="1800" dirty="0" smtClean="0"/>
          </a:p>
          <a:p>
            <a:r>
              <a:rPr lang="en-US" sz="1800" dirty="0" err="1" smtClean="0"/>
              <a:t>Verilog</a:t>
            </a:r>
            <a:r>
              <a:rPr lang="en-US" sz="1800" dirty="0" smtClean="0"/>
              <a:t> standardized as IEEE 1364</a:t>
            </a:r>
          </a:p>
          <a:p>
            <a:r>
              <a:rPr lang="en-US" sz="1800" dirty="0"/>
              <a:t>HDLs also began to be used for system-level </a:t>
            </a:r>
            <a:r>
              <a:rPr lang="en-US" sz="1800" dirty="0" smtClean="0"/>
              <a:t>design -</a:t>
            </a:r>
            <a:r>
              <a:rPr lang="en-US" sz="1800" dirty="0" smtClean="0">
                <a:sym typeface="Wingdings" pitchFamily="2" charset="2"/>
              </a:rPr>
              <a:t> ASIC / FPGA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VHDL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Verilog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VHDL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Verilog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Library and Package requires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library and Package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Case in-sensitive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Case Sensitive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Similar</a:t>
                      </a:r>
                      <a:r>
                        <a:rPr lang="en-US" baseline="0" dirty="0" smtClean="0"/>
                        <a:t> to ADA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Similar to 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IEEE 1164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IEEE 1364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7106" name="Picture 2" descr="VHDL vs. Verilog: Which language should you learn fir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810000"/>
            <a:ext cx="7924800" cy="2562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4038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VLSI Design </a:t>
            </a:r>
            <a:r>
              <a:rPr lang="en-US" b="1" dirty="0"/>
              <a:t>Flow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304800"/>
            <a:ext cx="405765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6200" y="9906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Specifications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functionality</a:t>
            </a:r>
            <a:r>
              <a:rPr lang="en-US" dirty="0"/>
              <a:t>, interface, and overall architecture of the digital circuit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752600"/>
            <a:ext cx="472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behavioral </a:t>
            </a:r>
            <a:r>
              <a:rPr lang="en-US" dirty="0" smtClean="0"/>
              <a:t>description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analyze </a:t>
            </a:r>
            <a:r>
              <a:rPr lang="en-US" dirty="0"/>
              <a:t>the design in terms of </a:t>
            </a:r>
            <a:r>
              <a:rPr lang="en-US" dirty="0" smtClean="0"/>
              <a:t>functionality performance, compliance  </a:t>
            </a:r>
            <a:r>
              <a:rPr lang="en-US" dirty="0"/>
              <a:t>to </a:t>
            </a:r>
            <a:r>
              <a:rPr lang="en-US" dirty="0" smtClean="0"/>
              <a:t>standards </a:t>
            </a:r>
            <a:r>
              <a:rPr lang="en-US" dirty="0"/>
              <a:t>and other high-level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8588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behavioral description is manually converted to an RTL description in an HDL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Design </a:t>
            </a:r>
            <a:r>
              <a:rPr lang="en-US" b="1" dirty="0" smtClean="0"/>
              <a:t>Methodologies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810000"/>
            <a:ext cx="664115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6200" y="2200870"/>
            <a:ext cx="800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define </a:t>
            </a:r>
            <a:r>
              <a:rPr lang="en-US" dirty="0" smtClean="0"/>
              <a:t>the top-level </a:t>
            </a:r>
            <a:r>
              <a:rPr lang="en-US" dirty="0"/>
              <a:t>block and identify the sub-blocks necessary to build the </a:t>
            </a:r>
            <a:r>
              <a:rPr lang="en-US" dirty="0" smtClean="0"/>
              <a:t>top-level block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further subdivide the sub-blocks until we come to leaf </a:t>
            </a:r>
            <a:r>
              <a:rPr lang="en-US" dirty="0" smtClean="0"/>
              <a:t>cells</a:t>
            </a:r>
          </a:p>
          <a:p>
            <a:r>
              <a:rPr lang="en-US" dirty="0" smtClean="0"/>
              <a:t> </a:t>
            </a:r>
            <a:r>
              <a:rPr lang="en-US" dirty="0"/>
              <a:t>which are </a:t>
            </a:r>
            <a:r>
              <a:rPr lang="en-US" dirty="0" smtClean="0"/>
              <a:t>the cells </a:t>
            </a:r>
            <a:r>
              <a:rPr lang="en-US" dirty="0"/>
              <a:t>that cannot further be divided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-47309" y="1676400"/>
            <a:ext cx="31715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Top-down Design Methodology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990600"/>
            <a:ext cx="3255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Bottom-up Design Methodology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44780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first identify the building blocks that </a:t>
            </a:r>
            <a:r>
              <a:rPr lang="en-US" dirty="0" smtClean="0"/>
              <a:t>are available </a:t>
            </a:r>
            <a:r>
              <a:rPr lang="en-US" dirty="0"/>
              <a:t>to us.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build bigger cells, using these building blocks.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cells are </a:t>
            </a:r>
            <a:r>
              <a:rPr lang="en-US" dirty="0" smtClean="0"/>
              <a:t>then used </a:t>
            </a:r>
            <a:r>
              <a:rPr lang="en-US" dirty="0"/>
              <a:t>for higher-level blocks until we build the top-level block in the design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895600"/>
            <a:ext cx="6907161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33400" y="5802868"/>
            <a:ext cx="6934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Typically, a combination of top-down and bottom-up flows is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Modules</a:t>
            </a:r>
          </a:p>
          <a:p>
            <a:r>
              <a:rPr lang="en-US" sz="1800" dirty="0"/>
              <a:t>A module is the basic building block in </a:t>
            </a:r>
            <a:r>
              <a:rPr lang="en-US" sz="1800" dirty="0" err="1"/>
              <a:t>Verilog</a:t>
            </a:r>
            <a:r>
              <a:rPr lang="en-US" sz="1800" dirty="0"/>
              <a:t>. </a:t>
            </a:r>
            <a:endParaRPr lang="en-US" sz="1800" dirty="0" smtClean="0"/>
          </a:p>
          <a:p>
            <a:r>
              <a:rPr lang="en-US" sz="1800" dirty="0" smtClean="0"/>
              <a:t>A </a:t>
            </a:r>
            <a:r>
              <a:rPr lang="en-US" sz="1800" dirty="0"/>
              <a:t>module can </a:t>
            </a:r>
            <a:r>
              <a:rPr lang="en-US" sz="1800" dirty="0" smtClean="0"/>
              <a:t>be an </a:t>
            </a:r>
            <a:r>
              <a:rPr lang="en-US" sz="1800" dirty="0"/>
              <a:t>element or a collection of lower-level design blocks. </a:t>
            </a:r>
            <a:endParaRPr lang="en-US" sz="1800" dirty="0" smtClean="0"/>
          </a:p>
          <a:p>
            <a:r>
              <a:rPr lang="en-US" sz="1800" dirty="0" smtClean="0"/>
              <a:t>Typically</a:t>
            </a:r>
            <a:r>
              <a:rPr lang="en-US" sz="1800" dirty="0"/>
              <a:t>, elements are </a:t>
            </a:r>
            <a:r>
              <a:rPr lang="en-US" sz="1800" dirty="0" smtClean="0"/>
              <a:t>grouped into </a:t>
            </a:r>
            <a:r>
              <a:rPr lang="en-US" sz="1800" dirty="0"/>
              <a:t>modules to provide common functionality that is used at many places in the design.</a:t>
            </a:r>
          </a:p>
          <a:p>
            <a:r>
              <a:rPr lang="en-US" sz="1800" dirty="0"/>
              <a:t>A module provides the necessary functionality to the higher-level block through its </a:t>
            </a:r>
            <a:r>
              <a:rPr lang="en-US" sz="1800" dirty="0" smtClean="0"/>
              <a:t>port interface </a:t>
            </a:r>
            <a:r>
              <a:rPr lang="en-US" sz="1800" dirty="0"/>
              <a:t>(inputs and outputs)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657600"/>
            <a:ext cx="649719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562600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sz="3000" b="1" dirty="0"/>
              <a:t>module can </a:t>
            </a:r>
            <a:r>
              <a:rPr lang="en-US" sz="3000" b="1" dirty="0" smtClean="0"/>
              <a:t>be defined </a:t>
            </a:r>
            <a:r>
              <a:rPr lang="en-US" sz="3000" b="1" dirty="0"/>
              <a:t>at four levels of </a:t>
            </a:r>
            <a:r>
              <a:rPr lang="en-US" sz="3000" b="1" dirty="0" smtClean="0"/>
              <a:t>abstraction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1. Behavioral </a:t>
            </a:r>
            <a:r>
              <a:rPr lang="en-US" sz="2000" dirty="0"/>
              <a:t>or algorithmic </a:t>
            </a:r>
            <a:r>
              <a:rPr lang="en-US" sz="2000" dirty="0" smtClean="0"/>
              <a:t>level</a:t>
            </a:r>
          </a:p>
          <a:p>
            <a:r>
              <a:rPr lang="en-US" sz="2000" dirty="0"/>
              <a:t>This is the highest level of abstraction provided by </a:t>
            </a:r>
            <a:r>
              <a:rPr lang="en-US" sz="2000" dirty="0" err="1"/>
              <a:t>Verilog</a:t>
            </a:r>
            <a:r>
              <a:rPr lang="en-US" sz="2000" dirty="0"/>
              <a:t> HDL. </a:t>
            </a:r>
            <a:endParaRPr lang="en-US" sz="2000" dirty="0" smtClean="0"/>
          </a:p>
          <a:p>
            <a:r>
              <a:rPr lang="en-US" sz="2000" dirty="0" smtClean="0"/>
              <a:t>A </a:t>
            </a:r>
            <a:r>
              <a:rPr lang="en-US" sz="2000" dirty="0"/>
              <a:t>module </a:t>
            </a:r>
            <a:r>
              <a:rPr lang="en-US" sz="2000" dirty="0" smtClean="0"/>
              <a:t>can be </a:t>
            </a:r>
            <a:r>
              <a:rPr lang="en-US" sz="2000" dirty="0"/>
              <a:t>implemented in terms of the desired design algorithm without concern for </a:t>
            </a:r>
            <a:r>
              <a:rPr lang="en-US" sz="2000" dirty="0" smtClean="0"/>
              <a:t>the hardware </a:t>
            </a:r>
            <a:r>
              <a:rPr lang="en-US" sz="2000" dirty="0"/>
              <a:t>implementation </a:t>
            </a:r>
            <a:r>
              <a:rPr lang="en-US" sz="2000" dirty="0" smtClean="0"/>
              <a:t>details</a:t>
            </a:r>
          </a:p>
          <a:p>
            <a:endParaRPr lang="en-US" sz="2000" b="1" dirty="0"/>
          </a:p>
          <a:p>
            <a:pPr>
              <a:buNone/>
            </a:pPr>
            <a:r>
              <a:rPr lang="en-US" sz="2000" b="1" dirty="0" smtClean="0"/>
              <a:t>2. </a:t>
            </a:r>
            <a:r>
              <a:rPr lang="en-US" sz="2000" dirty="0"/>
              <a:t>Dataflow </a:t>
            </a:r>
            <a:r>
              <a:rPr lang="en-US" sz="2000" dirty="0" smtClean="0"/>
              <a:t>level</a:t>
            </a:r>
          </a:p>
          <a:p>
            <a:r>
              <a:rPr lang="en-US" sz="2000" dirty="0" smtClean="0"/>
              <a:t>module </a:t>
            </a:r>
            <a:r>
              <a:rPr lang="en-US" sz="2000" dirty="0"/>
              <a:t>is designed by specifying the data flow.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designer </a:t>
            </a:r>
            <a:r>
              <a:rPr lang="en-US" sz="2000" dirty="0" smtClean="0"/>
              <a:t>is aware </a:t>
            </a:r>
            <a:r>
              <a:rPr lang="en-US" sz="2000" dirty="0"/>
              <a:t>of how data flows between hardware </a:t>
            </a:r>
            <a:r>
              <a:rPr lang="en-US" sz="2000" dirty="0" smtClean="0"/>
              <a:t>registers</a:t>
            </a:r>
          </a:p>
          <a:p>
            <a:endParaRPr lang="en-US" sz="2000" b="1" dirty="0"/>
          </a:p>
          <a:p>
            <a:pPr>
              <a:buNone/>
            </a:pPr>
            <a:r>
              <a:rPr lang="en-US" sz="2000" b="1" dirty="0" smtClean="0"/>
              <a:t>3. </a:t>
            </a:r>
            <a:r>
              <a:rPr lang="en-US" sz="2000" dirty="0"/>
              <a:t>Gate </a:t>
            </a:r>
            <a:r>
              <a:rPr lang="en-US" sz="2000" dirty="0" smtClean="0"/>
              <a:t>level</a:t>
            </a:r>
          </a:p>
          <a:p>
            <a:r>
              <a:rPr lang="en-US" sz="2000" dirty="0"/>
              <a:t>module is implemented in terms of logic gates and interconnections </a:t>
            </a:r>
            <a:r>
              <a:rPr lang="en-US" sz="2000" dirty="0" smtClean="0"/>
              <a:t>between these gates</a:t>
            </a:r>
          </a:p>
          <a:p>
            <a:endParaRPr lang="en-US" sz="2000" b="1" dirty="0"/>
          </a:p>
          <a:p>
            <a:pPr>
              <a:buNone/>
            </a:pPr>
            <a:r>
              <a:rPr lang="en-US" sz="2000" b="1" dirty="0" smtClean="0"/>
              <a:t>4. </a:t>
            </a:r>
            <a:r>
              <a:rPr lang="en-US" sz="2000" dirty="0"/>
              <a:t>Switch </a:t>
            </a:r>
            <a:r>
              <a:rPr lang="en-US" sz="2000" dirty="0" smtClean="0"/>
              <a:t>level</a:t>
            </a:r>
          </a:p>
          <a:p>
            <a:r>
              <a:rPr lang="en-US" sz="2000" dirty="0"/>
              <a:t>This is the lowest level of abstraction provided by </a:t>
            </a:r>
            <a:r>
              <a:rPr lang="en-US" sz="2000" dirty="0" err="1"/>
              <a:t>Verilog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A module can </a:t>
            </a:r>
            <a:r>
              <a:rPr lang="en-US" sz="2000" dirty="0" smtClean="0"/>
              <a:t>be implemented </a:t>
            </a:r>
            <a:r>
              <a:rPr lang="en-US" sz="2000" dirty="0"/>
              <a:t>in terms of switches, storage nodes, and the </a:t>
            </a:r>
            <a:r>
              <a:rPr lang="en-US" sz="2000" dirty="0" smtClean="0"/>
              <a:t>interconnections between </a:t>
            </a:r>
            <a:r>
              <a:rPr lang="en-US" sz="2000" dirty="0"/>
              <a:t>them</a:t>
            </a:r>
            <a:r>
              <a:rPr lang="en-US" sz="2000" dirty="0" smtClean="0"/>
              <a:t>.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Lexical Conventions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b="1" dirty="0" smtClean="0"/>
              <a:t>Whitespace        	</a:t>
            </a:r>
            <a:r>
              <a:rPr lang="en-US" sz="1600" dirty="0" smtClean="0"/>
              <a:t>Blank </a:t>
            </a:r>
            <a:r>
              <a:rPr lang="en-US" sz="1600" dirty="0"/>
              <a:t>spaces (\b) 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			tabs </a:t>
            </a:r>
            <a:r>
              <a:rPr lang="en-US" sz="1600" dirty="0"/>
              <a:t>(\t) </a:t>
            </a:r>
          </a:p>
          <a:p>
            <a:pPr>
              <a:buNone/>
            </a:pPr>
            <a:r>
              <a:rPr lang="en-US" sz="1600" dirty="0" smtClean="0"/>
              <a:t>			newlines </a:t>
            </a:r>
            <a:r>
              <a:rPr lang="en-US" sz="1600" dirty="0"/>
              <a:t>(\n</a:t>
            </a:r>
            <a:r>
              <a:rPr lang="en-US" sz="1600" dirty="0" smtClean="0"/>
              <a:t>)</a:t>
            </a:r>
          </a:p>
          <a:p>
            <a:pPr>
              <a:buNone/>
            </a:pPr>
            <a:r>
              <a:rPr lang="en-US" sz="1600" b="1" dirty="0" smtClean="0"/>
              <a:t>Comments		</a:t>
            </a:r>
            <a:r>
              <a:rPr lang="en-US" sz="1600" dirty="0"/>
              <a:t>one-line comment starts with </a:t>
            </a:r>
            <a:r>
              <a:rPr lang="en-US" sz="1600" dirty="0" smtClean="0"/>
              <a:t>"//“</a:t>
            </a:r>
          </a:p>
          <a:p>
            <a:pPr>
              <a:buNone/>
            </a:pPr>
            <a:r>
              <a:rPr lang="en-US" sz="1600" dirty="0"/>
              <a:t>	</a:t>
            </a:r>
            <a:r>
              <a:rPr lang="en-US" sz="1600" dirty="0" smtClean="0"/>
              <a:t>		</a:t>
            </a:r>
            <a:r>
              <a:rPr lang="en-US" sz="1600" dirty="0"/>
              <a:t>multiple-line comment starts with "/*" and ends with </a:t>
            </a:r>
            <a:r>
              <a:rPr lang="en-US" sz="1600" dirty="0" smtClean="0"/>
              <a:t>"*/“</a:t>
            </a:r>
          </a:p>
          <a:p>
            <a:pPr>
              <a:buNone/>
            </a:pPr>
            <a:r>
              <a:rPr lang="en-US" sz="1600" b="1" dirty="0" smtClean="0"/>
              <a:t>Operators         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Number </a:t>
            </a:r>
            <a:r>
              <a:rPr lang="en-US" sz="1600" b="1" dirty="0" smtClean="0"/>
              <a:t>Specification  </a:t>
            </a:r>
          </a:p>
          <a:p>
            <a:pPr>
              <a:buNone/>
            </a:pPr>
            <a:r>
              <a:rPr lang="en-US" sz="1600" b="1" dirty="0" smtClean="0"/>
              <a:t>			Sized numbers  	  </a:t>
            </a:r>
            <a:r>
              <a:rPr lang="en-US" sz="1600" dirty="0"/>
              <a:t>&lt;size&gt; '&lt;base format&gt; &lt;number</a:t>
            </a:r>
            <a:r>
              <a:rPr lang="en-US" sz="1600" dirty="0" smtClean="0"/>
              <a:t>&gt;</a:t>
            </a:r>
            <a:endParaRPr lang="en-US" sz="1600" b="1" dirty="0" smtClean="0"/>
          </a:p>
          <a:p>
            <a:pPr>
              <a:buNone/>
            </a:pPr>
            <a:r>
              <a:rPr lang="en-US" sz="1600" dirty="0"/>
              <a:t>&lt;size&gt; </a:t>
            </a:r>
            <a:r>
              <a:rPr lang="en-US" sz="1600" dirty="0" smtClean="0"/>
              <a:t> </a:t>
            </a:r>
            <a:r>
              <a:rPr lang="en-US" sz="1600" dirty="0"/>
              <a:t>in decimal and specifies the number of bits in the number</a:t>
            </a:r>
            <a:r>
              <a:rPr lang="en-US" sz="1600" dirty="0" smtClean="0"/>
              <a:t>.</a:t>
            </a:r>
          </a:p>
          <a:p>
            <a:pPr>
              <a:buNone/>
            </a:pPr>
            <a:r>
              <a:rPr lang="en-US" sz="1600" dirty="0"/>
              <a:t>&lt;</a:t>
            </a:r>
            <a:r>
              <a:rPr lang="en-US" sz="1600" dirty="0" smtClean="0"/>
              <a:t>base format&gt;  are </a:t>
            </a:r>
            <a:r>
              <a:rPr lang="en-US" sz="1600" dirty="0"/>
              <a:t>decimal ('d or 'D), hexadecimal ('h or 'H), binary ('b or 'B) and octal (</a:t>
            </a:r>
            <a:r>
              <a:rPr lang="en-US" sz="1600" dirty="0" smtClean="0"/>
              <a:t>'o or </a:t>
            </a:r>
            <a:r>
              <a:rPr lang="en-US" sz="1600" dirty="0"/>
              <a:t>'O). 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&lt;number&gt; specified </a:t>
            </a:r>
            <a:r>
              <a:rPr lang="en-US" sz="1600" dirty="0"/>
              <a:t>as consecutive digits from 0, 1, 2, 3, 4, 5, 6, 7, 8, 9, a, b</a:t>
            </a:r>
            <a:r>
              <a:rPr lang="en-US" sz="1600" dirty="0" smtClean="0"/>
              <a:t>, c</a:t>
            </a:r>
            <a:r>
              <a:rPr lang="en-US" sz="1600" dirty="0"/>
              <a:t>, d, e, f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352800"/>
            <a:ext cx="6934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90600"/>
            <a:ext cx="5593404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" y="1828800"/>
            <a:ext cx="1981200" cy="38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Unsized</a:t>
            </a:r>
            <a:r>
              <a:rPr lang="en-US" b="1" dirty="0"/>
              <a:t> numbers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4800" y="2362200"/>
            <a:ext cx="883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without a &lt;base format&gt; specification are decimal </a:t>
            </a:r>
            <a:r>
              <a:rPr lang="en-US" dirty="0" smtClean="0"/>
              <a:t>numbers by </a:t>
            </a:r>
            <a:r>
              <a:rPr lang="en-US" dirty="0"/>
              <a:t>default. </a:t>
            </a:r>
            <a:endParaRPr lang="en-US" dirty="0" smtClean="0"/>
          </a:p>
          <a:p>
            <a:r>
              <a:rPr lang="en-US" dirty="0" smtClean="0"/>
              <a:t>Numbers </a:t>
            </a:r>
            <a:r>
              <a:rPr lang="en-US" dirty="0"/>
              <a:t>that are written without a &lt;size&gt; specification have a default </a:t>
            </a:r>
            <a:r>
              <a:rPr lang="en-US" dirty="0" smtClean="0"/>
              <a:t>number of </a:t>
            </a:r>
            <a:r>
              <a:rPr lang="en-US" dirty="0"/>
              <a:t>bits that is simulator- and machine-specific (must be at least 32).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3352800"/>
            <a:ext cx="648510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4114800"/>
            <a:ext cx="7466189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228600" y="5181600"/>
            <a:ext cx="1924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Negative numbers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286000" y="5297269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minus sign before the size for a </a:t>
            </a:r>
            <a:r>
              <a:rPr lang="en-US" dirty="0" smtClean="0"/>
              <a:t>constant number</a:t>
            </a:r>
            <a:r>
              <a:rPr lang="en-US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-25 </a:t>
            </a:r>
            <a:r>
              <a:rPr lang="en-US" dirty="0" smtClean="0">
                <a:sym typeface="Wingdings" pitchFamily="2" charset="2"/>
              </a:rPr>
              <a:t> -5’b11001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305800" cy="52879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Strings </a:t>
            </a:r>
          </a:p>
          <a:p>
            <a:r>
              <a:rPr lang="en-US" sz="1800" dirty="0"/>
              <a:t>sequence of characters that are enclosed by double quotes. </a:t>
            </a:r>
            <a:endParaRPr lang="en-US" sz="1800" dirty="0" smtClean="0"/>
          </a:p>
          <a:p>
            <a:r>
              <a:rPr lang="en-US" sz="1800" dirty="0" smtClean="0"/>
              <a:t>string </a:t>
            </a:r>
            <a:r>
              <a:rPr lang="en-US" sz="1800" dirty="0"/>
              <a:t>is that it must be contained on a single </a:t>
            </a:r>
            <a:r>
              <a:rPr lang="en-US" sz="1800" dirty="0" smtClean="0"/>
              <a:t>line </a:t>
            </a:r>
          </a:p>
          <a:p>
            <a:r>
              <a:rPr lang="en-US" sz="1800" dirty="0" smtClean="0"/>
              <a:t>It cannot </a:t>
            </a:r>
            <a:r>
              <a:rPr lang="en-US" sz="1800" dirty="0"/>
              <a:t>be on multiple lines</a:t>
            </a:r>
            <a:r>
              <a:rPr lang="en-US" sz="1800" dirty="0" smtClean="0"/>
              <a:t>.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438400"/>
            <a:ext cx="438912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57200" y="3200400"/>
            <a:ext cx="7708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Nets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447800" y="3276600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Nets represent connections between hardware elements.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3810000"/>
            <a:ext cx="24098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81000" y="4507468"/>
            <a:ext cx="78481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Nets are declared primarily with the keyword wire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Nets </a:t>
            </a:r>
            <a:r>
              <a:rPr lang="en-US" dirty="0"/>
              <a:t>are one-bit values by </a:t>
            </a:r>
            <a:r>
              <a:rPr lang="en-US" dirty="0" smtClean="0"/>
              <a:t>default</a:t>
            </a:r>
          </a:p>
          <a:p>
            <a:r>
              <a:rPr lang="en-US" dirty="0"/>
              <a:t>The default value of a net is </a:t>
            </a:r>
            <a:r>
              <a:rPr lang="en-US" dirty="0" smtClean="0"/>
              <a:t>z</a:t>
            </a:r>
          </a:p>
          <a:p>
            <a:r>
              <a:rPr lang="en-US" dirty="0"/>
              <a:t>Nets get the output value of their drivers. If a net has no driver, it gets the value z.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05400" cy="6096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Verilog</a:t>
            </a:r>
            <a:r>
              <a:rPr lang="en-US" dirty="0" smtClean="0"/>
              <a:t> Logic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828800"/>
            <a:ext cx="7391400" cy="4419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err="1" smtClean="0"/>
              <a:t>Verilog</a:t>
            </a:r>
            <a:r>
              <a:rPr lang="en-US" sz="2000" dirty="0" smtClean="0"/>
              <a:t> is 4 valued logic</a:t>
            </a:r>
          </a:p>
          <a:p>
            <a:pPr>
              <a:buNone/>
            </a:pPr>
            <a:r>
              <a:rPr lang="en-US" sz="2000" dirty="0" smtClean="0"/>
              <a:t>0 – False</a:t>
            </a:r>
          </a:p>
          <a:p>
            <a:pPr>
              <a:buNone/>
            </a:pPr>
            <a:r>
              <a:rPr lang="en-US" sz="2000" dirty="0" smtClean="0"/>
              <a:t>1 – True</a:t>
            </a:r>
          </a:p>
          <a:p>
            <a:pPr>
              <a:buNone/>
            </a:pPr>
            <a:r>
              <a:rPr lang="en-US" sz="2000" dirty="0" smtClean="0"/>
              <a:t>X –Unknown</a:t>
            </a:r>
          </a:p>
          <a:p>
            <a:pPr>
              <a:buNone/>
            </a:pPr>
            <a:r>
              <a:rPr lang="en-US" sz="2000" dirty="0" smtClean="0"/>
              <a:t>Z- High impedance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382000" cy="53641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Registers</a:t>
            </a:r>
          </a:p>
          <a:p>
            <a:r>
              <a:rPr lang="en-US" sz="1800" dirty="0"/>
              <a:t>Registers represent data storage elements. </a:t>
            </a:r>
            <a:endParaRPr lang="en-US" sz="1800" dirty="0" smtClean="0"/>
          </a:p>
          <a:p>
            <a:r>
              <a:rPr lang="en-US" sz="1800" dirty="0" smtClean="0"/>
              <a:t>Registers </a:t>
            </a:r>
            <a:r>
              <a:rPr lang="en-US" sz="1800" dirty="0"/>
              <a:t>retain value until another value </a:t>
            </a:r>
            <a:r>
              <a:rPr lang="en-US" sz="1800" dirty="0" smtClean="0"/>
              <a:t>is placed </a:t>
            </a:r>
            <a:r>
              <a:rPr lang="en-US" sz="1800" dirty="0"/>
              <a:t>onto them</a:t>
            </a:r>
            <a:r>
              <a:rPr lang="en-US" sz="1800" dirty="0" smtClean="0"/>
              <a:t>.</a:t>
            </a:r>
          </a:p>
          <a:p>
            <a:pPr>
              <a:buNone/>
            </a:pPr>
            <a:r>
              <a:rPr lang="en-US" sz="1800" dirty="0" smtClean="0"/>
              <a:t>			</a:t>
            </a:r>
            <a:r>
              <a:rPr lang="en-US" sz="1800" dirty="0" err="1" smtClean="0"/>
              <a:t>reg</a:t>
            </a:r>
            <a:r>
              <a:rPr lang="en-US" sz="1800" dirty="0" smtClean="0"/>
              <a:t> </a:t>
            </a:r>
            <a:r>
              <a:rPr lang="en-US" sz="1800" dirty="0" smtClean="0">
                <a:sym typeface="Wingdings" pitchFamily="2" charset="2"/>
              </a:rPr>
              <a:t></a:t>
            </a:r>
            <a:r>
              <a:rPr lang="en-US" sz="1800" dirty="0" smtClean="0"/>
              <a:t>   variable </a:t>
            </a:r>
            <a:r>
              <a:rPr lang="en-US" sz="1800" dirty="0"/>
              <a:t>that can hold a value</a:t>
            </a:r>
            <a:r>
              <a:rPr lang="en-US" sz="1800" dirty="0" smtClean="0"/>
              <a:t>.</a:t>
            </a:r>
          </a:p>
          <a:p>
            <a:r>
              <a:rPr lang="en-US" sz="1800" dirty="0"/>
              <a:t>default value for </a:t>
            </a:r>
            <a:r>
              <a:rPr lang="en-US" sz="1800" dirty="0" smtClean="0"/>
              <a:t>a </a:t>
            </a:r>
            <a:r>
              <a:rPr lang="en-US" sz="1800" dirty="0" err="1" smtClean="0"/>
              <a:t>reg</a:t>
            </a:r>
            <a:r>
              <a:rPr lang="en-US" sz="1800" dirty="0" smtClean="0"/>
              <a:t> </a:t>
            </a:r>
            <a:r>
              <a:rPr lang="en-US" sz="1800" dirty="0"/>
              <a:t>data type is </a:t>
            </a:r>
            <a:r>
              <a:rPr lang="en-US" sz="1800" dirty="0" smtClean="0"/>
              <a:t>x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 smtClean="0"/>
          </a:p>
          <a:p>
            <a:endParaRPr lang="en-US" sz="1800" dirty="0" smtClean="0"/>
          </a:p>
          <a:p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514600"/>
            <a:ext cx="7566917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4419600"/>
          <a:ext cx="7696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/>
                <a:gridCol w="3848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Variable</a:t>
                      </a:r>
                      <a:r>
                        <a:rPr lang="en-US" baseline="0" dirty="0" smtClean="0"/>
                        <a:t> 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Net</a:t>
                      </a:r>
                      <a:r>
                        <a:rPr lang="en-US" baseline="0" dirty="0" smtClean="0"/>
                        <a:t> data 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Can store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Connection between part of a design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Default value 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Default value Z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Used in Procedural block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Used</a:t>
                      </a:r>
                      <a:r>
                        <a:rPr lang="en-US" baseline="0" dirty="0" smtClean="0"/>
                        <a:t> in concurrent assignment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228600"/>
            <a:ext cx="73195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Vectors  </a:t>
            </a:r>
            <a:r>
              <a:rPr lang="en-US" b="1" dirty="0" smtClean="0"/>
              <a:t>  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</a:t>
            </a:r>
            <a:r>
              <a:rPr lang="en-US" dirty="0"/>
              <a:t>Nets or </a:t>
            </a:r>
            <a:r>
              <a:rPr lang="en-US" dirty="0" err="1"/>
              <a:t>reg</a:t>
            </a:r>
            <a:r>
              <a:rPr lang="en-US" dirty="0"/>
              <a:t> </a:t>
            </a:r>
            <a:r>
              <a:rPr lang="en-US" dirty="0" smtClean="0"/>
              <a:t>   data </a:t>
            </a:r>
            <a:r>
              <a:rPr lang="en-US" dirty="0"/>
              <a:t>types can be declared as vectors (multiple bit widths).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bit width is </a:t>
            </a:r>
            <a:r>
              <a:rPr lang="en-US" dirty="0" smtClean="0"/>
              <a:t>not specified</a:t>
            </a:r>
            <a:r>
              <a:rPr lang="en-US" dirty="0"/>
              <a:t>, the default is scalar (1-bit).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3696" y="1295400"/>
            <a:ext cx="6940627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273296" y="2533471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[high# : low#] or [low# : high</a:t>
            </a:r>
            <a:r>
              <a:rPr lang="en-US" dirty="0" smtClean="0"/>
              <a:t>#]</a:t>
            </a:r>
          </a:p>
          <a:p>
            <a:r>
              <a:rPr lang="en-US" dirty="0" smtClean="0"/>
              <a:t> left </a:t>
            </a:r>
            <a:r>
              <a:rPr lang="en-US" dirty="0"/>
              <a:t>number in </a:t>
            </a:r>
            <a:r>
              <a:rPr lang="en-US" dirty="0" smtClean="0"/>
              <a:t>the squared </a:t>
            </a:r>
            <a:r>
              <a:rPr lang="en-US" dirty="0"/>
              <a:t>brackets is always the </a:t>
            </a:r>
            <a:r>
              <a:rPr lang="en-US" dirty="0" smtClean="0"/>
              <a:t>MSB </a:t>
            </a:r>
            <a:r>
              <a:rPr lang="en-US" dirty="0"/>
              <a:t>of the vector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8513" y="4648200"/>
            <a:ext cx="78054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81000" y="4191000"/>
            <a:ext cx="1876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b="1" dirty="0" smtClean="0"/>
              <a:t>Vector Part Select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685800"/>
            <a:ext cx="762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Arrays    </a:t>
            </a:r>
            <a:r>
              <a:rPr lang="en-US" sz="2400" dirty="0"/>
              <a:t>array is a collection of variables</a:t>
            </a:r>
            <a:endParaRPr lang="en-US" sz="2400" b="1" dirty="0" smtClean="0"/>
          </a:p>
          <a:p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905000" y="1189167"/>
            <a:ext cx="601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Arrays are accessed </a:t>
            </a:r>
            <a:r>
              <a:rPr lang="en-US" dirty="0" smtClean="0"/>
              <a:t>by &lt;</a:t>
            </a:r>
            <a:r>
              <a:rPr lang="en-US" dirty="0" err="1"/>
              <a:t>array_name</a:t>
            </a:r>
            <a:r>
              <a:rPr lang="en-US" dirty="0"/>
              <a:t>&gt;[&lt;subscript&gt;]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664732"/>
            <a:ext cx="677202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The default value for </a:t>
            </a:r>
            <a:r>
              <a:rPr lang="en-US" b="1" dirty="0" err="1" smtClean="0"/>
              <a:t>reg</a:t>
            </a:r>
            <a:r>
              <a:rPr lang="en-US" b="1" dirty="0" smtClean="0"/>
              <a:t> data type is ______.</a:t>
            </a:r>
          </a:p>
          <a:p>
            <a:pPr>
              <a:buNone/>
            </a:pPr>
            <a:endParaRPr lang="en-US" b="1" dirty="0" smtClean="0"/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0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z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1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x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To introduce delays in a circuit, we can use a _________</a:t>
            </a:r>
          </a:p>
          <a:p>
            <a:endParaRPr lang="en-US" b="1" dirty="0" smtClean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Buffer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EXOR gate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Inverter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Flip-flops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668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 smtClean="0"/>
              <a:t>Integer</a:t>
            </a:r>
          </a:p>
          <a:p>
            <a:pPr>
              <a:buNone/>
            </a:pPr>
            <a:r>
              <a:rPr lang="en-US" sz="2000" b="1" dirty="0" smtClean="0"/>
              <a:t>	</a:t>
            </a:r>
            <a:r>
              <a:rPr lang="en-US" sz="1800" u="sng" dirty="0" smtClean="0"/>
              <a:t>integer</a:t>
            </a:r>
            <a:r>
              <a:rPr lang="en-US" sz="1800" dirty="0" smtClean="0"/>
              <a:t> is a general purpose register data type used for manipulating quantities.</a:t>
            </a:r>
          </a:p>
          <a:p>
            <a:pPr>
              <a:buNone/>
            </a:pPr>
            <a:r>
              <a:rPr lang="en-US" sz="1800" dirty="0" smtClean="0"/>
              <a:t>	The default width for an integer is the host-machine word size   32 bits</a:t>
            </a:r>
          </a:p>
          <a:p>
            <a:pPr>
              <a:buNone/>
            </a:pPr>
            <a:r>
              <a:rPr lang="en-US" sz="1800" dirty="0" smtClean="0"/>
              <a:t>		integer counter; // general purpose variable used as a counter.</a:t>
            </a:r>
          </a:p>
          <a:p>
            <a:pPr>
              <a:buNone/>
            </a:pPr>
            <a:r>
              <a:rPr lang="en-US" sz="1800" dirty="0" smtClean="0"/>
              <a:t>		initial</a:t>
            </a:r>
          </a:p>
          <a:p>
            <a:pPr>
              <a:buNone/>
            </a:pPr>
            <a:r>
              <a:rPr lang="en-US" sz="1800" dirty="0" smtClean="0"/>
              <a:t>		counter = -1;</a:t>
            </a:r>
          </a:p>
          <a:p>
            <a:pPr>
              <a:buNone/>
            </a:pPr>
            <a:r>
              <a:rPr lang="en-US" sz="2400" b="1" dirty="0" smtClean="0"/>
              <a:t>Time</a:t>
            </a:r>
          </a:p>
          <a:p>
            <a:pPr>
              <a:buNone/>
            </a:pPr>
            <a:r>
              <a:rPr lang="en-US" sz="2400" b="1" dirty="0" smtClean="0"/>
              <a:t>		</a:t>
            </a:r>
            <a:r>
              <a:rPr lang="en-US" sz="1800" u="sng" dirty="0" smtClean="0"/>
              <a:t>time</a:t>
            </a:r>
            <a:r>
              <a:rPr lang="en-US" sz="1800" dirty="0" smtClean="0"/>
              <a:t> register data type is used in </a:t>
            </a:r>
            <a:r>
              <a:rPr lang="en-US" sz="1800" dirty="0" err="1" smtClean="0"/>
              <a:t>Verilog</a:t>
            </a:r>
            <a:r>
              <a:rPr lang="en-US" sz="1800" dirty="0" smtClean="0"/>
              <a:t> to store simulation time.</a:t>
            </a:r>
          </a:p>
          <a:p>
            <a:pPr>
              <a:buNone/>
            </a:pPr>
            <a:r>
              <a:rPr lang="en-US" sz="1800" dirty="0" smtClean="0"/>
              <a:t>	system function </a:t>
            </a:r>
            <a:r>
              <a:rPr lang="en-US" sz="1800" u="sng" dirty="0" smtClean="0"/>
              <a:t>$time </a:t>
            </a:r>
            <a:r>
              <a:rPr lang="en-US" sz="1800" dirty="0" smtClean="0"/>
              <a:t>is invoked to get the current simulation time.</a:t>
            </a:r>
          </a:p>
          <a:p>
            <a:pPr>
              <a:buNone/>
            </a:pPr>
            <a:r>
              <a:rPr lang="en-US" sz="1800" dirty="0" smtClean="0"/>
              <a:t>		time </a:t>
            </a:r>
            <a:r>
              <a:rPr lang="en-US" sz="1800" dirty="0" err="1" smtClean="0"/>
              <a:t>save_sim_time</a:t>
            </a:r>
            <a:r>
              <a:rPr lang="en-US" sz="1800" dirty="0" smtClean="0"/>
              <a:t>; // Define a time variable </a:t>
            </a:r>
            <a:r>
              <a:rPr lang="en-US" sz="1800" dirty="0" err="1" smtClean="0"/>
              <a:t>save_sim_time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		initial</a:t>
            </a:r>
          </a:p>
          <a:p>
            <a:pPr>
              <a:buNone/>
            </a:pPr>
            <a:r>
              <a:rPr lang="en-US" sz="1800" dirty="0" smtClean="0"/>
              <a:t>		</a:t>
            </a:r>
            <a:r>
              <a:rPr lang="en-US" sz="1800" dirty="0" err="1" smtClean="0"/>
              <a:t>save_sim_time</a:t>
            </a:r>
            <a:r>
              <a:rPr lang="en-US" sz="1800" dirty="0" smtClean="0"/>
              <a:t> = $time; // Save the current simulation time</a:t>
            </a:r>
          </a:p>
          <a:p>
            <a:pPr>
              <a:buNone/>
            </a:pPr>
            <a:r>
              <a:rPr lang="en-US" sz="2400" b="1" dirty="0" smtClean="0"/>
              <a:t>Parameters</a:t>
            </a:r>
          </a:p>
          <a:p>
            <a:pPr>
              <a:buNone/>
            </a:pPr>
            <a:r>
              <a:rPr lang="en-US" sz="2400" b="1" dirty="0" smtClean="0"/>
              <a:t>		</a:t>
            </a:r>
            <a:r>
              <a:rPr lang="en-US" sz="1800" dirty="0" smtClean="0"/>
              <a:t>constants to be defined in a module by the keyword </a:t>
            </a:r>
            <a:r>
              <a:rPr lang="en-US" sz="1800" u="sng" dirty="0" smtClean="0"/>
              <a:t>parameter</a:t>
            </a:r>
          </a:p>
          <a:p>
            <a:pPr>
              <a:buNone/>
            </a:pPr>
            <a:r>
              <a:rPr lang="en-US" sz="1800" dirty="0" smtClean="0"/>
              <a:t>		</a:t>
            </a:r>
          </a:p>
          <a:p>
            <a:pPr>
              <a:buNone/>
            </a:pPr>
            <a:r>
              <a:rPr lang="en-US" sz="1800" dirty="0" smtClean="0"/>
              <a:t>			parameter </a:t>
            </a:r>
            <a:r>
              <a:rPr lang="en-US" sz="1800" dirty="0" err="1" smtClean="0"/>
              <a:t>port_id</a:t>
            </a:r>
            <a:r>
              <a:rPr lang="en-US" sz="1800" dirty="0" smtClean="0"/>
              <a:t> = 5;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u="sng" dirty="0" smtClean="0"/>
              <a:t>Memories  </a:t>
            </a:r>
            <a:r>
              <a:rPr lang="en-US" sz="2000" dirty="0" smtClean="0"/>
              <a:t>RAM/ROM are </a:t>
            </a:r>
            <a:r>
              <a:rPr lang="en-US" sz="2000" dirty="0" err="1" smtClean="0"/>
              <a:t>modelled</a:t>
            </a:r>
            <a:r>
              <a:rPr lang="en-US" sz="2000" dirty="0" smtClean="0"/>
              <a:t> as 1D array</a:t>
            </a:r>
          </a:p>
          <a:p>
            <a:pPr>
              <a:buNone/>
            </a:pPr>
            <a:r>
              <a:rPr lang="en-US" sz="2000" dirty="0" smtClean="0"/>
              <a:t>Each element of the array is element or word and is addressed by a single array</a:t>
            </a:r>
            <a:br>
              <a:rPr lang="en-US" sz="2000" dirty="0" smtClean="0"/>
            </a:br>
            <a:r>
              <a:rPr lang="en-US" sz="2000" dirty="0" smtClean="0"/>
              <a:t>index. </a:t>
            </a:r>
          </a:p>
          <a:p>
            <a:pPr>
              <a:buNone/>
            </a:pPr>
            <a:r>
              <a:rPr lang="en-US" sz="2000" dirty="0" smtClean="0"/>
              <a:t>Each word can be one or more bits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reg</a:t>
            </a:r>
            <a:r>
              <a:rPr lang="en-US" sz="2000" dirty="0" smtClean="0"/>
              <a:t> mem1bit[0:1023]; 		// Memory mem1bit with 1K 1-bit words</a:t>
            </a:r>
            <a:br>
              <a:rPr lang="en-US" sz="2000" dirty="0" smtClean="0"/>
            </a:br>
            <a:r>
              <a:rPr lang="en-US" sz="2000" dirty="0" err="1" smtClean="0"/>
              <a:t>reg</a:t>
            </a:r>
            <a:r>
              <a:rPr lang="en-US" sz="2000" dirty="0" smtClean="0"/>
              <a:t> [7:0] </a:t>
            </a:r>
            <a:r>
              <a:rPr lang="en-US" sz="2000" dirty="0" err="1" smtClean="0"/>
              <a:t>membyte</a:t>
            </a:r>
            <a:r>
              <a:rPr lang="en-US" sz="2000" dirty="0" smtClean="0"/>
              <a:t>[0:1023]; 	// Memory </a:t>
            </a:r>
            <a:r>
              <a:rPr lang="en-US" sz="2000" dirty="0" err="1" smtClean="0"/>
              <a:t>membyte</a:t>
            </a:r>
            <a:r>
              <a:rPr lang="en-US" sz="2000" dirty="0" smtClean="0"/>
              <a:t> with 1K 8-bit words</a:t>
            </a:r>
            <a:br>
              <a:rPr lang="en-US" sz="2000" dirty="0" smtClean="0"/>
            </a:br>
            <a:r>
              <a:rPr lang="en-US" sz="2000" dirty="0" err="1" smtClean="0"/>
              <a:t>membyte</a:t>
            </a:r>
            <a:r>
              <a:rPr lang="en-US" sz="2000" dirty="0" smtClean="0"/>
              <a:t>[511] 		// Fetches 1 byte word whose address is 511. 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581400"/>
            <a:ext cx="568679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839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Which of the following statements is true for </a:t>
            </a:r>
            <a:r>
              <a:rPr lang="en-US" sz="2000" dirty="0" err="1" smtClean="0"/>
              <a:t>Verilog</a:t>
            </a:r>
            <a:r>
              <a:rPr lang="en-US" sz="2000" dirty="0" smtClean="0"/>
              <a:t> modules?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a. A module can contain definitions of other modules. </a:t>
            </a:r>
          </a:p>
          <a:p>
            <a:pPr>
              <a:buNone/>
            </a:pPr>
            <a:r>
              <a:rPr lang="en-US" sz="2000" dirty="0" smtClean="0"/>
              <a:t>b. When a module X is called multiple numbers of times from some other module, only one copy of module X is included in the hardware after synthesis. </a:t>
            </a:r>
          </a:p>
          <a:p>
            <a:pPr>
              <a:buNone/>
            </a:pPr>
            <a:r>
              <a:rPr lang="en-US" sz="2000" dirty="0" smtClean="0"/>
              <a:t>c. More than one module can be instantiated within another module. </a:t>
            </a:r>
          </a:p>
          <a:p>
            <a:pPr>
              <a:buNone/>
            </a:pPr>
            <a:r>
              <a:rPr lang="en-US" sz="2000" dirty="0" smtClean="0"/>
              <a:t>d. If a module X is instantiated 4 times within another module, 4 copies of X are created.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Correct answers are (c) and (d).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839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What does the statement   assign f = (a &amp; b) | (a ^ b)  signify? </a:t>
            </a:r>
          </a:p>
          <a:p>
            <a:pPr>
              <a:buNone/>
            </a:pPr>
            <a:endParaRPr lang="en-US" sz="2400" dirty="0" smtClean="0"/>
          </a:p>
          <a:p>
            <a:pPr marL="457200" indent="-457200">
              <a:buAutoNum type="alphaLcPeriod"/>
            </a:pPr>
            <a:r>
              <a:rPr lang="en-US" sz="2400" dirty="0" smtClean="0"/>
              <a:t>A gate level </a:t>
            </a:r>
            <a:r>
              <a:rPr lang="en-US" sz="2400" dirty="0" err="1" smtClean="0"/>
              <a:t>netlist</a:t>
            </a:r>
            <a:r>
              <a:rPr lang="en-US" sz="2400" dirty="0" smtClean="0"/>
              <a:t> consisting of one AND gate, one OR gate, and one XOR gate.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A behavioral description of the function f.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A structural description of the function f.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A continuous assignment of the function realized by the right hand side to the net type variable on the left hand side. </a:t>
            </a:r>
          </a:p>
          <a:p>
            <a:pPr marL="457200" indent="-457200">
              <a:buAutoNum type="alphaLcPeriod"/>
            </a:pPr>
            <a:endParaRPr lang="en-US" sz="2400" dirty="0" smtClean="0"/>
          </a:p>
          <a:p>
            <a:pPr marL="457200" indent="-457200">
              <a:buNone/>
            </a:pPr>
            <a:r>
              <a:rPr lang="en-US" sz="2400" dirty="0" smtClean="0"/>
              <a:t>Correct answers are (b) and (d).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For the following </a:t>
            </a:r>
            <a:r>
              <a:rPr lang="en-US" sz="2000" dirty="0" err="1" smtClean="0"/>
              <a:t>Verilog</a:t>
            </a:r>
            <a:r>
              <a:rPr lang="en-US" sz="2000" dirty="0" smtClean="0"/>
              <a:t> code segment, if the initial value of IR is ABCD3456 (in hexadecimal), the value of “data” in decimal will be ………….. (Note that “data” is a 4-bit variable)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wire [31:0] IR; </a:t>
            </a:r>
          </a:p>
          <a:p>
            <a:pPr>
              <a:buNone/>
            </a:pPr>
            <a:r>
              <a:rPr lang="en-US" sz="2000" dirty="0" smtClean="0"/>
              <a:t>wire [3:0] data; </a:t>
            </a:r>
          </a:p>
          <a:p>
            <a:pPr>
              <a:buNone/>
            </a:pPr>
            <a:r>
              <a:rPr lang="en-US" sz="2000" dirty="0" smtClean="0"/>
              <a:t>wire [15:0] d1; </a:t>
            </a:r>
          </a:p>
          <a:p>
            <a:pPr>
              <a:buNone/>
            </a:pPr>
            <a:r>
              <a:rPr lang="en-US" sz="2000" dirty="0" smtClean="0"/>
              <a:t>wire [31:16] d2; </a:t>
            </a:r>
          </a:p>
          <a:p>
            <a:pPr>
              <a:buNone/>
            </a:pPr>
            <a:r>
              <a:rPr lang="en-US" sz="2000" dirty="0" smtClean="0"/>
              <a:t>assign d1 = IR[31:16]; </a:t>
            </a:r>
          </a:p>
          <a:p>
            <a:pPr>
              <a:buNone/>
            </a:pPr>
            <a:r>
              <a:rPr lang="en-US" sz="2000" dirty="0" smtClean="0"/>
              <a:t>assign d2 = IR[15:0]; </a:t>
            </a:r>
          </a:p>
          <a:p>
            <a:pPr>
              <a:buNone/>
            </a:pPr>
            <a:r>
              <a:rPr lang="en-US" sz="2000" dirty="0" smtClean="0"/>
              <a:t>assign data = d1[11:8] + d2[19:16] + d2[31:28];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System Tasks</a:t>
            </a:r>
            <a:r>
              <a:rPr lang="en-US" sz="3600" b="1" dirty="0" smtClean="0">
                <a:sym typeface="Wingdings" pitchFamily="2" charset="2"/>
              </a:rPr>
              <a:t> </a:t>
            </a:r>
            <a:r>
              <a:rPr lang="en-US" sz="3600" dirty="0" smtClean="0"/>
              <a:t> $&lt;keyword&gt;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4983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/>
              <a:t>system tasks for certain routine operations</a:t>
            </a:r>
          </a:p>
          <a:p>
            <a:pPr>
              <a:buNone/>
            </a:pPr>
            <a:r>
              <a:rPr lang="en-US" sz="1800" b="1" dirty="0" smtClean="0"/>
              <a:t>$display </a:t>
            </a:r>
            <a:r>
              <a:rPr lang="en-US" sz="1800" dirty="0" smtClean="0"/>
              <a:t>is system task for displaying values of variables or strings or expressions.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28800"/>
            <a:ext cx="28860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1828800"/>
            <a:ext cx="446722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3352800"/>
            <a:ext cx="7924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364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 smtClean="0"/>
              <a:t>$monitor </a:t>
            </a:r>
            <a:r>
              <a:rPr lang="en-US" sz="2400" dirty="0" smtClean="0"/>
              <a:t>task     monitor a signal when its value changes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600" dirty="0" smtClean="0"/>
              <a:t>continuously monitors the values of the variables or signals specified in the parameter list </a:t>
            </a:r>
          </a:p>
          <a:p>
            <a:pPr>
              <a:buNone/>
            </a:pPr>
            <a:r>
              <a:rPr lang="en-US" sz="1600" dirty="0" smtClean="0"/>
              <a:t>	displays all parameters in the list whenever the value of any one variable or signal changes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438400"/>
            <a:ext cx="7543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5562600"/>
            <a:ext cx="9144000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$display </a:t>
            </a:r>
            <a:r>
              <a:rPr lang="en-US" dirty="0" smtClean="0"/>
              <a:t>s-- prints the value  (once) whenever it is executed. </a:t>
            </a:r>
          </a:p>
          <a:p>
            <a:r>
              <a:rPr lang="en-US" b="1" dirty="0" smtClean="0"/>
              <a:t>$monitor</a:t>
            </a:r>
            <a:r>
              <a:rPr lang="en-US" dirty="0" smtClean="0"/>
              <a:t>  -- prints the values whenever at least one of the variables in the list is modified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4290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String Format Specifications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066800"/>
            <a:ext cx="3810000" cy="2064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048000"/>
            <a:ext cx="6553200" cy="3212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458200" cy="5592763"/>
          </a:xfrm>
        </p:spPr>
        <p:txBody>
          <a:bodyPr/>
          <a:lstStyle/>
          <a:p>
            <a:pPr>
              <a:buNone/>
            </a:pPr>
            <a:r>
              <a:rPr lang="en-US" sz="1600" b="1" u="sng" dirty="0" smtClean="0"/>
              <a:t>$stop  </a:t>
            </a:r>
            <a:r>
              <a:rPr lang="en-US" sz="1600" dirty="0" smtClean="0"/>
              <a:t>designer wants to suspend the simulation and examine the values of signals in the design.</a:t>
            </a:r>
          </a:p>
          <a:p>
            <a:pPr>
              <a:buNone/>
            </a:pPr>
            <a:r>
              <a:rPr lang="en-US" sz="1600" b="1" u="sng" dirty="0" smtClean="0"/>
              <a:t>$finish </a:t>
            </a:r>
            <a:r>
              <a:rPr lang="en-US" sz="1600" dirty="0" smtClean="0"/>
              <a:t>task terminates the simulation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371600"/>
            <a:ext cx="6400800" cy="1370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3124200"/>
            <a:ext cx="62484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 </a:t>
            </a:r>
            <a:r>
              <a:rPr lang="en-US" sz="2400" dirty="0" smtClean="0"/>
              <a:t>To suspend a simulation, you can use this system task command.</a:t>
            </a:r>
            <a:endParaRPr lang="en-US" dirty="0" smtClean="0"/>
          </a:p>
          <a:p>
            <a:pPr>
              <a:buNone/>
            </a:pPr>
            <a:endParaRPr lang="en-US" b="1" dirty="0" smtClean="0"/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$finish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$stop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$end</a:t>
            </a:r>
          </a:p>
          <a:p>
            <a:pPr marL="514350" indent="-514350">
              <a:buFont typeface="+mj-lt"/>
              <a:buAutoNum type="alphaUcPeriod"/>
            </a:pPr>
            <a:r>
              <a:rPr lang="en-US" b="1" dirty="0" smtClean="0"/>
              <a:t>$close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599"/>
            <a:ext cx="5257800" cy="4127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When does the $monitor statement in a </a:t>
            </a:r>
            <a:r>
              <a:rPr lang="en-US" sz="2400" dirty="0" err="1" smtClean="0"/>
              <a:t>Verilog</a:t>
            </a:r>
            <a:r>
              <a:rPr lang="en-US" sz="2400" dirty="0" smtClean="0"/>
              <a:t> test bench print the specified values? </a:t>
            </a:r>
          </a:p>
          <a:p>
            <a:pPr>
              <a:buNone/>
            </a:pPr>
            <a:endParaRPr lang="en-US" sz="2400" dirty="0" smtClean="0"/>
          </a:p>
          <a:p>
            <a:pPr marL="457200" indent="-457200">
              <a:buAutoNum type="alphaLcPeriod"/>
            </a:pPr>
            <a:r>
              <a:rPr lang="en-US" sz="2400" dirty="0" smtClean="0"/>
              <a:t>At the beginning of the simulation.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When the $monitor statement is first encountered.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Whenever the value of any of the specified variables change.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None of the above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838200"/>
            <a:ext cx="442225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3810000"/>
            <a:ext cx="2345551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685800"/>
            <a:ext cx="60960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53000" y="4343400"/>
            <a:ext cx="2971800" cy="1539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17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533400"/>
            <a:ext cx="4114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stimulus;</a:t>
            </a:r>
          </a:p>
          <a:p>
            <a:r>
              <a:rPr lang="en-US" dirty="0" err="1" smtClean="0"/>
              <a:t>reg</a:t>
            </a:r>
            <a:r>
              <a:rPr lang="en-US" dirty="0" smtClean="0"/>
              <a:t> </a:t>
            </a:r>
            <a:r>
              <a:rPr lang="en-US" dirty="0" err="1" smtClean="0"/>
              <a:t>clk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reg</a:t>
            </a:r>
            <a:r>
              <a:rPr lang="en-US" dirty="0" smtClean="0"/>
              <a:t> reset;</a:t>
            </a:r>
          </a:p>
          <a:p>
            <a:r>
              <a:rPr lang="en-US" dirty="0" smtClean="0"/>
              <a:t>wire[3:0] q;</a:t>
            </a:r>
          </a:p>
          <a:p>
            <a:r>
              <a:rPr lang="en-US" dirty="0" err="1" smtClean="0"/>
              <a:t>ripple_carry_counter</a:t>
            </a:r>
            <a:r>
              <a:rPr lang="en-US" dirty="0" smtClean="0"/>
              <a:t> r1(q, </a:t>
            </a:r>
            <a:r>
              <a:rPr lang="en-US" dirty="0" err="1" smtClean="0"/>
              <a:t>clk</a:t>
            </a:r>
            <a:r>
              <a:rPr lang="en-US" dirty="0" smtClean="0"/>
              <a:t>, reset);</a:t>
            </a:r>
          </a:p>
          <a:p>
            <a:r>
              <a:rPr lang="en-US" dirty="0" smtClean="0"/>
              <a:t>initial</a:t>
            </a:r>
          </a:p>
          <a:p>
            <a:r>
              <a:rPr lang="en-US" dirty="0" err="1" smtClean="0"/>
              <a:t>clk</a:t>
            </a:r>
            <a:r>
              <a:rPr lang="en-US" dirty="0" smtClean="0"/>
              <a:t> = 1'b0; </a:t>
            </a:r>
          </a:p>
          <a:p>
            <a:r>
              <a:rPr lang="en-US" dirty="0" smtClean="0"/>
              <a:t>always</a:t>
            </a:r>
          </a:p>
          <a:p>
            <a:r>
              <a:rPr lang="en-US" dirty="0" smtClean="0"/>
              <a:t>#5 </a:t>
            </a:r>
            <a:r>
              <a:rPr lang="en-US" dirty="0" err="1" smtClean="0"/>
              <a:t>clk</a:t>
            </a:r>
            <a:r>
              <a:rPr lang="en-US" dirty="0" smtClean="0"/>
              <a:t> = ~</a:t>
            </a:r>
            <a:r>
              <a:rPr lang="en-US" dirty="0" err="1" smtClean="0"/>
              <a:t>clk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initial</a:t>
            </a:r>
          </a:p>
          <a:p>
            <a:r>
              <a:rPr lang="en-US" dirty="0" smtClean="0"/>
              <a:t>begin</a:t>
            </a:r>
          </a:p>
          <a:p>
            <a:r>
              <a:rPr lang="en-US" dirty="0" smtClean="0"/>
              <a:t>reset = 1'b1;</a:t>
            </a:r>
          </a:p>
          <a:p>
            <a:r>
              <a:rPr lang="en-US" dirty="0" smtClean="0"/>
              <a:t>#15 reset = 1'b0;</a:t>
            </a:r>
          </a:p>
          <a:p>
            <a:r>
              <a:rPr lang="en-US" dirty="0" smtClean="0"/>
              <a:t>#180 reset = 1'b1;</a:t>
            </a:r>
          </a:p>
          <a:p>
            <a:r>
              <a:rPr lang="en-US" dirty="0" smtClean="0"/>
              <a:t>#10 reset = 1'b0;</a:t>
            </a:r>
          </a:p>
          <a:p>
            <a:r>
              <a:rPr lang="en-US" dirty="0" smtClean="0"/>
              <a:t>#20 $finish; </a:t>
            </a:r>
          </a:p>
          <a:p>
            <a:r>
              <a:rPr lang="en-US" dirty="0" smtClean="0"/>
              <a:t>End</a:t>
            </a:r>
          </a:p>
          <a:p>
            <a:r>
              <a:rPr lang="en-US" dirty="0" smtClean="0"/>
              <a:t>initial</a:t>
            </a:r>
          </a:p>
          <a:p>
            <a:r>
              <a:rPr lang="en-US" dirty="0" smtClean="0"/>
              <a:t>$monitor($time, " Output q = %d", q);</a:t>
            </a:r>
          </a:p>
          <a:p>
            <a:r>
              <a:rPr lang="en-US" dirty="0" err="1" smtClean="0"/>
              <a:t>endmodule</a:t>
            </a:r>
            <a:endParaRPr lang="en-US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914400"/>
            <a:ext cx="179097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2362200"/>
            <a:ext cx="18288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When does the $monitor statement in a </a:t>
            </a:r>
            <a:r>
              <a:rPr lang="en-US" sz="2400" dirty="0" err="1" smtClean="0"/>
              <a:t>Verilog</a:t>
            </a:r>
            <a:r>
              <a:rPr lang="en-US" sz="2400" dirty="0" smtClean="0"/>
              <a:t> test bench print the specified values? </a:t>
            </a:r>
          </a:p>
          <a:p>
            <a:pPr>
              <a:buNone/>
            </a:pPr>
            <a:endParaRPr lang="en-US" sz="2400" dirty="0" smtClean="0"/>
          </a:p>
          <a:p>
            <a:pPr marL="457200" indent="-457200">
              <a:buAutoNum type="alphaLcPeriod"/>
            </a:pPr>
            <a:r>
              <a:rPr lang="en-US" sz="2400" dirty="0" smtClean="0"/>
              <a:t>At the beginning of the simulation.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When the $monitor statement is first encountered.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Whenever the value of any of the specified variables change.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None of the above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0"/>
            <a:ext cx="1752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Instantation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52400" y="609600"/>
            <a:ext cx="838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module provides a template from which you can create actual objects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When a </a:t>
            </a:r>
            <a:r>
              <a:rPr lang="en-US" dirty="0" smtClean="0"/>
              <a:t>module is </a:t>
            </a:r>
            <a:r>
              <a:rPr lang="en-US" dirty="0"/>
              <a:t>invoked, </a:t>
            </a:r>
            <a:r>
              <a:rPr lang="en-US" dirty="0" err="1"/>
              <a:t>Verilog</a:t>
            </a:r>
            <a:r>
              <a:rPr lang="en-US" dirty="0"/>
              <a:t> creates a unique object from the template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Each object has its </a:t>
            </a:r>
            <a:r>
              <a:rPr lang="en-US" dirty="0" smtClean="0"/>
              <a:t>own name</a:t>
            </a:r>
            <a:r>
              <a:rPr lang="en-US" dirty="0"/>
              <a:t>, variables, parameters, and I/O interface.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process of creating objects from </a:t>
            </a:r>
            <a:r>
              <a:rPr lang="en-US" dirty="0" smtClean="0"/>
              <a:t>a module </a:t>
            </a:r>
            <a:r>
              <a:rPr lang="en-US" dirty="0"/>
              <a:t>template is called instantiation, and the objects are called instances</a:t>
            </a:r>
          </a:p>
        </p:txBody>
      </p:sp>
      <p:pic>
        <p:nvPicPr>
          <p:cNvPr id="26626" name="Picture 2" descr="Verilog : Modules | Verilog Tutorial | Verilo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6639" y="2667000"/>
            <a:ext cx="6347361" cy="4191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Components of a Simulation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7630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/>
              <a:t>Once a design block is completed, it must be tested.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functionality of the design block can be tested by applying stimulus and checking results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Stimulus or Test bench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Simulation – Process of functionality verification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stimulus and design blocks separate 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stimulus block instantiates the design block and drives the signals in the design block 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4038600"/>
            <a:ext cx="35052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81000"/>
            <a:ext cx="6477000" cy="292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600200" y="3505200"/>
            <a:ext cx="64008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 smtClean="0"/>
              <a:t>d_clk</a:t>
            </a:r>
            <a:r>
              <a:rPr lang="en-US" sz="2200" dirty="0" smtClean="0"/>
              <a:t> and </a:t>
            </a:r>
            <a:r>
              <a:rPr lang="en-US" sz="2200" dirty="0" err="1" smtClean="0"/>
              <a:t>d_reset</a:t>
            </a:r>
            <a:r>
              <a:rPr lang="en-US" sz="2200" dirty="0" smtClean="0"/>
              <a:t>, connected to </a:t>
            </a:r>
            <a:r>
              <a:rPr lang="en-US" sz="2200" dirty="0" err="1" smtClean="0"/>
              <a:t>clk</a:t>
            </a:r>
            <a:r>
              <a:rPr lang="en-US" sz="2200" dirty="0" smtClean="0"/>
              <a:t> and reset </a:t>
            </a:r>
          </a:p>
          <a:p>
            <a:r>
              <a:rPr lang="en-US" sz="2200" dirty="0" err="1" smtClean="0"/>
              <a:t>c_q</a:t>
            </a:r>
            <a:r>
              <a:rPr lang="en-US" sz="2200" dirty="0" smtClean="0"/>
              <a:t> connected to q  </a:t>
            </a:r>
          </a:p>
          <a:p>
            <a:endParaRPr lang="en-US" sz="2200" dirty="0" smtClean="0"/>
          </a:p>
          <a:p>
            <a:r>
              <a:rPr lang="en-US" sz="2200" dirty="0" smtClean="0"/>
              <a:t>In stimulus block   Top module </a:t>
            </a:r>
          </a:p>
          <a:p>
            <a:r>
              <a:rPr lang="en-US" sz="2200" dirty="0" smtClean="0"/>
              <a:t>Input declared as </a:t>
            </a:r>
            <a:r>
              <a:rPr lang="en-US" sz="2200" dirty="0" err="1" smtClean="0"/>
              <a:t>reg</a:t>
            </a:r>
            <a:endParaRPr lang="en-US" sz="2200" dirty="0" smtClean="0"/>
          </a:p>
          <a:p>
            <a:r>
              <a:rPr lang="en-US" sz="2200" dirty="0" smtClean="0"/>
              <a:t>Output declared as wired</a:t>
            </a:r>
          </a:p>
          <a:p>
            <a:r>
              <a:rPr lang="en-US" sz="2200" dirty="0" smtClean="0"/>
              <a:t>Top module </a:t>
            </a:r>
            <a:r>
              <a:rPr lang="en-US" sz="2200" dirty="0" err="1" smtClean="0"/>
              <a:t>instantioned</a:t>
            </a:r>
            <a:r>
              <a:rPr lang="en-US" sz="2200" dirty="0" smtClean="0"/>
              <a:t> in stimulus block</a:t>
            </a:r>
            <a:br>
              <a:rPr lang="en-US" sz="2200" dirty="0" smtClean="0"/>
            </a:b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Components of a </a:t>
            </a:r>
            <a:r>
              <a:rPr lang="en-US" b="1" dirty="0" err="1" smtClean="0"/>
              <a:t>Verilog</a:t>
            </a:r>
            <a:r>
              <a:rPr lang="en-US" b="1" dirty="0" smtClean="0"/>
              <a:t> Module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685800"/>
            <a:ext cx="518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685800"/>
            <a:ext cx="39624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 in </a:t>
            </a:r>
            <a:r>
              <a:rPr lang="en-US" dirty="0" err="1" smtClean="0"/>
              <a:t>Verilog</a:t>
            </a:r>
            <a:r>
              <a:rPr lang="en-US" dirty="0" smtClean="0"/>
              <a:t> consists of distinct parts,</a:t>
            </a:r>
          </a:p>
          <a:p>
            <a:endParaRPr lang="en-US" dirty="0" smtClean="0"/>
          </a:p>
          <a:p>
            <a:r>
              <a:rPr lang="en-US" sz="2000" b="1" dirty="0" smtClean="0"/>
              <a:t>Ports</a:t>
            </a:r>
            <a:r>
              <a:rPr lang="en-US" dirty="0" smtClean="0"/>
              <a:t> provide the interface by which a module can communicate 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list of ports </a:t>
            </a:r>
            <a:r>
              <a:rPr lang="en-US" dirty="0" smtClean="0"/>
              <a:t> module contains list of input / output ports</a:t>
            </a:r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657600"/>
            <a:ext cx="3498112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9154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Port connection rule</a:t>
            </a:r>
          </a:p>
          <a:p>
            <a:pPr>
              <a:buNone/>
            </a:pPr>
            <a:r>
              <a:rPr lang="en-US" sz="2000" dirty="0" smtClean="0"/>
              <a:t>port are (a) internal to the module (b) external to the module</a:t>
            </a:r>
          </a:p>
          <a:p>
            <a:pPr>
              <a:buNone/>
            </a:pPr>
            <a:r>
              <a:rPr lang="en-US" sz="2000" dirty="0" smtClean="0"/>
              <a:t>when modules are instantiated within other follow rules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600200"/>
            <a:ext cx="47910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" y="4038600"/>
            <a:ext cx="8991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Connecting by ordered list </a:t>
            </a:r>
            <a:r>
              <a:rPr lang="en-US" dirty="0" smtClean="0"/>
              <a:t>module instantiation in the same order as the ports in the</a:t>
            </a:r>
            <a:br>
              <a:rPr lang="en-US" dirty="0" smtClean="0"/>
            </a:br>
            <a:r>
              <a:rPr lang="en-US" dirty="0" smtClean="0"/>
              <a:t>port list in the module definition</a:t>
            </a:r>
          </a:p>
          <a:p>
            <a:endParaRPr lang="en-US" dirty="0" smtClean="0"/>
          </a:p>
          <a:p>
            <a:r>
              <a:rPr lang="en-US" b="1" dirty="0" smtClean="0"/>
              <a:t>Connecting ports by name</a:t>
            </a:r>
            <a:r>
              <a:rPr lang="en-US" dirty="0" smtClean="0"/>
              <a:t> capability to connect external signals to ports by the port names, rather than by position.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Gate Level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76300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Logic gate   and, or, not, </a:t>
            </a:r>
            <a:r>
              <a:rPr lang="en-US" sz="2000" dirty="0" err="1" smtClean="0"/>
              <a:t>nand</a:t>
            </a:r>
            <a:r>
              <a:rPr lang="en-US" sz="2000" dirty="0" smtClean="0"/>
              <a:t>, nor, </a:t>
            </a:r>
            <a:r>
              <a:rPr lang="en-US" sz="2000" dirty="0" err="1" smtClean="0"/>
              <a:t>xor</a:t>
            </a:r>
            <a:r>
              <a:rPr lang="en-US" sz="2000" dirty="0" smtClean="0"/>
              <a:t>, </a:t>
            </a:r>
            <a:r>
              <a:rPr lang="en-US" sz="2000" dirty="0" err="1" smtClean="0"/>
              <a:t>xnor</a:t>
            </a:r>
            <a:r>
              <a:rPr lang="en-US" sz="2000" dirty="0" smtClean="0"/>
              <a:t> are reserved word</a:t>
            </a:r>
          </a:p>
          <a:p>
            <a:pPr>
              <a:buNone/>
            </a:pPr>
            <a:r>
              <a:rPr lang="en-US" sz="2000" dirty="0" smtClean="0"/>
              <a:t>Gate instanced by name</a:t>
            </a:r>
          </a:p>
          <a:p>
            <a:pPr>
              <a:buNone/>
            </a:pPr>
            <a:r>
              <a:rPr lang="en-US" sz="2000" dirty="0" smtClean="0"/>
              <a:t>Gate port follow output than inputs</a:t>
            </a:r>
          </a:p>
          <a:p>
            <a:pPr>
              <a:buNone/>
            </a:pPr>
            <a:endParaRPr lang="en-US" sz="2000" dirty="0" smtClean="0"/>
          </a:p>
        </p:txBody>
      </p:sp>
      <p:pic>
        <p:nvPicPr>
          <p:cNvPr id="5131" name="Picture 11" descr="bufif verilog tri-state buffer logic instanti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785671"/>
            <a:ext cx="7772400" cy="50723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295400"/>
            <a:ext cx="3276600" cy="4021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 flipH="1">
            <a:off x="-1" y="457200"/>
            <a:ext cx="426720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Following program presents </a:t>
            </a:r>
            <a:endParaRPr 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0"/>
            <a:ext cx="4593107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 flipH="1">
            <a:off x="-1" y="457200"/>
            <a:ext cx="426720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Following program presents 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3581400"/>
            <a:ext cx="489585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2057400"/>
            <a:ext cx="476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Gate Delays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39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dirty="0" smtClean="0"/>
              <a:t>In real circuits, logic gates have delays associated with them. </a:t>
            </a:r>
          </a:p>
          <a:p>
            <a:pPr>
              <a:buNone/>
            </a:pPr>
            <a:r>
              <a:rPr lang="en-US" sz="2000" dirty="0" smtClean="0"/>
              <a:t>Gate delays allow the </a:t>
            </a:r>
            <a:r>
              <a:rPr lang="en-US" sz="2000" dirty="0" err="1" smtClean="0"/>
              <a:t>Verilog</a:t>
            </a:r>
            <a:r>
              <a:rPr lang="en-US" sz="2000" dirty="0" smtClean="0"/>
              <a:t> user to specify delays through the logic circuits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Rise delay</a:t>
            </a:r>
            <a:r>
              <a:rPr lang="en-US" sz="2000" dirty="0" smtClean="0"/>
              <a:t> is gate output transition to a 1 from another value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Fall delay</a:t>
            </a:r>
            <a:r>
              <a:rPr lang="en-US" sz="2000" dirty="0" smtClean="0"/>
              <a:t> is gate output transition to a 0 from another value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b="1" dirty="0" smtClean="0"/>
              <a:t>Turn-off delay</a:t>
            </a:r>
            <a:r>
              <a:rPr lang="en-US" sz="2000" dirty="0" smtClean="0"/>
              <a:t> is gate output transition to the high impedance value (z) from another value </a:t>
            </a:r>
            <a:br>
              <a:rPr lang="en-US" sz="2000" dirty="0" smtClean="0"/>
            </a:br>
            <a:r>
              <a:rPr lang="en-US" sz="2200" dirty="0" smtClean="0"/>
              <a:t>If the value changes to x, the minimum of the three delays is considered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096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Rise, Fall, and Turn-off Delay Specification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		and #(</a:t>
            </a:r>
            <a:r>
              <a:rPr lang="en-US" sz="2000" dirty="0" err="1" smtClean="0"/>
              <a:t>rise_val</a:t>
            </a:r>
            <a:r>
              <a:rPr lang="en-US" sz="2000" dirty="0" smtClean="0"/>
              <a:t>, </a:t>
            </a:r>
            <a:r>
              <a:rPr lang="en-US" sz="2000" dirty="0" err="1" smtClean="0"/>
              <a:t>fall_val</a:t>
            </a:r>
            <a:r>
              <a:rPr lang="en-US" sz="2000" dirty="0" smtClean="0"/>
              <a:t>, </a:t>
            </a:r>
            <a:r>
              <a:rPr lang="en-US" sz="2000" dirty="0" err="1" smtClean="0"/>
              <a:t>turnoff_val</a:t>
            </a:r>
            <a:r>
              <a:rPr lang="en-US" sz="2000" dirty="0" smtClean="0"/>
              <a:t>) b1 (out, in, control); 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Rise and Fall Delay Specification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		and #(</a:t>
            </a:r>
            <a:r>
              <a:rPr lang="en-US" sz="2000" dirty="0" err="1" smtClean="0"/>
              <a:t>rise_val</a:t>
            </a:r>
            <a:r>
              <a:rPr lang="en-US" sz="2000" dirty="0" smtClean="0"/>
              <a:t>, </a:t>
            </a:r>
            <a:r>
              <a:rPr lang="en-US" sz="2000" dirty="0" err="1" smtClean="0"/>
              <a:t>fall_val</a:t>
            </a:r>
            <a:r>
              <a:rPr lang="en-US" sz="2000" dirty="0" smtClean="0"/>
              <a:t>) a2(out, i1, i2);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Delay of </a:t>
            </a:r>
            <a:r>
              <a:rPr lang="en-US" sz="2000" b="1" dirty="0" err="1" smtClean="0">
                <a:solidFill>
                  <a:srgbClr val="002060"/>
                </a:solidFill>
              </a:rPr>
              <a:t>delay_time</a:t>
            </a:r>
            <a:r>
              <a:rPr lang="en-US" sz="2000" b="1" dirty="0" smtClean="0">
                <a:solidFill>
                  <a:srgbClr val="002060"/>
                </a:solidFill>
              </a:rPr>
              <a:t> for all transitions</a:t>
            </a:r>
            <a:br>
              <a:rPr lang="en-US" sz="2000" b="1" dirty="0" smtClean="0">
                <a:solidFill>
                  <a:srgbClr val="002060"/>
                </a:solidFill>
              </a:rPr>
            </a:br>
            <a:r>
              <a:rPr lang="en-US" sz="2000" b="1" dirty="0" smtClean="0">
                <a:solidFill>
                  <a:srgbClr val="002060"/>
                </a:solidFill>
              </a:rPr>
              <a:t>		</a:t>
            </a:r>
            <a:r>
              <a:rPr lang="en-US" sz="2000" dirty="0" smtClean="0"/>
              <a:t>and #(</a:t>
            </a:r>
            <a:r>
              <a:rPr lang="en-US" sz="2000" dirty="0" err="1" smtClean="0"/>
              <a:t>delay_time</a:t>
            </a:r>
            <a:r>
              <a:rPr lang="en-US" sz="2000" dirty="0" smtClean="0"/>
              <a:t>) a1(out, i1, i2);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no delays</a:t>
            </a:r>
            <a:r>
              <a:rPr lang="en-US" sz="2000" dirty="0" smtClean="0"/>
              <a:t> are specified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zero delay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one delay</a:t>
            </a:r>
            <a:r>
              <a:rPr lang="en-US" sz="2000" dirty="0" smtClean="0"/>
              <a:t> is specified </a:t>
            </a:r>
            <a:r>
              <a:rPr lang="en-US" sz="2000" dirty="0" smtClean="0">
                <a:sym typeface="Wingdings" pitchFamily="2" charset="2"/>
              </a:rPr>
              <a:t> same for all transition</a:t>
            </a:r>
            <a:endParaRPr lang="en-US" sz="2000" dirty="0" smtClean="0"/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two delays</a:t>
            </a:r>
            <a:r>
              <a:rPr lang="en-US" sz="2000" dirty="0" smtClean="0"/>
              <a:t> are specified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rise and fall delay, turn-off delay is the minimum of the 			two delays. 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three delays</a:t>
            </a:r>
            <a:r>
              <a:rPr lang="en-US" sz="2000" dirty="0" smtClean="0"/>
              <a:t> are specified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rise, fall, and turn-off delay values.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and #(5) a1(out, i1, i2); 			//Delay of 5 for all transitions</a:t>
            </a:r>
            <a:br>
              <a:rPr lang="en-US" sz="2000" dirty="0" smtClean="0"/>
            </a:br>
            <a:r>
              <a:rPr lang="en-US" sz="2000" dirty="0" smtClean="0"/>
              <a:t>and #(4,6) a2(out, i1, i2); 		// Rise = 4, Fall = 6</a:t>
            </a:r>
            <a:br>
              <a:rPr lang="en-US" sz="2000" dirty="0" smtClean="0"/>
            </a:br>
            <a:r>
              <a:rPr lang="en-US" sz="2000" dirty="0" smtClean="0"/>
              <a:t>bufif0 #(3,4,5) b1 (out, in, control); 	// Rise = 3, Fall = 4, Turn-off = 5 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304800" y="533400"/>
            <a:ext cx="48269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not # 2 n0(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not_cnt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cnt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and #(2,3) a0(a0_out, a,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not_cnt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or #(3,2) o0(out, a0_out, a1_out);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57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124200"/>
            <a:ext cx="381983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28600" y="5638800"/>
            <a:ext cx="16257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Delay of NOT 1</a:t>
            </a:r>
          </a:p>
          <a:p>
            <a:r>
              <a:rPr lang="en-US" dirty="0" smtClean="0"/>
              <a:t>                AND 2</a:t>
            </a:r>
          </a:p>
          <a:p>
            <a:r>
              <a:rPr lang="en-US" dirty="0" smtClean="0"/>
              <a:t>                 OR 1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457200" y="609600"/>
            <a:ext cx="6214202" cy="341632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module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buf_gate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();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reg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in;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wire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out;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buf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#(5) (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out,in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initial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begin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$monitor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(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800080"/>
                </a:solidFill>
                <a:effectLst/>
                <a:latin typeface="Arial" pitchFamily="34" charset="0"/>
                <a:cs typeface="Arial" pitchFamily="34" charset="0"/>
              </a:rPr>
              <a:t>"Time = %d in = %b out=%b"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,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$time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, in, out);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in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=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0;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6633"/>
                </a:solidFill>
                <a:effectLst/>
                <a:latin typeface="Arial" pitchFamily="34" charset="0"/>
                <a:cs typeface="Arial" pitchFamily="34" charset="0"/>
              </a:rPr>
              <a:t>#10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in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=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1;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6633"/>
                </a:solidFill>
                <a:effectLst/>
                <a:latin typeface="Arial" pitchFamily="34" charset="0"/>
                <a:cs typeface="Arial" pitchFamily="34" charset="0"/>
              </a:rPr>
              <a:t>#10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in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=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0;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6633"/>
                </a:solidFill>
                <a:effectLst/>
                <a:latin typeface="Arial" pitchFamily="34" charset="0"/>
                <a:cs typeface="Arial" pitchFamily="34" charset="0"/>
              </a:rPr>
              <a:t>#10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$finish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end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endmodule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50996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/>
              <a:t>Practice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3882887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Min/</a:t>
            </a:r>
            <a:r>
              <a:rPr lang="en-US" b="1" dirty="0" err="1" smtClean="0"/>
              <a:t>Typ</a:t>
            </a:r>
            <a:r>
              <a:rPr lang="en-US" b="1" dirty="0" smtClean="0"/>
              <a:t>/Max Values</a:t>
            </a:r>
            <a:r>
              <a:rPr lang="en-US" dirty="0" smtClean="0"/>
              <a:t>  of Delay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15400" cy="47243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For each type of delay three values, min, </a:t>
            </a:r>
            <a:r>
              <a:rPr lang="en-US" sz="2000" dirty="0" err="1" smtClean="0"/>
              <a:t>typ</a:t>
            </a:r>
            <a:r>
              <a:rPr lang="en-US" sz="2000" dirty="0" smtClean="0"/>
              <a:t>, and max, can be specified 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Min </a:t>
            </a:r>
            <a:r>
              <a:rPr lang="en-US" sz="2000" b="1" dirty="0" smtClean="0">
                <a:sym typeface="Wingdings" pitchFamily="2" charset="2"/>
              </a:rPr>
              <a:t> </a:t>
            </a:r>
            <a:r>
              <a:rPr lang="en-US" sz="2000" dirty="0" smtClean="0"/>
              <a:t>minimum delay value that the designer expects the gate to have </a:t>
            </a:r>
          </a:p>
          <a:p>
            <a:pPr>
              <a:buNone/>
            </a:pPr>
            <a:r>
              <a:rPr lang="en-US" sz="2000" b="1" dirty="0" err="1" smtClean="0"/>
              <a:t>Typ</a:t>
            </a:r>
            <a:r>
              <a:rPr lang="en-US" sz="2000" b="1" dirty="0" smtClean="0">
                <a:sym typeface="Wingdings" pitchFamily="2" charset="2"/>
              </a:rPr>
              <a:t> </a:t>
            </a:r>
            <a:r>
              <a:rPr lang="en-US" sz="2000" dirty="0" smtClean="0">
                <a:sym typeface="Wingdings" pitchFamily="2" charset="2"/>
              </a:rPr>
              <a:t>t</a:t>
            </a:r>
            <a:r>
              <a:rPr lang="en-US" sz="2000" dirty="0" smtClean="0"/>
              <a:t>ypical delay value that the designer expects the gate to have. </a:t>
            </a:r>
            <a:endParaRPr lang="en-US" sz="2000" b="1" dirty="0" smtClean="0"/>
          </a:p>
          <a:p>
            <a:pPr>
              <a:buNone/>
            </a:pPr>
            <a:r>
              <a:rPr lang="en-US" sz="2000" b="1" dirty="0" smtClean="0"/>
              <a:t>Max</a:t>
            </a:r>
            <a:r>
              <a:rPr lang="en-US" sz="2000" dirty="0" smtClean="0"/>
              <a:t>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maximum delay value that the designer expects the gate to have 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and #(4:5:6) a1(out, i1, i2);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and #(3:4:5, 5:6:7) a2(out, i1, i2);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and #(2:3:4, 3:4:5, 4:5:6) a3(out, i1,i2); 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QUIZ</a:t>
            </a:r>
            <a:endParaRPr lang="en-US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762000"/>
            <a:ext cx="391885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67200"/>
            <a:ext cx="9144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Verilog</a:t>
            </a:r>
            <a:r>
              <a:rPr lang="en-US" dirty="0" smtClean="0"/>
              <a:t> Program</a:t>
            </a:r>
            <a:endParaRPr lang="en-US" dirty="0"/>
          </a:p>
        </p:txBody>
      </p:sp>
      <p:pic>
        <p:nvPicPr>
          <p:cNvPr id="1026" name="Picture 2" descr="http://bravelearn.com/wp-content/uploads/2017/01/four_input_or_gat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38122" y="2057400"/>
            <a:ext cx="5605878" cy="19716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76200" y="2967335"/>
            <a:ext cx="3048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 </a:t>
            </a:r>
            <a:r>
              <a:rPr lang="en-US" dirty="0" err="1" smtClean="0"/>
              <a:t>orgate</a:t>
            </a:r>
            <a:r>
              <a:rPr lang="en-US" dirty="0" smtClean="0"/>
              <a:t>(out, a, b, c, d); </a:t>
            </a:r>
            <a:r>
              <a:rPr lang="en-US" b="1" dirty="0" smtClean="0"/>
              <a:t>input</a:t>
            </a:r>
            <a:r>
              <a:rPr lang="en-US" dirty="0" smtClean="0"/>
              <a:t> a, b, c, d; </a:t>
            </a:r>
          </a:p>
          <a:p>
            <a:r>
              <a:rPr lang="en-US" b="1" dirty="0" smtClean="0"/>
              <a:t>wire</a:t>
            </a:r>
            <a:r>
              <a:rPr lang="en-US" dirty="0" smtClean="0"/>
              <a:t> x, y; </a:t>
            </a:r>
            <a:r>
              <a:rPr lang="en-US" b="1" dirty="0" smtClean="0"/>
              <a:t>output</a:t>
            </a:r>
            <a:r>
              <a:rPr lang="en-US" dirty="0" smtClean="0"/>
              <a:t> out; </a:t>
            </a:r>
          </a:p>
          <a:p>
            <a:r>
              <a:rPr lang="en-US" b="1" dirty="0" smtClean="0"/>
              <a:t>or</a:t>
            </a:r>
            <a:r>
              <a:rPr lang="en-US" dirty="0" smtClean="0"/>
              <a:t>  or1(x, a, b); </a:t>
            </a:r>
          </a:p>
          <a:p>
            <a:r>
              <a:rPr lang="en-US" b="1" dirty="0" smtClean="0"/>
              <a:t>or</a:t>
            </a:r>
            <a:r>
              <a:rPr lang="en-US" dirty="0" smtClean="0"/>
              <a:t>  or2(y, c, d); </a:t>
            </a:r>
          </a:p>
          <a:p>
            <a:r>
              <a:rPr lang="en-US" b="1" dirty="0" smtClean="0"/>
              <a:t>or</a:t>
            </a:r>
            <a:r>
              <a:rPr lang="en-US" dirty="0" smtClean="0"/>
              <a:t> or3(out, x, y); </a:t>
            </a:r>
          </a:p>
          <a:p>
            <a:r>
              <a:rPr lang="en-US" b="1" dirty="0" err="1" smtClean="0"/>
              <a:t>endmodule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447800"/>
            <a:ext cx="1908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four input OR gate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http://bravelearn.com/wp-content/uploads/2017/01/examp_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2133600"/>
            <a:ext cx="3705225" cy="1905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76200" y="1466671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 example_2_bl(out, a, b, c, d); </a:t>
            </a:r>
          </a:p>
          <a:p>
            <a:r>
              <a:rPr lang="en-US" b="1" dirty="0" smtClean="0"/>
              <a:t>input</a:t>
            </a:r>
            <a:r>
              <a:rPr lang="en-US" dirty="0" smtClean="0"/>
              <a:t> a, b, c, d; </a:t>
            </a:r>
          </a:p>
          <a:p>
            <a:r>
              <a:rPr lang="en-US" b="1" dirty="0" smtClean="0"/>
              <a:t>output</a:t>
            </a:r>
            <a:r>
              <a:rPr lang="en-US" dirty="0" smtClean="0"/>
              <a:t> out; </a:t>
            </a:r>
          </a:p>
          <a:p>
            <a:r>
              <a:rPr lang="en-US" b="1" dirty="0" smtClean="0"/>
              <a:t>wire</a:t>
            </a:r>
            <a:r>
              <a:rPr lang="en-US" dirty="0" smtClean="0"/>
              <a:t> x, y;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and</a:t>
            </a:r>
            <a:r>
              <a:rPr lang="en-US" dirty="0" smtClean="0"/>
              <a:t> gate_1(x, a, b); </a:t>
            </a:r>
          </a:p>
          <a:p>
            <a:r>
              <a:rPr lang="en-US" b="1" dirty="0" smtClean="0"/>
              <a:t>or</a:t>
            </a:r>
            <a:r>
              <a:rPr lang="en-US" dirty="0" smtClean="0"/>
              <a:t> gate_2(y, c, d); </a:t>
            </a:r>
          </a:p>
          <a:p>
            <a:r>
              <a:rPr lang="en-US" b="1" dirty="0" err="1" smtClean="0"/>
              <a:t>xor</a:t>
            </a:r>
            <a:r>
              <a:rPr lang="en-US" dirty="0" smtClean="0"/>
              <a:t> gate_3(out, x, y); </a:t>
            </a:r>
          </a:p>
          <a:p>
            <a:r>
              <a:rPr lang="en-US" b="1" dirty="0" err="1" smtClean="0"/>
              <a:t>endmodule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727272"/>
                </a:solidFill>
                <a:effectLst/>
                <a:latin typeface="Trebuchet MS" pitchFamily="34" charset="0"/>
                <a:cs typeface="Arial" pitchFamily="34" charset="0"/>
              </a:rPr>
              <a:t>4×2 Multiplexer using gate level Modeling as shown below: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0A7E0"/>
                </a:solidFill>
                <a:effectLst/>
                <a:latin typeface="Trebuchet MS" pitchFamily="34" charset="0"/>
                <a:cs typeface="Arial" pitchFamily="34" charset="0"/>
                <a:hlinkClick r:id="rId2"/>
              </a:rPr>
              <a:t>  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727272"/>
                </a:solidFill>
                <a:effectLst/>
                <a:latin typeface="Trebuchet MS" pitchFamily="34" charset="0"/>
                <a:cs typeface="Arial" pitchFamily="34" charset="0"/>
              </a:rPr>
              <a:t>Verilog Code: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800" b="0" i="0" u="none" strike="noStrike" cap="none" normalizeH="0" baseline="0" smtClean="0">
              <a:ln>
                <a:noFill/>
              </a:ln>
              <a:solidFill>
                <a:srgbClr val="00A7E0"/>
              </a:solidFill>
              <a:effectLst/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36867" name="Picture 3" descr="http://bravelearn.com/wp-content/uploads/2017/01/mux_bl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0125" y="1371600"/>
            <a:ext cx="4333875" cy="362902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2413338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 example_3_bl(out, i0, i1, i2, i3, s1, s0); </a:t>
            </a:r>
            <a:r>
              <a:rPr lang="en-US" b="1" dirty="0" smtClean="0"/>
              <a:t>input</a:t>
            </a:r>
            <a:r>
              <a:rPr lang="en-US" dirty="0" smtClean="0"/>
              <a:t> i0, i1, i2, i3, s1, s0; </a:t>
            </a:r>
          </a:p>
          <a:p>
            <a:r>
              <a:rPr lang="en-US" b="1" dirty="0" smtClean="0"/>
              <a:t>output</a:t>
            </a:r>
            <a:r>
              <a:rPr lang="en-US" dirty="0" smtClean="0"/>
              <a:t> out; </a:t>
            </a:r>
          </a:p>
          <a:p>
            <a:r>
              <a:rPr lang="en-US" b="1" dirty="0" smtClean="0"/>
              <a:t>wire</a:t>
            </a:r>
            <a:r>
              <a:rPr lang="en-US" dirty="0" smtClean="0"/>
              <a:t> y0, y1, y2, y3, s1n, s0n; </a:t>
            </a:r>
          </a:p>
          <a:p>
            <a:r>
              <a:rPr lang="en-US" b="1" dirty="0" smtClean="0"/>
              <a:t>not</a:t>
            </a:r>
            <a:r>
              <a:rPr lang="en-US" dirty="0" smtClean="0"/>
              <a:t> n1(s1n, s1); </a:t>
            </a:r>
          </a:p>
          <a:p>
            <a:r>
              <a:rPr lang="en-US" b="1" dirty="0" smtClean="0"/>
              <a:t>not</a:t>
            </a:r>
            <a:r>
              <a:rPr lang="en-US" dirty="0" smtClean="0"/>
              <a:t> n2(s0n, s0); </a:t>
            </a:r>
          </a:p>
          <a:p>
            <a:r>
              <a:rPr lang="en-US" b="1" dirty="0" smtClean="0"/>
              <a:t>and</a:t>
            </a:r>
            <a:r>
              <a:rPr lang="en-US" dirty="0" smtClean="0"/>
              <a:t> alpha(y0, i0, s1n, s0n); </a:t>
            </a:r>
          </a:p>
          <a:p>
            <a:r>
              <a:rPr lang="en-US" b="1" dirty="0" smtClean="0"/>
              <a:t>and</a:t>
            </a:r>
            <a:r>
              <a:rPr lang="en-US" dirty="0" smtClean="0"/>
              <a:t> beta(y1, i1, s1n, s0); </a:t>
            </a:r>
          </a:p>
          <a:p>
            <a:r>
              <a:rPr lang="en-US" b="1" dirty="0" smtClean="0"/>
              <a:t>and</a:t>
            </a:r>
            <a:r>
              <a:rPr lang="en-US" dirty="0" smtClean="0"/>
              <a:t> gamma(y2, i2, s1, s0n); </a:t>
            </a:r>
          </a:p>
          <a:p>
            <a:r>
              <a:rPr lang="en-US" b="1" dirty="0" smtClean="0"/>
              <a:t>and</a:t>
            </a:r>
            <a:r>
              <a:rPr lang="en-US" dirty="0" smtClean="0"/>
              <a:t> terra(y3, i3, s1, s0); </a:t>
            </a:r>
          </a:p>
          <a:p>
            <a:r>
              <a:rPr lang="en-US" b="1" dirty="0" smtClean="0"/>
              <a:t>or</a:t>
            </a:r>
            <a:r>
              <a:rPr lang="en-US" dirty="0" smtClean="0"/>
              <a:t> out2(out, y0, y1, y2, y3); </a:t>
            </a:r>
          </a:p>
          <a:p>
            <a:r>
              <a:rPr lang="en-US" b="1" dirty="0" err="1" smtClean="0"/>
              <a:t>endmodule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4104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4×1 Multiplexer using gate level Modeling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Full Add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143000"/>
            <a:ext cx="4127498" cy="185737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09600" y="762000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Full Adder in Gate Level</a:t>
            </a:r>
            <a:endParaRPr lang="en-US" dirty="0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152400" y="1600201"/>
            <a:ext cx="3352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module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fa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s,co,a,b,ci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output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s,co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input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a,b,ci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Wire n1,n2,n2;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xor1 u1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s,a,b,ci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and1 u2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n1,a,b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and1 u3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n2,b,ci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and1 u4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n3,a,ci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or1 u5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co,n1,n2,n3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Courier New" pitchFamily="49" charset="0"/>
                <a:cs typeface="Courier New" pitchFamily="49" charset="0"/>
              </a:rPr>
              <a:t>endmodule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0" y="3057435"/>
            <a:ext cx="4572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full_adder</a:t>
            </a:r>
            <a:r>
              <a:rPr lang="en-US" dirty="0" smtClean="0"/>
              <a:t>(</a:t>
            </a:r>
            <a:r>
              <a:rPr lang="en-US" dirty="0" err="1" smtClean="0"/>
              <a:t>x,y,cin,s,cout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input </a:t>
            </a:r>
            <a:r>
              <a:rPr lang="en-US" dirty="0" err="1" smtClean="0"/>
              <a:t>x,y,cin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output </a:t>
            </a:r>
            <a:r>
              <a:rPr lang="en-US" dirty="0" err="1" smtClean="0"/>
              <a:t>s,cout</a:t>
            </a:r>
            <a:r>
              <a:rPr lang="en-US" dirty="0" smtClean="0"/>
              <a:t>; </a:t>
            </a:r>
          </a:p>
          <a:p>
            <a:r>
              <a:rPr lang="en-US" dirty="0" smtClean="0"/>
              <a:t>wire s1,c1,c2; </a:t>
            </a:r>
          </a:p>
          <a:p>
            <a:r>
              <a:rPr lang="en-US" dirty="0" err="1" smtClean="0"/>
              <a:t>half_adder</a:t>
            </a:r>
            <a:r>
              <a:rPr lang="en-US" dirty="0" smtClean="0"/>
              <a:t> ha1(x,y,s1,c1); </a:t>
            </a:r>
          </a:p>
          <a:p>
            <a:r>
              <a:rPr lang="en-US" dirty="0" err="1" smtClean="0"/>
              <a:t>half_adder</a:t>
            </a:r>
            <a:r>
              <a:rPr lang="en-US" dirty="0" smtClean="0"/>
              <a:t> ha2(cin,s1,s,c2); </a:t>
            </a:r>
          </a:p>
          <a:p>
            <a:r>
              <a:rPr lang="en-US" dirty="0" smtClean="0"/>
              <a:t>or(cout,c1,c2); </a:t>
            </a:r>
            <a:r>
              <a:rPr lang="en-US" dirty="0" err="1" smtClean="0"/>
              <a:t>endmodule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400800" y="3468469"/>
            <a:ext cx="2743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half_adder</a:t>
            </a:r>
            <a:r>
              <a:rPr lang="en-US" dirty="0" smtClean="0"/>
              <a:t>(</a:t>
            </a:r>
            <a:r>
              <a:rPr lang="en-US" dirty="0" err="1" smtClean="0"/>
              <a:t>x,y,s,c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input </a:t>
            </a:r>
            <a:r>
              <a:rPr lang="en-US" dirty="0" err="1" smtClean="0"/>
              <a:t>x,y</a:t>
            </a:r>
            <a:r>
              <a:rPr lang="en-US" dirty="0" smtClean="0"/>
              <a:t>; </a:t>
            </a:r>
          </a:p>
          <a:p>
            <a:r>
              <a:rPr lang="en-US" dirty="0" smtClean="0"/>
              <a:t>output </a:t>
            </a:r>
            <a:r>
              <a:rPr lang="en-US" dirty="0" err="1" smtClean="0"/>
              <a:t>s,c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Xor</a:t>
            </a:r>
            <a:r>
              <a:rPr lang="en-US" dirty="0" smtClean="0"/>
              <a:t> x1(</a:t>
            </a:r>
            <a:r>
              <a:rPr lang="en-US" dirty="0" err="1" smtClean="0"/>
              <a:t>s,x,y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And a1(</a:t>
            </a:r>
            <a:r>
              <a:rPr lang="en-US" dirty="0" err="1" smtClean="0"/>
              <a:t>c,x,y</a:t>
            </a:r>
            <a:r>
              <a:rPr lang="en-US" dirty="0" smtClean="0"/>
              <a:t>); </a:t>
            </a:r>
          </a:p>
          <a:p>
            <a:r>
              <a:rPr lang="en-US" dirty="0" err="1" smtClean="0"/>
              <a:t>endmodule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39938" name="Picture 2" descr="half substractor schemati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400"/>
            <a:ext cx="2124075" cy="1752600"/>
          </a:xfrm>
          <a:prstGeom prst="rect">
            <a:avLst/>
          </a:prstGeom>
          <a:noFill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657600"/>
            <a:ext cx="19621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 descr="full substractor schematic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33800" y="1524000"/>
            <a:ext cx="4867275" cy="2209801"/>
          </a:xfrm>
          <a:prstGeom prst="rect">
            <a:avLst/>
          </a:prstGeom>
          <a:noFill/>
        </p:spPr>
      </p:pic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0" y="4191000"/>
            <a:ext cx="28670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4:1 </a:t>
            </a:r>
            <a:r>
              <a:rPr lang="en-US" dirty="0" err="1" smtClean="0"/>
              <a:t>mux</a:t>
            </a:r>
            <a:r>
              <a:rPr lang="en-US" dirty="0" smtClean="0"/>
              <a:t> using 2:1 </a:t>
            </a:r>
            <a:r>
              <a:rPr lang="en-US" dirty="0" err="1" smtClean="0"/>
              <a:t>mux</a:t>
            </a:r>
            <a:endParaRPr lang="en-US" dirty="0"/>
          </a:p>
        </p:txBody>
      </p:sp>
      <p:pic>
        <p:nvPicPr>
          <p:cNvPr id="40962" name="Picture 2" descr="http://bravelearn.com/wp-content/uploads/2017/01/4x2_mux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95401"/>
            <a:ext cx="4057939" cy="2971800"/>
          </a:xfrm>
          <a:prstGeom prst="rect">
            <a:avLst/>
          </a:prstGeom>
          <a:noFill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4192" y="1828800"/>
            <a:ext cx="345633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124200" cy="1143000"/>
          </a:xfrm>
        </p:spPr>
        <p:txBody>
          <a:bodyPr/>
          <a:lstStyle/>
          <a:p>
            <a:r>
              <a:rPr lang="en-US" dirty="0" smtClean="0"/>
              <a:t>2:4 Decoder</a:t>
            </a:r>
            <a:endParaRPr lang="en-US" dirty="0"/>
          </a:p>
        </p:txBody>
      </p:sp>
      <p:pic>
        <p:nvPicPr>
          <p:cNvPr id="41986" name="Picture 2" descr="Pictur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3133725" cy="263842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4120277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 dec24_str(</a:t>
            </a:r>
            <a:br>
              <a:rPr lang="en-US" dirty="0" smtClean="0"/>
            </a:br>
            <a:r>
              <a:rPr lang="en-US" b="1" dirty="0" smtClean="0"/>
              <a:t>output</a:t>
            </a:r>
            <a:r>
              <a:rPr lang="en-US" dirty="0" smtClean="0"/>
              <a:t> [3:0] y,</a:t>
            </a:r>
            <a:br>
              <a:rPr lang="en-US" dirty="0" smtClean="0"/>
            </a:br>
            <a:r>
              <a:rPr lang="en-US" b="1" dirty="0" smtClean="0"/>
              <a:t>input</a:t>
            </a:r>
            <a:r>
              <a:rPr lang="en-US" dirty="0" smtClean="0"/>
              <a:t> [1:0] a,</a:t>
            </a:r>
            <a:br>
              <a:rPr lang="en-US" dirty="0" smtClean="0"/>
            </a:br>
            <a:r>
              <a:rPr lang="en-US" b="1" dirty="0" smtClean="0"/>
              <a:t>input</a:t>
            </a:r>
            <a:r>
              <a:rPr lang="en-US" dirty="0" smtClean="0"/>
              <a:t> en);</a:t>
            </a:r>
            <a:br>
              <a:rPr lang="en-US" dirty="0" smtClean="0"/>
            </a:br>
            <a:r>
              <a:rPr lang="en-US" b="1" dirty="0" smtClean="0"/>
              <a:t>and</a:t>
            </a:r>
            <a:r>
              <a:rPr lang="en-US" dirty="0" smtClean="0"/>
              <a:t> (y[0], ~a[1], ~a[0], en); </a:t>
            </a:r>
            <a:br>
              <a:rPr lang="en-US" dirty="0" smtClean="0"/>
            </a:br>
            <a:r>
              <a:rPr lang="en-US" b="1" dirty="0" smtClean="0"/>
              <a:t>and</a:t>
            </a:r>
            <a:r>
              <a:rPr lang="en-US" dirty="0" smtClean="0"/>
              <a:t> (y[1], ~a[1], a[0], en);</a:t>
            </a:r>
            <a:br>
              <a:rPr lang="en-US" dirty="0" smtClean="0"/>
            </a:br>
            <a:r>
              <a:rPr lang="en-US" b="1" dirty="0" smtClean="0"/>
              <a:t>and</a:t>
            </a:r>
            <a:r>
              <a:rPr lang="en-US" dirty="0" smtClean="0"/>
              <a:t> (y[2], a[1], ~a[0], en);</a:t>
            </a:r>
            <a:br>
              <a:rPr lang="en-US" dirty="0" smtClean="0"/>
            </a:br>
            <a:r>
              <a:rPr lang="en-US" b="1" dirty="0" smtClean="0"/>
              <a:t>and</a:t>
            </a:r>
            <a:r>
              <a:rPr lang="en-US" dirty="0" smtClean="0"/>
              <a:t> (y[3], a[1], a[0], en);</a:t>
            </a:r>
            <a:br>
              <a:rPr lang="en-US" dirty="0" smtClean="0"/>
            </a:br>
            <a:r>
              <a:rPr lang="en-US" b="1" dirty="0" err="1" smtClean="0"/>
              <a:t>endmodule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24400" y="264467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 smtClean="0"/>
              <a:t>module dec2_4 (a,b,en,y0,y1,y2,y3) </a:t>
            </a:r>
            <a:br>
              <a:rPr lang="es-ES" dirty="0" smtClean="0"/>
            </a:br>
            <a:r>
              <a:rPr lang="es-ES" dirty="0" smtClean="0"/>
              <a:t>input a, b, en;</a:t>
            </a:r>
            <a:br>
              <a:rPr lang="es-ES" dirty="0" smtClean="0"/>
            </a:br>
            <a:r>
              <a:rPr lang="es-ES" dirty="0" smtClean="0"/>
              <a:t>output y0,y1,y2,y3;</a:t>
            </a:r>
            <a:br>
              <a:rPr lang="es-ES" dirty="0" smtClean="0"/>
            </a:br>
            <a:r>
              <a:rPr lang="es-ES" dirty="0" err="1" smtClean="0"/>
              <a:t>assign</a:t>
            </a:r>
            <a:r>
              <a:rPr lang="es-ES" dirty="0" smtClean="0"/>
              <a:t> y0= (~a) &amp; (~b) &amp; en;</a:t>
            </a:r>
            <a:br>
              <a:rPr lang="es-ES" dirty="0" smtClean="0"/>
            </a:br>
            <a:r>
              <a:rPr lang="es-ES" dirty="0" err="1" smtClean="0"/>
              <a:t>assign</a:t>
            </a:r>
            <a:r>
              <a:rPr lang="es-ES" dirty="0" smtClean="0"/>
              <a:t> y1= (~a) &amp; b &amp; en;</a:t>
            </a:r>
            <a:br>
              <a:rPr lang="es-ES" dirty="0" smtClean="0"/>
            </a:br>
            <a:r>
              <a:rPr lang="es-ES" dirty="0" err="1" smtClean="0"/>
              <a:t>assign</a:t>
            </a:r>
            <a:r>
              <a:rPr lang="es-ES" dirty="0" smtClean="0"/>
              <a:t> y2= a &amp; (~ b) &amp; en;</a:t>
            </a:r>
            <a:br>
              <a:rPr lang="es-ES" dirty="0" smtClean="0"/>
            </a:br>
            <a:r>
              <a:rPr lang="es-ES" dirty="0" err="1" smtClean="0"/>
              <a:t>assign</a:t>
            </a:r>
            <a:r>
              <a:rPr lang="es-ES" dirty="0" smtClean="0"/>
              <a:t> y3= a &amp; b &amp; en;</a:t>
            </a:r>
            <a:br>
              <a:rPr lang="es-ES" dirty="0" smtClean="0"/>
            </a:br>
            <a:r>
              <a:rPr lang="es-ES" dirty="0" err="1" smtClean="0"/>
              <a:t>end</a:t>
            </a:r>
            <a:r>
              <a:rPr lang="es-ES" dirty="0" smtClean="0"/>
              <a:t> module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3657600" cy="1143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3:8 Decoder using 2:4 Decoder</a:t>
            </a:r>
            <a:endParaRPr lang="en-US" sz="2400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0"/>
            <a:ext cx="3415709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6" name="Picture 4" descr="https://qph.fs.quoracdn.net/main-qimg-cf8c51e54b2d2ca67b29fc908604913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209800"/>
            <a:ext cx="4572000" cy="30003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257800" y="1002268"/>
            <a:ext cx="2887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Full Adder using 3:8 Decoder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4:16 Decoder using 2:4 Decoder</a:t>
            </a:r>
            <a:endParaRPr lang="en-US" dirty="0"/>
          </a:p>
        </p:txBody>
      </p:sp>
      <p:pic>
        <p:nvPicPr>
          <p:cNvPr id="43010" name="Picture 2" descr="Picture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4387213" cy="4572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334000" y="172084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 dec4x16_str(</a:t>
            </a:r>
            <a:r>
              <a:rPr lang="en-US" dirty="0" err="1" smtClean="0"/>
              <a:t>a,en,y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b="1" dirty="0" smtClean="0"/>
              <a:t>output</a:t>
            </a:r>
            <a:r>
              <a:rPr lang="en-US" dirty="0" smtClean="0"/>
              <a:t> [15:0] y,</a:t>
            </a:r>
            <a:br>
              <a:rPr lang="en-US" dirty="0" smtClean="0"/>
            </a:br>
            <a:r>
              <a:rPr lang="en-US" b="1" dirty="0" smtClean="0"/>
              <a:t>input</a:t>
            </a:r>
            <a:r>
              <a:rPr lang="en-US" dirty="0" smtClean="0"/>
              <a:t> [3:0] a,</a:t>
            </a:r>
            <a:br>
              <a:rPr lang="en-US" dirty="0" smtClean="0"/>
            </a:br>
            <a:r>
              <a:rPr lang="en-US" b="1" dirty="0" smtClean="0"/>
              <a:t>input</a:t>
            </a:r>
            <a:r>
              <a:rPr lang="en-US" dirty="0" smtClean="0"/>
              <a:t> en;</a:t>
            </a:r>
            <a:br>
              <a:rPr lang="en-US" dirty="0" smtClean="0"/>
            </a:br>
            <a:r>
              <a:rPr lang="en-US" b="1" dirty="0" smtClean="0"/>
              <a:t>wire</a:t>
            </a:r>
            <a:r>
              <a:rPr lang="en-US" dirty="0" smtClean="0"/>
              <a:t> [3:0] w;</a:t>
            </a:r>
            <a:br>
              <a:rPr lang="en-US" dirty="0" smtClean="0"/>
            </a:br>
            <a:r>
              <a:rPr lang="en-US" dirty="0" smtClean="0"/>
              <a:t>dec2x4_str u0(w, a[3:2], en);</a:t>
            </a:r>
            <a:br>
              <a:rPr lang="en-US" dirty="0" smtClean="0"/>
            </a:br>
            <a:r>
              <a:rPr lang="en-US" dirty="0" smtClean="0"/>
              <a:t>dec2x4_str u1(y[3:0], a[1:0], w[0]);</a:t>
            </a:r>
            <a:br>
              <a:rPr lang="en-US" dirty="0" smtClean="0"/>
            </a:br>
            <a:r>
              <a:rPr lang="en-US" dirty="0" smtClean="0"/>
              <a:t>dec2x4_str u2(y[7:4], a[1:0], w[1]);</a:t>
            </a:r>
            <a:br>
              <a:rPr lang="en-US" dirty="0" smtClean="0"/>
            </a:br>
            <a:r>
              <a:rPr lang="en-US" dirty="0" smtClean="0"/>
              <a:t>dec2x4_str u3(y[11:8], a[1:0], w[2]);</a:t>
            </a:r>
            <a:br>
              <a:rPr lang="en-US" dirty="0" smtClean="0"/>
            </a:br>
            <a:r>
              <a:rPr lang="en-US" dirty="0" smtClean="0"/>
              <a:t>dec2x4_str u4(y[15:12], a[1:0], w[3]);</a:t>
            </a:r>
            <a:br>
              <a:rPr lang="en-US" dirty="0" smtClean="0"/>
            </a:br>
            <a:r>
              <a:rPr lang="en-US" b="1" dirty="0" err="1" smtClean="0"/>
              <a:t>endmodule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-304800"/>
            <a:ext cx="5715000" cy="1143000"/>
          </a:xfrm>
        </p:spPr>
        <p:txBody>
          <a:bodyPr/>
          <a:lstStyle/>
          <a:p>
            <a:r>
              <a:rPr lang="en-US" dirty="0" smtClean="0"/>
              <a:t>4 bit Ripple Carry Adder</a:t>
            </a:r>
            <a:endParaRPr lang="en-US" dirty="0"/>
          </a:p>
        </p:txBody>
      </p:sp>
      <p:sp>
        <p:nvSpPr>
          <p:cNvPr id="38914" name="AutoShape 2" descr="Image result for 4 bit add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916" name="AutoShape 4" descr="Image result for 4 bit add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8918" name="Picture 6" descr="Image result for 4 bit add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4419600" cy="1695451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52400" y="3429000"/>
            <a:ext cx="457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four_bit_adder</a:t>
            </a:r>
            <a:r>
              <a:rPr lang="en-US" dirty="0" smtClean="0"/>
              <a:t>(</a:t>
            </a:r>
            <a:r>
              <a:rPr lang="en-US" dirty="0" err="1" smtClean="0"/>
              <a:t>x,y,cin,sum,cout</a:t>
            </a:r>
            <a:r>
              <a:rPr lang="en-US" dirty="0" smtClean="0"/>
              <a:t>); input [3:0] </a:t>
            </a:r>
            <a:r>
              <a:rPr lang="en-US" dirty="0" err="1" smtClean="0"/>
              <a:t>x,y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input </a:t>
            </a:r>
            <a:r>
              <a:rPr lang="en-US" dirty="0" err="1" smtClean="0"/>
              <a:t>cin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output[3:0] sum; </a:t>
            </a:r>
          </a:p>
          <a:p>
            <a:r>
              <a:rPr lang="en-US" dirty="0" smtClean="0"/>
              <a:t>output </a:t>
            </a:r>
            <a:r>
              <a:rPr lang="en-US" dirty="0" err="1" smtClean="0"/>
              <a:t>cout</a:t>
            </a:r>
            <a:r>
              <a:rPr lang="en-US" dirty="0" smtClean="0"/>
              <a:t>; </a:t>
            </a:r>
          </a:p>
          <a:p>
            <a:r>
              <a:rPr lang="en-US" dirty="0" smtClean="0"/>
              <a:t>wire c1,c2,c3; </a:t>
            </a:r>
          </a:p>
          <a:p>
            <a:r>
              <a:rPr lang="en-US" dirty="0" err="1" smtClean="0"/>
              <a:t>full_adder</a:t>
            </a:r>
            <a:r>
              <a:rPr lang="en-US" dirty="0" smtClean="0"/>
              <a:t> fa1(x[0],y[0],</a:t>
            </a:r>
            <a:r>
              <a:rPr lang="en-US" dirty="0" err="1" smtClean="0"/>
              <a:t>cin,sum</a:t>
            </a:r>
            <a:r>
              <a:rPr lang="en-US" dirty="0" smtClean="0"/>
              <a:t>[0],c1); </a:t>
            </a:r>
            <a:r>
              <a:rPr lang="en-US" dirty="0" err="1" smtClean="0"/>
              <a:t>full_adder</a:t>
            </a:r>
            <a:r>
              <a:rPr lang="en-US" dirty="0" smtClean="0"/>
              <a:t> fa2(x[1],y[1],c1,sum[1],c2); </a:t>
            </a:r>
            <a:r>
              <a:rPr lang="en-US" dirty="0" err="1" smtClean="0"/>
              <a:t>full_adder</a:t>
            </a:r>
            <a:r>
              <a:rPr lang="en-US" dirty="0" smtClean="0"/>
              <a:t> fa3(x[2],y[2],c2,sum[2],c3); </a:t>
            </a:r>
            <a:r>
              <a:rPr lang="en-US" dirty="0" err="1" smtClean="0"/>
              <a:t>full_adder</a:t>
            </a:r>
            <a:r>
              <a:rPr lang="en-US" dirty="0" smtClean="0"/>
              <a:t> fa4(x[3],y[3],c3,sum[3],</a:t>
            </a:r>
            <a:r>
              <a:rPr lang="en-US" dirty="0" err="1" smtClean="0"/>
              <a:t>cout</a:t>
            </a:r>
            <a:r>
              <a:rPr lang="en-US" dirty="0" smtClean="0"/>
              <a:t>); </a:t>
            </a:r>
          </a:p>
          <a:p>
            <a:r>
              <a:rPr lang="en-US" dirty="0" err="1" smtClean="0"/>
              <a:t>endmodule</a:t>
            </a:r>
            <a:endParaRPr lang="en-US" dirty="0"/>
          </a:p>
        </p:txBody>
      </p:sp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609600"/>
            <a:ext cx="4419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10200" y="2743200"/>
            <a:ext cx="267652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2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43401" y="4724400"/>
            <a:ext cx="21336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923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53200" y="4953000"/>
            <a:ext cx="2590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/>
              <a:t>Carry Look ahead Adder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" y="5181600"/>
            <a:ext cx="9067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Similar to Ripple carry Adder  It is used to add together two binary numbers; carry look ahead adders are able to calculate the Carry bit before the Full Adder is done with its operation.</a:t>
            </a:r>
          </a:p>
          <a:p>
            <a:endParaRPr lang="en-US" dirty="0" smtClean="0"/>
          </a:p>
          <a:p>
            <a:r>
              <a:rPr lang="en-US" dirty="0" smtClean="0"/>
              <a:t>This gives it an advantage over the Ripple Carry Adder because it is able to add two numbers together faster. The drawback is that it takes more logic</a:t>
            </a:r>
            <a:endParaRPr lang="en-US" dirty="0"/>
          </a:p>
        </p:txBody>
      </p:sp>
      <p:pic>
        <p:nvPicPr>
          <p:cNvPr id="45070" name="Picture 14" descr="4-bit carry look ahead block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838200"/>
            <a:ext cx="5167313" cy="2667000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358140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C1 = C0P0 + G0</a:t>
            </a:r>
          </a:p>
          <a:p>
            <a:r>
              <a:rPr lang="en-US" b="1" dirty="0" smtClean="0"/>
              <a:t>C2 = C1P1 + G1 = (C0P0+G0)P1 + G1 = C0P0P1 + P1G0 + G1</a:t>
            </a:r>
          </a:p>
          <a:p>
            <a:r>
              <a:rPr lang="en-US" b="1" dirty="0" smtClean="0"/>
              <a:t>C3 = C2P2 +G2 = (C0P0P1 + P1G0 + G1)P2+G2 = C0P0P1P2 + P2P1G0 + P2G1 + G2</a:t>
            </a:r>
          </a:p>
          <a:p>
            <a:r>
              <a:rPr lang="en-US" b="1" dirty="0" smtClean="0"/>
              <a:t>C4 = C3P3 +G3 = (C0P0P1P2 + P2P1G0 + P2G1 + G2)P3 + G3 = C0P0P1P2P3 + P3P2P1G0 +</a:t>
            </a:r>
          </a:p>
          <a:p>
            <a:r>
              <a:rPr lang="en-US" b="1" dirty="0" smtClean="0"/>
              <a:t>P3P2G1 + G2P3 + G3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019800" y="1676400"/>
            <a:ext cx="243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 smtClean="0"/>
              <a:t> </a:t>
            </a:r>
            <a:r>
              <a:rPr lang="it-IT" b="1" dirty="0" smtClean="0"/>
              <a:t>Pi = Ai xor Bi</a:t>
            </a:r>
            <a:r>
              <a:rPr lang="it-IT" dirty="0" smtClean="0"/>
              <a:t> </a:t>
            </a:r>
          </a:p>
          <a:p>
            <a:r>
              <a:rPr lang="it-IT" dirty="0" smtClean="0"/>
              <a:t>          </a:t>
            </a:r>
            <a:r>
              <a:rPr lang="it-IT" b="1" dirty="0" smtClean="0"/>
              <a:t>Gi = Ai.Bi</a:t>
            </a:r>
            <a:endParaRPr lang="it-IT" dirty="0" smtClean="0"/>
          </a:p>
          <a:p>
            <a:r>
              <a:rPr lang="it-IT" dirty="0" smtClean="0"/>
              <a:t>          </a:t>
            </a:r>
            <a:r>
              <a:rPr lang="it-IT" b="1" dirty="0" smtClean="0"/>
              <a:t>Si = Pi xor Ci</a:t>
            </a:r>
            <a:r>
              <a:rPr lang="it-IT" dirty="0" smtClean="0"/>
              <a:t> </a:t>
            </a:r>
            <a:br>
              <a:rPr lang="it-IT" dirty="0" smtClean="0"/>
            </a:br>
            <a:r>
              <a:rPr lang="it-IT" dirty="0" smtClean="0"/>
              <a:t>          </a:t>
            </a:r>
            <a:r>
              <a:rPr lang="it-IT" b="1" dirty="0" smtClean="0"/>
              <a:t>Ci+1 = Ci.Pi + Gi</a:t>
            </a:r>
            <a:endParaRPr lang="it-IT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810000" cy="1143000"/>
          </a:xfrm>
        </p:spPr>
        <p:txBody>
          <a:bodyPr/>
          <a:lstStyle/>
          <a:p>
            <a:r>
              <a:rPr lang="en-US" dirty="0" smtClean="0"/>
              <a:t>CLA </a:t>
            </a:r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304800"/>
            <a:ext cx="44196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86000"/>
            <a:ext cx="426720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3962400" cy="12652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Carry Save Adder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95800" y="595491"/>
            <a:ext cx="46482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module</a:t>
            </a:r>
            <a:r>
              <a:rPr lang="en-US" dirty="0" smtClean="0"/>
              <a:t> </a:t>
            </a:r>
            <a:r>
              <a:rPr lang="en-US" dirty="0" err="1" smtClean="0"/>
              <a:t>fulladder</a:t>
            </a:r>
            <a:r>
              <a:rPr lang="en-US" dirty="0" smtClean="0"/>
              <a:t>( </a:t>
            </a:r>
            <a:r>
              <a:rPr lang="en-US" dirty="0" err="1" smtClean="0"/>
              <a:t>a,b,cin,sum,carry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b="1" dirty="0" smtClean="0"/>
              <a:t>input</a:t>
            </a:r>
            <a:r>
              <a:rPr lang="en-US" dirty="0" smtClean="0"/>
              <a:t> </a:t>
            </a:r>
            <a:r>
              <a:rPr lang="en-US" dirty="0" err="1" smtClean="0"/>
              <a:t>a,b,cin</a:t>
            </a:r>
            <a:r>
              <a:rPr lang="en-US" dirty="0" smtClean="0"/>
              <a:t>;</a:t>
            </a:r>
          </a:p>
          <a:p>
            <a:r>
              <a:rPr lang="en-US" b="1" dirty="0" smtClean="0"/>
              <a:t>output</a:t>
            </a:r>
            <a:r>
              <a:rPr lang="en-US" dirty="0" smtClean="0"/>
              <a:t> </a:t>
            </a:r>
            <a:r>
              <a:rPr lang="en-US" dirty="0" err="1" smtClean="0"/>
              <a:t>sum,carry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b="1" dirty="0" smtClean="0"/>
              <a:t>assign</a:t>
            </a:r>
            <a:r>
              <a:rPr lang="en-US" dirty="0" smtClean="0"/>
              <a:t> sum = a ^ b ^ </a:t>
            </a:r>
            <a:r>
              <a:rPr lang="en-US" dirty="0" err="1" smtClean="0"/>
              <a:t>cin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b="1" dirty="0" smtClean="0"/>
              <a:t>assign</a:t>
            </a:r>
            <a:r>
              <a:rPr lang="en-US" dirty="0" smtClean="0"/>
              <a:t> carry = (a &amp; b) | (</a:t>
            </a:r>
            <a:r>
              <a:rPr lang="en-US" dirty="0" err="1" smtClean="0"/>
              <a:t>cin</a:t>
            </a:r>
            <a:r>
              <a:rPr lang="en-US" dirty="0" smtClean="0"/>
              <a:t> &amp; b) | (a &amp; </a:t>
            </a:r>
            <a:r>
              <a:rPr lang="en-US" dirty="0" err="1" smtClean="0"/>
              <a:t>cin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b="1" dirty="0" err="1" smtClean="0"/>
              <a:t>endmodule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module</a:t>
            </a:r>
            <a:r>
              <a:rPr lang="en-US" dirty="0" smtClean="0"/>
              <a:t> CSA ( </a:t>
            </a:r>
            <a:r>
              <a:rPr lang="en-US" dirty="0" err="1" smtClean="0"/>
              <a:t>x,y,z,s,cout</a:t>
            </a:r>
            <a:r>
              <a:rPr lang="en-US" dirty="0" smtClean="0"/>
              <a:t>);</a:t>
            </a:r>
          </a:p>
          <a:p>
            <a:r>
              <a:rPr lang="en-US" dirty="0" smtClean="0"/>
              <a:t>  </a:t>
            </a:r>
            <a:r>
              <a:rPr lang="en-US" b="1" dirty="0" smtClean="0"/>
              <a:t>input</a:t>
            </a:r>
            <a:r>
              <a:rPr lang="en-US" dirty="0" smtClean="0"/>
              <a:t> [3:0] </a:t>
            </a:r>
            <a:r>
              <a:rPr lang="en-US" dirty="0" err="1" smtClean="0"/>
              <a:t>x,y,z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            </a:t>
            </a:r>
            <a:r>
              <a:rPr lang="en-US" b="1" dirty="0" smtClean="0"/>
              <a:t>output</a:t>
            </a:r>
            <a:r>
              <a:rPr lang="en-US" dirty="0" smtClean="0"/>
              <a:t> [4:0] s;</a:t>
            </a:r>
            <a:br>
              <a:rPr lang="en-US" dirty="0" smtClean="0"/>
            </a:br>
            <a:r>
              <a:rPr lang="en-US" dirty="0" smtClean="0"/>
              <a:t>            </a:t>
            </a:r>
            <a:r>
              <a:rPr lang="en-US" b="1" dirty="0" smtClean="0"/>
              <a:t>output</a:t>
            </a:r>
            <a:r>
              <a:rPr lang="en-US" dirty="0" smtClean="0"/>
              <a:t> </a:t>
            </a:r>
            <a:r>
              <a:rPr lang="en-US" dirty="0" err="1" smtClean="0"/>
              <a:t>cout</a:t>
            </a:r>
            <a:r>
              <a:rPr lang="en-US" dirty="0" smtClean="0"/>
              <a:t>;                     </a:t>
            </a:r>
            <a:br>
              <a:rPr lang="en-US" dirty="0" smtClean="0"/>
            </a:br>
            <a:r>
              <a:rPr lang="en-US" b="1" dirty="0" smtClean="0"/>
              <a:t>wire</a:t>
            </a:r>
            <a:r>
              <a:rPr lang="en-US" dirty="0" smtClean="0"/>
              <a:t> [3:0] c1,s1,c2;</a:t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fa_inst10(x[0],y[0],z[0],s1[0],c1[0]);</a:t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fa_inst11(x[1],y[1],z[1],s1[1],c1[1]);</a:t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fa_inst12(x[2],y[2],z[2],s1[2],c1[2]);</a:t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fa_inst13(x[3],y[3],z[3],s1[3],c1[3]); 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fa_inst20(s1[1],c1[0],1'b0,s[1],c2[1]);</a:t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fa_inst21(s1[2],c1[1],c2[1],s[2],c2[2]);</a:t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fa_inst22(s1[3],c1[2],c2[2],s[3],c2[3]);</a:t>
            </a:r>
            <a:br>
              <a:rPr lang="en-US" dirty="0" smtClean="0"/>
            </a:br>
            <a:r>
              <a:rPr lang="en-US" dirty="0" err="1" smtClean="0"/>
              <a:t>fulladder</a:t>
            </a:r>
            <a:r>
              <a:rPr lang="en-US" dirty="0" smtClean="0"/>
              <a:t> fa_inst23(1'b0,c1[3],c2[3],s[4],</a:t>
            </a:r>
            <a:r>
              <a:rPr lang="en-US" dirty="0" err="1" smtClean="0"/>
              <a:t>cout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b="1" dirty="0" smtClean="0"/>
              <a:t>assign</a:t>
            </a:r>
            <a:r>
              <a:rPr lang="en-US" dirty="0" smtClean="0"/>
              <a:t> s[0] = s1[0];</a:t>
            </a:r>
            <a:br>
              <a:rPr lang="en-US" dirty="0" smtClean="0"/>
            </a:br>
            <a:r>
              <a:rPr lang="en-US" b="1" dirty="0" err="1" smtClean="0"/>
              <a:t>endmodule</a:t>
            </a:r>
            <a:endParaRPr lang="en-US" dirty="0"/>
          </a:p>
        </p:txBody>
      </p:sp>
      <p:pic>
        <p:nvPicPr>
          <p:cNvPr id="47110" name="Picture 6" descr="Image result for carry save add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81200"/>
            <a:ext cx="44958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Dataflow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7630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/>
              <a:t>Preferred for small circuit</a:t>
            </a:r>
          </a:p>
          <a:p>
            <a:pPr>
              <a:buNone/>
            </a:pPr>
            <a:r>
              <a:rPr lang="en-US" sz="1800" dirty="0" smtClean="0"/>
              <a:t>circuit design in terms of the data flow between rather than instantiation of individual gates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b="1" dirty="0" smtClean="0"/>
              <a:t>Continuous Assignments</a:t>
            </a:r>
            <a:r>
              <a:rPr lang="en-US" sz="1800" dirty="0" smtClean="0"/>
              <a:t> </a:t>
            </a:r>
          </a:p>
          <a:p>
            <a:pPr>
              <a:buNone/>
            </a:pPr>
            <a:r>
              <a:rPr lang="en-US" sz="1800" dirty="0" smtClean="0"/>
              <a:t>	LHS must scalar or vector </a:t>
            </a:r>
            <a:r>
              <a:rPr lang="en-US" sz="1800" b="1" dirty="0" smtClean="0"/>
              <a:t>net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assign out = i1 &amp; i2; 		 wire out;</a:t>
            </a:r>
            <a:br>
              <a:rPr lang="en-US" sz="1800" dirty="0" smtClean="0"/>
            </a:br>
            <a:r>
              <a:rPr lang="en-US" sz="1800" dirty="0" smtClean="0"/>
              <a:t>					assign out = in1 &amp; in2; </a:t>
            </a:r>
          </a:p>
          <a:p>
            <a:pPr>
              <a:buNone/>
            </a:pPr>
            <a:r>
              <a:rPr lang="en-US" sz="1800" b="1" dirty="0" smtClean="0"/>
              <a:t>Implicit Continuous Assignment</a:t>
            </a:r>
            <a:r>
              <a:rPr lang="en-US" sz="1800" dirty="0" smtClean="0"/>
              <a:t> </a:t>
            </a:r>
          </a:p>
          <a:p>
            <a:pPr>
              <a:buNone/>
            </a:pPr>
            <a:r>
              <a:rPr lang="en-US" sz="1800" dirty="0" smtClean="0"/>
              <a:t>	Assignment during declaration</a:t>
            </a:r>
            <a:br>
              <a:rPr lang="en-US" sz="1800" dirty="0" smtClean="0"/>
            </a:br>
            <a:r>
              <a:rPr lang="en-US" sz="1800" dirty="0" smtClean="0"/>
              <a:t>					 wire out = in1 &amp; in2; </a:t>
            </a:r>
            <a:br>
              <a:rPr lang="en-US" sz="1800" dirty="0" smtClean="0"/>
            </a:br>
            <a:r>
              <a:rPr lang="en-US" sz="1800" dirty="0" smtClean="0"/>
              <a:t> 			 </a:t>
            </a:r>
          </a:p>
          <a:p>
            <a:pPr>
              <a:buNone/>
            </a:pPr>
            <a:r>
              <a:rPr lang="en-US" sz="1800" b="1" dirty="0" smtClean="0"/>
              <a:t>Implicit Net Declaration</a:t>
            </a:r>
            <a:r>
              <a:rPr lang="en-US" sz="1800" dirty="0" smtClean="0"/>
              <a:t> </a:t>
            </a:r>
          </a:p>
          <a:p>
            <a:pPr>
              <a:buNone/>
            </a:pPr>
            <a:r>
              <a:rPr lang="en-US" sz="1800" dirty="0" smtClean="0"/>
              <a:t>	 inferred for that signal name </a:t>
            </a:r>
            <a:br>
              <a:rPr lang="en-US" sz="1800" dirty="0" smtClean="0"/>
            </a:br>
            <a:r>
              <a:rPr lang="en-US" sz="1800" dirty="0" smtClean="0"/>
              <a:t> 					</a:t>
            </a:r>
            <a:r>
              <a:rPr lang="nn-NO" sz="1800" dirty="0" smtClean="0"/>
              <a:t> wire i1, i2;</a:t>
            </a:r>
            <a:br>
              <a:rPr lang="nn-NO" sz="1800" dirty="0" smtClean="0"/>
            </a:br>
            <a:r>
              <a:rPr lang="nn-NO" sz="1800" dirty="0" smtClean="0"/>
              <a:t>					assign out = i1 &amp; i2; </a:t>
            </a:r>
            <a:br>
              <a:rPr lang="nn-NO" sz="1800" dirty="0" smtClean="0"/>
            </a:b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Delay (# value) 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Control time between change in a RHS operand and new value is assigned to LHS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Regular Assignment Delay</a:t>
            </a:r>
            <a:r>
              <a:rPr lang="en-US" sz="2000" dirty="0" smtClean="0"/>
              <a:t> (inertial delay ) (INTRA Delay)</a:t>
            </a:r>
          </a:p>
          <a:p>
            <a:pPr>
              <a:buNone/>
            </a:pPr>
            <a:r>
              <a:rPr lang="en-US" sz="2000" dirty="0" smtClean="0"/>
              <a:t>				 assign #10 out = in1 &amp; in2; </a:t>
            </a:r>
          </a:p>
          <a:p>
            <a:pPr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change in values of in1 or in2 will result in a delay of 10 time units before computation and the result will be assigned to out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INTER Delay</a:t>
            </a:r>
          </a:p>
          <a:p>
            <a:pPr>
              <a:buNone/>
            </a:pPr>
            <a:r>
              <a:rPr lang="en-US" sz="2000" dirty="0" smtClean="0"/>
              <a:t>			#10 assign out = in1 &amp; in2;</a:t>
            </a:r>
          </a:p>
          <a:p>
            <a:pPr>
              <a:buNone/>
            </a:pPr>
            <a:r>
              <a:rPr lang="en-US" sz="2000" dirty="0" smtClean="0"/>
              <a:t>	Statement out delay by 10 time units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				</a:t>
            </a:r>
            <a:r>
              <a:rPr lang="en-US" sz="3100" b="1" dirty="0" smtClean="0"/>
              <a:t>Operator  --  Operand</a:t>
            </a: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1900" dirty="0" smtClean="0"/>
              <a:t>Operands can be any one of the data types  Operators act on the operands to produce desired results 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47244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990600"/>
            <a:ext cx="44196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Arithmetic Operators    </a:t>
            </a:r>
            <a:r>
              <a:rPr lang="en-US" dirty="0" smtClean="0"/>
              <a:t>multiply (*), divide (/), add (+), subtract (-), power (**),and modulus (%)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9370" y="685800"/>
            <a:ext cx="818463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0" y="2209800"/>
            <a:ext cx="853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If any operand bit has a value x, then the result of the entire expression is x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2514600"/>
            <a:ext cx="727787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0" y="3267670"/>
            <a:ext cx="914400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Logical Operators     </a:t>
            </a:r>
            <a:r>
              <a:rPr lang="en-US" dirty="0" smtClean="0"/>
              <a:t>logical-and (&amp;&amp;), logical-or (||) and logical-not (!)</a:t>
            </a:r>
          </a:p>
          <a:p>
            <a:r>
              <a:rPr lang="en-US" dirty="0" smtClean="0"/>
              <a:t>		  always evaluate to a 1-bit value, 0 (false), 1 (true), or x (ambiguous).</a:t>
            </a:r>
          </a:p>
          <a:p>
            <a:r>
              <a:rPr lang="en-US" dirty="0" smtClean="0"/>
              <a:t>		  If any operand bit is x or z, it is equivalent to x </a:t>
            </a: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4215408"/>
            <a:ext cx="7848600" cy="1042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8800" y="5715000"/>
            <a:ext cx="326571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Relational Operators	</a:t>
            </a:r>
            <a:r>
              <a:rPr lang="en-US" dirty="0" smtClean="0"/>
              <a:t>greater-than (&gt;), less-than (&lt;), greater-than-or-equal-to (&gt;=), and</a:t>
            </a:r>
            <a:br>
              <a:rPr lang="en-US" dirty="0" smtClean="0"/>
            </a:br>
            <a:r>
              <a:rPr lang="en-US" dirty="0" smtClean="0"/>
              <a:t>			less-than-or-equal-to (&lt;=)</a:t>
            </a:r>
          </a:p>
          <a:p>
            <a:r>
              <a:rPr lang="en-US" dirty="0" smtClean="0"/>
              <a:t>	 	Evaluate to logical value of 1 if expression is true and 0 if expression is false</a:t>
            </a:r>
          </a:p>
          <a:p>
            <a:r>
              <a:rPr lang="en-US" dirty="0" smtClean="0"/>
              <a:t>		If any unknown or z bits in the operands evaluates to x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1219200"/>
            <a:ext cx="412774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0" y="2743200"/>
            <a:ext cx="9144000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Equality Operators         </a:t>
            </a:r>
            <a:r>
              <a:rPr lang="en-US" dirty="0" smtClean="0"/>
              <a:t>logical equality (==), logical inequality (!=), case equality (===),</a:t>
            </a:r>
            <a:br>
              <a:rPr lang="en-US" dirty="0" smtClean="0"/>
            </a:br>
            <a:r>
              <a:rPr lang="en-US" dirty="0" smtClean="0"/>
              <a:t>		        and case inequality (!==)</a:t>
            </a:r>
          </a:p>
          <a:p>
            <a:r>
              <a:rPr lang="en-US" dirty="0" smtClean="0"/>
              <a:t>		Evaluates to 1 if true, 0 if false. </a:t>
            </a:r>
          </a:p>
          <a:p>
            <a:r>
              <a:rPr lang="en-US" dirty="0" smtClean="0"/>
              <a:t>		Compare two operands bit by bit, zero filling if operands are unequal length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038600"/>
            <a:ext cx="64008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477000" y="4191000"/>
            <a:ext cx="266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case equality compare both operands bit by bit including x and z </a:t>
            </a:r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28600"/>
            <a:ext cx="7866767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3657600"/>
            <a:ext cx="9144000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Bitwise Operators</a:t>
            </a:r>
            <a:br>
              <a:rPr lang="en-US" b="1" dirty="0" smtClean="0"/>
            </a:br>
            <a:r>
              <a:rPr lang="en-US" b="1" dirty="0" smtClean="0"/>
              <a:t>		</a:t>
            </a:r>
            <a:r>
              <a:rPr lang="en-US" dirty="0" smtClean="0"/>
              <a:t>Bitwise operators are negation (~), and(&amp;), or (|), </a:t>
            </a:r>
            <a:r>
              <a:rPr lang="en-US" dirty="0" err="1" smtClean="0"/>
              <a:t>xor</a:t>
            </a:r>
            <a:r>
              <a:rPr lang="en-US" dirty="0" smtClean="0"/>
              <a:t> (^), </a:t>
            </a:r>
            <a:r>
              <a:rPr lang="en-US" dirty="0" err="1" smtClean="0"/>
              <a:t>xnor</a:t>
            </a:r>
            <a:r>
              <a:rPr lang="en-US" dirty="0" smtClean="0"/>
              <a:t> (^~, ~^). </a:t>
            </a:r>
          </a:p>
          <a:p>
            <a:r>
              <a:rPr lang="en-US" dirty="0" smtClean="0"/>
              <a:t>		Perform a bit-by-bit operation on two operands. T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5380672"/>
            <a:ext cx="8610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X = 4'b1010, Y = 4'b0000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X | Y 	// bitwise operation. Result is 4'b1010</a:t>
            </a:r>
            <a:br>
              <a:rPr lang="en-US" dirty="0" smtClean="0"/>
            </a:br>
            <a:r>
              <a:rPr lang="en-US" dirty="0" smtClean="0"/>
              <a:t>X || Y 	// logical operation. Equivalent to 1 || 0. Result is 1.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Reduction Operators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Reduction operators are and (&amp;), </a:t>
            </a:r>
            <a:r>
              <a:rPr lang="en-US" dirty="0" err="1" smtClean="0"/>
              <a:t>nand</a:t>
            </a:r>
            <a:r>
              <a:rPr lang="en-US" dirty="0" smtClean="0"/>
              <a:t> (~&amp;), or (|), nor (~|), </a:t>
            </a:r>
            <a:r>
              <a:rPr lang="en-US" dirty="0" err="1" smtClean="0"/>
              <a:t>xor</a:t>
            </a:r>
            <a:r>
              <a:rPr lang="en-US" dirty="0" smtClean="0"/>
              <a:t> (^), and </a:t>
            </a:r>
            <a:r>
              <a:rPr lang="en-US" dirty="0" err="1" smtClean="0"/>
              <a:t>xnor</a:t>
            </a:r>
            <a:r>
              <a:rPr lang="en-US" dirty="0" smtClean="0"/>
              <a:t> (~^, ^~).</a:t>
            </a:r>
            <a:br>
              <a:rPr lang="en-US" dirty="0" smtClean="0"/>
            </a:br>
            <a:r>
              <a:rPr lang="en-US" dirty="0" smtClean="0"/>
              <a:t>	Take only one operand</a:t>
            </a:r>
          </a:p>
          <a:p>
            <a:r>
              <a:rPr lang="en-US" dirty="0" smtClean="0"/>
              <a:t>	Perform a bitwise operation on a single vector operand and yield a 1-bit result.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1524000"/>
            <a:ext cx="8229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X = 4'b1010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&amp;X 	//Equivalent to 1 &amp; 0 &amp; 1 &amp; 0. Results in 1'b0</a:t>
            </a:r>
            <a:br>
              <a:rPr lang="en-US" dirty="0" smtClean="0"/>
            </a:br>
            <a:r>
              <a:rPr lang="en-US" dirty="0" smtClean="0"/>
              <a:t>|X	//Equivalent to 1 | 0 | 1 | 0. Results in 1'b1</a:t>
            </a:r>
            <a:br>
              <a:rPr lang="en-US" dirty="0" smtClean="0"/>
            </a:br>
            <a:r>
              <a:rPr lang="en-US" dirty="0" smtClean="0"/>
              <a:t>^X	//Equivalent to 1 ^ 0 ^ 1 ^ 0. Results in 1'b0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 reduction </a:t>
            </a:r>
            <a:r>
              <a:rPr lang="en-US" dirty="0" err="1" smtClean="0"/>
              <a:t>xor</a:t>
            </a:r>
            <a:r>
              <a:rPr lang="en-US" dirty="0" smtClean="0"/>
              <a:t> or </a:t>
            </a:r>
            <a:r>
              <a:rPr lang="en-US" dirty="0" err="1" smtClean="0"/>
              <a:t>xnor</a:t>
            </a:r>
            <a:r>
              <a:rPr lang="en-US" dirty="0" smtClean="0"/>
              <a:t> can be used for even or odd parity generation respectively.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4029670"/>
            <a:ext cx="914400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Shift Operators</a:t>
            </a:r>
            <a:br>
              <a:rPr lang="en-US" b="1" dirty="0" smtClean="0"/>
            </a:br>
            <a:r>
              <a:rPr lang="en-US" b="1" dirty="0" smtClean="0"/>
              <a:t>	</a:t>
            </a:r>
            <a:r>
              <a:rPr lang="en-US" dirty="0" smtClean="0"/>
              <a:t>right shift ( &gt;&gt;), left shift (&lt;&lt;), arithmetic right shift (&gt;&gt;&gt;), arithmetic left shift (&lt;&lt;&lt;). 	Shift a vector operand to the right or the left by a specified number of bits.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5181600"/>
            <a:ext cx="8077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X = 4'b1100</a:t>
            </a:r>
            <a:br>
              <a:rPr lang="en-US" dirty="0" smtClean="0"/>
            </a:br>
            <a:r>
              <a:rPr lang="en-US" dirty="0" smtClean="0"/>
              <a:t>Y = X &gt;&gt; 1; 	//Y is 4'b0110. Shift right 1 bit. 0 filled in MSB position. </a:t>
            </a:r>
            <a:br>
              <a:rPr lang="en-US" dirty="0" smtClean="0"/>
            </a:br>
            <a:r>
              <a:rPr lang="en-US" dirty="0" smtClean="0"/>
              <a:t>Y = X &lt;&lt; 1; 	//Y is 4'b1000. Shift left 1 bit. 0 filled in LSB position.</a:t>
            </a:r>
            <a:br>
              <a:rPr lang="en-US" dirty="0" smtClean="0"/>
            </a:br>
            <a:r>
              <a:rPr lang="en-US" dirty="0" smtClean="0"/>
              <a:t>Y = X &lt;&lt; 2; 	//Y is 4'b0000. Shift left 2 bits.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Concatenation Operator</a:t>
            </a:r>
            <a:br>
              <a:rPr lang="en-US" b="1" dirty="0" smtClean="0"/>
            </a:br>
            <a:r>
              <a:rPr lang="en-US" b="1" dirty="0" smtClean="0"/>
              <a:t>			</a:t>
            </a:r>
            <a:r>
              <a:rPr lang="en-US" dirty="0" smtClean="0"/>
              <a:t> {, } provides a mechanism to append multiple operands.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990600"/>
            <a:ext cx="8153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= 1'b1, B = 2'b00, C = 2'b10, D = 3'b110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Y = {B , C}			 // Result Y is 4'b0010</a:t>
            </a:r>
            <a:br>
              <a:rPr lang="en-US" dirty="0" smtClean="0"/>
            </a:br>
            <a:r>
              <a:rPr lang="en-US" dirty="0" smtClean="0"/>
              <a:t>Y = {A , B , C , D , 3'b001} 	// Result Y is 11'b10010110001</a:t>
            </a:r>
            <a:br>
              <a:rPr lang="en-US" dirty="0" smtClean="0"/>
            </a:br>
            <a:r>
              <a:rPr lang="en-US" dirty="0" smtClean="0"/>
              <a:t>Y = {A , B[0], C[1]} 		// Result Y is 3'b101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2977277"/>
            <a:ext cx="914400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Replication Operator</a:t>
            </a:r>
            <a:br>
              <a:rPr lang="en-US" b="1" dirty="0" smtClean="0"/>
            </a:br>
            <a:r>
              <a:rPr lang="en-US" b="1" dirty="0" smtClean="0"/>
              <a:t>	</a:t>
            </a:r>
            <a:r>
              <a:rPr lang="en-US" dirty="0" smtClean="0"/>
              <a:t>concatenation of same number by using a replication constant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3815477"/>
            <a:ext cx="8305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reg</a:t>
            </a:r>
            <a:r>
              <a:rPr lang="en-US" dirty="0" smtClean="0"/>
              <a:t> A;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[1:0] B, C;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[2:0] D;</a:t>
            </a:r>
            <a:br>
              <a:rPr lang="en-US" dirty="0" smtClean="0"/>
            </a:br>
            <a:r>
              <a:rPr lang="en-US" dirty="0" smtClean="0"/>
              <a:t>A = 1'b1; B = 2'b00; C = 2'b10; D = 3'b110;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Y = { 4{A} } 		// Result Y is 4'b1111</a:t>
            </a:r>
            <a:br>
              <a:rPr lang="en-US" dirty="0" smtClean="0"/>
            </a:br>
            <a:r>
              <a:rPr lang="en-US" dirty="0" smtClean="0"/>
              <a:t>Y = { 4{A} , 2{B} }		 // Result Y is 8'b11110000</a:t>
            </a:r>
            <a:br>
              <a:rPr lang="en-US" dirty="0" smtClean="0"/>
            </a:br>
            <a:r>
              <a:rPr lang="en-US" dirty="0" smtClean="0"/>
              <a:t>Y = { 4{A} , 2{B} , C }	 	// Result Y is 8'b1111000010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1000"/>
            <a:ext cx="9144000" cy="31393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Conditional Operator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</a:t>
            </a:r>
            <a:r>
              <a:rPr lang="en-US" dirty="0" smtClean="0"/>
              <a:t>akes three operands.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b="1" dirty="0" err="1" smtClean="0"/>
              <a:t>condition_expr</a:t>
            </a:r>
            <a:r>
              <a:rPr lang="en-US" b="1" dirty="0" smtClean="0"/>
              <a:t> ? </a:t>
            </a:r>
            <a:r>
              <a:rPr lang="en-US" b="1" dirty="0" err="1" smtClean="0"/>
              <a:t>true_expr</a:t>
            </a:r>
            <a:r>
              <a:rPr lang="en-US" b="1" dirty="0" smtClean="0"/>
              <a:t> : </a:t>
            </a:r>
            <a:r>
              <a:rPr lang="en-US" b="1" dirty="0" err="1" smtClean="0"/>
              <a:t>false_expr</a:t>
            </a:r>
            <a:r>
              <a:rPr lang="en-US" b="1" dirty="0" smtClean="0"/>
              <a:t> ;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 err="1" smtClean="0"/>
              <a:t>condition_expr</a:t>
            </a:r>
            <a:r>
              <a:rPr lang="en-US" dirty="0" smtClean="0"/>
              <a:t>) is true </a:t>
            </a:r>
            <a:r>
              <a:rPr lang="en-US" dirty="0" err="1" smtClean="0"/>
              <a:t>true_expr</a:t>
            </a:r>
            <a:r>
              <a:rPr lang="en-US" dirty="0" smtClean="0"/>
              <a:t> is evaluated. 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Condition_expr</a:t>
            </a:r>
            <a:r>
              <a:rPr lang="en-US" dirty="0" smtClean="0"/>
              <a:t>) false </a:t>
            </a:r>
            <a:r>
              <a:rPr lang="en-US" dirty="0" err="1" smtClean="0"/>
              <a:t>false_expr</a:t>
            </a:r>
            <a:r>
              <a:rPr lang="en-US" dirty="0" smtClean="0"/>
              <a:t> is evaluated. </a:t>
            </a:r>
          </a:p>
          <a:p>
            <a:endParaRPr lang="en-US" dirty="0" smtClean="0"/>
          </a:p>
          <a:p>
            <a:r>
              <a:rPr lang="en-US" dirty="0" smtClean="0"/>
              <a:t>If the (</a:t>
            </a:r>
            <a:r>
              <a:rPr lang="en-US" dirty="0" err="1" smtClean="0"/>
              <a:t>Condition_expr</a:t>
            </a:r>
            <a:r>
              <a:rPr lang="en-US" dirty="0" smtClean="0"/>
              <a:t>) is x (ambiguous), both </a:t>
            </a:r>
            <a:r>
              <a:rPr lang="en-US" dirty="0" err="1" smtClean="0"/>
              <a:t>true_expr</a:t>
            </a:r>
            <a:r>
              <a:rPr lang="en-US" dirty="0" smtClean="0"/>
              <a:t> and </a:t>
            </a:r>
            <a:r>
              <a:rPr lang="en-US" dirty="0" err="1" smtClean="0"/>
              <a:t>false_expr</a:t>
            </a:r>
            <a:r>
              <a:rPr lang="en-US" dirty="0" smtClean="0"/>
              <a:t> are evaluated</a:t>
            </a:r>
            <a:br>
              <a:rPr lang="en-US" dirty="0" smtClean="0"/>
            </a:br>
            <a:r>
              <a:rPr lang="en-US" dirty="0" smtClean="0"/>
              <a:t>	and their results are compared, bit by bit, return for each bit position an x if the bits 	are different and the value of the bits if they are the same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4267200"/>
            <a:ext cx="7772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model functionality of a </a:t>
            </a:r>
            <a:r>
              <a:rPr lang="en-US" dirty="0" err="1" smtClean="0">
                <a:solidFill>
                  <a:srgbClr val="00B0F0"/>
                </a:solidFill>
              </a:rPr>
              <a:t>tristate</a:t>
            </a:r>
            <a:r>
              <a:rPr lang="en-US" dirty="0" smtClean="0">
                <a:solidFill>
                  <a:srgbClr val="00B0F0"/>
                </a:solidFill>
              </a:rPr>
              <a:t> buffer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assign </a:t>
            </a:r>
            <a:r>
              <a:rPr lang="en-US" dirty="0" err="1" smtClean="0"/>
              <a:t>addr_bus</a:t>
            </a:r>
            <a:r>
              <a:rPr lang="en-US" dirty="0" smtClean="0"/>
              <a:t> = </a:t>
            </a:r>
            <a:r>
              <a:rPr lang="en-US" dirty="0" err="1" smtClean="0"/>
              <a:t>drive_enable</a:t>
            </a:r>
            <a:r>
              <a:rPr lang="en-US" dirty="0" smtClean="0"/>
              <a:t> ? </a:t>
            </a:r>
            <a:r>
              <a:rPr lang="en-US" dirty="0" err="1" smtClean="0"/>
              <a:t>addr_out</a:t>
            </a:r>
            <a:r>
              <a:rPr lang="en-US" dirty="0" smtClean="0"/>
              <a:t> : 36'bz;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F0"/>
                </a:solidFill>
              </a:rPr>
              <a:t>model functionality of a 2-to-1 </a:t>
            </a:r>
            <a:r>
              <a:rPr lang="en-US" dirty="0" err="1" smtClean="0">
                <a:solidFill>
                  <a:srgbClr val="00B0F0"/>
                </a:solidFill>
              </a:rPr>
              <a:t>mux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assign out = control ? in1 : in0;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dirty="0" smtClean="0"/>
              <a:t>For the following </a:t>
            </a:r>
            <a:r>
              <a:rPr lang="en-US" sz="2400" dirty="0" err="1" smtClean="0"/>
              <a:t>Verilog</a:t>
            </a:r>
            <a:r>
              <a:rPr lang="en-US" sz="2400" dirty="0" smtClean="0"/>
              <a:t> code segment: </a:t>
            </a:r>
          </a:p>
          <a:p>
            <a:pPr>
              <a:buNone/>
            </a:pPr>
            <a:r>
              <a:rPr lang="en-US" sz="2400" dirty="0" smtClean="0"/>
              <a:t>wire [7:0] A; </a:t>
            </a:r>
          </a:p>
          <a:p>
            <a:pPr>
              <a:buNone/>
            </a:pPr>
            <a:r>
              <a:rPr lang="en-US" sz="2400" dirty="0" smtClean="0"/>
              <a:t>wire B; </a:t>
            </a:r>
          </a:p>
          <a:p>
            <a:pPr>
              <a:buNone/>
            </a:pPr>
            <a:r>
              <a:rPr lang="en-US" sz="2400" dirty="0" smtClean="0"/>
              <a:t>assign B = ^A; </a:t>
            </a:r>
          </a:p>
          <a:p>
            <a:pPr>
              <a:buNone/>
            </a:pPr>
            <a:r>
              <a:rPr lang="en-US" sz="2400" dirty="0" smtClean="0"/>
              <a:t>if the value of A is 16’b10110011, what will be the value of {A[4:3], 3{B}} </a:t>
            </a:r>
          </a:p>
          <a:p>
            <a:pPr>
              <a:buNone/>
            </a:pPr>
            <a:endParaRPr lang="en-US" sz="2400" dirty="0" smtClean="0"/>
          </a:p>
          <a:p>
            <a:pPr marL="457200" indent="-457200">
              <a:buAutoNum type="alphaLcPeriod"/>
            </a:pPr>
            <a:r>
              <a:rPr lang="en-US" sz="2400" dirty="0" smtClean="0"/>
              <a:t>5’b10111 *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5’b10000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5’b01000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None of the above </a:t>
            </a:r>
          </a:p>
          <a:p>
            <a:pPr marL="457200" indent="-457200">
              <a:buNone/>
            </a:pPr>
            <a:r>
              <a:rPr lang="en-US" sz="2400" dirty="0" smtClean="0"/>
              <a:t>					Correct answer is (a).</a:t>
            </a:r>
            <a:endParaRPr lang="en-US" sz="2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FSM (Finite State Machine)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638800"/>
          </a:xfrm>
        </p:spPr>
        <p:txBody>
          <a:bodyPr/>
          <a:lstStyle/>
          <a:p>
            <a:pPr>
              <a:buNone/>
            </a:pPr>
            <a:r>
              <a:rPr lang="en-US" sz="2000" dirty="0" smtClean="0"/>
              <a:t>A system models with number of state</a:t>
            </a:r>
          </a:p>
          <a:p>
            <a:pPr>
              <a:buNone/>
            </a:pPr>
            <a:r>
              <a:rPr lang="en-US" sz="2000" dirty="0" smtClean="0"/>
              <a:t>Finite number of state</a:t>
            </a:r>
          </a:p>
          <a:p>
            <a:pPr>
              <a:buNone/>
            </a:pPr>
            <a:r>
              <a:rPr lang="en-US" sz="2000" dirty="0" smtClean="0"/>
              <a:t>High outputs corresponding to each transition</a:t>
            </a:r>
          </a:p>
          <a:p>
            <a:pPr>
              <a:buNone/>
            </a:pPr>
            <a:r>
              <a:rPr lang="en-US" sz="2000" dirty="0" smtClean="0"/>
              <a:t> There are two types of finite state machines that generate output −</a:t>
            </a:r>
          </a:p>
          <a:p>
            <a:r>
              <a:rPr lang="en-US" sz="2000" dirty="0" smtClean="0"/>
              <a:t>Mealy Machine</a:t>
            </a:r>
          </a:p>
          <a:p>
            <a:r>
              <a:rPr lang="en-US" sz="2000" dirty="0" smtClean="0"/>
              <a:t>Moore machine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38100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Mealy Machine</a:t>
            </a:r>
          </a:p>
          <a:p>
            <a:pPr algn="ctr"/>
            <a:r>
              <a:rPr lang="en-US" dirty="0" smtClean="0"/>
              <a:t>output depends on the present state as well as the present input.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45720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dirty="0" smtClean="0"/>
              <a:t>Moore Machine</a:t>
            </a:r>
          </a:p>
          <a:p>
            <a:pPr algn="ctr"/>
            <a:r>
              <a:rPr lang="en-US" dirty="0" smtClean="0"/>
              <a:t>outputs depend on only the present state.</a:t>
            </a:r>
            <a:endParaRPr lang="en-US" dirty="0"/>
          </a:p>
        </p:txBody>
      </p:sp>
      <p:pic>
        <p:nvPicPr>
          <p:cNvPr id="1028" name="Picture 4" descr="https://media.geeksforgeeks.org/wp-content/uploads/11-2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4181475"/>
            <a:ext cx="2676525" cy="2676525"/>
          </a:xfrm>
          <a:prstGeom prst="rect">
            <a:avLst/>
          </a:prstGeom>
          <a:noFill/>
        </p:spPr>
      </p:pic>
      <p:pic>
        <p:nvPicPr>
          <p:cNvPr id="1030" name="Picture 6" descr="Lightbo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3855551"/>
            <a:ext cx="2895600" cy="30024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114800" cy="48736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Sequence Detector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5334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smtClean="0"/>
              <a:t>Generate high output when particular sequence detects</a:t>
            </a:r>
          </a:p>
          <a:p>
            <a:pPr>
              <a:buNone/>
            </a:pPr>
            <a:r>
              <a:rPr lang="en-US" dirty="0" smtClean="0"/>
              <a:t>It can Mealy (Overlap or non-overlap) Moore (Overlap or non-overlap) type</a:t>
            </a:r>
          </a:p>
          <a:p>
            <a:pPr>
              <a:buNone/>
            </a:pPr>
            <a:r>
              <a:rPr lang="en-US" dirty="0" smtClean="0"/>
              <a:t>Overlap FSM – Last bit of one sequence and first bit of next sequence same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An overlapping sequence detector (</a:t>
            </a:r>
            <a:r>
              <a:rPr lang="en-US" sz="2400" dirty="0" err="1" smtClean="0"/>
              <a:t>ab</a:t>
            </a:r>
            <a:r>
              <a:rPr lang="en-US" sz="2400" dirty="0" smtClean="0"/>
              <a:t>) will produces output for sequence length (</a:t>
            </a:r>
            <a:r>
              <a:rPr lang="en-US" sz="2400" dirty="0" err="1" smtClean="0"/>
              <a:t>aabbaababa</a:t>
            </a:r>
            <a:r>
              <a:rPr lang="en-US" sz="2400" dirty="0" smtClean="0"/>
              <a:t>) </a:t>
            </a:r>
          </a:p>
          <a:p>
            <a:pPr fontAlgn="t">
              <a:buNone/>
            </a:pPr>
            <a:endParaRPr lang="en-US" dirty="0" smtClean="0"/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0010001010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1010001010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0010101010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0010111010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876800" cy="446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300" b="1" dirty="0" smtClean="0"/>
              <a:t>101 sequence detector (Mealy)</a:t>
            </a:r>
            <a:endParaRPr lang="en-US" sz="2300" b="1" dirty="0"/>
          </a:p>
        </p:txBody>
      </p:sp>
      <p:sp>
        <p:nvSpPr>
          <p:cNvPr id="5" name="Rectangle 4"/>
          <p:cNvSpPr/>
          <p:nvPr/>
        </p:nvSpPr>
        <p:spPr>
          <a:xfrm>
            <a:off x="4648200" y="0"/>
            <a:ext cx="4495800" cy="4462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300" b="1" dirty="0" smtClean="0"/>
              <a:t>101 sequence detector (Moore)</a:t>
            </a:r>
            <a:endParaRPr lang="en-US" sz="2300" b="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2743200" cy="1143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Mealy sequence Detector 1010</a:t>
            </a: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3733800"/>
            <a:ext cx="274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Moore sequence Detector 1010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Following machine detects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2590800"/>
            <a:ext cx="43053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38200" y="4038600"/>
            <a:ext cx="21243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sz="2800" dirty="0" smtClean="0"/>
              <a:t>101 mealy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2800" dirty="0" smtClean="0"/>
              <a:t>101 </a:t>
            </a:r>
            <a:r>
              <a:rPr lang="en-US" sz="2800" dirty="0" err="1" smtClean="0"/>
              <a:t>moore</a:t>
            </a:r>
            <a:endParaRPr lang="en-US" sz="2800" dirty="0" smtClean="0"/>
          </a:p>
          <a:p>
            <a:pPr marL="342900" indent="-342900">
              <a:buFont typeface="+mj-lt"/>
              <a:buAutoNum type="alphaUcPeriod"/>
            </a:pPr>
            <a:r>
              <a:rPr lang="en-US" sz="2800" dirty="0" smtClean="0"/>
              <a:t>010 mealy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2800" dirty="0" smtClean="0"/>
              <a:t>010 </a:t>
            </a:r>
            <a:r>
              <a:rPr lang="en-US" sz="2800" dirty="0" err="1" smtClean="0"/>
              <a:t>moore</a:t>
            </a:r>
            <a:endParaRPr lang="en-US" sz="2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1"/>
            <a:ext cx="8229600" cy="609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Following machine detects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90114" name="Picture 2" descr="1011&amp;#39; Overlapping (Moore) Sequence Detector in Verilog - Electrical  Engineering Stack Exchan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609600"/>
            <a:ext cx="2895600" cy="5646782"/>
          </a:xfrm>
          <a:prstGeom prst="rect">
            <a:avLst/>
          </a:prstGeom>
          <a:noFill/>
        </p:spPr>
      </p:pic>
      <p:pic>
        <p:nvPicPr>
          <p:cNvPr id="90121" name="Picture 9" descr="FSM design - Digital System Desig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2133600"/>
            <a:ext cx="5334000" cy="2619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/>
              <a:t>Number of state requires to implement </a:t>
            </a:r>
            <a:r>
              <a:rPr lang="en-US" sz="2800" dirty="0" err="1" smtClean="0"/>
              <a:t>moore</a:t>
            </a:r>
            <a:r>
              <a:rPr lang="en-US" sz="2800" dirty="0" smtClean="0"/>
              <a:t> machine ’101010’</a:t>
            </a:r>
          </a:p>
          <a:p>
            <a:pPr fontAlgn="t">
              <a:buNone/>
            </a:pPr>
            <a:endParaRPr lang="en-US" dirty="0" smtClean="0"/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6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7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8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5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1"/>
          <p:cNvSpPr>
            <a:spLocks noChangeArrowheads="1"/>
          </p:cNvSpPr>
          <p:nvPr/>
        </p:nvSpPr>
        <p:spPr bwMode="auto">
          <a:xfrm>
            <a:off x="0" y="838200"/>
            <a:ext cx="918713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Following sequence detector presents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  </a:t>
            </a:r>
          </a:p>
          <a:p>
            <a:pPr marL="742950" marR="0" lvl="0" indent="-7429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Mealy 101</a:t>
            </a:r>
          </a:p>
          <a:p>
            <a:pPr marL="742950" marR="0" lvl="0" indent="-7429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Moore 101</a:t>
            </a:r>
          </a:p>
          <a:p>
            <a:pPr marL="742950" marR="0" lvl="0" indent="-7429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Mealy 1101</a:t>
            </a:r>
          </a:p>
          <a:p>
            <a:pPr marL="742950" marR="0" lvl="0" indent="-7429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  <a:cs typeface="Arial" pitchFamily="34" charset="0"/>
              </a:rPr>
              <a:t>Moore 1101</a:t>
            </a:r>
            <a:endParaRPr kumimoji="0" lang="en-US" sz="1039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Helvetica Neue"/>
              <a:cs typeface="Arial" pitchFamily="34" charset="0"/>
            </a:endParaRPr>
          </a:p>
        </p:txBody>
      </p:sp>
      <p:pic>
        <p:nvPicPr>
          <p:cNvPr id="92162" name="Picture 2" descr="https://s3.ap-south-1.amazonaws.com/ct-public-bucket/dmi/image/1392/q-613c28b4d17131eafacd99e3/bfc66c4d-9c05-2669-349c-e2dced7f1fb6/483a59c5-a6e2-cafe-de3f-eb1f6564d72b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3505200"/>
            <a:ext cx="5410200" cy="1857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495800" cy="56356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Sequence Detector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1"/>
            <a:ext cx="8991600" cy="1828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Overlap FSM – Last bit of one sequence and first bit of next sequence same </a:t>
            </a:r>
          </a:p>
          <a:p>
            <a:pPr>
              <a:buNone/>
            </a:pPr>
            <a:r>
              <a:rPr lang="en-US" sz="2000" dirty="0" smtClean="0"/>
              <a:t>			In sequence first and last bit same by n-bit</a:t>
            </a:r>
            <a:r>
              <a:rPr lang="en-US" sz="2000" dirty="0" smtClean="0">
                <a:sym typeface="Wingdings" pitchFamily="2" charset="2"/>
              </a:rPr>
              <a:t> n-bit overlap</a:t>
            </a: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		Next state of main sequence intermediate state</a:t>
            </a: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Non-overlap FSM – Next state of main sequence initial state</a:t>
            </a:r>
            <a:endParaRPr lang="en-US" sz="2000" dirty="0"/>
          </a:p>
        </p:txBody>
      </p:sp>
      <p:pic>
        <p:nvPicPr>
          <p:cNvPr id="6" name="Picture 6" descr="Appendix – Design of the 11011 Sequence Detect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048000"/>
            <a:ext cx="7772400" cy="37040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9144000" cy="3808196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340871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Mealy Machine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Moore Machine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79134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/>
                        <a:t>Output depends both upon the present state and the present input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/>
                        <a:t>Output depends only upon the present state.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02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 smtClean="0"/>
                        <a:t>Fewer </a:t>
                      </a:r>
                      <a:r>
                        <a:rPr lang="en-US" sz="2000" dirty="0"/>
                        <a:t>states 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 smtClean="0"/>
                        <a:t>more </a:t>
                      </a:r>
                      <a:r>
                        <a:rPr lang="en-US" sz="2000" dirty="0"/>
                        <a:t>states 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668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 smtClean="0"/>
                        <a:t>Output</a:t>
                      </a:r>
                      <a:r>
                        <a:rPr lang="en-US" sz="2000" baseline="0" dirty="0" smtClean="0"/>
                        <a:t> presented on transition</a:t>
                      </a:r>
                      <a:endParaRPr lang="en-US" sz="2000" dirty="0"/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 smtClean="0"/>
                        <a:t>Output presented on</a:t>
                      </a:r>
                      <a:r>
                        <a:rPr lang="en-US" sz="2000" baseline="0" dirty="0" smtClean="0"/>
                        <a:t> state</a:t>
                      </a:r>
                      <a:endParaRPr lang="en-US" sz="2000" dirty="0"/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7396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 smtClean="0"/>
                        <a:t>React </a:t>
                      </a:r>
                      <a:r>
                        <a:rPr lang="en-US" sz="2000" dirty="0"/>
                        <a:t>faster to </a:t>
                      </a:r>
                      <a:r>
                        <a:rPr lang="en-US" sz="2000" dirty="0" smtClean="0"/>
                        <a:t>inputs, in </a:t>
                      </a:r>
                      <a:r>
                        <a:rPr lang="en-US" sz="2000" dirty="0"/>
                        <a:t>the same clock cycle.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 smtClean="0"/>
                        <a:t>More  logic </a:t>
                      </a:r>
                      <a:r>
                        <a:rPr lang="en-US" sz="2000" dirty="0"/>
                        <a:t>is </a:t>
                      </a:r>
                      <a:r>
                        <a:rPr lang="en-US" sz="2000" dirty="0" smtClean="0"/>
                        <a:t>required, more </a:t>
                      </a:r>
                      <a:r>
                        <a:rPr lang="en-US" sz="2000" dirty="0"/>
                        <a:t>circuit delays. </a:t>
                      </a:r>
                      <a:r>
                        <a:rPr lang="en-US" sz="2000" dirty="0" smtClean="0"/>
                        <a:t>React </a:t>
                      </a:r>
                      <a:r>
                        <a:rPr lang="en-US" sz="2000" dirty="0"/>
                        <a:t>one clock cycle later.</a:t>
                      </a:r>
                    </a:p>
                  </a:txBody>
                  <a:tcPr marL="60118" marR="60118" marT="60118" marB="6011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Revision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154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 smtClean="0"/>
              <a:t>If X=8'b10010100 than assign Y=X[6:3] evaluate to</a:t>
            </a:r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X= 'd1234; the size of X is</a:t>
            </a:r>
          </a:p>
          <a:p>
            <a:pPr>
              <a:buNone/>
            </a:pPr>
            <a:endParaRPr lang="en-US" sz="2200" dirty="0" smtClean="0"/>
          </a:p>
          <a:p>
            <a:pPr fontAlgn="t">
              <a:buNone/>
            </a:pPr>
            <a:r>
              <a:rPr lang="en-US" sz="2200" dirty="0" smtClean="0"/>
              <a:t>The width of wire </a:t>
            </a:r>
            <a:r>
              <a:rPr lang="en-US" sz="2200" dirty="0" err="1" smtClean="0"/>
              <a:t>addr</a:t>
            </a:r>
            <a:r>
              <a:rPr lang="en-US" sz="2200" dirty="0" smtClean="0"/>
              <a:t> ?</a:t>
            </a:r>
          </a:p>
          <a:p>
            <a:pPr fontAlgn="t">
              <a:buNone/>
            </a:pPr>
            <a:r>
              <a:rPr lang="en-US" sz="2200" dirty="0" smtClean="0"/>
              <a:t>	assign [3:0]</a:t>
            </a:r>
            <a:r>
              <a:rPr lang="en-US" sz="2200" dirty="0" err="1" smtClean="0"/>
              <a:t>addr</a:t>
            </a:r>
            <a:r>
              <a:rPr lang="en-US" sz="2200" dirty="0" smtClean="0"/>
              <a:t> = addrr1[20:17] + addr2[10:7]</a:t>
            </a:r>
          </a:p>
          <a:p>
            <a:pPr fontAlgn="t">
              <a:buNone/>
            </a:pPr>
            <a:endParaRPr lang="en-US" sz="2200" dirty="0" smtClean="0"/>
          </a:p>
          <a:p>
            <a:pPr fontAlgn="t">
              <a:buNone/>
            </a:pPr>
            <a:r>
              <a:rPr lang="en-US" sz="2200" dirty="0" smtClean="0"/>
              <a:t>The possible output value of operator == are</a:t>
            </a:r>
          </a:p>
          <a:p>
            <a:pPr fontAlgn="t">
              <a:buNone/>
            </a:pPr>
            <a:endParaRPr lang="en-US" sz="2200" dirty="0" smtClean="0"/>
          </a:p>
          <a:p>
            <a:pPr fontAlgn="t">
              <a:buNone/>
            </a:pPr>
            <a:r>
              <a:rPr lang="en-US" sz="2200" dirty="0" smtClean="0"/>
              <a:t>The possible output value of operator === are</a:t>
            </a:r>
          </a:p>
          <a:p>
            <a:pPr fontAlgn="t">
              <a:buNone/>
            </a:pPr>
            <a:endParaRPr lang="en-US" sz="2200" dirty="0" smtClean="0"/>
          </a:p>
          <a:p>
            <a:pPr fontAlgn="t">
              <a:buNone/>
            </a:pPr>
            <a:r>
              <a:rPr lang="en-US" sz="2400" dirty="0" smtClean="0"/>
              <a:t>If B = 2'b00, C = 2'b10 than Y = {B , C} result into</a:t>
            </a:r>
            <a:endParaRPr lang="en-US" sz="2200" dirty="0" smtClean="0"/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buNone/>
            </a:pPr>
            <a:r>
              <a:rPr lang="en-US" dirty="0" smtClean="0"/>
              <a:t>In continuous assignment left hand side must be</a:t>
            </a:r>
          </a:p>
          <a:p>
            <a:pPr fontAlgn="t">
              <a:buNone/>
            </a:pPr>
            <a:endParaRPr lang="en-US" dirty="0" smtClean="0"/>
          </a:p>
          <a:p>
            <a:pPr fontAlgn="t">
              <a:buNone/>
            </a:pPr>
            <a:r>
              <a:rPr lang="en-US" dirty="0" smtClean="0"/>
              <a:t>net</a:t>
            </a:r>
          </a:p>
          <a:p>
            <a:pPr fontAlgn="t">
              <a:buNone/>
            </a:pPr>
            <a:r>
              <a:rPr lang="en-US" dirty="0" err="1" smtClean="0"/>
              <a:t>reg</a:t>
            </a:r>
            <a:endParaRPr lang="en-US" dirty="0" smtClean="0"/>
          </a:p>
          <a:p>
            <a:pPr fontAlgn="t">
              <a:buNone/>
            </a:pPr>
            <a:r>
              <a:rPr lang="en-US" dirty="0" smtClean="0"/>
              <a:t>scalar or vector net</a:t>
            </a:r>
          </a:p>
          <a:p>
            <a:pPr fontAlgn="t">
              <a:buNone/>
            </a:pPr>
            <a:r>
              <a:rPr lang="en-US" dirty="0" smtClean="0"/>
              <a:t>scalar or vector </a:t>
            </a:r>
            <a:r>
              <a:rPr lang="en-US" dirty="0" err="1" smtClean="0"/>
              <a:t>reg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14600"/>
            <a:ext cx="9144000" cy="11430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Behavioral Modeling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4864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 smtClean="0"/>
              <a:t>Highest level of </a:t>
            </a:r>
            <a:r>
              <a:rPr lang="en-US" sz="2000" dirty="0" err="1" smtClean="0"/>
              <a:t>modelling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describe design functionality in an algorithmic manner.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resembles C programming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err="1" smtClean="0"/>
              <a:t>Verilog</a:t>
            </a:r>
            <a:r>
              <a:rPr lang="en-US" sz="2000" dirty="0" smtClean="0"/>
              <a:t> constructs are similar to C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great amount of flexibility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Describe sequential digital circuit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Output port are </a:t>
            </a:r>
            <a:r>
              <a:rPr lang="en-US" sz="2000" dirty="0" err="1" smtClean="0"/>
              <a:t>reg</a:t>
            </a:r>
            <a:r>
              <a:rPr lang="en-US" sz="2000" dirty="0" smtClean="0"/>
              <a:t> data type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Structured Procedures</a:t>
            </a:r>
            <a:r>
              <a:rPr lang="en-US" sz="2000" dirty="0" smtClean="0"/>
              <a:t> </a:t>
            </a:r>
            <a:br>
              <a:rPr lang="en-US" sz="2000" dirty="0" smtClean="0"/>
            </a:br>
            <a:r>
              <a:rPr lang="en-US" sz="2000" dirty="0" smtClean="0"/>
              <a:t>			always and initial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Initial block </a:t>
            </a:r>
            <a:r>
              <a:rPr lang="en-US" sz="2000" dirty="0" smtClean="0"/>
              <a:t>starts at time 0</a:t>
            </a:r>
          </a:p>
          <a:p>
            <a:pPr>
              <a:buNone/>
            </a:pPr>
            <a:r>
              <a:rPr lang="en-US" sz="2000" dirty="0" smtClean="0"/>
              <a:t>		      executes exactly once during a simulation</a:t>
            </a:r>
          </a:p>
          <a:p>
            <a:pPr>
              <a:buNone/>
            </a:pPr>
            <a:r>
              <a:rPr lang="en-US" sz="2000" dirty="0" smtClean="0"/>
              <a:t>		      does not execute again </a:t>
            </a:r>
          </a:p>
          <a:p>
            <a:pPr>
              <a:buNone/>
            </a:pPr>
            <a:r>
              <a:rPr lang="en-US" sz="2000" dirty="0" smtClean="0"/>
              <a:t>		       </a:t>
            </a:r>
            <a:r>
              <a:rPr lang="en-US" sz="1800" dirty="0" smtClean="0"/>
              <a:t>Each block finishes execution independently </a:t>
            </a:r>
            <a:br>
              <a:rPr lang="en-US" sz="1800" dirty="0" smtClean="0"/>
            </a:b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1800" b="1" dirty="0" smtClean="0"/>
              <a:t>Always block </a:t>
            </a:r>
            <a:r>
              <a:rPr lang="en-US" sz="1900" dirty="0" smtClean="0"/>
              <a:t>statement starts at time 0 </a:t>
            </a:r>
          </a:p>
          <a:p>
            <a:pPr>
              <a:buNone/>
            </a:pPr>
            <a:r>
              <a:rPr lang="en-US" sz="1900" dirty="0" smtClean="0"/>
              <a:t>		    Executes the statements in the always block continuously in a looping fashion</a:t>
            </a:r>
          </a:p>
          <a:p>
            <a:pPr>
              <a:buNone/>
            </a:pPr>
            <a:r>
              <a:rPr lang="en-US" sz="1900" dirty="0" smtClean="0"/>
              <a:t>                	    Model a block of activity that is repeated continuously in a digital circuit </a:t>
            </a:r>
            <a:endParaRPr lang="en-US" sz="21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Behavioral Modeling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7315200" cy="45259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module stimulus;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</a:t>
            </a:r>
            <a:r>
              <a:rPr lang="en-US" dirty="0" err="1" smtClean="0"/>
              <a:t>x,y</a:t>
            </a:r>
            <a:r>
              <a:rPr lang="en-US" dirty="0" smtClean="0"/>
              <a:t>, </a:t>
            </a:r>
            <a:r>
              <a:rPr lang="en-US" dirty="0" err="1" smtClean="0"/>
              <a:t>a,b</a:t>
            </a:r>
            <a:r>
              <a:rPr lang="en-US" dirty="0" smtClean="0"/>
              <a:t>, m;</a:t>
            </a:r>
            <a:br>
              <a:rPr lang="en-US" dirty="0" smtClean="0"/>
            </a:b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	m = 1'b0; //single statement; does not need to be grouped</a:t>
            </a:r>
            <a:br>
              <a:rPr lang="en-US" dirty="0" smtClean="0"/>
            </a:b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	begin</a:t>
            </a:r>
            <a:br>
              <a:rPr lang="en-US" dirty="0" smtClean="0"/>
            </a:br>
            <a:r>
              <a:rPr lang="en-US" dirty="0" smtClean="0"/>
              <a:t>	#5 a = 1'b1; //multiple statements; need to be grouped</a:t>
            </a:r>
            <a:br>
              <a:rPr lang="en-US" dirty="0" smtClean="0"/>
            </a:br>
            <a:r>
              <a:rPr lang="en-US" dirty="0" smtClean="0"/>
              <a:t>	#25 b = 1'b0;</a:t>
            </a:r>
            <a:br>
              <a:rPr lang="en-US" dirty="0" smtClean="0"/>
            </a:br>
            <a:r>
              <a:rPr lang="en-US" dirty="0" smtClean="0"/>
              <a:t>	end</a:t>
            </a:r>
            <a:br>
              <a:rPr lang="en-US" dirty="0" smtClean="0"/>
            </a:b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	begin</a:t>
            </a:r>
            <a:br>
              <a:rPr lang="en-US" dirty="0" smtClean="0"/>
            </a:br>
            <a:r>
              <a:rPr lang="en-US" dirty="0" smtClean="0"/>
              <a:t>	#10 x = 1'b0;</a:t>
            </a:r>
            <a:br>
              <a:rPr lang="en-US" dirty="0" smtClean="0"/>
            </a:br>
            <a:r>
              <a:rPr lang="en-US" dirty="0" smtClean="0"/>
              <a:t>	#25 y = 1'b1;</a:t>
            </a:r>
            <a:br>
              <a:rPr lang="en-US" dirty="0" smtClean="0"/>
            </a:br>
            <a:r>
              <a:rPr lang="en-US" dirty="0" smtClean="0"/>
              <a:t>	end</a:t>
            </a:r>
            <a:br>
              <a:rPr lang="en-US" dirty="0" smtClean="0"/>
            </a:br>
            <a:r>
              <a:rPr lang="en-US" dirty="0" smtClean="0"/>
              <a:t>initial </a:t>
            </a:r>
          </a:p>
          <a:p>
            <a:pPr>
              <a:buNone/>
            </a:pPr>
            <a:r>
              <a:rPr lang="en-US" dirty="0" smtClean="0"/>
              <a:t>		#50 $finish;</a:t>
            </a:r>
            <a:br>
              <a:rPr lang="en-US" dirty="0" smtClean="0"/>
            </a:br>
            <a:r>
              <a:rPr lang="en-US" dirty="0" err="1" smtClean="0"/>
              <a:t>endmodule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648200" y="2971800"/>
            <a:ext cx="33528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initialization, monitoring, waveforms and processes that must be executed only once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71600" y="0"/>
            <a:ext cx="6324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Initial Block Example</a:t>
            </a:r>
            <a:endParaRPr lang="en-US" sz="2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1"/>
            <a:ext cx="8229600" cy="685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The simulation time is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76400"/>
            <a:ext cx="2362200" cy="481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876800" y="1828800"/>
            <a:ext cx="92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A.  20ns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821378" y="2602468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B.  50ns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24400" y="3276600"/>
            <a:ext cx="107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C.  60 ns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76800" y="3974068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D.  80 ns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00600" y="450746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E.  110 ns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4821382" y="2881745"/>
            <a:ext cx="1482436" cy="678873"/>
          </a:xfrm>
          <a:custGeom>
            <a:avLst/>
            <a:gdLst>
              <a:gd name="connsiteX0" fmla="*/ 0 w 1482436"/>
              <a:gd name="connsiteY0" fmla="*/ 678873 h 678873"/>
              <a:gd name="connsiteX1" fmla="*/ 1482436 w 1482436"/>
              <a:gd name="connsiteY1" fmla="*/ 0 h 67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436" h="678873">
                <a:moveTo>
                  <a:pt x="0" y="678873"/>
                </a:moveTo>
                <a:lnTo>
                  <a:pt x="1482436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641273" y="3241964"/>
            <a:ext cx="211949" cy="332509"/>
          </a:xfrm>
          <a:custGeom>
            <a:avLst/>
            <a:gdLst>
              <a:gd name="connsiteX0" fmla="*/ 0 w 211949"/>
              <a:gd name="connsiteY0" fmla="*/ 0 h 332509"/>
              <a:gd name="connsiteX1" fmla="*/ 55418 w 211949"/>
              <a:gd name="connsiteY1" fmla="*/ 152400 h 332509"/>
              <a:gd name="connsiteX2" fmla="*/ 96982 w 211949"/>
              <a:gd name="connsiteY2" fmla="*/ 180109 h 332509"/>
              <a:gd name="connsiteX3" fmla="*/ 138545 w 211949"/>
              <a:gd name="connsiteY3" fmla="*/ 304800 h 332509"/>
              <a:gd name="connsiteX4" fmla="*/ 180109 w 211949"/>
              <a:gd name="connsiteY4" fmla="*/ 332509 h 332509"/>
              <a:gd name="connsiteX5" fmla="*/ 207818 w 211949"/>
              <a:gd name="connsiteY5" fmla="*/ 249381 h 33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949" h="332509">
                <a:moveTo>
                  <a:pt x="0" y="0"/>
                </a:moveTo>
                <a:cubicBezTo>
                  <a:pt x="10167" y="50836"/>
                  <a:pt x="16068" y="113050"/>
                  <a:pt x="55418" y="152400"/>
                </a:cubicBezTo>
                <a:cubicBezTo>
                  <a:pt x="67192" y="164174"/>
                  <a:pt x="83127" y="170873"/>
                  <a:pt x="96982" y="180109"/>
                </a:cubicBezTo>
                <a:cubicBezTo>
                  <a:pt x="105708" y="223738"/>
                  <a:pt x="108356" y="268573"/>
                  <a:pt x="138545" y="304800"/>
                </a:cubicBezTo>
                <a:cubicBezTo>
                  <a:pt x="149205" y="317592"/>
                  <a:pt x="166254" y="323273"/>
                  <a:pt x="180109" y="332509"/>
                </a:cubicBezTo>
                <a:cubicBezTo>
                  <a:pt x="211949" y="268829"/>
                  <a:pt x="207818" y="297744"/>
                  <a:pt x="207818" y="24938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838200"/>
            <a:ext cx="7696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clock_gen</a:t>
            </a:r>
            <a:r>
              <a:rPr lang="en-US" dirty="0" smtClean="0"/>
              <a:t> (output </a:t>
            </a:r>
            <a:r>
              <a:rPr lang="en-US" dirty="0" err="1" smtClean="0"/>
              <a:t>reg</a:t>
            </a:r>
            <a:r>
              <a:rPr lang="en-US" dirty="0" smtClean="0"/>
              <a:t> clock);</a:t>
            </a:r>
            <a:br>
              <a:rPr lang="en-US" dirty="0" smtClean="0"/>
            </a:b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clock = 1'b0;   //Initialize clock at time zero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always</a:t>
            </a:r>
            <a:br>
              <a:rPr lang="en-US" dirty="0" smtClean="0"/>
            </a:br>
            <a:r>
              <a:rPr lang="en-US" dirty="0" smtClean="0"/>
              <a:t>#10 clock = ~clock;  // //Toggle clock every half-cycle (time period = 20) </a:t>
            </a:r>
            <a:br>
              <a:rPr lang="en-US" dirty="0" smtClean="0"/>
            </a:br>
            <a:r>
              <a:rPr lang="en-US" dirty="0" smtClean="0"/>
              <a:t> initial</a:t>
            </a:r>
            <a:br>
              <a:rPr lang="en-US" dirty="0" smtClean="0"/>
            </a:br>
            <a:r>
              <a:rPr lang="en-US" dirty="0" smtClean="0"/>
              <a:t>#1000 $finish;</a:t>
            </a:r>
            <a:br>
              <a:rPr lang="en-US" dirty="0" smtClean="0"/>
            </a:br>
            <a:r>
              <a:rPr lang="en-US" dirty="0" err="1" smtClean="0"/>
              <a:t>endmodule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95400" y="0"/>
            <a:ext cx="5867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Clock Generator with Always Block</a:t>
            </a:r>
            <a:endParaRPr lang="en-US" sz="2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Clock Generator with Duty Cycle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0" y="1066800"/>
            <a:ext cx="3685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lock generators with 50% duty cycles.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1752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initial</a:t>
            </a:r>
            <a:r>
              <a:rPr lang="en-US" dirty="0" smtClean="0"/>
              <a:t>  </a:t>
            </a:r>
          </a:p>
          <a:p>
            <a:r>
              <a:rPr lang="en-US" dirty="0" err="1" smtClean="0"/>
              <a:t>reg</a:t>
            </a:r>
            <a:r>
              <a:rPr lang="en-US" dirty="0" smtClean="0"/>
              <a:t> </a:t>
            </a:r>
            <a:r>
              <a:rPr lang="en-US" dirty="0" err="1" smtClean="0"/>
              <a:t>clk</a:t>
            </a:r>
            <a:r>
              <a:rPr lang="en-US" dirty="0" smtClean="0"/>
              <a:t> = 0;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always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begin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#10 </a:t>
            </a:r>
            <a:r>
              <a:rPr lang="en-US" dirty="0" err="1" smtClean="0"/>
              <a:t>clk</a:t>
            </a:r>
            <a:r>
              <a:rPr lang="en-US" dirty="0" smtClean="0"/>
              <a:t> = 0;</a:t>
            </a:r>
            <a:br>
              <a:rPr lang="en-US" dirty="0" smtClean="0"/>
            </a:br>
            <a:r>
              <a:rPr lang="en-US" dirty="0" smtClean="0"/>
              <a:t>#10 </a:t>
            </a:r>
            <a:r>
              <a:rPr lang="en-US" dirty="0" err="1" smtClean="0"/>
              <a:t>clk</a:t>
            </a:r>
            <a:r>
              <a:rPr lang="en-US" dirty="0" smtClean="0"/>
              <a:t> = 1;</a:t>
            </a:r>
            <a:br>
              <a:rPr lang="en-US" dirty="0" smtClean="0"/>
            </a:br>
            <a:r>
              <a:rPr lang="en-US" b="1" dirty="0" smtClean="0"/>
              <a:t>end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10200" y="1828800"/>
            <a:ext cx="3074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 20% duty cycle clock in </a:t>
            </a:r>
            <a:r>
              <a:rPr lang="en-US" dirty="0" err="1" smtClean="0"/>
              <a:t>verilog</a:t>
            </a:r>
            <a:endParaRPr lang="en-US" dirty="0" smtClean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4343400" y="2362200"/>
          <a:ext cx="2013239" cy="2362200"/>
        </p:xfrm>
        <a:graphic>
          <a:graphicData uri="http://schemas.openxmlformats.org/presentationml/2006/ole">
            <p:oleObj spid="_x0000_s1026" name="Equation" r:id="rId3" imgW="952200" imgH="1117440" progId="Equation.DSMT4">
              <p:embed/>
            </p:oleObj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0" y="2438400"/>
            <a:ext cx="1752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initial</a:t>
            </a:r>
            <a:r>
              <a:rPr lang="en-US" dirty="0" smtClean="0"/>
              <a:t> </a:t>
            </a:r>
          </a:p>
          <a:p>
            <a:r>
              <a:rPr lang="en-US" dirty="0" err="1" smtClean="0"/>
              <a:t>reg</a:t>
            </a:r>
            <a:r>
              <a:rPr lang="en-US" dirty="0" smtClean="0"/>
              <a:t> </a:t>
            </a:r>
            <a:r>
              <a:rPr lang="en-US" dirty="0" err="1" smtClean="0"/>
              <a:t>clk</a:t>
            </a:r>
            <a:r>
              <a:rPr lang="en-US" dirty="0" smtClean="0"/>
              <a:t> = 0;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always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begin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clk</a:t>
            </a:r>
            <a:r>
              <a:rPr lang="en-US" dirty="0" smtClean="0"/>
              <a:t> = 1; #1</a:t>
            </a:r>
            <a:br>
              <a:rPr lang="en-US" dirty="0" smtClean="0"/>
            </a:br>
            <a:r>
              <a:rPr lang="en-US" dirty="0" err="1" smtClean="0"/>
              <a:t>clk</a:t>
            </a:r>
            <a:r>
              <a:rPr lang="en-US" dirty="0" smtClean="0"/>
              <a:t> = 0; #4</a:t>
            </a:r>
            <a:br>
              <a:rPr lang="en-US" dirty="0" smtClean="0"/>
            </a:br>
            <a:r>
              <a:rPr lang="en-US" b="1" dirty="0" smtClean="0"/>
              <a:t>end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4322814" y="4853164"/>
            <a:ext cx="4887135" cy="1036056"/>
          </a:xfrm>
          <a:custGeom>
            <a:avLst/>
            <a:gdLst>
              <a:gd name="connsiteX0" fmla="*/ 27513 w 4887135"/>
              <a:gd name="connsiteY0" fmla="*/ 924181 h 1036056"/>
              <a:gd name="connsiteX1" fmla="*/ 41368 w 4887135"/>
              <a:gd name="connsiteY1" fmla="*/ 688654 h 1036056"/>
              <a:gd name="connsiteX2" fmla="*/ 96786 w 4887135"/>
              <a:gd name="connsiteY2" fmla="*/ 356145 h 1036056"/>
              <a:gd name="connsiteX3" fmla="*/ 138350 w 4887135"/>
              <a:gd name="connsiteY3" fmla="*/ 259163 h 1036056"/>
              <a:gd name="connsiteX4" fmla="*/ 179913 w 4887135"/>
              <a:gd name="connsiteY4" fmla="*/ 286872 h 1036056"/>
              <a:gd name="connsiteX5" fmla="*/ 249186 w 4887135"/>
              <a:gd name="connsiteY5" fmla="*/ 273018 h 1036056"/>
              <a:gd name="connsiteX6" fmla="*/ 332313 w 4887135"/>
              <a:gd name="connsiteY6" fmla="*/ 259163 h 1036056"/>
              <a:gd name="connsiteX7" fmla="*/ 470859 w 4887135"/>
              <a:gd name="connsiteY7" fmla="*/ 162181 h 1036056"/>
              <a:gd name="connsiteX8" fmla="*/ 498568 w 4887135"/>
              <a:gd name="connsiteY8" fmla="*/ 231454 h 1036056"/>
              <a:gd name="connsiteX9" fmla="*/ 540131 w 4887135"/>
              <a:gd name="connsiteY9" fmla="*/ 162181 h 1036056"/>
              <a:gd name="connsiteX10" fmla="*/ 623259 w 4887135"/>
              <a:gd name="connsiteY10" fmla="*/ 148327 h 1036056"/>
              <a:gd name="connsiteX11" fmla="*/ 664822 w 4887135"/>
              <a:gd name="connsiteY11" fmla="*/ 162181 h 1036056"/>
              <a:gd name="connsiteX12" fmla="*/ 692531 w 4887135"/>
              <a:gd name="connsiteY12" fmla="*/ 162181 h 1036056"/>
              <a:gd name="connsiteX13" fmla="*/ 747950 w 4887135"/>
              <a:gd name="connsiteY13" fmla="*/ 300727 h 1036056"/>
              <a:gd name="connsiteX14" fmla="*/ 761804 w 4887135"/>
              <a:gd name="connsiteY14" fmla="*/ 189891 h 1036056"/>
              <a:gd name="connsiteX15" fmla="*/ 803368 w 4887135"/>
              <a:gd name="connsiteY15" fmla="*/ 356145 h 1036056"/>
              <a:gd name="connsiteX16" fmla="*/ 817222 w 4887135"/>
              <a:gd name="connsiteY16" fmla="*/ 439272 h 1036056"/>
              <a:gd name="connsiteX17" fmla="*/ 844931 w 4887135"/>
              <a:gd name="connsiteY17" fmla="*/ 480836 h 1036056"/>
              <a:gd name="connsiteX18" fmla="*/ 858786 w 4887135"/>
              <a:gd name="connsiteY18" fmla="*/ 563963 h 1036056"/>
              <a:gd name="connsiteX19" fmla="*/ 886495 w 4887135"/>
              <a:gd name="connsiteY19" fmla="*/ 619381 h 1036056"/>
              <a:gd name="connsiteX20" fmla="*/ 872641 w 4887135"/>
              <a:gd name="connsiteY20" fmla="*/ 938036 h 1036056"/>
              <a:gd name="connsiteX21" fmla="*/ 858786 w 4887135"/>
              <a:gd name="connsiteY21" fmla="*/ 882618 h 1036056"/>
              <a:gd name="connsiteX22" fmla="*/ 900350 w 4887135"/>
              <a:gd name="connsiteY22" fmla="*/ 924181 h 1036056"/>
              <a:gd name="connsiteX23" fmla="*/ 1038895 w 4887135"/>
              <a:gd name="connsiteY23" fmla="*/ 882618 h 1036056"/>
              <a:gd name="connsiteX24" fmla="*/ 1329841 w 4887135"/>
              <a:gd name="connsiteY24" fmla="*/ 854909 h 1036056"/>
              <a:gd name="connsiteX25" fmla="*/ 1385259 w 4887135"/>
              <a:gd name="connsiteY25" fmla="*/ 841054 h 1036056"/>
              <a:gd name="connsiteX26" fmla="*/ 1482241 w 4887135"/>
              <a:gd name="connsiteY26" fmla="*/ 813345 h 1036056"/>
              <a:gd name="connsiteX27" fmla="*/ 1634641 w 4887135"/>
              <a:gd name="connsiteY27" fmla="*/ 799491 h 1036056"/>
              <a:gd name="connsiteX28" fmla="*/ 1800895 w 4887135"/>
              <a:gd name="connsiteY28" fmla="*/ 813345 h 1036056"/>
              <a:gd name="connsiteX29" fmla="*/ 1953295 w 4887135"/>
              <a:gd name="connsiteY29" fmla="*/ 827200 h 1036056"/>
              <a:gd name="connsiteX30" fmla="*/ 2022568 w 4887135"/>
              <a:gd name="connsiteY30" fmla="*/ 799491 h 1036056"/>
              <a:gd name="connsiteX31" fmla="*/ 2064131 w 4887135"/>
              <a:gd name="connsiteY31" fmla="*/ 813345 h 1036056"/>
              <a:gd name="connsiteX32" fmla="*/ 2271950 w 4887135"/>
              <a:gd name="connsiteY32" fmla="*/ 827200 h 1036056"/>
              <a:gd name="connsiteX33" fmla="*/ 2410495 w 4887135"/>
              <a:gd name="connsiteY33" fmla="*/ 854909 h 1036056"/>
              <a:gd name="connsiteX34" fmla="*/ 2465913 w 4887135"/>
              <a:gd name="connsiteY34" fmla="*/ 841054 h 1036056"/>
              <a:gd name="connsiteX35" fmla="*/ 2646022 w 4887135"/>
              <a:gd name="connsiteY35" fmla="*/ 827200 h 1036056"/>
              <a:gd name="connsiteX36" fmla="*/ 2756859 w 4887135"/>
              <a:gd name="connsiteY36" fmla="*/ 813345 h 1036056"/>
              <a:gd name="connsiteX37" fmla="*/ 2784568 w 4887135"/>
              <a:gd name="connsiteY37" fmla="*/ 882618 h 1036056"/>
              <a:gd name="connsiteX38" fmla="*/ 2853841 w 4887135"/>
              <a:gd name="connsiteY38" fmla="*/ 868763 h 1036056"/>
              <a:gd name="connsiteX39" fmla="*/ 2867695 w 4887135"/>
              <a:gd name="connsiteY39" fmla="*/ 771781 h 1036056"/>
              <a:gd name="connsiteX40" fmla="*/ 2881550 w 4887135"/>
              <a:gd name="connsiteY40" fmla="*/ 688654 h 1036056"/>
              <a:gd name="connsiteX41" fmla="*/ 2895404 w 4887135"/>
              <a:gd name="connsiteY41" fmla="*/ 508545 h 1036056"/>
              <a:gd name="connsiteX42" fmla="*/ 2909259 w 4887135"/>
              <a:gd name="connsiteY42" fmla="*/ 453127 h 1036056"/>
              <a:gd name="connsiteX43" fmla="*/ 2895404 w 4887135"/>
              <a:gd name="connsiteY43" fmla="*/ 259163 h 1036056"/>
              <a:gd name="connsiteX44" fmla="*/ 2867695 w 4887135"/>
              <a:gd name="connsiteY44" fmla="*/ 134472 h 1036056"/>
              <a:gd name="connsiteX45" fmla="*/ 2839986 w 4887135"/>
              <a:gd name="connsiteY45" fmla="*/ 65200 h 1036056"/>
              <a:gd name="connsiteX46" fmla="*/ 2881550 w 4887135"/>
              <a:gd name="connsiteY46" fmla="*/ 79054 h 1036056"/>
              <a:gd name="connsiteX47" fmla="*/ 3033950 w 4887135"/>
              <a:gd name="connsiteY47" fmla="*/ 51345 h 1036056"/>
              <a:gd name="connsiteX48" fmla="*/ 3117077 w 4887135"/>
              <a:gd name="connsiteY48" fmla="*/ 92909 h 1036056"/>
              <a:gd name="connsiteX49" fmla="*/ 3158641 w 4887135"/>
              <a:gd name="connsiteY49" fmla="*/ 92909 h 1036056"/>
              <a:gd name="connsiteX50" fmla="*/ 3214059 w 4887135"/>
              <a:gd name="connsiteY50" fmla="*/ 176036 h 1036056"/>
              <a:gd name="connsiteX51" fmla="*/ 3227913 w 4887135"/>
              <a:gd name="connsiteY51" fmla="*/ 106763 h 1036056"/>
              <a:gd name="connsiteX52" fmla="*/ 3283331 w 4887135"/>
              <a:gd name="connsiteY52" fmla="*/ 134472 h 1036056"/>
              <a:gd name="connsiteX53" fmla="*/ 3408022 w 4887135"/>
              <a:gd name="connsiteY53" fmla="*/ 189891 h 1036056"/>
              <a:gd name="connsiteX54" fmla="*/ 3421877 w 4887135"/>
              <a:gd name="connsiteY54" fmla="*/ 106763 h 1036056"/>
              <a:gd name="connsiteX55" fmla="*/ 3463441 w 4887135"/>
              <a:gd name="connsiteY55" fmla="*/ 148327 h 1036056"/>
              <a:gd name="connsiteX56" fmla="*/ 3505004 w 4887135"/>
              <a:gd name="connsiteY56" fmla="*/ 217600 h 1036056"/>
              <a:gd name="connsiteX57" fmla="*/ 3518859 w 4887135"/>
              <a:gd name="connsiteY57" fmla="*/ 397709 h 1036056"/>
              <a:gd name="connsiteX58" fmla="*/ 3574277 w 4887135"/>
              <a:gd name="connsiteY58" fmla="*/ 841054 h 1036056"/>
              <a:gd name="connsiteX59" fmla="*/ 3657404 w 4887135"/>
              <a:gd name="connsiteY59" fmla="*/ 827200 h 1036056"/>
              <a:gd name="connsiteX60" fmla="*/ 3698968 w 4887135"/>
              <a:gd name="connsiteY60" fmla="*/ 841054 h 1036056"/>
              <a:gd name="connsiteX61" fmla="*/ 3809804 w 4887135"/>
              <a:gd name="connsiteY61" fmla="*/ 813345 h 1036056"/>
              <a:gd name="connsiteX62" fmla="*/ 3906786 w 4887135"/>
              <a:gd name="connsiteY62" fmla="*/ 827200 h 1036056"/>
              <a:gd name="connsiteX63" fmla="*/ 3976059 w 4887135"/>
              <a:gd name="connsiteY63" fmla="*/ 854909 h 1036056"/>
              <a:gd name="connsiteX64" fmla="*/ 4100750 w 4887135"/>
              <a:gd name="connsiteY64" fmla="*/ 827200 h 1036056"/>
              <a:gd name="connsiteX65" fmla="*/ 4239295 w 4887135"/>
              <a:gd name="connsiteY65" fmla="*/ 813345 h 1036056"/>
              <a:gd name="connsiteX66" fmla="*/ 4336277 w 4887135"/>
              <a:gd name="connsiteY66" fmla="*/ 868763 h 1036056"/>
              <a:gd name="connsiteX67" fmla="*/ 4405550 w 4887135"/>
              <a:gd name="connsiteY67" fmla="*/ 868763 h 1036056"/>
              <a:gd name="connsiteX68" fmla="*/ 4447113 w 4887135"/>
              <a:gd name="connsiteY68" fmla="*/ 841054 h 1036056"/>
              <a:gd name="connsiteX69" fmla="*/ 4488677 w 4887135"/>
              <a:gd name="connsiteY69" fmla="*/ 882618 h 1036056"/>
              <a:gd name="connsiteX70" fmla="*/ 4544095 w 4887135"/>
              <a:gd name="connsiteY70" fmla="*/ 896472 h 1036056"/>
              <a:gd name="connsiteX71" fmla="*/ 4821186 w 4887135"/>
              <a:gd name="connsiteY71" fmla="*/ 951891 h 1036056"/>
              <a:gd name="connsiteX72" fmla="*/ 4848895 w 4887135"/>
              <a:gd name="connsiteY72" fmla="*/ 1007309 h 1036056"/>
              <a:gd name="connsiteX73" fmla="*/ 4862750 w 4887135"/>
              <a:gd name="connsiteY73" fmla="*/ 951891 h 1036056"/>
              <a:gd name="connsiteX74" fmla="*/ 4876604 w 4887135"/>
              <a:gd name="connsiteY74" fmla="*/ 1021163 h 1036056"/>
              <a:gd name="connsiteX75" fmla="*/ 4848895 w 4887135"/>
              <a:gd name="connsiteY75" fmla="*/ 979600 h 1036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4887135" h="1036056">
                <a:moveTo>
                  <a:pt x="27513" y="924181"/>
                </a:moveTo>
                <a:cubicBezTo>
                  <a:pt x="32131" y="845672"/>
                  <a:pt x="36018" y="767117"/>
                  <a:pt x="41368" y="688654"/>
                </a:cubicBezTo>
                <a:cubicBezTo>
                  <a:pt x="68219" y="294843"/>
                  <a:pt x="0" y="210964"/>
                  <a:pt x="96786" y="356145"/>
                </a:cubicBezTo>
                <a:cubicBezTo>
                  <a:pt x="110641" y="323818"/>
                  <a:pt x="111331" y="281679"/>
                  <a:pt x="138350" y="259163"/>
                </a:cubicBezTo>
                <a:cubicBezTo>
                  <a:pt x="151142" y="248503"/>
                  <a:pt x="163391" y="284807"/>
                  <a:pt x="179913" y="286872"/>
                </a:cubicBezTo>
                <a:cubicBezTo>
                  <a:pt x="203279" y="289793"/>
                  <a:pt x="226018" y="277230"/>
                  <a:pt x="249186" y="273018"/>
                </a:cubicBezTo>
                <a:cubicBezTo>
                  <a:pt x="276824" y="267993"/>
                  <a:pt x="304604" y="263781"/>
                  <a:pt x="332313" y="259163"/>
                </a:cubicBezTo>
                <a:cubicBezTo>
                  <a:pt x="350171" y="245770"/>
                  <a:pt x="461114" y="160963"/>
                  <a:pt x="470859" y="162181"/>
                </a:cubicBezTo>
                <a:cubicBezTo>
                  <a:pt x="495537" y="165266"/>
                  <a:pt x="489332" y="208363"/>
                  <a:pt x="498568" y="231454"/>
                </a:cubicBezTo>
                <a:cubicBezTo>
                  <a:pt x="512422" y="208363"/>
                  <a:pt x="515380" y="172788"/>
                  <a:pt x="540131" y="162181"/>
                </a:cubicBezTo>
                <a:cubicBezTo>
                  <a:pt x="671379" y="105933"/>
                  <a:pt x="534966" y="280768"/>
                  <a:pt x="623259" y="148327"/>
                </a:cubicBezTo>
                <a:cubicBezTo>
                  <a:pt x="637113" y="152945"/>
                  <a:pt x="654496" y="151855"/>
                  <a:pt x="664822" y="162181"/>
                </a:cubicBezTo>
                <a:cubicBezTo>
                  <a:pt x="692531" y="189890"/>
                  <a:pt x="664823" y="245309"/>
                  <a:pt x="692531" y="162181"/>
                </a:cubicBezTo>
                <a:cubicBezTo>
                  <a:pt x="696799" y="179253"/>
                  <a:pt x="725693" y="311856"/>
                  <a:pt x="747950" y="300727"/>
                </a:cubicBezTo>
                <a:cubicBezTo>
                  <a:pt x="781252" y="284076"/>
                  <a:pt x="757186" y="226836"/>
                  <a:pt x="761804" y="189891"/>
                </a:cubicBezTo>
                <a:cubicBezTo>
                  <a:pt x="775659" y="245309"/>
                  <a:pt x="793977" y="299799"/>
                  <a:pt x="803368" y="356145"/>
                </a:cubicBezTo>
                <a:cubicBezTo>
                  <a:pt x="807986" y="383854"/>
                  <a:pt x="808339" y="412622"/>
                  <a:pt x="817222" y="439272"/>
                </a:cubicBezTo>
                <a:cubicBezTo>
                  <a:pt x="822487" y="455069"/>
                  <a:pt x="835695" y="466981"/>
                  <a:pt x="844931" y="480836"/>
                </a:cubicBezTo>
                <a:cubicBezTo>
                  <a:pt x="849549" y="508545"/>
                  <a:pt x="850714" y="537057"/>
                  <a:pt x="858786" y="563963"/>
                </a:cubicBezTo>
                <a:cubicBezTo>
                  <a:pt x="864721" y="583745"/>
                  <a:pt x="885731" y="598742"/>
                  <a:pt x="886495" y="619381"/>
                </a:cubicBezTo>
                <a:cubicBezTo>
                  <a:pt x="890430" y="725627"/>
                  <a:pt x="877259" y="831818"/>
                  <a:pt x="872641" y="938036"/>
                </a:cubicBezTo>
                <a:cubicBezTo>
                  <a:pt x="868023" y="919563"/>
                  <a:pt x="841755" y="891134"/>
                  <a:pt x="858786" y="882618"/>
                </a:cubicBezTo>
                <a:cubicBezTo>
                  <a:pt x="876311" y="873855"/>
                  <a:pt x="880757" y="924181"/>
                  <a:pt x="900350" y="924181"/>
                </a:cubicBezTo>
                <a:cubicBezTo>
                  <a:pt x="948565" y="924181"/>
                  <a:pt x="991295" y="890295"/>
                  <a:pt x="1038895" y="882618"/>
                </a:cubicBezTo>
                <a:cubicBezTo>
                  <a:pt x="1135073" y="867106"/>
                  <a:pt x="1232859" y="864145"/>
                  <a:pt x="1329841" y="854909"/>
                </a:cubicBezTo>
                <a:cubicBezTo>
                  <a:pt x="1348314" y="850291"/>
                  <a:pt x="1366889" y="846064"/>
                  <a:pt x="1385259" y="841054"/>
                </a:cubicBezTo>
                <a:cubicBezTo>
                  <a:pt x="1417695" y="832208"/>
                  <a:pt x="1449078" y="818872"/>
                  <a:pt x="1482241" y="813345"/>
                </a:cubicBezTo>
                <a:cubicBezTo>
                  <a:pt x="1532556" y="804959"/>
                  <a:pt x="1583841" y="804109"/>
                  <a:pt x="1634641" y="799491"/>
                </a:cubicBezTo>
                <a:cubicBezTo>
                  <a:pt x="1690059" y="804109"/>
                  <a:pt x="1745362" y="816268"/>
                  <a:pt x="1800895" y="813345"/>
                </a:cubicBezTo>
                <a:cubicBezTo>
                  <a:pt x="1954689" y="805250"/>
                  <a:pt x="1847210" y="747635"/>
                  <a:pt x="1953295" y="827200"/>
                </a:cubicBezTo>
                <a:cubicBezTo>
                  <a:pt x="1976386" y="817964"/>
                  <a:pt x="1997890" y="802576"/>
                  <a:pt x="2022568" y="799491"/>
                </a:cubicBezTo>
                <a:cubicBezTo>
                  <a:pt x="2037059" y="797680"/>
                  <a:pt x="2049617" y="811732"/>
                  <a:pt x="2064131" y="813345"/>
                </a:cubicBezTo>
                <a:cubicBezTo>
                  <a:pt x="2133133" y="821012"/>
                  <a:pt x="2202677" y="822582"/>
                  <a:pt x="2271950" y="827200"/>
                </a:cubicBezTo>
                <a:cubicBezTo>
                  <a:pt x="2440276" y="743036"/>
                  <a:pt x="2279646" y="789484"/>
                  <a:pt x="2410495" y="854909"/>
                </a:cubicBezTo>
                <a:cubicBezTo>
                  <a:pt x="2427526" y="863424"/>
                  <a:pt x="2447002" y="843279"/>
                  <a:pt x="2465913" y="841054"/>
                </a:cubicBezTo>
                <a:cubicBezTo>
                  <a:pt x="2525714" y="834019"/>
                  <a:pt x="2585986" y="831818"/>
                  <a:pt x="2646022" y="827200"/>
                </a:cubicBezTo>
                <a:cubicBezTo>
                  <a:pt x="2744947" y="860175"/>
                  <a:pt x="2712948" y="879212"/>
                  <a:pt x="2756859" y="813345"/>
                </a:cubicBezTo>
                <a:cubicBezTo>
                  <a:pt x="2766095" y="836436"/>
                  <a:pt x="2762975" y="870279"/>
                  <a:pt x="2784568" y="882618"/>
                </a:cubicBezTo>
                <a:cubicBezTo>
                  <a:pt x="2805014" y="894301"/>
                  <a:pt x="2839712" y="887602"/>
                  <a:pt x="2853841" y="868763"/>
                </a:cubicBezTo>
                <a:cubicBezTo>
                  <a:pt x="2873434" y="842639"/>
                  <a:pt x="2862730" y="804057"/>
                  <a:pt x="2867695" y="771781"/>
                </a:cubicBezTo>
                <a:cubicBezTo>
                  <a:pt x="2871966" y="744016"/>
                  <a:pt x="2876932" y="716363"/>
                  <a:pt x="2881550" y="688654"/>
                </a:cubicBezTo>
                <a:cubicBezTo>
                  <a:pt x="2886168" y="628618"/>
                  <a:pt x="2888369" y="568346"/>
                  <a:pt x="2895404" y="508545"/>
                </a:cubicBezTo>
                <a:cubicBezTo>
                  <a:pt x="2897629" y="489634"/>
                  <a:pt x="2909259" y="472168"/>
                  <a:pt x="2909259" y="453127"/>
                </a:cubicBezTo>
                <a:cubicBezTo>
                  <a:pt x="2909259" y="388308"/>
                  <a:pt x="2902190" y="323626"/>
                  <a:pt x="2895404" y="259163"/>
                </a:cubicBezTo>
                <a:cubicBezTo>
                  <a:pt x="2893714" y="243110"/>
                  <a:pt x="2874405" y="154603"/>
                  <a:pt x="2867695" y="134472"/>
                </a:cubicBezTo>
                <a:cubicBezTo>
                  <a:pt x="2859831" y="110879"/>
                  <a:pt x="2833954" y="89327"/>
                  <a:pt x="2839986" y="65200"/>
                </a:cubicBezTo>
                <a:cubicBezTo>
                  <a:pt x="2843528" y="51032"/>
                  <a:pt x="2867695" y="74436"/>
                  <a:pt x="2881550" y="79054"/>
                </a:cubicBezTo>
                <a:cubicBezTo>
                  <a:pt x="2904070" y="74550"/>
                  <a:pt x="3016229" y="51345"/>
                  <a:pt x="3033950" y="51345"/>
                </a:cubicBezTo>
                <a:cubicBezTo>
                  <a:pt x="3062628" y="51345"/>
                  <a:pt x="3096064" y="78901"/>
                  <a:pt x="3117077" y="92909"/>
                </a:cubicBezTo>
                <a:cubicBezTo>
                  <a:pt x="3163531" y="0"/>
                  <a:pt x="3130345" y="36318"/>
                  <a:pt x="3158641" y="92909"/>
                </a:cubicBezTo>
                <a:cubicBezTo>
                  <a:pt x="3173534" y="122695"/>
                  <a:pt x="3195586" y="148327"/>
                  <a:pt x="3214059" y="176036"/>
                </a:cubicBezTo>
                <a:cubicBezTo>
                  <a:pt x="3218677" y="152945"/>
                  <a:pt x="3207721" y="118879"/>
                  <a:pt x="3227913" y="106763"/>
                </a:cubicBezTo>
                <a:cubicBezTo>
                  <a:pt x="3245623" y="96137"/>
                  <a:pt x="3264579" y="125817"/>
                  <a:pt x="3283331" y="134472"/>
                </a:cubicBezTo>
                <a:cubicBezTo>
                  <a:pt x="3324629" y="153533"/>
                  <a:pt x="3366458" y="171418"/>
                  <a:pt x="3408022" y="189891"/>
                </a:cubicBezTo>
                <a:cubicBezTo>
                  <a:pt x="3412640" y="162182"/>
                  <a:pt x="3399404" y="123618"/>
                  <a:pt x="3421877" y="106763"/>
                </a:cubicBezTo>
                <a:cubicBezTo>
                  <a:pt x="3437552" y="95007"/>
                  <a:pt x="3451685" y="132652"/>
                  <a:pt x="3463441" y="148327"/>
                </a:cubicBezTo>
                <a:cubicBezTo>
                  <a:pt x="3479598" y="169870"/>
                  <a:pt x="3491150" y="194509"/>
                  <a:pt x="3505004" y="217600"/>
                </a:cubicBezTo>
                <a:cubicBezTo>
                  <a:pt x="3509622" y="277636"/>
                  <a:pt x="3516125" y="337557"/>
                  <a:pt x="3518859" y="397709"/>
                </a:cubicBezTo>
                <a:cubicBezTo>
                  <a:pt x="3539135" y="843780"/>
                  <a:pt x="3396218" y="781704"/>
                  <a:pt x="3574277" y="841054"/>
                </a:cubicBezTo>
                <a:cubicBezTo>
                  <a:pt x="3601986" y="836436"/>
                  <a:pt x="3629313" y="827200"/>
                  <a:pt x="3657404" y="827200"/>
                </a:cubicBezTo>
                <a:cubicBezTo>
                  <a:pt x="3672008" y="827200"/>
                  <a:pt x="3684364" y="841054"/>
                  <a:pt x="3698968" y="841054"/>
                </a:cubicBezTo>
                <a:cubicBezTo>
                  <a:pt x="3732410" y="841054"/>
                  <a:pt x="3777003" y="824279"/>
                  <a:pt x="3809804" y="813345"/>
                </a:cubicBezTo>
                <a:cubicBezTo>
                  <a:pt x="3842131" y="817963"/>
                  <a:pt x="3875105" y="819280"/>
                  <a:pt x="3906786" y="827200"/>
                </a:cubicBezTo>
                <a:cubicBezTo>
                  <a:pt x="3930913" y="833232"/>
                  <a:pt x="3951313" y="852434"/>
                  <a:pt x="3976059" y="854909"/>
                </a:cubicBezTo>
                <a:cubicBezTo>
                  <a:pt x="3998058" y="857109"/>
                  <a:pt x="4075810" y="830763"/>
                  <a:pt x="4100750" y="827200"/>
                </a:cubicBezTo>
                <a:cubicBezTo>
                  <a:pt x="4146696" y="820636"/>
                  <a:pt x="4193113" y="817963"/>
                  <a:pt x="4239295" y="813345"/>
                </a:cubicBezTo>
                <a:cubicBezTo>
                  <a:pt x="4271622" y="831818"/>
                  <a:pt x="4299272" y="864651"/>
                  <a:pt x="4336277" y="868763"/>
                </a:cubicBezTo>
                <a:cubicBezTo>
                  <a:pt x="4444778" y="880819"/>
                  <a:pt x="4269933" y="733149"/>
                  <a:pt x="4405550" y="868763"/>
                </a:cubicBezTo>
                <a:cubicBezTo>
                  <a:pt x="4419404" y="859527"/>
                  <a:pt x="4430689" y="838317"/>
                  <a:pt x="4447113" y="841054"/>
                </a:cubicBezTo>
                <a:cubicBezTo>
                  <a:pt x="4466440" y="844275"/>
                  <a:pt x="4471665" y="872897"/>
                  <a:pt x="4488677" y="882618"/>
                </a:cubicBezTo>
                <a:cubicBezTo>
                  <a:pt x="4505209" y="892065"/>
                  <a:pt x="4525507" y="892341"/>
                  <a:pt x="4544095" y="896472"/>
                </a:cubicBezTo>
                <a:cubicBezTo>
                  <a:pt x="4733899" y="938651"/>
                  <a:pt x="4686273" y="929405"/>
                  <a:pt x="4821186" y="951891"/>
                </a:cubicBezTo>
                <a:cubicBezTo>
                  <a:pt x="4830422" y="970364"/>
                  <a:pt x="4828242" y="1007309"/>
                  <a:pt x="4848895" y="1007309"/>
                </a:cubicBezTo>
                <a:cubicBezTo>
                  <a:pt x="4867936" y="1007309"/>
                  <a:pt x="4845719" y="943376"/>
                  <a:pt x="4862750" y="951891"/>
                </a:cubicBezTo>
                <a:cubicBezTo>
                  <a:pt x="4883812" y="962422"/>
                  <a:pt x="4887135" y="1000101"/>
                  <a:pt x="4876604" y="1021163"/>
                </a:cubicBezTo>
                <a:cubicBezTo>
                  <a:pt x="4869157" y="1036056"/>
                  <a:pt x="4848895" y="979600"/>
                  <a:pt x="4848895" y="9796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4142509" y="5873904"/>
            <a:ext cx="214450" cy="240082"/>
          </a:xfrm>
          <a:custGeom>
            <a:avLst/>
            <a:gdLst>
              <a:gd name="connsiteX0" fmla="*/ 124691 w 214450"/>
              <a:gd name="connsiteY0" fmla="*/ 423 h 240082"/>
              <a:gd name="connsiteX1" fmla="*/ 13855 w 214450"/>
              <a:gd name="connsiteY1" fmla="*/ 97405 h 240082"/>
              <a:gd name="connsiteX2" fmla="*/ 0 w 214450"/>
              <a:gd name="connsiteY2" fmla="*/ 194387 h 240082"/>
              <a:gd name="connsiteX3" fmla="*/ 13855 w 214450"/>
              <a:gd name="connsiteY3" fmla="*/ 235951 h 240082"/>
              <a:gd name="connsiteX4" fmla="*/ 41564 w 214450"/>
              <a:gd name="connsiteY4" fmla="*/ 208241 h 240082"/>
              <a:gd name="connsiteX5" fmla="*/ 83127 w 214450"/>
              <a:gd name="connsiteY5" fmla="*/ 180532 h 240082"/>
              <a:gd name="connsiteX6" fmla="*/ 96982 w 214450"/>
              <a:gd name="connsiteY6" fmla="*/ 222096 h 240082"/>
              <a:gd name="connsiteX7" fmla="*/ 180109 w 214450"/>
              <a:gd name="connsiteY7" fmla="*/ 180532 h 240082"/>
              <a:gd name="connsiteX8" fmla="*/ 180109 w 214450"/>
              <a:gd name="connsiteY8" fmla="*/ 14278 h 240082"/>
              <a:gd name="connsiteX9" fmla="*/ 152400 w 214450"/>
              <a:gd name="connsiteY9" fmla="*/ 55841 h 240082"/>
              <a:gd name="connsiteX10" fmla="*/ 124691 w 214450"/>
              <a:gd name="connsiteY10" fmla="*/ 138969 h 240082"/>
              <a:gd name="connsiteX11" fmla="*/ 110836 w 214450"/>
              <a:gd name="connsiteY11" fmla="*/ 55841 h 240082"/>
              <a:gd name="connsiteX12" fmla="*/ 83127 w 214450"/>
              <a:gd name="connsiteY12" fmla="*/ 125114 h 240082"/>
              <a:gd name="connsiteX13" fmla="*/ 69273 w 214450"/>
              <a:gd name="connsiteY13" fmla="*/ 83551 h 240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4450" h="240082">
                <a:moveTo>
                  <a:pt x="124691" y="423"/>
                </a:moveTo>
                <a:cubicBezTo>
                  <a:pt x="79971" y="27255"/>
                  <a:pt x="33543" y="43264"/>
                  <a:pt x="13855" y="97405"/>
                </a:cubicBezTo>
                <a:cubicBezTo>
                  <a:pt x="2695" y="128094"/>
                  <a:pt x="4618" y="162060"/>
                  <a:pt x="0" y="194387"/>
                </a:cubicBezTo>
                <a:cubicBezTo>
                  <a:pt x="4618" y="208242"/>
                  <a:pt x="0" y="231333"/>
                  <a:pt x="13855" y="235951"/>
                </a:cubicBezTo>
                <a:cubicBezTo>
                  <a:pt x="26247" y="240082"/>
                  <a:pt x="31364" y="216401"/>
                  <a:pt x="41564" y="208241"/>
                </a:cubicBezTo>
                <a:cubicBezTo>
                  <a:pt x="54566" y="197839"/>
                  <a:pt x="69273" y="189768"/>
                  <a:pt x="83127" y="180532"/>
                </a:cubicBezTo>
                <a:cubicBezTo>
                  <a:pt x="87745" y="194387"/>
                  <a:pt x="83920" y="215565"/>
                  <a:pt x="96982" y="222096"/>
                </a:cubicBezTo>
                <a:cubicBezTo>
                  <a:pt x="113371" y="230290"/>
                  <a:pt x="173109" y="185199"/>
                  <a:pt x="180109" y="180532"/>
                </a:cubicBezTo>
                <a:cubicBezTo>
                  <a:pt x="193726" y="126067"/>
                  <a:pt x="214450" y="71513"/>
                  <a:pt x="180109" y="14278"/>
                </a:cubicBezTo>
                <a:cubicBezTo>
                  <a:pt x="171542" y="0"/>
                  <a:pt x="161636" y="41987"/>
                  <a:pt x="152400" y="55841"/>
                </a:cubicBezTo>
                <a:cubicBezTo>
                  <a:pt x="143164" y="83550"/>
                  <a:pt x="153899" y="138969"/>
                  <a:pt x="124691" y="138969"/>
                </a:cubicBezTo>
                <a:cubicBezTo>
                  <a:pt x="96599" y="138969"/>
                  <a:pt x="137486" y="64725"/>
                  <a:pt x="110836" y="55841"/>
                </a:cubicBezTo>
                <a:cubicBezTo>
                  <a:pt x="87243" y="47976"/>
                  <a:pt x="92363" y="102023"/>
                  <a:pt x="83127" y="125114"/>
                </a:cubicBezTo>
                <a:lnTo>
                  <a:pt x="69273" y="83551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167745" y="5929745"/>
            <a:ext cx="27710" cy="415637"/>
          </a:xfrm>
          <a:custGeom>
            <a:avLst/>
            <a:gdLst>
              <a:gd name="connsiteX0" fmla="*/ 27710 w 27710"/>
              <a:gd name="connsiteY0" fmla="*/ 0 h 415637"/>
              <a:gd name="connsiteX1" fmla="*/ 13855 w 27710"/>
              <a:gd name="connsiteY1" fmla="*/ 360219 h 415637"/>
              <a:gd name="connsiteX2" fmla="*/ 0 w 27710"/>
              <a:gd name="connsiteY2" fmla="*/ 415637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710" h="415637">
                <a:moveTo>
                  <a:pt x="27710" y="0"/>
                </a:moveTo>
                <a:cubicBezTo>
                  <a:pt x="23092" y="120073"/>
                  <a:pt x="21848" y="240323"/>
                  <a:pt x="13855" y="360219"/>
                </a:cubicBezTo>
                <a:cubicBezTo>
                  <a:pt x="12588" y="379218"/>
                  <a:pt x="0" y="415637"/>
                  <a:pt x="0" y="41563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7038109" y="5913516"/>
            <a:ext cx="241466" cy="451741"/>
          </a:xfrm>
          <a:custGeom>
            <a:avLst/>
            <a:gdLst>
              <a:gd name="connsiteX0" fmla="*/ 0 w 241466"/>
              <a:gd name="connsiteY0" fmla="*/ 71648 h 451741"/>
              <a:gd name="connsiteX1" fmla="*/ 55418 w 241466"/>
              <a:gd name="connsiteY1" fmla="*/ 57793 h 451741"/>
              <a:gd name="connsiteX2" fmla="*/ 124691 w 241466"/>
              <a:gd name="connsiteY2" fmla="*/ 43939 h 451741"/>
              <a:gd name="connsiteX3" fmla="*/ 96982 w 241466"/>
              <a:gd name="connsiteY3" fmla="*/ 57793 h 451741"/>
              <a:gd name="connsiteX4" fmla="*/ 55418 w 241466"/>
              <a:gd name="connsiteY4" fmla="*/ 2375 h 451741"/>
              <a:gd name="connsiteX5" fmla="*/ 13855 w 241466"/>
              <a:gd name="connsiteY5" fmla="*/ 43939 h 451741"/>
              <a:gd name="connsiteX6" fmla="*/ 41564 w 241466"/>
              <a:gd name="connsiteY6" fmla="*/ 182484 h 451741"/>
              <a:gd name="connsiteX7" fmla="*/ 55418 w 241466"/>
              <a:gd name="connsiteY7" fmla="*/ 224048 h 451741"/>
              <a:gd name="connsiteX8" fmla="*/ 110836 w 241466"/>
              <a:gd name="connsiteY8" fmla="*/ 237902 h 451741"/>
              <a:gd name="connsiteX9" fmla="*/ 193964 w 241466"/>
              <a:gd name="connsiteY9" fmla="*/ 293320 h 451741"/>
              <a:gd name="connsiteX10" fmla="*/ 166255 w 241466"/>
              <a:gd name="connsiteY10" fmla="*/ 431866 h 451741"/>
              <a:gd name="connsiteX11" fmla="*/ 96982 w 241466"/>
              <a:gd name="connsiteY11" fmla="*/ 431866 h 451741"/>
              <a:gd name="connsiteX12" fmla="*/ 55418 w 241466"/>
              <a:gd name="connsiteY12" fmla="*/ 390302 h 451741"/>
              <a:gd name="connsiteX13" fmla="*/ 41564 w 241466"/>
              <a:gd name="connsiteY13" fmla="*/ 445720 h 451741"/>
              <a:gd name="connsiteX14" fmla="*/ 13855 w 241466"/>
              <a:gd name="connsiteY14" fmla="*/ 376448 h 451741"/>
              <a:gd name="connsiteX15" fmla="*/ 0 w 241466"/>
              <a:gd name="connsiteY15" fmla="*/ 334884 h 451741"/>
              <a:gd name="connsiteX16" fmla="*/ 0 w 241466"/>
              <a:gd name="connsiteY16" fmla="*/ 390302 h 45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1466" h="451741">
                <a:moveTo>
                  <a:pt x="0" y="71648"/>
                </a:moveTo>
                <a:cubicBezTo>
                  <a:pt x="18473" y="67030"/>
                  <a:pt x="36830" y="61924"/>
                  <a:pt x="55418" y="57793"/>
                </a:cubicBezTo>
                <a:cubicBezTo>
                  <a:pt x="78406" y="52685"/>
                  <a:pt x="101846" y="49650"/>
                  <a:pt x="124691" y="43939"/>
                </a:cubicBezTo>
                <a:cubicBezTo>
                  <a:pt x="153645" y="36701"/>
                  <a:pt x="241466" y="0"/>
                  <a:pt x="96982" y="57793"/>
                </a:cubicBezTo>
                <a:cubicBezTo>
                  <a:pt x="31323" y="156283"/>
                  <a:pt x="110530" y="57487"/>
                  <a:pt x="55418" y="2375"/>
                </a:cubicBezTo>
                <a:lnTo>
                  <a:pt x="13855" y="43939"/>
                </a:lnTo>
                <a:cubicBezTo>
                  <a:pt x="23091" y="90121"/>
                  <a:pt x="26672" y="137804"/>
                  <a:pt x="41564" y="182484"/>
                </a:cubicBezTo>
                <a:cubicBezTo>
                  <a:pt x="46182" y="196339"/>
                  <a:pt x="44014" y="214925"/>
                  <a:pt x="55418" y="224048"/>
                </a:cubicBezTo>
                <a:cubicBezTo>
                  <a:pt x="70287" y="235943"/>
                  <a:pt x="92363" y="233284"/>
                  <a:pt x="110836" y="237902"/>
                </a:cubicBezTo>
                <a:cubicBezTo>
                  <a:pt x="138545" y="256375"/>
                  <a:pt x="200495" y="260664"/>
                  <a:pt x="193964" y="293320"/>
                </a:cubicBezTo>
                <a:lnTo>
                  <a:pt x="166255" y="431866"/>
                </a:lnTo>
                <a:cubicBezTo>
                  <a:pt x="44825" y="310436"/>
                  <a:pt x="193426" y="431866"/>
                  <a:pt x="96982" y="431866"/>
                </a:cubicBezTo>
                <a:cubicBezTo>
                  <a:pt x="77389" y="431866"/>
                  <a:pt x="69273" y="404157"/>
                  <a:pt x="55418" y="390302"/>
                </a:cubicBezTo>
                <a:cubicBezTo>
                  <a:pt x="50800" y="408775"/>
                  <a:pt x="59628" y="451741"/>
                  <a:pt x="41564" y="445720"/>
                </a:cubicBezTo>
                <a:cubicBezTo>
                  <a:pt x="17971" y="437856"/>
                  <a:pt x="22587" y="399734"/>
                  <a:pt x="13855" y="376448"/>
                </a:cubicBezTo>
                <a:cubicBezTo>
                  <a:pt x="8727" y="362774"/>
                  <a:pt x="10327" y="324558"/>
                  <a:pt x="0" y="334884"/>
                </a:cubicBezTo>
                <a:lnTo>
                  <a:pt x="0" y="390302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Procedural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106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Procedural assignments update values of </a:t>
            </a:r>
            <a:r>
              <a:rPr lang="en-US" sz="2000" dirty="0" err="1" smtClean="0"/>
              <a:t>reg</a:t>
            </a:r>
            <a:r>
              <a:rPr lang="en-US" sz="2000" dirty="0" smtClean="0"/>
              <a:t>, integer, real, or time variables.</a:t>
            </a:r>
          </a:p>
          <a:p>
            <a:pPr>
              <a:buNone/>
            </a:pPr>
            <a:r>
              <a:rPr lang="en-US" sz="2000" dirty="0" smtClean="0"/>
              <a:t>Value placed on a variable will remain unchanged until another procedural assignment updates the variable with a different value.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2 types of procedural assignment statements: </a:t>
            </a:r>
            <a:r>
              <a:rPr lang="en-US" sz="2000" b="1" dirty="0" smtClean="0"/>
              <a:t>blocking and </a:t>
            </a:r>
            <a:r>
              <a:rPr lang="en-US" sz="2000" b="1" dirty="0" err="1" smtClean="0"/>
              <a:t>nonblocking</a:t>
            </a:r>
            <a:r>
              <a:rPr lang="en-US" sz="2000" b="1" dirty="0" smtClean="0"/>
              <a:t>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500" b="1" dirty="0" smtClean="0"/>
              <a:t>Blocking assignment</a:t>
            </a:r>
          </a:p>
          <a:p>
            <a:pPr>
              <a:buNone/>
            </a:pPr>
            <a:r>
              <a:rPr lang="en-US" sz="2000" dirty="0" smtClean="0"/>
              <a:t>	Executed in order specified.</a:t>
            </a:r>
          </a:p>
          <a:p>
            <a:pPr>
              <a:buNone/>
            </a:pPr>
            <a:r>
              <a:rPr lang="en-US" sz="2000" dirty="0" smtClean="0"/>
              <a:t>     	The </a:t>
            </a:r>
            <a:r>
              <a:rPr lang="en-US" sz="2000" b="1" dirty="0" smtClean="0"/>
              <a:t>=</a:t>
            </a:r>
            <a:r>
              <a:rPr lang="en-US" sz="2000" dirty="0" smtClean="0"/>
              <a:t> operator specify blocking assignments. </a:t>
            </a:r>
          </a:p>
          <a:p>
            <a:pPr>
              <a:buNone/>
            </a:pPr>
            <a:r>
              <a:rPr lang="en-US" sz="2000" dirty="0" smtClean="0"/>
              <a:t>	Update the value instantly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nn-NO" sz="2000" dirty="0" smtClean="0"/>
              <a:t>reg x, y, z;</a:t>
            </a:r>
            <a:br>
              <a:rPr lang="nn-NO" sz="2000" dirty="0" smtClean="0"/>
            </a:br>
            <a:r>
              <a:rPr lang="nn-NO" sz="2000" dirty="0" smtClean="0"/>
              <a:t>reg [15:0] reg_a, reg_b;</a:t>
            </a:r>
            <a:br>
              <a:rPr lang="nn-NO" sz="2000" dirty="0" smtClean="0"/>
            </a:br>
            <a:r>
              <a:rPr lang="nn-NO" sz="2000" dirty="0" smtClean="0"/>
              <a:t>integer count;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114800" y="4272677"/>
            <a:ext cx="297607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x = 0; y = 1; z = 1; </a:t>
            </a:r>
            <a:br>
              <a:rPr lang="en-US" dirty="0" smtClean="0"/>
            </a:br>
            <a:r>
              <a:rPr lang="en-US" dirty="0" smtClean="0"/>
              <a:t>count = 0; </a:t>
            </a:r>
            <a:br>
              <a:rPr lang="en-US" dirty="0" smtClean="0"/>
            </a:br>
            <a:r>
              <a:rPr lang="en-US" dirty="0" err="1" smtClean="0"/>
              <a:t>reg_a</a:t>
            </a:r>
            <a:r>
              <a:rPr lang="en-US" dirty="0" smtClean="0"/>
              <a:t> = 16'b0; </a:t>
            </a:r>
            <a:r>
              <a:rPr lang="en-US" dirty="0" err="1" smtClean="0"/>
              <a:t>reg_b</a:t>
            </a:r>
            <a:r>
              <a:rPr lang="en-US" dirty="0" smtClean="0"/>
              <a:t> = </a:t>
            </a:r>
            <a:r>
              <a:rPr lang="en-US" dirty="0" err="1" smtClean="0"/>
              <a:t>reg_a</a:t>
            </a:r>
            <a:r>
              <a:rPr lang="en-US" dirty="0" smtClean="0"/>
              <a:t>; </a:t>
            </a:r>
            <a:br>
              <a:rPr lang="en-US" dirty="0" smtClean="0"/>
            </a:br>
            <a:r>
              <a:rPr lang="en-US" dirty="0" smtClean="0"/>
              <a:t>#15 </a:t>
            </a:r>
            <a:r>
              <a:rPr lang="en-US" dirty="0" err="1" smtClean="0"/>
              <a:t>reg_a</a:t>
            </a:r>
            <a:r>
              <a:rPr lang="en-US" dirty="0" smtClean="0"/>
              <a:t>[2] = 1'b1; </a:t>
            </a:r>
            <a:br>
              <a:rPr lang="en-US" dirty="0" smtClean="0"/>
            </a:br>
            <a:r>
              <a:rPr lang="en-US" dirty="0" smtClean="0"/>
              <a:t>#10 </a:t>
            </a:r>
            <a:r>
              <a:rPr lang="en-US" dirty="0" err="1" smtClean="0"/>
              <a:t>reg_b</a:t>
            </a:r>
            <a:r>
              <a:rPr lang="en-US" dirty="0" smtClean="0"/>
              <a:t>[15:13] = {x, y, z} ;</a:t>
            </a:r>
            <a:br>
              <a:rPr lang="en-US" dirty="0" smtClean="0"/>
            </a:br>
            <a:r>
              <a:rPr lang="en-US" dirty="0" smtClean="0"/>
              <a:t>count = count + 1; </a:t>
            </a:r>
          </a:p>
          <a:p>
            <a:r>
              <a:rPr lang="en-US" dirty="0" smtClean="0"/>
              <a:t>end </a:t>
            </a:r>
            <a:endParaRPr 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15400" cy="6629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500" b="1" dirty="0" err="1" smtClean="0"/>
              <a:t>Nonblocking</a:t>
            </a:r>
            <a:r>
              <a:rPr lang="en-US" sz="2500" b="1" dirty="0" smtClean="0"/>
              <a:t> assignments </a:t>
            </a:r>
          </a:p>
          <a:p>
            <a:pPr>
              <a:buNone/>
            </a:pPr>
            <a:r>
              <a:rPr lang="en-US" sz="2500" b="1" dirty="0" smtClean="0"/>
              <a:t>	</a:t>
            </a:r>
            <a:r>
              <a:rPr lang="en-US" sz="2000" dirty="0" smtClean="0"/>
              <a:t>Execute assignments without blocking execution</a:t>
            </a:r>
          </a:p>
          <a:p>
            <a:pPr>
              <a:buNone/>
            </a:pPr>
            <a:r>
              <a:rPr lang="en-US" sz="2000" dirty="0" smtClean="0"/>
              <a:t>	 A</a:t>
            </a:r>
            <a:r>
              <a:rPr lang="en-US" sz="2000" b="1" dirty="0" smtClean="0"/>
              <a:t> &lt;=</a:t>
            </a:r>
            <a:r>
              <a:rPr lang="en-US" sz="2000" dirty="0" smtClean="0"/>
              <a:t> operator is used to specify </a:t>
            </a:r>
            <a:r>
              <a:rPr lang="en-US" sz="2000" dirty="0" err="1" smtClean="0"/>
              <a:t>nonblocking</a:t>
            </a:r>
            <a:r>
              <a:rPr lang="en-US" sz="2000" dirty="0" smtClean="0"/>
              <a:t> assignments </a:t>
            </a:r>
          </a:p>
          <a:p>
            <a:pPr>
              <a:buNone/>
            </a:pPr>
            <a:r>
              <a:rPr lang="en-US" sz="2000" dirty="0" smtClean="0"/>
              <a:t>	Not update value instantly end of simulation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initial</a:t>
            </a:r>
            <a:br>
              <a:rPr lang="en-US" sz="2000" dirty="0" smtClean="0"/>
            </a:br>
            <a:r>
              <a:rPr lang="en-US" sz="2000" dirty="0" smtClean="0"/>
              <a:t>begin</a:t>
            </a:r>
            <a:br>
              <a:rPr lang="en-US" sz="2000" dirty="0" smtClean="0"/>
            </a:br>
            <a:r>
              <a:rPr lang="en-US" sz="2000" dirty="0" smtClean="0"/>
              <a:t>x = 0; y = 1; z = 1; </a:t>
            </a:r>
            <a:br>
              <a:rPr lang="en-US" sz="2000" dirty="0" smtClean="0"/>
            </a:br>
            <a:r>
              <a:rPr lang="en-US" sz="2000" dirty="0" smtClean="0"/>
              <a:t>count = 0; </a:t>
            </a:r>
            <a:br>
              <a:rPr lang="en-US" sz="2000" dirty="0" smtClean="0"/>
            </a:br>
            <a:r>
              <a:rPr lang="en-US" sz="2000" dirty="0" err="1" smtClean="0"/>
              <a:t>reg_a</a:t>
            </a:r>
            <a:r>
              <a:rPr lang="en-US" sz="2000" dirty="0" smtClean="0"/>
              <a:t> = 16'b0; </a:t>
            </a:r>
            <a:r>
              <a:rPr lang="en-US" sz="2000" dirty="0" err="1" smtClean="0"/>
              <a:t>reg_b</a:t>
            </a:r>
            <a:r>
              <a:rPr lang="en-US" sz="2000" dirty="0" smtClean="0"/>
              <a:t> = </a:t>
            </a:r>
            <a:r>
              <a:rPr lang="en-US" sz="2000" dirty="0" err="1" smtClean="0"/>
              <a:t>reg_a</a:t>
            </a:r>
            <a:r>
              <a:rPr lang="en-US" sz="2000" dirty="0" smtClean="0"/>
              <a:t>; </a:t>
            </a:r>
            <a:br>
              <a:rPr lang="en-US" sz="2000" dirty="0" smtClean="0"/>
            </a:br>
            <a:r>
              <a:rPr lang="en-US" sz="2000" dirty="0" err="1" smtClean="0"/>
              <a:t>reg_a</a:t>
            </a:r>
            <a:r>
              <a:rPr lang="en-US" sz="2000" dirty="0" smtClean="0"/>
              <a:t>[2] &lt;= #15 1'b1; </a:t>
            </a:r>
            <a:br>
              <a:rPr lang="en-US" sz="2000" dirty="0" smtClean="0"/>
            </a:br>
            <a:r>
              <a:rPr lang="en-US" sz="2000" dirty="0" err="1" smtClean="0"/>
              <a:t>reg_b</a:t>
            </a:r>
            <a:r>
              <a:rPr lang="en-US" sz="2000" dirty="0" smtClean="0"/>
              <a:t>[15:13] &lt;= #10 {x, y, z}; </a:t>
            </a:r>
            <a:br>
              <a:rPr lang="en-US" sz="2000" dirty="0" smtClean="0"/>
            </a:br>
            <a:r>
              <a:rPr lang="en-US" sz="2000" dirty="0" smtClean="0"/>
              <a:t>count &lt;= count + 1; </a:t>
            </a:r>
            <a:br>
              <a:rPr lang="en-US" sz="2000" dirty="0" smtClean="0"/>
            </a:br>
            <a:r>
              <a:rPr lang="en-US" sz="2000" dirty="0" smtClean="0"/>
              <a:t>end </a:t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400"/>
            <a:ext cx="719763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886200"/>
            <a:ext cx="725633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6781800" cy="19050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Symbol		meaning</a:t>
            </a:r>
          </a:p>
          <a:p>
            <a:pPr>
              <a:buNone/>
            </a:pPr>
            <a:r>
              <a:rPr lang="en-US" dirty="0" smtClean="0"/>
              <a:t>a)  =			(</a:t>
            </a:r>
            <a:r>
              <a:rPr lang="en-US" dirty="0" err="1" smtClean="0"/>
              <a:t>i</a:t>
            </a:r>
            <a:r>
              <a:rPr lang="en-US" dirty="0" smtClean="0"/>
              <a:t>) blocking</a:t>
            </a:r>
          </a:p>
          <a:p>
            <a:pPr>
              <a:buNone/>
            </a:pPr>
            <a:r>
              <a:rPr lang="en-US" dirty="0" smtClean="0"/>
              <a:t>b) &lt;=			(ii) non-blocking</a:t>
            </a:r>
            <a:endParaRPr 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26" name="Picture 2" descr="UNIT 2:BEHAVIOURAL MODELING - ppt downloa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609600" y="6096000"/>
            <a:ext cx="45720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 descr="https://media.licdn.com/dms/image/v2/D5612AQHjAzju7bVs1A/article-cover_image-shrink_720_1280/article-cover_image-shrink_720_1280/0/1705570308344?e=1733961600&amp;v=beta&amp;t=kGiaFvtsj89BqaWBJhx1Oz5m5gzh_9dsGDbAP7ANva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990600"/>
            <a:ext cx="7162800" cy="50686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057233"/>
            <a:ext cx="25908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assume a=1, b=0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initial</a:t>
            </a:r>
            <a:br>
              <a:rPr lang="en-US" sz="2200" dirty="0" smtClean="0"/>
            </a:br>
            <a:r>
              <a:rPr lang="en-US" sz="2200" dirty="0" smtClean="0"/>
              <a:t>begin</a:t>
            </a:r>
            <a:br>
              <a:rPr lang="en-US" sz="2200" dirty="0" smtClean="0"/>
            </a:br>
            <a:r>
              <a:rPr lang="en-US" sz="2200" dirty="0" smtClean="0"/>
              <a:t>c &lt;= 0;</a:t>
            </a:r>
            <a:br>
              <a:rPr lang="en-US" sz="2200" dirty="0" smtClean="0"/>
            </a:br>
            <a:r>
              <a:rPr lang="en-US" sz="2200" dirty="0" smtClean="0"/>
              <a:t>#50 c &lt;= </a:t>
            </a:r>
            <a:r>
              <a:rPr lang="en-US" sz="2200" dirty="0" err="1" smtClean="0"/>
              <a:t>a|b</a:t>
            </a:r>
            <a:r>
              <a:rPr lang="en-US" sz="2200" dirty="0" smtClean="0"/>
              <a:t>;</a:t>
            </a:r>
            <a:br>
              <a:rPr lang="en-US" sz="2200" dirty="0" smtClean="0"/>
            </a:br>
            <a:r>
              <a:rPr lang="en-US" sz="2200" dirty="0" smtClean="0"/>
              <a:t>d &lt;= c;</a:t>
            </a:r>
            <a:br>
              <a:rPr lang="en-US" sz="2200" dirty="0" smtClean="0"/>
            </a:br>
            <a:r>
              <a:rPr lang="en-US" sz="2200" dirty="0" smtClean="0"/>
              <a:t>c &lt;= #50 </a:t>
            </a:r>
            <a:r>
              <a:rPr lang="en-US" sz="2200" dirty="0" err="1" smtClean="0"/>
              <a:t>a&amp;b</a:t>
            </a:r>
            <a:r>
              <a:rPr lang="en-US" sz="2200" dirty="0" smtClean="0"/>
              <a:t>;</a:t>
            </a:r>
            <a:br>
              <a:rPr lang="en-US" sz="2200" dirty="0" smtClean="0"/>
            </a:br>
            <a:r>
              <a:rPr lang="en-US" sz="2200" dirty="0" smtClean="0"/>
              <a:t>end 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76200" y="171033"/>
            <a:ext cx="24384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assume a=1, b=0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initial</a:t>
            </a:r>
            <a:br>
              <a:rPr lang="en-US" sz="2200" dirty="0" smtClean="0"/>
            </a:br>
            <a:r>
              <a:rPr lang="en-US" sz="2200" dirty="0" smtClean="0"/>
              <a:t>begin</a:t>
            </a:r>
            <a:br>
              <a:rPr lang="en-US" sz="2200" dirty="0" smtClean="0"/>
            </a:br>
            <a:r>
              <a:rPr lang="en-US" sz="2200" dirty="0" smtClean="0"/>
              <a:t>#50 c = </a:t>
            </a:r>
            <a:r>
              <a:rPr lang="en-US" sz="2200" dirty="0" err="1" smtClean="0"/>
              <a:t>a|b</a:t>
            </a:r>
            <a:r>
              <a:rPr lang="en-US" sz="2200" dirty="0" smtClean="0"/>
              <a:t>;</a:t>
            </a:r>
            <a:br>
              <a:rPr lang="en-US" sz="2200" dirty="0" smtClean="0"/>
            </a:br>
            <a:r>
              <a:rPr lang="en-US" sz="2200" dirty="0" smtClean="0"/>
              <a:t>d = c;</a:t>
            </a:r>
            <a:br>
              <a:rPr lang="en-US" sz="2200" dirty="0" smtClean="0"/>
            </a:br>
            <a:r>
              <a:rPr lang="en-US" sz="2200" dirty="0" smtClean="0"/>
              <a:t>c = #50 </a:t>
            </a:r>
            <a:r>
              <a:rPr lang="en-US" sz="2200" dirty="0" err="1" smtClean="0"/>
              <a:t>a&amp;b</a:t>
            </a:r>
            <a:r>
              <a:rPr lang="en-US" sz="2200" dirty="0" smtClean="0"/>
              <a:t>;</a:t>
            </a:r>
            <a:br>
              <a:rPr lang="en-US" sz="2200" dirty="0" smtClean="0"/>
            </a:br>
            <a:r>
              <a:rPr lang="en-US" sz="2200" dirty="0" smtClean="0"/>
              <a:t>#20 d = c;</a:t>
            </a:r>
            <a:br>
              <a:rPr lang="en-US" sz="2200" dirty="0" smtClean="0"/>
            </a:br>
            <a:r>
              <a:rPr lang="en-US" sz="2200" dirty="0" smtClean="0"/>
              <a:t>end 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6629400" y="1752600"/>
            <a:ext cx="2133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assume a=1, b=0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#50 c = </a:t>
            </a:r>
            <a:r>
              <a:rPr lang="en-US" dirty="0" err="1" smtClean="0"/>
              <a:t>a&amp;b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d = a; </a:t>
            </a:r>
            <a:br>
              <a:rPr lang="en-US" dirty="0" smtClean="0"/>
            </a:br>
            <a:r>
              <a:rPr lang="en-US" dirty="0" smtClean="0"/>
              <a:t>c &lt;= #60 </a:t>
            </a:r>
            <a:r>
              <a:rPr lang="en-US" dirty="0" err="1" smtClean="0"/>
              <a:t>a|b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d &lt;= #80 </a:t>
            </a:r>
            <a:r>
              <a:rPr lang="en-US" dirty="0" err="1" smtClean="0"/>
              <a:t>b|c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end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066800"/>
            <a:ext cx="20193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5334000"/>
            <a:ext cx="2057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81800" y="4038600"/>
            <a:ext cx="20669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343400" cy="251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0"/>
            <a:ext cx="4724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3581400"/>
            <a:ext cx="843554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Swapping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3175000" cy="1905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always @(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posedge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clock)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= b;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always @(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posedge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clock)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= a;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91200" y="838200"/>
            <a:ext cx="3048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always @(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posedge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clock)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&lt;= b;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always @(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posedge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clock)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&lt;= a; 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3048000"/>
            <a:ext cx="14128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Swapping</a:t>
            </a:r>
          </a:p>
          <a:p>
            <a:endParaRPr lang="en-US" dirty="0" smtClean="0"/>
          </a:p>
          <a:p>
            <a:r>
              <a:rPr lang="en-US" dirty="0" smtClean="0"/>
              <a:t>Racing Error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72200" y="3124200"/>
            <a:ext cx="1908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Swapping possible</a:t>
            </a:r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457200"/>
            <a:ext cx="2356123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46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457200"/>
            <a:ext cx="2438400" cy="2912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09600" y="3962400"/>
            <a:ext cx="141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Swapping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05400" y="4038600"/>
            <a:ext cx="108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Swapping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67000" y="2133600"/>
            <a:ext cx="591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I1=2</a:t>
            </a:r>
          </a:p>
          <a:p>
            <a:r>
              <a:rPr lang="en-US" dirty="0" smtClean="0"/>
              <a:t>I2=2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39000" y="2286000"/>
            <a:ext cx="591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I1=2</a:t>
            </a:r>
          </a:p>
          <a:p>
            <a:r>
              <a:rPr lang="en-US" dirty="0" smtClean="0"/>
              <a:t>I2=1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839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Identify true statement</a:t>
            </a:r>
          </a:p>
          <a:p>
            <a:pPr>
              <a:buNone/>
            </a:pPr>
            <a:endParaRPr lang="en-US" sz="2000" dirty="0" smtClean="0"/>
          </a:p>
          <a:p>
            <a:pPr marL="514350" indent="-514350">
              <a:buAutoNum type="alphaUcPeriod"/>
            </a:pPr>
            <a:r>
              <a:rPr lang="en-US" sz="2000" dirty="0" smtClean="0"/>
              <a:t>Evaluate the RHS of </a:t>
            </a:r>
            <a:r>
              <a:rPr lang="en-US" sz="2000" dirty="0" err="1" smtClean="0"/>
              <a:t>nonblocking</a:t>
            </a:r>
            <a:r>
              <a:rPr lang="en-US" sz="2000" dirty="0" smtClean="0"/>
              <a:t> statements at the beginning of the time step. </a:t>
            </a:r>
          </a:p>
          <a:p>
            <a:pPr marL="514350" indent="-514350">
              <a:buAutoNum type="alphaUcPeriod"/>
            </a:pPr>
            <a:r>
              <a:rPr lang="en-US" sz="2000" dirty="0" smtClean="0"/>
              <a:t>Update the LHS of </a:t>
            </a:r>
            <a:r>
              <a:rPr lang="en-US" sz="2000" dirty="0" err="1" smtClean="0"/>
              <a:t>nonblocking</a:t>
            </a:r>
            <a:r>
              <a:rPr lang="en-US" sz="2000" dirty="0" smtClean="0"/>
              <a:t> statements at the end of the time step.</a:t>
            </a:r>
          </a:p>
          <a:p>
            <a:pPr marL="514350" indent="-514350">
              <a:buAutoNum type="alphaUcPeriod"/>
            </a:pPr>
            <a:r>
              <a:rPr lang="en-US" sz="2000" dirty="0" smtClean="0"/>
              <a:t>Both are true</a:t>
            </a:r>
            <a:endParaRPr lang="en-US" sz="2000" dirty="0"/>
          </a:p>
        </p:txBody>
      </p:sp>
      <p:sp>
        <p:nvSpPr>
          <p:cNvPr id="4" name="Freeform 3"/>
          <p:cNvSpPr/>
          <p:nvPr/>
        </p:nvSpPr>
        <p:spPr>
          <a:xfrm>
            <a:off x="277091" y="3250632"/>
            <a:ext cx="550016" cy="457067"/>
          </a:xfrm>
          <a:custGeom>
            <a:avLst/>
            <a:gdLst>
              <a:gd name="connsiteX0" fmla="*/ 0 w 550016"/>
              <a:gd name="connsiteY0" fmla="*/ 296132 h 457067"/>
              <a:gd name="connsiteX1" fmla="*/ 55418 w 550016"/>
              <a:gd name="connsiteY1" fmla="*/ 282277 h 457067"/>
              <a:gd name="connsiteX2" fmla="*/ 124691 w 550016"/>
              <a:gd name="connsiteY2" fmla="*/ 323841 h 457067"/>
              <a:gd name="connsiteX3" fmla="*/ 180109 w 550016"/>
              <a:gd name="connsiteY3" fmla="*/ 351550 h 457067"/>
              <a:gd name="connsiteX4" fmla="*/ 277091 w 550016"/>
              <a:gd name="connsiteY4" fmla="*/ 448532 h 457067"/>
              <a:gd name="connsiteX5" fmla="*/ 318654 w 550016"/>
              <a:gd name="connsiteY5" fmla="*/ 420823 h 457067"/>
              <a:gd name="connsiteX6" fmla="*/ 360218 w 550016"/>
              <a:gd name="connsiteY6" fmla="*/ 337695 h 457067"/>
              <a:gd name="connsiteX7" fmla="*/ 387927 w 550016"/>
              <a:gd name="connsiteY7" fmla="*/ 254568 h 457067"/>
              <a:gd name="connsiteX8" fmla="*/ 443345 w 550016"/>
              <a:gd name="connsiteY8" fmla="*/ 185295 h 457067"/>
              <a:gd name="connsiteX9" fmla="*/ 471054 w 550016"/>
              <a:gd name="connsiteY9" fmla="*/ 143732 h 457067"/>
              <a:gd name="connsiteX10" fmla="*/ 526473 w 550016"/>
              <a:gd name="connsiteY10" fmla="*/ 74459 h 457067"/>
              <a:gd name="connsiteX11" fmla="*/ 540327 w 550016"/>
              <a:gd name="connsiteY11" fmla="*/ 46750 h 457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016" h="457067">
                <a:moveTo>
                  <a:pt x="0" y="296132"/>
                </a:moveTo>
                <a:cubicBezTo>
                  <a:pt x="18473" y="291514"/>
                  <a:pt x="36830" y="278146"/>
                  <a:pt x="55418" y="282277"/>
                </a:cubicBezTo>
                <a:cubicBezTo>
                  <a:pt x="81705" y="288119"/>
                  <a:pt x="101151" y="310763"/>
                  <a:pt x="124691" y="323841"/>
                </a:cubicBezTo>
                <a:cubicBezTo>
                  <a:pt x="142745" y="333871"/>
                  <a:pt x="161636" y="342314"/>
                  <a:pt x="180109" y="351550"/>
                </a:cubicBezTo>
                <a:cubicBezTo>
                  <a:pt x="193581" y="371758"/>
                  <a:pt x="225881" y="457067"/>
                  <a:pt x="277091" y="448532"/>
                </a:cubicBezTo>
                <a:cubicBezTo>
                  <a:pt x="293515" y="445795"/>
                  <a:pt x="304800" y="430059"/>
                  <a:pt x="318654" y="420823"/>
                </a:cubicBezTo>
                <a:cubicBezTo>
                  <a:pt x="332509" y="393114"/>
                  <a:pt x="348303" y="366292"/>
                  <a:pt x="360218" y="337695"/>
                </a:cubicBezTo>
                <a:cubicBezTo>
                  <a:pt x="371452" y="310734"/>
                  <a:pt x="369681" y="277376"/>
                  <a:pt x="387927" y="254568"/>
                </a:cubicBezTo>
                <a:cubicBezTo>
                  <a:pt x="406400" y="231477"/>
                  <a:pt x="425603" y="208952"/>
                  <a:pt x="443345" y="185295"/>
                </a:cubicBezTo>
                <a:cubicBezTo>
                  <a:pt x="453336" y="171974"/>
                  <a:pt x="460652" y="156734"/>
                  <a:pt x="471054" y="143732"/>
                </a:cubicBezTo>
                <a:cubicBezTo>
                  <a:pt x="550016" y="45032"/>
                  <a:pt x="441195" y="202377"/>
                  <a:pt x="526473" y="74459"/>
                </a:cubicBezTo>
                <a:cubicBezTo>
                  <a:pt x="542567" y="10080"/>
                  <a:pt x="540327" y="0"/>
                  <a:pt x="540327" y="4675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9144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module ao4 (y, a, b, c, d);</a:t>
            </a:r>
          </a:p>
          <a:p>
            <a:r>
              <a:rPr lang="en-US" dirty="0" smtClean="0"/>
              <a:t> output y; </a:t>
            </a:r>
          </a:p>
          <a:p>
            <a:r>
              <a:rPr lang="en-US" dirty="0" smtClean="0"/>
              <a:t>input a, b, c, d; </a:t>
            </a:r>
          </a:p>
          <a:p>
            <a:r>
              <a:rPr lang="en-US" dirty="0" err="1" smtClean="0"/>
              <a:t>reg</a:t>
            </a:r>
            <a:r>
              <a:rPr lang="en-US" dirty="0" smtClean="0"/>
              <a:t> y, tmp1, tmp2; </a:t>
            </a:r>
          </a:p>
          <a:p>
            <a:r>
              <a:rPr lang="en-US" dirty="0" smtClean="0"/>
              <a:t>always @(a or b or c or d)</a:t>
            </a:r>
          </a:p>
          <a:p>
            <a:r>
              <a:rPr lang="en-US" dirty="0" smtClean="0"/>
              <a:t> begin </a:t>
            </a:r>
          </a:p>
          <a:p>
            <a:r>
              <a:rPr lang="en-US" dirty="0" smtClean="0"/>
              <a:t>tmp1 &lt;= a &amp; b; </a:t>
            </a:r>
          </a:p>
          <a:p>
            <a:r>
              <a:rPr lang="en-US" dirty="0" smtClean="0"/>
              <a:t>tmp2 &lt;= c &amp; d;</a:t>
            </a:r>
          </a:p>
          <a:p>
            <a:r>
              <a:rPr lang="en-US" dirty="0" smtClean="0"/>
              <a:t> y &lt;= tmp1 | tmp2; </a:t>
            </a:r>
          </a:p>
          <a:p>
            <a:r>
              <a:rPr lang="en-US" dirty="0" smtClean="0"/>
              <a:t>end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endmodule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638800" y="914400"/>
            <a:ext cx="3276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ao2 (y, a, b, c, d);</a:t>
            </a:r>
          </a:p>
          <a:p>
            <a:r>
              <a:rPr lang="en-US" dirty="0" smtClean="0"/>
              <a:t> output y; </a:t>
            </a:r>
          </a:p>
          <a:p>
            <a:r>
              <a:rPr lang="en-US" dirty="0" smtClean="0"/>
              <a:t>input a, b, c, d; </a:t>
            </a:r>
          </a:p>
          <a:p>
            <a:r>
              <a:rPr lang="en-US" dirty="0" err="1" smtClean="0"/>
              <a:t>reg</a:t>
            </a:r>
            <a:r>
              <a:rPr lang="en-US" dirty="0" smtClean="0"/>
              <a:t> y, tmp1, tmp2; </a:t>
            </a:r>
          </a:p>
          <a:p>
            <a:r>
              <a:rPr lang="en-US" dirty="0" smtClean="0"/>
              <a:t>always @(a or b or c or d) </a:t>
            </a:r>
          </a:p>
          <a:p>
            <a:r>
              <a:rPr lang="en-US" dirty="0" smtClean="0"/>
              <a:t>begin </a:t>
            </a:r>
          </a:p>
          <a:p>
            <a:r>
              <a:rPr lang="en-US" dirty="0" smtClean="0"/>
              <a:t>tmp1 = a &amp; b; </a:t>
            </a:r>
          </a:p>
          <a:p>
            <a:r>
              <a:rPr lang="en-US" dirty="0" smtClean="0"/>
              <a:t>tmp2 = c &amp; d; </a:t>
            </a:r>
          </a:p>
          <a:p>
            <a:r>
              <a:rPr lang="en-US" dirty="0" smtClean="0"/>
              <a:t>y = tmp1 | tmp2; </a:t>
            </a:r>
          </a:p>
          <a:p>
            <a:r>
              <a:rPr lang="en-US" dirty="0" smtClean="0"/>
              <a:t>end </a:t>
            </a:r>
          </a:p>
          <a:p>
            <a:r>
              <a:rPr lang="en-US" dirty="0" err="1" smtClean="0"/>
              <a:t>endmodule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0"/>
            <a:ext cx="3540969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comment on execution</a:t>
            </a:r>
            <a:endParaRPr lang="en-US" sz="2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686800" cy="1219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200" dirty="0" smtClean="0"/>
              <a:t>sequential logic use a clocked always block with </a:t>
            </a:r>
            <a:r>
              <a:rPr lang="en-US" sz="2200" dirty="0" err="1" smtClean="0"/>
              <a:t>Nonblocking</a:t>
            </a:r>
            <a:r>
              <a:rPr lang="en-US" sz="2200" dirty="0" smtClean="0"/>
              <a:t> assignments. </a:t>
            </a:r>
          </a:p>
          <a:p>
            <a:pPr>
              <a:buNone/>
            </a:pPr>
            <a:r>
              <a:rPr lang="en-US" sz="2200" dirty="0" smtClean="0"/>
              <a:t>combinational logic use an always block with Blocking assignments. </a:t>
            </a:r>
          </a:p>
          <a:p>
            <a:pPr>
              <a:buNone/>
            </a:pPr>
            <a:r>
              <a:rPr lang="en-US" sz="2200" dirty="0" smtClean="0"/>
              <a:t>Try not to mix the two in the same always block</a:t>
            </a:r>
            <a:endParaRPr lang="en-US" sz="2200" dirty="0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1905000"/>
            <a:ext cx="3581400" cy="17851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always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@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(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posedge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clk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) 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begin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b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=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c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=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b;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end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267200"/>
            <a:ext cx="3581400" cy="17851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always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@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(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posedge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clk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) 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begin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b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&lt;=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a;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c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&lt;=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itchFamily="34" charset="-128"/>
                <a:cs typeface="Arial" pitchFamily="34" charset="0"/>
              </a:rPr>
              <a:t>b;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cs typeface="Arial" pitchFamily="34" charset="0"/>
              </a:rPr>
              <a:t>end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051" name="Picture 3" descr="../images/tidbits/blocki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828800"/>
            <a:ext cx="4343400" cy="2162050"/>
          </a:xfrm>
          <a:prstGeom prst="rect">
            <a:avLst/>
          </a:prstGeom>
          <a:noFill/>
        </p:spPr>
      </p:pic>
      <p:pic>
        <p:nvPicPr>
          <p:cNvPr id="2053" name="Picture 5" descr="../images/tidbits/blocki1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1604" y="4572000"/>
            <a:ext cx="4827596" cy="1981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Event-Based Timing Control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915400" cy="5715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000" dirty="0" smtClean="0"/>
              <a:t>Provide a way to specify the simulation time at which procedural statements will execute</a:t>
            </a:r>
          </a:p>
          <a:p>
            <a:pPr>
              <a:buNone/>
            </a:pPr>
            <a:r>
              <a:rPr lang="en-US" sz="2000" dirty="0" smtClean="0"/>
              <a:t>change in the value on a register or a net </a:t>
            </a:r>
          </a:p>
          <a:p>
            <a:pPr>
              <a:buNone/>
            </a:pPr>
            <a:r>
              <a:rPr lang="en-US" sz="2000" dirty="0" smtClean="0"/>
              <a:t>Trigger execution of block</a:t>
            </a:r>
          </a:p>
          <a:p>
            <a:pPr>
              <a:buNone/>
            </a:pPr>
            <a:endParaRPr lang="en-US" sz="2000" dirty="0" smtClean="0"/>
          </a:p>
          <a:p>
            <a:pPr marL="514350" indent="-514350">
              <a:buAutoNum type="romanLcParenBoth"/>
            </a:pPr>
            <a:r>
              <a:rPr lang="en-US" sz="2000" dirty="0" smtClean="0"/>
              <a:t>Delay-based (ii) Event based (iii) level-sensitive </a:t>
            </a:r>
          </a:p>
          <a:p>
            <a:pPr marL="514350" indent="-514350">
              <a:buAutoNum type="romanLcParenBoth"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Event based control – </a:t>
            </a:r>
            <a:r>
              <a:rPr lang="en-US" sz="2000" dirty="0" smtClean="0"/>
              <a:t>trigger execution of a statement </a:t>
            </a:r>
            <a:br>
              <a:rPr lang="en-US" sz="2000" dirty="0" smtClean="0"/>
            </a:br>
            <a:endParaRPr lang="en-US" sz="2000" b="1" dirty="0" smtClean="0"/>
          </a:p>
          <a:p>
            <a:pPr>
              <a:buNone/>
            </a:pPr>
            <a:r>
              <a:rPr lang="en-US" sz="2000" b="1" dirty="0" smtClean="0"/>
              <a:t>(a) Regular event control</a:t>
            </a:r>
            <a:r>
              <a:rPr lang="en-US" sz="2000" dirty="0" smtClean="0"/>
              <a:t>    @ symbol specify an event control 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   @(clock) q = d; </a:t>
            </a:r>
            <a:br>
              <a:rPr lang="en-US" sz="2000" dirty="0" smtClean="0"/>
            </a:br>
            <a:r>
              <a:rPr lang="en-US" sz="2000" dirty="0" smtClean="0"/>
              <a:t>@(</a:t>
            </a:r>
            <a:r>
              <a:rPr lang="en-US" sz="2000" dirty="0" err="1" smtClean="0"/>
              <a:t>posedge</a:t>
            </a:r>
            <a:r>
              <a:rPr lang="en-US" sz="2000" dirty="0" smtClean="0"/>
              <a:t> clock) q = d;               positive transition ( 0 to 1,x or z, x to 1, z to 1 )</a:t>
            </a:r>
            <a:br>
              <a:rPr lang="en-US" sz="2000" dirty="0" smtClean="0"/>
            </a:br>
            <a:r>
              <a:rPr lang="en-US" sz="2000" dirty="0" smtClean="0"/>
              <a:t>@(</a:t>
            </a:r>
            <a:r>
              <a:rPr lang="en-US" sz="2000" dirty="0" err="1" smtClean="0"/>
              <a:t>negedge</a:t>
            </a:r>
            <a:r>
              <a:rPr lang="en-US" sz="2000" dirty="0" smtClean="0"/>
              <a:t> clock) q = d;	negative transition ( 1 to 0,x or </a:t>
            </a:r>
            <a:r>
              <a:rPr lang="en-US" sz="2000" dirty="0" err="1" smtClean="0"/>
              <a:t>z,x</a:t>
            </a:r>
            <a:r>
              <a:rPr lang="en-US" sz="2000" dirty="0" smtClean="0"/>
              <a:t> to 0, z to 0)</a:t>
            </a:r>
            <a:br>
              <a:rPr lang="en-US" sz="2000" dirty="0" smtClean="0"/>
            </a:br>
            <a:r>
              <a:rPr lang="en-US" sz="2000" dirty="0" smtClean="0"/>
              <a:t>q = @(</a:t>
            </a:r>
            <a:r>
              <a:rPr lang="en-US" sz="2000" dirty="0" err="1" smtClean="0"/>
              <a:t>posedge</a:t>
            </a:r>
            <a:r>
              <a:rPr lang="en-US" sz="2000" dirty="0" smtClean="0"/>
              <a:t> clock) d;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(b) Named event control</a:t>
            </a:r>
            <a:r>
              <a:rPr lang="en-US" sz="2000" dirty="0" smtClean="0"/>
              <a:t> 	Event trigger by symbol    -&gt;      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always @(</a:t>
            </a:r>
            <a:r>
              <a:rPr lang="en-US" sz="2000" dirty="0" err="1" smtClean="0"/>
              <a:t>posedge</a:t>
            </a:r>
            <a:r>
              <a:rPr lang="en-US" sz="2000" dirty="0" smtClean="0"/>
              <a:t> clock) </a:t>
            </a:r>
            <a:br>
              <a:rPr lang="en-US" sz="2000" dirty="0" smtClean="0"/>
            </a:br>
            <a:r>
              <a:rPr lang="en-US" sz="2000" dirty="0" smtClean="0"/>
              <a:t>begin</a:t>
            </a:r>
            <a:br>
              <a:rPr lang="en-US" sz="2000" dirty="0" smtClean="0"/>
            </a:br>
            <a:r>
              <a:rPr lang="en-US" sz="2000" dirty="0" smtClean="0"/>
              <a:t>if(</a:t>
            </a:r>
            <a:r>
              <a:rPr lang="en-US" sz="2000" dirty="0" err="1" smtClean="0"/>
              <a:t>last_data_packet</a:t>
            </a:r>
            <a:r>
              <a:rPr lang="en-US" sz="2000" dirty="0" smtClean="0"/>
              <a:t>) </a:t>
            </a:r>
            <a:br>
              <a:rPr lang="en-US" sz="2000" dirty="0" smtClean="0"/>
            </a:br>
            <a:r>
              <a:rPr lang="en-US" sz="2000" dirty="0" smtClean="0"/>
              <a:t>	-&gt;</a:t>
            </a:r>
            <a:r>
              <a:rPr lang="en-US" sz="2000" dirty="0" err="1" smtClean="0"/>
              <a:t>received_data</a:t>
            </a:r>
            <a:r>
              <a:rPr lang="en-US" sz="2000" dirty="0" smtClean="0"/>
              <a:t>; </a:t>
            </a:r>
          </a:p>
          <a:p>
            <a:pPr>
              <a:buNone/>
            </a:pPr>
            <a:r>
              <a:rPr lang="en-US" sz="2000" dirty="0" smtClean="0"/>
              <a:t> 	end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419600" y="5257800"/>
            <a:ext cx="388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always @(</a:t>
            </a:r>
            <a:r>
              <a:rPr lang="en-US" dirty="0" err="1" smtClean="0"/>
              <a:t>received_data</a:t>
            </a:r>
            <a:r>
              <a:rPr lang="en-US" dirty="0" smtClean="0"/>
              <a:t>) </a:t>
            </a:r>
            <a:br>
              <a:rPr lang="en-US" dirty="0" smtClean="0"/>
            </a:br>
            <a:r>
              <a:rPr lang="en-US" dirty="0" err="1" smtClean="0"/>
              <a:t>data_buf</a:t>
            </a:r>
            <a:r>
              <a:rPr lang="en-US" dirty="0" smtClean="0"/>
              <a:t> = {</a:t>
            </a:r>
            <a:r>
              <a:rPr lang="en-US" dirty="0" err="1" smtClean="0"/>
              <a:t>data_pkt</a:t>
            </a:r>
            <a:r>
              <a:rPr lang="en-US" dirty="0" smtClean="0"/>
              <a:t>[0], </a:t>
            </a:r>
            <a:r>
              <a:rPr lang="en-US" dirty="0" err="1" smtClean="0"/>
              <a:t>data_pkt</a:t>
            </a:r>
            <a:r>
              <a:rPr lang="en-US" dirty="0" smtClean="0"/>
              <a:t>[1]}; </a:t>
            </a:r>
            <a:endParaRPr lang="en-US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533400"/>
            <a:ext cx="8610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(c) Event OR Control</a:t>
            </a:r>
            <a:r>
              <a:rPr lang="en-US" dirty="0" smtClean="0"/>
              <a:t>   multiple signals or events can trigger the execution</a:t>
            </a:r>
          </a:p>
          <a:p>
            <a:r>
              <a:rPr lang="en-US" dirty="0" smtClean="0"/>
              <a:t>		list of events as a sensitivity list </a:t>
            </a:r>
          </a:p>
          <a:p>
            <a:r>
              <a:rPr lang="en-US" dirty="0" smtClean="0"/>
              <a:t>		either ‘or’ of ‘ , ’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r>
              <a:rPr lang="en-US" dirty="0" smtClean="0"/>
              <a:t>always @( reset or clock or d)</a:t>
            </a:r>
            <a:br>
              <a:rPr lang="en-US" dirty="0" smtClean="0"/>
            </a:br>
            <a:r>
              <a:rPr lang="en-US" dirty="0" smtClean="0"/>
              <a:t>begin </a:t>
            </a:r>
            <a:br>
              <a:rPr lang="en-US" dirty="0" smtClean="0"/>
            </a:br>
            <a:r>
              <a:rPr lang="en-US" dirty="0" smtClean="0"/>
              <a:t>if (reset) </a:t>
            </a:r>
            <a:br>
              <a:rPr lang="en-US" dirty="0" smtClean="0"/>
            </a:br>
            <a:r>
              <a:rPr lang="en-US" dirty="0" smtClean="0"/>
              <a:t>q = 1'b0;</a:t>
            </a:r>
            <a:br>
              <a:rPr lang="en-US" dirty="0" smtClean="0"/>
            </a:br>
            <a:r>
              <a:rPr lang="en-US" dirty="0" smtClean="0"/>
              <a:t>else if(clock) </a:t>
            </a:r>
            <a:br>
              <a:rPr lang="en-US" dirty="0" smtClean="0"/>
            </a:br>
            <a:r>
              <a:rPr lang="en-US" dirty="0" smtClean="0"/>
              <a:t>q = d;</a:t>
            </a:r>
            <a:br>
              <a:rPr lang="en-US" dirty="0" smtClean="0"/>
            </a:br>
            <a:r>
              <a:rPr lang="en-US" dirty="0" smtClean="0"/>
              <a:t>end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86200" y="1828800"/>
            <a:ext cx="5257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@* and @(*) sensitive to a change on any signal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3962400"/>
            <a:ext cx="8686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(d) Level-Sensitive Timing Control  </a:t>
            </a:r>
            <a:r>
              <a:rPr lang="en-US" dirty="0" smtClean="0"/>
              <a:t>@ provided edge-sensitive control</a:t>
            </a:r>
          </a:p>
          <a:p>
            <a:r>
              <a:rPr lang="en-US" dirty="0" smtClean="0"/>
              <a:t>			      wait for triggering of an event </a:t>
            </a:r>
          </a:p>
          <a:p>
            <a:r>
              <a:rPr lang="en-US" dirty="0" smtClean="0"/>
              <a:t>			      ‘wait’ is used for level sensitive constructs. 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always</a:t>
            </a:r>
            <a:br>
              <a:rPr lang="en-US" dirty="0" smtClean="0"/>
            </a:br>
            <a:r>
              <a:rPr lang="en-US" dirty="0" smtClean="0"/>
              <a:t>wait (</a:t>
            </a:r>
            <a:r>
              <a:rPr lang="en-US" dirty="0" err="1" smtClean="0"/>
              <a:t>count_enable</a:t>
            </a:r>
            <a:r>
              <a:rPr lang="en-US" dirty="0" smtClean="0"/>
              <a:t>) #20 count = count + 1; 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19600" y="5657671"/>
            <a:ext cx="472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Count_enable</a:t>
            </a:r>
            <a:r>
              <a:rPr lang="en-US" dirty="0" smtClean="0"/>
              <a:t> 0, statement is not entered. </a:t>
            </a:r>
          </a:p>
          <a:p>
            <a:r>
              <a:rPr lang="en-US" dirty="0" err="1" smtClean="0"/>
              <a:t>Count_enable</a:t>
            </a:r>
            <a:r>
              <a:rPr lang="en-US" dirty="0" smtClean="0"/>
              <a:t>  1, statement count = count + 1 is 	       executed after 20 time units </a:t>
            </a:r>
            <a:endParaRPr 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Conditional Statements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2590800" cy="54102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if (&lt;expression&gt;)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true_statement</a:t>
            </a:r>
            <a:r>
              <a:rPr lang="en-US" dirty="0" smtClean="0"/>
              <a:t> ;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if (&lt;expression&gt;)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true_statement</a:t>
            </a:r>
            <a:r>
              <a:rPr lang="en-US" dirty="0" smtClean="0"/>
              <a:t> ; </a:t>
            </a:r>
          </a:p>
          <a:p>
            <a:pPr>
              <a:buNone/>
            </a:pPr>
            <a:r>
              <a:rPr lang="en-US" dirty="0" smtClean="0"/>
              <a:t>else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false_statement</a:t>
            </a:r>
            <a:r>
              <a:rPr lang="en-US" dirty="0" smtClean="0"/>
              <a:t> ;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if (&lt;expression1&gt;) </a:t>
            </a:r>
          </a:p>
          <a:p>
            <a:pPr>
              <a:buNone/>
            </a:pPr>
            <a:r>
              <a:rPr lang="en-US" dirty="0" smtClean="0"/>
              <a:t>	true_statement1 ;</a:t>
            </a:r>
          </a:p>
          <a:p>
            <a:pPr>
              <a:buNone/>
            </a:pPr>
            <a:r>
              <a:rPr lang="en-US" dirty="0" smtClean="0"/>
              <a:t>else if (&lt;expression2&gt;) </a:t>
            </a:r>
          </a:p>
          <a:p>
            <a:pPr>
              <a:buNone/>
            </a:pPr>
            <a:r>
              <a:rPr lang="en-US" dirty="0" smtClean="0"/>
              <a:t>	true_statement2 ;</a:t>
            </a:r>
          </a:p>
          <a:p>
            <a:pPr>
              <a:buNone/>
            </a:pPr>
            <a:r>
              <a:rPr lang="en-US" dirty="0" smtClean="0"/>
              <a:t>else if (&lt;expression3&gt;) </a:t>
            </a:r>
          </a:p>
          <a:p>
            <a:pPr>
              <a:buNone/>
            </a:pPr>
            <a:r>
              <a:rPr lang="en-US" dirty="0" smtClean="0"/>
              <a:t>	true_statement3 ;</a:t>
            </a:r>
          </a:p>
          <a:p>
            <a:pPr>
              <a:buNone/>
            </a:pPr>
            <a:r>
              <a:rPr lang="en-US" dirty="0" smtClean="0"/>
              <a:t>else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default_statement</a:t>
            </a:r>
            <a:r>
              <a:rPr lang="en-US" dirty="0" smtClean="0"/>
              <a:t> ;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67200" y="1828800"/>
            <a:ext cx="4876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Execute statements based on ALU control signal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(</a:t>
            </a:r>
            <a:r>
              <a:rPr lang="en-US" dirty="0" err="1" smtClean="0"/>
              <a:t>alu_control</a:t>
            </a:r>
            <a:r>
              <a:rPr lang="en-US" dirty="0" smtClean="0"/>
              <a:t> == 0)</a:t>
            </a:r>
            <a:br>
              <a:rPr lang="en-US" dirty="0" smtClean="0"/>
            </a:br>
            <a:r>
              <a:rPr lang="en-US" dirty="0" smtClean="0"/>
              <a:t>y = x + z;</a:t>
            </a:r>
            <a:br>
              <a:rPr lang="en-US" dirty="0" smtClean="0"/>
            </a:br>
            <a:r>
              <a:rPr lang="en-US" dirty="0" smtClean="0"/>
              <a:t>else if(</a:t>
            </a:r>
            <a:r>
              <a:rPr lang="en-US" dirty="0" err="1" smtClean="0"/>
              <a:t>alu_control</a:t>
            </a:r>
            <a:r>
              <a:rPr lang="en-US" dirty="0" smtClean="0"/>
              <a:t> == 1)</a:t>
            </a:r>
            <a:br>
              <a:rPr lang="en-US" dirty="0" smtClean="0"/>
            </a:br>
            <a:r>
              <a:rPr lang="en-US" dirty="0" smtClean="0"/>
              <a:t>y = x - z;</a:t>
            </a:r>
            <a:br>
              <a:rPr lang="en-US" dirty="0" smtClean="0"/>
            </a:br>
            <a:r>
              <a:rPr lang="en-US" dirty="0" smtClean="0"/>
              <a:t>else if(</a:t>
            </a:r>
            <a:r>
              <a:rPr lang="en-US" dirty="0" err="1" smtClean="0"/>
              <a:t>alu_control</a:t>
            </a:r>
            <a:r>
              <a:rPr lang="en-US" dirty="0" smtClean="0"/>
              <a:t> == 2)</a:t>
            </a:r>
            <a:br>
              <a:rPr lang="en-US" dirty="0" smtClean="0"/>
            </a:br>
            <a:r>
              <a:rPr lang="en-US" dirty="0" smtClean="0"/>
              <a:t>y = x * z;</a:t>
            </a:r>
            <a:br>
              <a:rPr lang="en-US" dirty="0" smtClean="0"/>
            </a:br>
            <a:r>
              <a:rPr lang="en-US" dirty="0" smtClean="0"/>
              <a:t>else</a:t>
            </a:r>
            <a:br>
              <a:rPr lang="en-US" dirty="0" smtClean="0"/>
            </a:br>
            <a:r>
              <a:rPr lang="en-US" dirty="0" smtClean="0"/>
              <a:t>$display("Invalid ALU control signal")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91600" cy="5334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err="1" smtClean="0"/>
              <a:t>Multiway</a:t>
            </a:r>
            <a:r>
              <a:rPr lang="en-US" b="1" dirty="0" smtClean="0"/>
              <a:t> Branching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295400"/>
            <a:ext cx="2971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case (expression)</a:t>
            </a:r>
            <a:br>
              <a:rPr lang="en-US" dirty="0" smtClean="0"/>
            </a:br>
            <a:r>
              <a:rPr lang="en-US" dirty="0" smtClean="0"/>
              <a:t>alternative1: statement1;</a:t>
            </a:r>
            <a:br>
              <a:rPr lang="en-US" dirty="0" smtClean="0"/>
            </a:br>
            <a:r>
              <a:rPr lang="en-US" dirty="0" smtClean="0"/>
              <a:t>alternative2: statement2;</a:t>
            </a:r>
            <a:br>
              <a:rPr lang="en-US" dirty="0" smtClean="0"/>
            </a:br>
            <a:r>
              <a:rPr lang="en-US" dirty="0" smtClean="0"/>
              <a:t>alternative3: statement3;</a:t>
            </a:r>
            <a:br>
              <a:rPr lang="en-US" dirty="0" smtClean="0"/>
            </a:br>
            <a:r>
              <a:rPr lang="en-US" dirty="0" smtClean="0"/>
              <a:t>...</a:t>
            </a:r>
            <a:br>
              <a:rPr lang="en-US" dirty="0" smtClean="0"/>
            </a:br>
            <a:r>
              <a:rPr lang="en-US" dirty="0" smtClean="0"/>
              <a:t>...</a:t>
            </a:r>
            <a:br>
              <a:rPr lang="en-US" dirty="0" smtClean="0"/>
            </a:br>
            <a:r>
              <a:rPr lang="en-US" dirty="0" smtClean="0"/>
              <a:t>default: </a:t>
            </a:r>
            <a:r>
              <a:rPr lang="en-US" dirty="0" err="1" smtClean="0"/>
              <a:t>default_statement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err="1" smtClean="0"/>
              <a:t>endcase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457200" y="609600"/>
            <a:ext cx="3078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One Switch Multiple Branch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0" y="12192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 smtClean="0"/>
              <a:t>case (</a:t>
            </a:r>
            <a:r>
              <a:rPr lang="es-ES" dirty="0" err="1" smtClean="0"/>
              <a:t>alu_control</a:t>
            </a:r>
            <a:r>
              <a:rPr lang="es-ES" dirty="0" smtClean="0"/>
              <a:t>)</a:t>
            </a:r>
            <a:br>
              <a:rPr lang="es-ES" dirty="0" smtClean="0"/>
            </a:br>
            <a:r>
              <a:rPr lang="es-ES" dirty="0" smtClean="0"/>
              <a:t>2'd0 : y = x + z;</a:t>
            </a:r>
            <a:br>
              <a:rPr lang="es-ES" dirty="0" smtClean="0"/>
            </a:br>
            <a:r>
              <a:rPr lang="es-ES" dirty="0" smtClean="0"/>
              <a:t>2'd1 : y = x - z;</a:t>
            </a:r>
            <a:br>
              <a:rPr lang="es-ES" dirty="0" smtClean="0"/>
            </a:br>
            <a:r>
              <a:rPr lang="es-ES" dirty="0" smtClean="0"/>
              <a:t>2'd2 : y = x * z;</a:t>
            </a:r>
            <a:br>
              <a:rPr lang="es-ES" dirty="0" smtClean="0"/>
            </a:br>
            <a:r>
              <a:rPr lang="es-ES" dirty="0" smtClean="0"/>
              <a:t>default : $</a:t>
            </a:r>
            <a:r>
              <a:rPr lang="es-ES" dirty="0" err="1" smtClean="0"/>
              <a:t>display</a:t>
            </a:r>
            <a:r>
              <a:rPr lang="es-ES" dirty="0" smtClean="0"/>
              <a:t>("</a:t>
            </a:r>
            <a:r>
              <a:rPr lang="es-ES" dirty="0" err="1" smtClean="0"/>
              <a:t>Invalid</a:t>
            </a:r>
            <a:r>
              <a:rPr lang="es-ES" dirty="0" smtClean="0"/>
              <a:t> ALU control </a:t>
            </a:r>
            <a:r>
              <a:rPr lang="es-ES" dirty="0" err="1" smtClean="0"/>
              <a:t>signal</a:t>
            </a:r>
            <a:r>
              <a:rPr lang="es-ES" dirty="0" smtClean="0"/>
              <a:t>");</a:t>
            </a:r>
            <a:br>
              <a:rPr lang="es-ES" dirty="0" smtClean="0"/>
            </a:br>
            <a:r>
              <a:rPr lang="es-ES" dirty="0" err="1" smtClean="0"/>
              <a:t>endcase</a:t>
            </a:r>
            <a:r>
              <a:rPr lang="es-ES" dirty="0" smtClean="0"/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86200" y="606623"/>
            <a:ext cx="5299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Branch number entered in Binary/Octal/Decimal/</a:t>
            </a:r>
            <a:r>
              <a:rPr lang="en-US" sz="1400" dirty="0" err="1" smtClean="0"/>
              <a:t>HexaDecimal</a:t>
            </a:r>
            <a:r>
              <a:rPr lang="en-US" sz="1400" dirty="0" smtClean="0"/>
              <a:t> Format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362200" cy="685800"/>
          </a:xfr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4:1 Multiplexer using case statement</a:t>
            </a:r>
            <a:endParaRPr lang="en-US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399"/>
            <a:ext cx="9144000" cy="350520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Design a module has 2-bit select signal to route one of three 3-bit signal to output</a:t>
            </a:r>
            <a:endParaRPr lang="en-US" sz="2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err="1" smtClean="0"/>
              <a:t>casez</a:t>
            </a:r>
            <a:r>
              <a:rPr lang="en-US" b="1" dirty="0" smtClean="0"/>
              <a:t> and </a:t>
            </a:r>
            <a:r>
              <a:rPr lang="en-US" b="1" dirty="0" err="1" smtClean="0"/>
              <a:t>casex</a:t>
            </a:r>
            <a:r>
              <a:rPr lang="en-US" b="1" dirty="0" smtClean="0"/>
              <a:t>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5257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b="1" dirty="0" err="1" smtClean="0"/>
              <a:t>casez</a:t>
            </a:r>
            <a:r>
              <a:rPr lang="en-US" sz="2000" dirty="0" smtClean="0"/>
              <a:t> allows “Z” and “?” to be treated as don’t care in condition</a:t>
            </a:r>
          </a:p>
          <a:p>
            <a:pPr>
              <a:buNone/>
            </a:pPr>
            <a:r>
              <a:rPr lang="en-US" sz="2000" b="1" dirty="0" err="1" smtClean="0"/>
              <a:t>casex</a:t>
            </a:r>
            <a:r>
              <a:rPr lang="en-US" sz="2000" dirty="0" smtClean="0"/>
              <a:t> allows “Z”, “?”, and “X” to be treated as don’t care in  condition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err="1" smtClean="0"/>
              <a:t>reg</a:t>
            </a:r>
            <a:r>
              <a:rPr lang="en-US" sz="2000" dirty="0" smtClean="0"/>
              <a:t> [3:0] encoding;</a:t>
            </a:r>
            <a:br>
              <a:rPr lang="en-US" sz="2000" dirty="0" smtClean="0"/>
            </a:br>
            <a:r>
              <a:rPr lang="en-US" sz="2000" dirty="0" smtClean="0"/>
              <a:t>integer state;</a:t>
            </a:r>
            <a:br>
              <a:rPr lang="en-US" sz="2000" dirty="0" smtClean="0"/>
            </a:br>
            <a:r>
              <a:rPr lang="en-US" sz="2000" dirty="0" err="1" smtClean="0"/>
              <a:t>casex</a:t>
            </a:r>
            <a:r>
              <a:rPr lang="en-US" sz="2000" dirty="0" smtClean="0"/>
              <a:t> (encoding) </a:t>
            </a:r>
            <a:br>
              <a:rPr lang="en-US" sz="2000" dirty="0" smtClean="0"/>
            </a:br>
            <a:r>
              <a:rPr lang="en-US" sz="2000" dirty="0" smtClean="0"/>
              <a:t>4'b1xxx : </a:t>
            </a:r>
            <a:r>
              <a:rPr lang="en-US" sz="2000" dirty="0" err="1" smtClean="0"/>
              <a:t>next_state</a:t>
            </a:r>
            <a:r>
              <a:rPr lang="en-US" sz="2000" dirty="0" smtClean="0"/>
              <a:t> = 3;</a:t>
            </a:r>
            <a:br>
              <a:rPr lang="en-US" sz="2000" dirty="0" smtClean="0"/>
            </a:br>
            <a:r>
              <a:rPr lang="en-US" sz="2000" dirty="0" smtClean="0"/>
              <a:t>4'bx1xx : </a:t>
            </a:r>
            <a:r>
              <a:rPr lang="en-US" sz="2000" dirty="0" err="1" smtClean="0"/>
              <a:t>next_state</a:t>
            </a:r>
            <a:r>
              <a:rPr lang="en-US" sz="2000" dirty="0" smtClean="0"/>
              <a:t> = 2;</a:t>
            </a:r>
            <a:br>
              <a:rPr lang="en-US" sz="2000" dirty="0" smtClean="0"/>
            </a:br>
            <a:r>
              <a:rPr lang="en-US" sz="2000" dirty="0" smtClean="0"/>
              <a:t>4'bxx1x : </a:t>
            </a:r>
            <a:r>
              <a:rPr lang="en-US" sz="2000" dirty="0" err="1" smtClean="0"/>
              <a:t>next_state</a:t>
            </a:r>
            <a:r>
              <a:rPr lang="en-US" sz="2000" dirty="0" smtClean="0"/>
              <a:t> = 1;</a:t>
            </a:r>
            <a:br>
              <a:rPr lang="en-US" sz="2000" dirty="0" smtClean="0"/>
            </a:br>
            <a:r>
              <a:rPr lang="en-US" sz="2000" dirty="0" smtClean="0"/>
              <a:t>4'bxxx1 : </a:t>
            </a:r>
            <a:r>
              <a:rPr lang="en-US" sz="2000" dirty="0" err="1" smtClean="0"/>
              <a:t>next_state</a:t>
            </a:r>
            <a:r>
              <a:rPr lang="en-US" sz="2000" dirty="0" smtClean="0"/>
              <a:t> = 0;</a:t>
            </a:r>
            <a:br>
              <a:rPr lang="en-US" sz="2000" dirty="0" smtClean="0"/>
            </a:br>
            <a:r>
              <a:rPr lang="en-US" sz="2000" dirty="0" smtClean="0"/>
              <a:t>default : </a:t>
            </a:r>
            <a:r>
              <a:rPr lang="en-US" sz="2000" dirty="0" err="1" smtClean="0"/>
              <a:t>next_state</a:t>
            </a:r>
            <a:r>
              <a:rPr lang="en-US" sz="2000" dirty="0" smtClean="0"/>
              <a:t> = 0;</a:t>
            </a:r>
            <a:br>
              <a:rPr lang="en-US" sz="2000" dirty="0" smtClean="0"/>
            </a:br>
            <a:r>
              <a:rPr lang="en-US" sz="2000" dirty="0" err="1" smtClean="0"/>
              <a:t>endcase</a:t>
            </a:r>
            <a:r>
              <a:rPr lang="en-US" sz="2000" dirty="0" smtClean="0"/>
              <a:t>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input encoding = 4'b10xz would cause </a:t>
            </a:r>
            <a:r>
              <a:rPr lang="en-US" sz="2000" dirty="0" err="1" smtClean="0"/>
              <a:t>next_state</a:t>
            </a:r>
            <a:r>
              <a:rPr lang="en-US" sz="2000" dirty="0" smtClean="0"/>
              <a:t> = 3 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676400"/>
            <a:ext cx="4007971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TFF					DFF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 Down Counter</a:t>
            </a:r>
            <a:endParaRPr lang="en-US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Shift Register</a:t>
            </a:r>
            <a:endParaRPr 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 smtClean="0"/>
              <a:t>LFSR</a:t>
            </a:r>
            <a:endParaRPr 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Which is a Random Number Generator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Counter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Shifter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LFSR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Gray Counter</a:t>
            </a:r>
            <a:endParaRPr lang="en-US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AutoShape 2" descr="DESIGN OF 8 AND16 BIT LFSR WITH MAXIMUM LENGTH FEEDBACK POLYNOMIAL USING  VERILOG HD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4933" name="Picture 5" descr="https://www.fpga4fun.com/images/LFSR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"/>
            <a:ext cx="9144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FSM Programming</a:t>
            </a:r>
            <a:endParaRPr lang="en-US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/>
              <a:t>State transition happens _______ in every clock cycle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a) Once</a:t>
            </a:r>
            <a:br>
              <a:rPr lang="en-US" dirty="0" smtClean="0"/>
            </a:br>
            <a:r>
              <a:rPr lang="en-US" dirty="0" smtClean="0"/>
              <a:t>b) Twice</a:t>
            </a:r>
            <a:br>
              <a:rPr lang="en-US" dirty="0" smtClean="0"/>
            </a:br>
            <a:r>
              <a:rPr lang="en-US" dirty="0" smtClean="0"/>
              <a:t>c) Thrice</a:t>
            </a:r>
            <a:br>
              <a:rPr lang="en-US" dirty="0" smtClean="0"/>
            </a:br>
            <a:r>
              <a:rPr lang="en-US" dirty="0" smtClean="0"/>
              <a:t>d) Four times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LOOP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685800"/>
            <a:ext cx="891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4 loop statements in </a:t>
            </a:r>
            <a:r>
              <a:rPr lang="en-US" sz="2400" dirty="0" err="1" smtClean="0"/>
              <a:t>Verilog</a:t>
            </a:r>
            <a:r>
              <a:rPr lang="en-US" sz="2400" dirty="0" smtClean="0"/>
              <a:t> </a:t>
            </a:r>
            <a:r>
              <a:rPr lang="en-US" sz="2400" b="1" dirty="0" smtClean="0"/>
              <a:t>while, for, repeat, and forever</a:t>
            </a:r>
          </a:p>
          <a:p>
            <a:r>
              <a:rPr lang="en-US" sz="2400" dirty="0" smtClean="0"/>
              <a:t>Syntax are similar to C-language</a:t>
            </a:r>
          </a:p>
          <a:p>
            <a:r>
              <a:rPr lang="en-US" sz="2400" dirty="0" smtClean="0"/>
              <a:t>A loop statement occur inside initial or always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600" b="1" dirty="0" smtClean="0"/>
              <a:t>While Loop-</a:t>
            </a:r>
            <a:r>
              <a:rPr lang="en-US" sz="2400" b="1" dirty="0" smtClean="0"/>
              <a:t> </a:t>
            </a:r>
            <a:r>
              <a:rPr lang="en-US" sz="2400" dirty="0" smtClean="0"/>
              <a:t>executes until the while expression is not true 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152400" y="2819400"/>
            <a:ext cx="7467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smtClean="0"/>
              <a:t>Increment count from 0 to 127;  Exit at count 128</a:t>
            </a:r>
            <a:endParaRPr lang="en-US" sz="2000" i="1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4465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smtClean="0"/>
              <a:t>For Loop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sz="2000" dirty="0" smtClean="0"/>
              <a:t>• An initial condition</a:t>
            </a:r>
            <a:br>
              <a:rPr lang="en-US" sz="2000" dirty="0" smtClean="0"/>
            </a:br>
            <a:r>
              <a:rPr lang="en-US" sz="2000" dirty="0" smtClean="0"/>
              <a:t>		• A check to see if the terminating condition is true</a:t>
            </a:r>
            <a:br>
              <a:rPr lang="en-US" sz="2000" dirty="0" smtClean="0"/>
            </a:br>
            <a:r>
              <a:rPr lang="en-US" sz="2000" dirty="0" smtClean="0"/>
              <a:t>		• A procedural assignment to change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1524000"/>
            <a:ext cx="7467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smtClean="0"/>
              <a:t>Increment count from 0 to 127;  Exit at count 128</a:t>
            </a:r>
            <a:endParaRPr lang="en-US" sz="2000" i="1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 flipH="1">
            <a:off x="457200" y="304800"/>
            <a:ext cx="70408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does following code do</a:t>
            </a:r>
          </a:p>
          <a:p>
            <a:endParaRPr lang="en-US" dirty="0" smtClean="0"/>
          </a:p>
          <a:p>
            <a:r>
              <a:rPr lang="en-US" dirty="0" err="1" smtClean="0"/>
              <a:t>reg</a:t>
            </a:r>
            <a:r>
              <a:rPr lang="en-US" dirty="0" smtClean="0"/>
              <a:t> [3:0] x;</a:t>
            </a:r>
          </a:p>
          <a:p>
            <a:r>
              <a:rPr lang="en-US" dirty="0" smtClean="0"/>
              <a:t>initial </a:t>
            </a:r>
            <a:r>
              <a:rPr lang="en-US" dirty="0" err="1" smtClean="0"/>
              <a:t>clk</a:t>
            </a:r>
            <a:r>
              <a:rPr lang="en-US" dirty="0" smtClean="0"/>
              <a:t> =0;</a:t>
            </a:r>
          </a:p>
          <a:p>
            <a:r>
              <a:rPr lang="en-US" dirty="0" smtClean="0"/>
              <a:t>always #10 </a:t>
            </a:r>
            <a:r>
              <a:rPr lang="en-US" dirty="0" err="1" smtClean="0"/>
              <a:t>clk</a:t>
            </a:r>
            <a:r>
              <a:rPr lang="en-US" dirty="0" smtClean="0"/>
              <a:t> = ~</a:t>
            </a:r>
            <a:r>
              <a:rPr lang="en-US" dirty="0" err="1" smtClean="0"/>
              <a:t>clk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initial </a:t>
            </a:r>
          </a:p>
          <a:p>
            <a:r>
              <a:rPr lang="en-US" dirty="0" smtClean="0"/>
              <a:t>integer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 smtClean="0"/>
              <a:t>begin</a:t>
            </a:r>
          </a:p>
          <a:p>
            <a:r>
              <a:rPr lang="en-US" dirty="0" smtClean="0"/>
              <a:t>#5 for (</a:t>
            </a:r>
            <a:r>
              <a:rPr lang="en-US" dirty="0" err="1" smtClean="0"/>
              <a:t>i</a:t>
            </a:r>
            <a:r>
              <a:rPr lang="en-US" dirty="0" smtClean="0"/>
              <a:t>=0; </a:t>
            </a:r>
            <a:r>
              <a:rPr lang="en-US" dirty="0" err="1" smtClean="0"/>
              <a:t>i</a:t>
            </a:r>
            <a:r>
              <a:rPr lang="en-US" dirty="0" smtClean="0"/>
              <a:t> &lt;16; </a:t>
            </a:r>
            <a:r>
              <a:rPr lang="en-US" dirty="0" err="1" smtClean="0"/>
              <a:t>i</a:t>
            </a:r>
            <a:r>
              <a:rPr lang="en-US" dirty="0" smtClean="0"/>
              <a:t>=i+1)</a:t>
            </a:r>
          </a:p>
          <a:p>
            <a:r>
              <a:rPr lang="en-US" dirty="0" smtClean="0"/>
              <a:t>#20 x=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 smtClean="0"/>
              <a:t>end</a:t>
            </a:r>
            <a:endParaRPr lang="en-US" dirty="0"/>
          </a:p>
        </p:txBody>
      </p:sp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495800"/>
            <a:ext cx="9270124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smtClean="0"/>
              <a:t>Repeat Loop - </a:t>
            </a:r>
            <a:r>
              <a:rPr lang="en-US" sz="2800" dirty="0" smtClean="0"/>
              <a:t>executes the loop a fixed number of times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0" y="838200"/>
            <a:ext cx="7467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smtClean="0"/>
              <a:t>Increment count from 0 to 127;  Exit at count 128</a:t>
            </a:r>
            <a:endParaRPr lang="en-US" sz="2000" i="1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8925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smtClean="0"/>
              <a:t>Forever loop   </a:t>
            </a:r>
            <a:r>
              <a:rPr lang="en-US" sz="2400" dirty="0" smtClean="0"/>
              <a:t>does not contain any expression </a:t>
            </a:r>
          </a:p>
          <a:p>
            <a:r>
              <a:rPr lang="en-US" sz="2400" dirty="0" smtClean="0"/>
              <a:t>	                executes forever until the </a:t>
            </a:r>
            <a:r>
              <a:rPr lang="en-US" sz="2400" b="1" dirty="0" smtClean="0"/>
              <a:t>$finish </a:t>
            </a:r>
            <a:r>
              <a:rPr lang="en-US" sz="2400" dirty="0" smtClean="0"/>
              <a:t>task is encountered</a:t>
            </a:r>
            <a:endParaRPr lang="en-US" sz="24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00200" y="1600200"/>
            <a:ext cx="36590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Which is unconditional loop</a:t>
            </a:r>
          </a:p>
          <a:p>
            <a:endParaRPr lang="en-US" sz="2400" dirty="0" smtClean="0"/>
          </a:p>
          <a:p>
            <a:pPr marL="342900" indent="-342900">
              <a:buAutoNum type="alphaUcPeriod"/>
            </a:pPr>
            <a:r>
              <a:rPr lang="en-US" sz="2400" dirty="0" smtClean="0"/>
              <a:t>While</a:t>
            </a:r>
          </a:p>
          <a:p>
            <a:pPr marL="342900" indent="-342900">
              <a:buAutoNum type="alphaUcPeriod"/>
            </a:pPr>
            <a:r>
              <a:rPr lang="en-US" sz="2400" dirty="0" smtClean="0"/>
              <a:t>For</a:t>
            </a:r>
          </a:p>
          <a:p>
            <a:pPr marL="342900" indent="-342900">
              <a:buAutoNum type="alphaUcPeriod"/>
            </a:pPr>
            <a:r>
              <a:rPr lang="en-US" sz="2400" dirty="0" smtClean="0"/>
              <a:t>Repeat</a:t>
            </a:r>
          </a:p>
          <a:p>
            <a:pPr marL="342900" indent="-342900">
              <a:buAutoNum type="alphaUcPeriod"/>
            </a:pPr>
            <a:r>
              <a:rPr lang="en-US" sz="2400" dirty="0" smtClean="0"/>
              <a:t>Forever</a:t>
            </a:r>
            <a:endParaRPr lang="en-US" sz="2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Loop Example</a:t>
            </a:r>
            <a:endParaRPr lang="en-US" dirty="0"/>
          </a:p>
        </p:txBody>
      </p:sp>
      <p:pic>
        <p:nvPicPr>
          <p:cNvPr id="39938" name="Picture 2" descr="proble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1025" y="609600"/>
            <a:ext cx="4462975" cy="20574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52400" y="609600"/>
            <a:ext cx="4763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Write Program and </a:t>
            </a:r>
            <a:r>
              <a:rPr lang="en-US" i="1" dirty="0" err="1" smtClean="0"/>
              <a:t>Testbench</a:t>
            </a:r>
            <a:r>
              <a:rPr lang="en-US" i="1" dirty="0" smtClean="0"/>
              <a:t> /Stimulus Program</a:t>
            </a:r>
            <a:endParaRPr lang="en-US" i="1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4770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4-bit Comparator in </a:t>
            </a:r>
            <a:r>
              <a:rPr lang="en-US" dirty="0" err="1" smtClean="0"/>
              <a:t>verilog</a:t>
            </a:r>
            <a:endParaRPr lang="en-US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4953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What does the following code segment indicate? </a:t>
            </a:r>
          </a:p>
          <a:p>
            <a:pPr>
              <a:buNone/>
            </a:pPr>
            <a:r>
              <a:rPr lang="en-US" sz="2400" dirty="0" smtClean="0"/>
              <a:t>initial </a:t>
            </a:r>
            <a:r>
              <a:rPr lang="en-US" sz="2400" dirty="0" err="1" smtClean="0"/>
              <a:t>clk</a:t>
            </a:r>
            <a:r>
              <a:rPr lang="en-US" sz="2400" dirty="0" smtClean="0"/>
              <a:t> = 1’b1;</a:t>
            </a:r>
          </a:p>
          <a:p>
            <a:pPr>
              <a:buNone/>
            </a:pPr>
            <a:r>
              <a:rPr lang="en-US" sz="2400" dirty="0" smtClean="0"/>
              <a:t> always #10 </a:t>
            </a:r>
            <a:r>
              <a:rPr lang="en-US" sz="2400" dirty="0" err="1" smtClean="0"/>
              <a:t>clk</a:t>
            </a:r>
            <a:r>
              <a:rPr lang="en-US" sz="2400" dirty="0" smtClean="0"/>
              <a:t> = ~</a:t>
            </a:r>
            <a:r>
              <a:rPr lang="en-US" sz="2400" dirty="0" err="1" smtClean="0"/>
              <a:t>clk</a:t>
            </a:r>
            <a:r>
              <a:rPr lang="en-US" sz="2400" dirty="0" smtClean="0"/>
              <a:t>; </a:t>
            </a:r>
          </a:p>
          <a:p>
            <a:pPr>
              <a:buNone/>
            </a:pPr>
            <a:endParaRPr lang="en-US" sz="2400" dirty="0" smtClean="0"/>
          </a:p>
          <a:p>
            <a:pPr marL="457200" indent="-457200">
              <a:buAutoNum type="alphaLcPeriod"/>
            </a:pPr>
            <a:r>
              <a:rPr lang="en-US" sz="2400" dirty="0" smtClean="0"/>
              <a:t>Falling edges of the clock will appear at times 10, 30, 50, 70,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Falling edges of the clock will appear at times 20, 40, 60, 80,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Falling edges of the clock will appear at times 10, 20, 30, 40, </a:t>
            </a:r>
          </a:p>
          <a:p>
            <a:pPr marL="457200" indent="-457200">
              <a:buAutoNum type="alphaLcPeriod"/>
            </a:pPr>
            <a:r>
              <a:rPr lang="en-US" sz="2400" dirty="0" smtClean="0"/>
              <a:t> None of the above</a:t>
            </a:r>
            <a:endParaRPr lang="en-US" sz="2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91600" cy="6096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Memories in </a:t>
            </a:r>
            <a:r>
              <a:rPr lang="en-US" dirty="0" err="1" smtClean="0"/>
              <a:t>Verilog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err="1" smtClean="0"/>
              <a:t>reg</a:t>
            </a:r>
            <a:r>
              <a:rPr lang="en-US" sz="2000" dirty="0" smtClean="0"/>
              <a:t> bit; 				// a single register </a:t>
            </a:r>
          </a:p>
          <a:p>
            <a:pPr>
              <a:buNone/>
            </a:pPr>
            <a:r>
              <a:rPr lang="en-US" sz="2000" dirty="0" err="1" smtClean="0"/>
              <a:t>reg</a:t>
            </a:r>
            <a:r>
              <a:rPr lang="en-US" sz="2000" dirty="0" smtClean="0"/>
              <a:t> [31:0] word; 			// a 32-bit register </a:t>
            </a:r>
          </a:p>
          <a:p>
            <a:pPr>
              <a:buNone/>
            </a:pPr>
            <a:r>
              <a:rPr lang="en-US" sz="2000" dirty="0" err="1" smtClean="0"/>
              <a:t>reg</a:t>
            </a:r>
            <a:r>
              <a:rPr lang="en-US" sz="2000" dirty="0" smtClean="0"/>
              <a:t> [31:0] array[15:0]; 		// 16 32-bit </a:t>
            </a:r>
            <a:r>
              <a:rPr lang="en-US" sz="2000" dirty="0" err="1" smtClean="0"/>
              <a:t>regs</a:t>
            </a:r>
            <a:r>
              <a:rPr lang="en-US" sz="2000" dirty="0" smtClean="0"/>
              <a:t> </a:t>
            </a:r>
          </a:p>
          <a:p>
            <a:pPr>
              <a:buNone/>
            </a:pPr>
            <a:r>
              <a:rPr lang="en-US" sz="2000" dirty="0" err="1" smtClean="0"/>
              <a:t>reg</a:t>
            </a:r>
            <a:r>
              <a:rPr lang="en-US" sz="2000" dirty="0" smtClean="0"/>
              <a:t> [31:0] array_2d[31:0][15:0];	 // 2 dimensional 32-bit array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assign </a:t>
            </a:r>
            <a:r>
              <a:rPr lang="en-US" sz="2000" dirty="0" err="1" smtClean="0"/>
              <a:t>read_data</a:t>
            </a:r>
            <a:r>
              <a:rPr lang="en-US" sz="2000" dirty="0" smtClean="0"/>
              <a:t> = array[index]; 	// combinational (</a:t>
            </a:r>
            <a:r>
              <a:rPr lang="en-US" sz="2000" dirty="0" err="1" smtClean="0"/>
              <a:t>asynch</a:t>
            </a:r>
            <a:r>
              <a:rPr lang="en-US" sz="2000" dirty="0" smtClean="0"/>
              <a:t>) read </a:t>
            </a:r>
          </a:p>
          <a:p>
            <a:pPr>
              <a:buNone/>
            </a:pPr>
            <a:r>
              <a:rPr lang="en-US" sz="2000" dirty="0" smtClean="0"/>
              <a:t>always @(</a:t>
            </a:r>
            <a:r>
              <a:rPr lang="en-US" sz="2000" dirty="0" err="1" smtClean="0"/>
              <a:t>posedge</a:t>
            </a:r>
            <a:r>
              <a:rPr lang="en-US" sz="2000" dirty="0" smtClean="0"/>
              <a:t> clock) </a:t>
            </a:r>
          </a:p>
          <a:p>
            <a:pPr>
              <a:buNone/>
            </a:pPr>
            <a:r>
              <a:rPr lang="en-US" sz="2000" dirty="0" smtClean="0"/>
              <a:t>	array[index] &lt;= </a:t>
            </a:r>
            <a:r>
              <a:rPr lang="en-US" sz="2000" dirty="0" err="1" smtClean="0"/>
              <a:t>write_data</a:t>
            </a:r>
            <a:r>
              <a:rPr lang="en-US" sz="2000" dirty="0" smtClean="0"/>
              <a:t>;	// clocked (synchronous) write </a:t>
            </a:r>
            <a:endParaRPr lang="en-US" sz="2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dirty="0" smtClean="0"/>
              <a:t>Create RAM of 256 bytes and fill with number 0-255</a:t>
            </a:r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10400" y="762000"/>
          <a:ext cx="1981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255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67600" y="3733800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 bit</a:t>
            </a:r>
            <a:endParaRPr lang="en-US" dirty="0"/>
          </a:p>
        </p:txBody>
      </p:sp>
      <p:cxnSp>
        <p:nvCxnSpPr>
          <p:cNvPr id="7" name="Straight Connector 6"/>
          <p:cNvCxnSpPr>
            <a:stCxn id="5" idx="3"/>
          </p:cNvCxnSpPr>
          <p:nvPr/>
        </p:nvCxnSpPr>
        <p:spPr>
          <a:xfrm flipV="1">
            <a:off x="8073856" y="3886200"/>
            <a:ext cx="765344" cy="32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1"/>
          </p:cNvCxnSpPr>
          <p:nvPr/>
        </p:nvCxnSpPr>
        <p:spPr>
          <a:xfrm rot="10800000">
            <a:off x="6934200" y="3886200"/>
            <a:ext cx="533400" cy="32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570" name="Picture 2" descr="RAM I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7360" y="4191000"/>
            <a:ext cx="3596640" cy="2667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81000" y="1371600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RAM_code</a:t>
            </a:r>
            <a:r>
              <a:rPr lang="en-US" dirty="0" smtClean="0"/>
              <a:t>(out, in, </a:t>
            </a:r>
            <a:r>
              <a:rPr lang="en-US" dirty="0" err="1" smtClean="0"/>
              <a:t>addr</a:t>
            </a:r>
            <a:r>
              <a:rPr lang="en-US" dirty="0" smtClean="0"/>
              <a:t>, RW, CS);</a:t>
            </a:r>
            <a:br>
              <a:rPr lang="en-US" dirty="0" smtClean="0"/>
            </a:br>
            <a:r>
              <a:rPr lang="en-US" dirty="0" smtClean="0"/>
              <a:t>output [7:0] out;</a:t>
            </a:r>
            <a:br>
              <a:rPr lang="en-US" dirty="0" smtClean="0"/>
            </a:br>
            <a:r>
              <a:rPr lang="en-US" dirty="0" smtClean="0"/>
              <a:t>input [7:0] in;</a:t>
            </a:r>
            <a:br>
              <a:rPr lang="en-US" dirty="0" smtClean="0"/>
            </a:br>
            <a:r>
              <a:rPr lang="en-US" dirty="0" smtClean="0"/>
              <a:t>input [3:0] </a:t>
            </a:r>
            <a:r>
              <a:rPr lang="en-US" dirty="0" err="1" smtClean="0"/>
              <a:t>addr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input RW, CS;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[7:0] out;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[7:0] DATA[15:0];</a:t>
            </a:r>
            <a:br>
              <a:rPr lang="en-US" dirty="0" smtClean="0"/>
            </a:br>
            <a:r>
              <a:rPr lang="en-US" dirty="0" smtClean="0"/>
              <a:t>always @(</a:t>
            </a:r>
            <a:r>
              <a:rPr lang="en-US" dirty="0" err="1" smtClean="0"/>
              <a:t>negedge</a:t>
            </a:r>
            <a:r>
              <a:rPr lang="en-US" dirty="0" smtClean="0"/>
              <a:t> CS)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if(RW==1'b0) //READ</a:t>
            </a:r>
            <a:br>
              <a:rPr lang="en-US" dirty="0" smtClean="0"/>
            </a:br>
            <a:r>
              <a:rPr lang="en-US" dirty="0" smtClean="0"/>
              <a:t>out=DATA[</a:t>
            </a:r>
            <a:r>
              <a:rPr lang="en-US" dirty="0" err="1" smtClean="0"/>
              <a:t>addr</a:t>
            </a:r>
            <a:r>
              <a:rPr lang="en-US" dirty="0" smtClean="0"/>
              <a:t>];</a:t>
            </a:r>
            <a:br>
              <a:rPr lang="en-US" dirty="0" smtClean="0"/>
            </a:br>
            <a:r>
              <a:rPr lang="en-US" dirty="0" smtClean="0"/>
              <a:t>else if(RW==1'b1) //WRITE</a:t>
            </a:r>
            <a:br>
              <a:rPr lang="en-US" dirty="0" smtClean="0"/>
            </a:br>
            <a:r>
              <a:rPr lang="en-US" dirty="0" smtClean="0"/>
              <a:t>DATA[</a:t>
            </a:r>
            <a:r>
              <a:rPr lang="en-US" dirty="0" err="1" smtClean="0"/>
              <a:t>addr</a:t>
            </a:r>
            <a:r>
              <a:rPr lang="en-US" dirty="0" smtClean="0"/>
              <a:t>]=in;</a:t>
            </a:r>
            <a:br>
              <a:rPr lang="en-US" dirty="0" smtClean="0"/>
            </a:br>
            <a:r>
              <a:rPr lang="en-US" dirty="0" smtClean="0"/>
              <a:t>else</a:t>
            </a:r>
            <a:br>
              <a:rPr lang="en-US" dirty="0" smtClean="0"/>
            </a:br>
            <a:r>
              <a:rPr lang="en-US" dirty="0" smtClean="0"/>
              <a:t>out=8'bz;</a:t>
            </a:r>
            <a:br>
              <a:rPr lang="en-US" dirty="0" smtClean="0"/>
            </a:br>
            <a:r>
              <a:rPr lang="en-US" dirty="0" smtClean="0"/>
              <a:t>end</a:t>
            </a:r>
            <a:br>
              <a:rPr lang="en-US" dirty="0" smtClean="0"/>
            </a:br>
            <a:r>
              <a:rPr lang="en-US" dirty="0" err="1" smtClean="0"/>
              <a:t>endmodule</a:t>
            </a:r>
            <a:endParaRPr lang="en-US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054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Verilog</a:t>
            </a:r>
            <a:r>
              <a:rPr lang="en-US" dirty="0" smtClean="0"/>
              <a:t> ROM Program</a:t>
            </a:r>
            <a:endParaRPr lang="en-US" dirty="0"/>
          </a:p>
        </p:txBody>
      </p:sp>
      <p:pic>
        <p:nvPicPr>
          <p:cNvPr id="144386" name="Picture 2" descr="ROM I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63927" y="0"/>
            <a:ext cx="2980073" cy="22098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33400" y="990600"/>
            <a:ext cx="43434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ROM_code</a:t>
            </a:r>
            <a:r>
              <a:rPr lang="en-US" dirty="0" smtClean="0"/>
              <a:t>(out, </a:t>
            </a:r>
            <a:r>
              <a:rPr lang="en-US" dirty="0" err="1" smtClean="0"/>
              <a:t>addr</a:t>
            </a:r>
            <a:r>
              <a:rPr lang="en-US" dirty="0" smtClean="0"/>
              <a:t>, CS);</a:t>
            </a:r>
            <a:br>
              <a:rPr lang="en-US" dirty="0" smtClean="0"/>
            </a:br>
            <a:r>
              <a:rPr lang="en-US" dirty="0" smtClean="0"/>
              <a:t>output[15:0] out;</a:t>
            </a:r>
            <a:br>
              <a:rPr lang="en-US" dirty="0" smtClean="0"/>
            </a:br>
            <a:r>
              <a:rPr lang="en-US" dirty="0" smtClean="0"/>
              <a:t>input[3:0] </a:t>
            </a:r>
            <a:r>
              <a:rPr lang="en-US" dirty="0" err="1" smtClean="0"/>
              <a:t>addr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input CS;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[15:0] out;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[15:0] ROM[15:0];</a:t>
            </a:r>
            <a:br>
              <a:rPr lang="en-US" dirty="0" smtClean="0"/>
            </a:br>
            <a:r>
              <a:rPr lang="en-US" dirty="0" smtClean="0"/>
              <a:t>always @(</a:t>
            </a:r>
            <a:r>
              <a:rPr lang="en-US" dirty="0" err="1" smtClean="0"/>
              <a:t>negedge</a:t>
            </a:r>
            <a:r>
              <a:rPr lang="en-US" dirty="0" smtClean="0"/>
              <a:t> CS)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ROM[0]=16'h5601; ROM[1]=16'h3401;</a:t>
            </a:r>
            <a:br>
              <a:rPr lang="en-US" dirty="0" smtClean="0"/>
            </a:br>
            <a:r>
              <a:rPr lang="en-US" dirty="0" smtClean="0"/>
              <a:t>ROM[2]=16'h1801; ROM[3]=16'h0ac1;</a:t>
            </a:r>
            <a:br>
              <a:rPr lang="en-US" dirty="0" smtClean="0"/>
            </a:br>
            <a:r>
              <a:rPr lang="en-US" dirty="0" smtClean="0"/>
              <a:t>ROM[4]=16'h0521; ROM[5]=16'h0221;</a:t>
            </a:r>
            <a:br>
              <a:rPr lang="en-US" dirty="0" smtClean="0"/>
            </a:br>
            <a:r>
              <a:rPr lang="en-US" dirty="0" smtClean="0"/>
              <a:t>ROM[6]=16'h5601; ROM[7]=16'h5401;</a:t>
            </a:r>
            <a:br>
              <a:rPr lang="en-US" dirty="0" smtClean="0"/>
            </a:br>
            <a:r>
              <a:rPr lang="en-US" dirty="0" smtClean="0"/>
              <a:t>ROM[8]=16'h4801; ROM[9]=16'h3801;</a:t>
            </a:r>
            <a:br>
              <a:rPr lang="en-US" dirty="0" smtClean="0"/>
            </a:br>
            <a:r>
              <a:rPr lang="en-US" dirty="0" smtClean="0"/>
              <a:t>ROM[10]=16'h3001; ROM[11]=16'h2401;</a:t>
            </a:r>
            <a:br>
              <a:rPr lang="en-US" dirty="0" smtClean="0"/>
            </a:br>
            <a:r>
              <a:rPr lang="en-US" dirty="0" smtClean="0"/>
              <a:t>ROM[12]=16'h1c01; ROM[13]=16'h1601;</a:t>
            </a:r>
            <a:br>
              <a:rPr lang="en-US" dirty="0" smtClean="0"/>
            </a:br>
            <a:r>
              <a:rPr lang="en-US" dirty="0" smtClean="0"/>
              <a:t>ROM[14]=16'h5601; ROM[15]=16'h5401;</a:t>
            </a:r>
            <a:br>
              <a:rPr lang="en-US" dirty="0" smtClean="0"/>
            </a:br>
            <a:r>
              <a:rPr lang="en-US" dirty="0" smtClean="0"/>
              <a:t>out=ROM[</a:t>
            </a:r>
            <a:r>
              <a:rPr lang="en-US" dirty="0" err="1" smtClean="0"/>
              <a:t>addr</a:t>
            </a:r>
            <a:r>
              <a:rPr lang="en-US" dirty="0" smtClean="0"/>
              <a:t>];</a:t>
            </a:r>
            <a:br>
              <a:rPr lang="en-US" dirty="0" smtClean="0"/>
            </a:br>
            <a:r>
              <a:rPr lang="en-US" dirty="0" smtClean="0"/>
              <a:t>end</a:t>
            </a:r>
            <a:br>
              <a:rPr lang="en-US" dirty="0" smtClean="0"/>
            </a:br>
            <a:r>
              <a:rPr lang="en-US" dirty="0" err="1" smtClean="0"/>
              <a:t>endmodule</a:t>
            </a:r>
            <a:endParaRPr lang="en-US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reg</a:t>
            </a:r>
            <a:r>
              <a:rPr lang="en-US" dirty="0" smtClean="0"/>
              <a:t> [31:0] </a:t>
            </a:r>
            <a:r>
              <a:rPr lang="en-US" dirty="0" err="1" smtClean="0"/>
              <a:t>regfile</a:t>
            </a:r>
            <a:r>
              <a:rPr lang="en-US" dirty="0" smtClean="0"/>
              <a:t>[30:0]; 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AutoNum type="alphaUcPeriod"/>
            </a:pPr>
            <a:r>
              <a:rPr lang="en-US" dirty="0" smtClean="0"/>
              <a:t>31 32-bit words</a:t>
            </a:r>
          </a:p>
          <a:p>
            <a:pPr marL="514350" indent="-514350">
              <a:buAutoNum type="alphaUcPeriod"/>
            </a:pPr>
            <a:r>
              <a:rPr lang="en-US" dirty="0" smtClean="0"/>
              <a:t>32 31-bit words</a:t>
            </a:r>
            <a:endParaRPr lang="en-US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What are the final values of a, b, c, d?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a = 1'b0;</a:t>
            </a:r>
            <a:br>
              <a:rPr lang="en-US" dirty="0" smtClean="0"/>
            </a:br>
            <a:r>
              <a:rPr lang="en-US" dirty="0" smtClean="0"/>
              <a:t>#0 c = b;</a:t>
            </a:r>
          </a:p>
          <a:p>
            <a:pPr>
              <a:buNone/>
            </a:pPr>
            <a:r>
              <a:rPr lang="en-US" dirty="0" smtClean="0"/>
              <a:t>end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b = 1'b1;</a:t>
            </a:r>
            <a:br>
              <a:rPr lang="en-US" dirty="0" smtClean="0"/>
            </a:br>
            <a:r>
              <a:rPr lang="en-US" dirty="0" smtClean="0"/>
              <a:t>#0 d = a;</a:t>
            </a:r>
          </a:p>
          <a:p>
            <a:pPr>
              <a:buNone/>
            </a:pPr>
            <a:r>
              <a:rPr lang="en-US" dirty="0" smtClean="0"/>
              <a:t>end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Using the repeat loop, delay the statement a = a + 1 by 20 positive edges of clock. </a:t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b="1" dirty="0" smtClean="0"/>
              <a:t>Switch Level </a:t>
            </a:r>
            <a:r>
              <a:rPr lang="en-US" b="1" dirty="0" err="1" smtClean="0"/>
              <a:t>Modelling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838200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Verilog</a:t>
            </a:r>
            <a:r>
              <a:rPr lang="en-US" dirty="0" smtClean="0"/>
              <a:t> provides the ability to design at a MOS-transistor level. </a:t>
            </a:r>
            <a:br>
              <a:rPr lang="en-US" dirty="0" smtClean="0"/>
            </a:br>
            <a:r>
              <a:rPr lang="en-US" dirty="0" smtClean="0"/>
              <a:t>Lowest level of modeling</a:t>
            </a:r>
          </a:p>
          <a:p>
            <a:endParaRPr lang="en-US" b="1" dirty="0" smtClean="0"/>
          </a:p>
          <a:p>
            <a:r>
              <a:rPr lang="en-US" b="1" dirty="0" smtClean="0"/>
              <a:t>MOS Switch</a:t>
            </a:r>
            <a:endParaRPr lang="en-US" b="1" dirty="0"/>
          </a:p>
        </p:txBody>
      </p:sp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286000"/>
            <a:ext cx="5867400" cy="1403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228600" y="4419600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Power and Ground </a:t>
            </a:r>
            <a:r>
              <a:rPr lang="en-US" b="1" dirty="0" smtClean="0">
                <a:sym typeface="Wingdings" pitchFamily="2" charset="2"/>
              </a:rPr>
              <a:t> </a:t>
            </a:r>
            <a:r>
              <a:rPr lang="en-US" dirty="0" smtClean="0"/>
              <a:t>power (</a:t>
            </a:r>
            <a:r>
              <a:rPr lang="en-US" dirty="0" err="1" smtClean="0"/>
              <a:t>Vdd</a:t>
            </a:r>
            <a:r>
              <a:rPr lang="en-US" dirty="0" smtClean="0"/>
              <a:t>, logic 1) = supply1</a:t>
            </a:r>
          </a:p>
          <a:p>
            <a:r>
              <a:rPr lang="en-US" dirty="0" smtClean="0"/>
              <a:t>		      ground (</a:t>
            </a:r>
            <a:r>
              <a:rPr lang="en-US" dirty="0" err="1" smtClean="0"/>
              <a:t>Vss</a:t>
            </a:r>
            <a:r>
              <a:rPr lang="en-US" dirty="0" smtClean="0"/>
              <a:t>, logic 0) == supply 0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133600" y="5410200"/>
            <a:ext cx="457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supply1 </a:t>
            </a:r>
            <a:r>
              <a:rPr lang="en-US" dirty="0" err="1" smtClean="0"/>
              <a:t>vdd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supply0 </a:t>
            </a:r>
            <a:r>
              <a:rPr lang="en-US" dirty="0" err="1" smtClean="0"/>
              <a:t>gnd</a:t>
            </a:r>
            <a:r>
              <a:rPr lang="en-US" dirty="0" smtClean="0"/>
              <a:t>;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426717" y="3581400"/>
            <a:ext cx="4145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nmos</a:t>
            </a:r>
            <a:r>
              <a:rPr lang="en-US" sz="2400" dirty="0" smtClean="0"/>
              <a:t> n1(out, data, </a:t>
            </a:r>
            <a:r>
              <a:rPr lang="en-US" sz="2400" dirty="0" err="1" smtClean="0"/>
              <a:t>ncontrol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 flipH="1">
            <a:off x="4724400" y="3657600"/>
            <a:ext cx="4145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pmos</a:t>
            </a:r>
            <a:r>
              <a:rPr lang="en-US" sz="2400" dirty="0" smtClean="0"/>
              <a:t> n1(out, data, </a:t>
            </a:r>
            <a:r>
              <a:rPr lang="en-US" sz="2400" dirty="0" err="1" smtClean="0"/>
              <a:t>pcontrol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419600" cy="838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CMOS NOT GATE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5800" y="14478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my_not</a:t>
            </a:r>
            <a:r>
              <a:rPr lang="en-US" dirty="0" smtClean="0"/>
              <a:t>(out, in);</a:t>
            </a:r>
            <a:br>
              <a:rPr lang="en-US" dirty="0" smtClean="0"/>
            </a:br>
            <a:r>
              <a:rPr lang="en-US" dirty="0" smtClean="0"/>
              <a:t>output out;</a:t>
            </a:r>
            <a:br>
              <a:rPr lang="en-US" dirty="0" smtClean="0"/>
            </a:br>
            <a:r>
              <a:rPr lang="en-US" dirty="0" smtClean="0"/>
              <a:t>input in;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supply1 </a:t>
            </a:r>
            <a:r>
              <a:rPr lang="en-US" dirty="0" err="1" smtClean="0"/>
              <a:t>pwr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supply0 </a:t>
            </a:r>
            <a:r>
              <a:rPr lang="en-US" dirty="0" err="1" smtClean="0"/>
              <a:t>gnd</a:t>
            </a:r>
            <a:r>
              <a:rPr lang="en-US" dirty="0" smtClean="0"/>
              <a:t>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err="1" smtClean="0"/>
              <a:t>pmos</a:t>
            </a:r>
            <a:r>
              <a:rPr lang="en-US" dirty="0" smtClean="0"/>
              <a:t> (out, </a:t>
            </a:r>
            <a:r>
              <a:rPr lang="en-US" dirty="0" err="1" smtClean="0"/>
              <a:t>pwr</a:t>
            </a:r>
            <a:r>
              <a:rPr lang="en-US" dirty="0" smtClean="0"/>
              <a:t>, in);</a:t>
            </a:r>
            <a:br>
              <a:rPr lang="en-US" dirty="0" smtClean="0"/>
            </a:br>
            <a:r>
              <a:rPr lang="en-US" dirty="0" err="1" smtClean="0"/>
              <a:t>nmos</a:t>
            </a:r>
            <a:r>
              <a:rPr lang="en-US" dirty="0" smtClean="0"/>
              <a:t> (out, </a:t>
            </a:r>
            <a:r>
              <a:rPr lang="en-US" dirty="0" err="1" smtClean="0"/>
              <a:t>gnd</a:t>
            </a:r>
            <a:r>
              <a:rPr lang="en-US" dirty="0" smtClean="0"/>
              <a:t>, in);</a:t>
            </a:r>
            <a:br>
              <a:rPr lang="en-US" dirty="0" smtClean="0"/>
            </a:br>
            <a:r>
              <a:rPr lang="en-US" dirty="0" err="1" smtClean="0"/>
              <a:t>endmodule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7372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399" y="1066800"/>
            <a:ext cx="384274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In switch level modeling, a MOS switch have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A. 1 terminal</a:t>
            </a:r>
          </a:p>
          <a:p>
            <a:pPr>
              <a:buNone/>
            </a:pPr>
            <a:r>
              <a:rPr lang="en-US" dirty="0" smtClean="0"/>
              <a:t>B. 2 terminal</a:t>
            </a:r>
          </a:p>
          <a:p>
            <a:pPr>
              <a:buNone/>
            </a:pPr>
            <a:r>
              <a:rPr lang="en-US" dirty="0" smtClean="0"/>
              <a:t>C. 3 terminal</a:t>
            </a:r>
          </a:p>
          <a:p>
            <a:pPr>
              <a:buNone/>
            </a:pPr>
            <a:r>
              <a:rPr lang="en-US" smtClean="0"/>
              <a:t>D. 4 </a:t>
            </a:r>
            <a:r>
              <a:rPr lang="en-US" dirty="0" smtClean="0"/>
              <a:t>terminal</a:t>
            </a:r>
            <a:endParaRPr lang="en-US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343400" cy="7620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CMOS NOR GATE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066800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module </a:t>
            </a:r>
            <a:r>
              <a:rPr lang="en-US" dirty="0" err="1" smtClean="0"/>
              <a:t>my_nor</a:t>
            </a:r>
            <a:r>
              <a:rPr lang="en-US" dirty="0" smtClean="0"/>
              <a:t>(out, a, b);</a:t>
            </a:r>
            <a:br>
              <a:rPr lang="en-US" dirty="0" smtClean="0"/>
            </a:br>
            <a:r>
              <a:rPr lang="en-US" dirty="0" smtClean="0"/>
              <a:t>output out;</a:t>
            </a:r>
            <a:br>
              <a:rPr lang="en-US" dirty="0" smtClean="0"/>
            </a:br>
            <a:r>
              <a:rPr lang="en-US" dirty="0" smtClean="0"/>
              <a:t>input a, b;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wire c;</a:t>
            </a:r>
          </a:p>
          <a:p>
            <a:r>
              <a:rPr lang="en-US" dirty="0" smtClean="0"/>
              <a:t>supply1 </a:t>
            </a:r>
            <a:r>
              <a:rPr lang="en-US" dirty="0" err="1" smtClean="0"/>
              <a:t>pwr</a:t>
            </a:r>
            <a:r>
              <a:rPr lang="en-US" dirty="0" smtClean="0"/>
              <a:t>; </a:t>
            </a:r>
            <a:br>
              <a:rPr lang="en-US" dirty="0" smtClean="0"/>
            </a:br>
            <a:r>
              <a:rPr lang="en-US" dirty="0" smtClean="0"/>
              <a:t>supply0 </a:t>
            </a:r>
            <a:r>
              <a:rPr lang="en-US" dirty="0" err="1" smtClean="0"/>
              <a:t>gnd</a:t>
            </a:r>
            <a:r>
              <a:rPr lang="en-US" dirty="0" smtClean="0"/>
              <a:t> ; </a:t>
            </a:r>
          </a:p>
          <a:p>
            <a:endParaRPr lang="en-US" dirty="0" smtClean="0"/>
          </a:p>
          <a:p>
            <a:r>
              <a:rPr lang="en-US" dirty="0" err="1" smtClean="0"/>
              <a:t>pmos</a:t>
            </a:r>
            <a:r>
              <a:rPr lang="en-US" dirty="0" smtClean="0"/>
              <a:t> (c, </a:t>
            </a:r>
            <a:r>
              <a:rPr lang="en-US" dirty="0" err="1" smtClean="0"/>
              <a:t>pwr</a:t>
            </a:r>
            <a:r>
              <a:rPr lang="en-US" dirty="0" smtClean="0"/>
              <a:t>, b);</a:t>
            </a:r>
            <a:br>
              <a:rPr lang="en-US" dirty="0" smtClean="0"/>
            </a:br>
            <a:r>
              <a:rPr lang="en-US" dirty="0" err="1" smtClean="0"/>
              <a:t>pmos</a:t>
            </a:r>
            <a:r>
              <a:rPr lang="en-US" dirty="0" smtClean="0"/>
              <a:t> (out, c, a);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nmos</a:t>
            </a:r>
            <a:r>
              <a:rPr lang="en-US" dirty="0" smtClean="0"/>
              <a:t> (out, </a:t>
            </a:r>
            <a:r>
              <a:rPr lang="en-US" dirty="0" err="1" smtClean="0"/>
              <a:t>gnd</a:t>
            </a:r>
            <a:r>
              <a:rPr lang="en-US" dirty="0" smtClean="0"/>
              <a:t>, a);</a:t>
            </a:r>
            <a:br>
              <a:rPr lang="en-US" dirty="0" smtClean="0"/>
            </a:br>
            <a:r>
              <a:rPr lang="en-US" dirty="0" err="1" smtClean="0"/>
              <a:t>nmos</a:t>
            </a:r>
            <a:r>
              <a:rPr lang="en-US" dirty="0" smtClean="0"/>
              <a:t> (out, </a:t>
            </a:r>
            <a:r>
              <a:rPr lang="en-US" dirty="0" err="1" smtClean="0"/>
              <a:t>gnd</a:t>
            </a:r>
            <a:r>
              <a:rPr lang="en-US" dirty="0" smtClean="0"/>
              <a:t>, b);</a:t>
            </a:r>
            <a:br>
              <a:rPr lang="en-US" dirty="0" smtClean="0"/>
            </a:br>
            <a:r>
              <a:rPr lang="en-US" dirty="0" err="1" smtClean="0"/>
              <a:t>endmodule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716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20904" y="914400"/>
            <a:ext cx="3123096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86000" y="1524000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module stimulus;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A, B;</a:t>
            </a:r>
            <a:br>
              <a:rPr lang="en-US" dirty="0" smtClean="0"/>
            </a:br>
            <a:r>
              <a:rPr lang="en-US" dirty="0" smtClean="0"/>
              <a:t>wire OUT;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my_nor</a:t>
            </a:r>
            <a:r>
              <a:rPr lang="en-US" dirty="0" smtClean="0"/>
              <a:t> n1(OUT, A, B);</a:t>
            </a:r>
            <a:br>
              <a:rPr lang="en-US" dirty="0" smtClean="0"/>
            </a:b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A = 1'b0; B = 1'b0;</a:t>
            </a:r>
            <a:br>
              <a:rPr lang="en-US" dirty="0" smtClean="0"/>
            </a:br>
            <a:r>
              <a:rPr lang="en-US" dirty="0" smtClean="0"/>
              <a:t>#5 A = 1'b0; B = 1'b1;</a:t>
            </a:r>
            <a:br>
              <a:rPr lang="en-US" dirty="0" smtClean="0"/>
            </a:br>
            <a:r>
              <a:rPr lang="en-US" dirty="0" smtClean="0"/>
              <a:t>#5 A = 1'b1; B = 1'b0;</a:t>
            </a:r>
            <a:br>
              <a:rPr lang="en-US" dirty="0" smtClean="0"/>
            </a:br>
            <a:r>
              <a:rPr lang="en-US" dirty="0" smtClean="0"/>
              <a:t>#5 A = 1'b1; B = 1'b1;</a:t>
            </a:r>
            <a:br>
              <a:rPr lang="en-US" dirty="0" smtClean="0"/>
            </a:br>
            <a:r>
              <a:rPr lang="en-US" dirty="0" smtClean="0"/>
              <a:t>end</a:t>
            </a:r>
            <a:br>
              <a:rPr lang="en-US" dirty="0" smtClean="0"/>
            </a:br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$monitor($time, " OUT = %b, A = %b, B = %b", OUT, A, B);</a:t>
            </a:r>
            <a:br>
              <a:rPr lang="en-US" dirty="0" smtClean="0"/>
            </a:br>
            <a:r>
              <a:rPr lang="en-US" dirty="0" err="1" smtClean="0"/>
              <a:t>endmodule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114800" cy="1143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CMOS Switch</a:t>
            </a:r>
            <a:endParaRPr lang="en-US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0"/>
            <a:ext cx="370811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447800"/>
            <a:ext cx="4819643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8839200" cy="61722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2-to-1 Multiplexer using CMOS switch 	 	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0"/>
            <a:ext cx="9296400" cy="8382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Bidirectional Switches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00200"/>
            <a:ext cx="727266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838200"/>
            <a:ext cx="3692236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57200" y="2971800"/>
            <a:ext cx="3505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tran</a:t>
            </a:r>
            <a:r>
              <a:rPr lang="en-US" dirty="0" smtClean="0"/>
              <a:t> t1(inout1, inout2); </a:t>
            </a:r>
            <a:br>
              <a:rPr lang="en-US" dirty="0" smtClean="0"/>
            </a:br>
            <a:r>
              <a:rPr lang="en-US" dirty="0" smtClean="0"/>
              <a:t>tranif0 (inout1, inout2, control); </a:t>
            </a:r>
            <a:br>
              <a:rPr lang="en-US" dirty="0" smtClean="0"/>
            </a:br>
            <a:r>
              <a:rPr lang="en-US" dirty="0" smtClean="0"/>
              <a:t>tranif1 (inout1, inout2, control);</a:t>
            </a:r>
            <a:endParaRPr lang="en-US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1"/>
            <a:ext cx="9144000" cy="14477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Design a 4-bit bidirectional bus switch that has two buses, </a:t>
            </a:r>
            <a:r>
              <a:rPr lang="en-US" sz="2000" dirty="0" err="1" smtClean="0"/>
              <a:t>BusA</a:t>
            </a:r>
            <a:r>
              <a:rPr lang="en-US" sz="2000" dirty="0" smtClean="0"/>
              <a:t> and </a:t>
            </a:r>
            <a:r>
              <a:rPr lang="en-US" sz="2000" dirty="0" err="1" smtClean="0"/>
              <a:t>BusB</a:t>
            </a:r>
            <a:r>
              <a:rPr lang="en-US" sz="2000" dirty="0" smtClean="0"/>
              <a:t>, on one side and a single bus, BUS, on the other side, 1-bit control signal is used for switching. </a:t>
            </a:r>
            <a:r>
              <a:rPr lang="en-US" sz="2000" dirty="0" err="1" smtClean="0"/>
              <a:t>BusA</a:t>
            </a:r>
            <a:r>
              <a:rPr lang="en-US" sz="2000" dirty="0" smtClean="0"/>
              <a:t> and BUS are connected if control = 1. </a:t>
            </a:r>
            <a:r>
              <a:rPr lang="en-US" sz="2000" dirty="0" err="1" smtClean="0"/>
              <a:t>BusB</a:t>
            </a:r>
            <a:r>
              <a:rPr lang="en-US" sz="2000" dirty="0" smtClean="0"/>
              <a:t> and BUS are connected if control = 0.</a:t>
            </a:r>
            <a:endParaRPr lang="en-US" sz="2000" dirty="0"/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066800"/>
            <a:ext cx="399097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9154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Switch Level Modeling supports module </a:t>
            </a:r>
            <a:r>
              <a:rPr lang="en-US" dirty="0" err="1" smtClean="0"/>
              <a:t>instantion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True</a:t>
            </a:r>
          </a:p>
          <a:p>
            <a:pPr>
              <a:buNone/>
            </a:pPr>
            <a:r>
              <a:rPr lang="en-US" dirty="0" smtClean="0"/>
              <a:t>False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Switch with Delay</a:t>
            </a:r>
            <a:endParaRPr lang="en-US" dirty="0"/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90600"/>
            <a:ext cx="8372377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Tasks and Functions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154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When require same functionality multiple time</a:t>
            </a:r>
          </a:p>
          <a:p>
            <a:pPr>
              <a:buNone/>
            </a:pPr>
            <a:r>
              <a:rPr lang="en-US" sz="2000" dirty="0" smtClean="0"/>
              <a:t>Frequently use part abstracted in routine and can be invoked</a:t>
            </a:r>
          </a:p>
          <a:p>
            <a:pPr>
              <a:buNone/>
            </a:pPr>
            <a:r>
              <a:rPr lang="en-US" sz="2000" dirty="0" smtClean="0"/>
              <a:t>Similar to subroutine into other programs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09800"/>
            <a:ext cx="8305800" cy="3764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267200" y="5867400"/>
            <a:ext cx="487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Tasks can have input, output, and </a:t>
            </a:r>
            <a:r>
              <a:rPr lang="en-US" dirty="0" err="1" smtClean="0"/>
              <a:t>inout</a:t>
            </a:r>
            <a:r>
              <a:rPr lang="en-US" dirty="0" smtClean="0"/>
              <a:t> arguments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5791200"/>
            <a:ext cx="419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functions can have input arguments. </a:t>
            </a:r>
            <a:endParaRPr lang="en-US" sz="2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task begins with keyword </a:t>
            </a:r>
            <a:r>
              <a:rPr lang="en-US" sz="2400" b="1" dirty="0" smtClean="0"/>
              <a:t>task</a:t>
            </a:r>
            <a:r>
              <a:rPr lang="en-US" sz="2400" dirty="0" smtClean="0"/>
              <a:t> and ends with keyword </a:t>
            </a:r>
            <a:r>
              <a:rPr lang="en-US" sz="2400" b="1" dirty="0" err="1" smtClean="0"/>
              <a:t>endtask</a:t>
            </a:r>
            <a:endParaRPr lang="en-US" sz="2400" b="1" dirty="0" smtClean="0"/>
          </a:p>
          <a:p>
            <a:r>
              <a:rPr lang="en-US" sz="2400" dirty="0" smtClean="0"/>
              <a:t>Inputs and outputs are declared after the keyword task.</a:t>
            </a:r>
          </a:p>
          <a:p>
            <a:r>
              <a:rPr lang="en-US" sz="2400" dirty="0" smtClean="0"/>
              <a:t>Local variables are declared after input and output declaration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606422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smtClean="0"/>
              <a:t>Example—Temperature Celsius to Fahrenheit conversion</a:t>
            </a:r>
            <a:endParaRPr lang="en-US" sz="2000" dirty="0"/>
          </a:p>
        </p:txBody>
      </p:sp>
      <p:sp>
        <p:nvSpPr>
          <p:cNvPr id="60417" name="Rectangle 1"/>
          <p:cNvSpPr>
            <a:spLocks noChangeArrowheads="1"/>
          </p:cNvSpPr>
          <p:nvPr/>
        </p:nvSpPr>
        <p:spPr bwMode="auto">
          <a:xfrm>
            <a:off x="5715000" y="3581400"/>
            <a:ext cx="3429000" cy="313932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task convert;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input [7:0]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temp_in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;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output [7:0]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temp_out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; 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begin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temp_out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= (9/5) *( </a:t>
            </a:r>
            <a:r>
              <a:rPr kumimoji="0" lang="en-US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temp_in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+ 32)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end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endtask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endmodule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228600" y="2743200"/>
            <a:ext cx="5257800" cy="329320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module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task_calling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temp_a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temp_c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temp_d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input [7:0]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temp_a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temp_c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output [7:0]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temp_d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reg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 [7:0]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temp_d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always @ (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temp_a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begin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convert (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temp_a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end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always @ (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temp_c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begin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convert (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temp_c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temp_d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dirty="0" smtClean="0"/>
              <a:t>Which of the following is a difference between a Function and a Task?</a:t>
            </a:r>
          </a:p>
          <a:p>
            <a:endParaRPr lang="en-US" sz="2200" b="1" dirty="0" smtClean="0"/>
          </a:p>
          <a:p>
            <a:pPr marL="457200" indent="-457200">
              <a:buFont typeface="+mj-lt"/>
              <a:buAutoNum type="alphaUcPeriod"/>
            </a:pPr>
            <a:r>
              <a:rPr lang="en-US" sz="2200" dirty="0" smtClean="0"/>
              <a:t>A Function can call another function; a Task cannot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200" dirty="0" smtClean="0"/>
              <a:t>A Function cannot call a task; a Task can call another task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200" dirty="0" smtClean="0"/>
              <a:t>A Function has one or more inputs; a Task has no inputs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200" dirty="0" smtClean="0"/>
              <a:t>A Function argument may be an output; a Task’s argument may only be an input</a:t>
            </a:r>
          </a:p>
          <a:p>
            <a:endParaRPr lang="en-US" sz="2200" b="1" dirty="0" smtClean="0"/>
          </a:p>
        </p:txBody>
      </p:sp>
      <p:sp>
        <p:nvSpPr>
          <p:cNvPr id="5" name="Freeform 4"/>
          <p:cNvSpPr/>
          <p:nvPr/>
        </p:nvSpPr>
        <p:spPr>
          <a:xfrm>
            <a:off x="152401" y="2590800"/>
            <a:ext cx="533400" cy="439422"/>
          </a:xfrm>
          <a:custGeom>
            <a:avLst/>
            <a:gdLst>
              <a:gd name="connsiteX0" fmla="*/ 0 w 1012131"/>
              <a:gd name="connsiteY0" fmla="*/ 588422 h 820422"/>
              <a:gd name="connsiteX1" fmla="*/ 96982 w 1012131"/>
              <a:gd name="connsiteY1" fmla="*/ 782386 h 820422"/>
              <a:gd name="connsiteX2" fmla="*/ 110836 w 1012131"/>
              <a:gd name="connsiteY2" fmla="*/ 740822 h 820422"/>
              <a:gd name="connsiteX3" fmla="*/ 124691 w 1012131"/>
              <a:gd name="connsiteY3" fmla="*/ 810095 h 820422"/>
              <a:gd name="connsiteX4" fmla="*/ 138545 w 1012131"/>
              <a:gd name="connsiteY4" fmla="*/ 768531 h 820422"/>
              <a:gd name="connsiteX5" fmla="*/ 110836 w 1012131"/>
              <a:gd name="connsiteY5" fmla="*/ 713113 h 820422"/>
              <a:gd name="connsiteX6" fmla="*/ 180109 w 1012131"/>
              <a:gd name="connsiteY6" fmla="*/ 740822 h 820422"/>
              <a:gd name="connsiteX7" fmla="*/ 277091 w 1012131"/>
              <a:gd name="connsiteY7" fmla="*/ 602277 h 820422"/>
              <a:gd name="connsiteX8" fmla="*/ 346363 w 1012131"/>
              <a:gd name="connsiteY8" fmla="*/ 657695 h 820422"/>
              <a:gd name="connsiteX9" fmla="*/ 457200 w 1012131"/>
              <a:gd name="connsiteY9" fmla="*/ 366749 h 820422"/>
              <a:gd name="connsiteX10" fmla="*/ 665018 w 1012131"/>
              <a:gd name="connsiteY10" fmla="*/ 214349 h 820422"/>
              <a:gd name="connsiteX11" fmla="*/ 706582 w 1012131"/>
              <a:gd name="connsiteY11" fmla="*/ 200495 h 820422"/>
              <a:gd name="connsiteX12" fmla="*/ 775854 w 1012131"/>
              <a:gd name="connsiteY12" fmla="*/ 75804 h 820422"/>
              <a:gd name="connsiteX13" fmla="*/ 817418 w 1012131"/>
              <a:gd name="connsiteY13" fmla="*/ 172786 h 820422"/>
              <a:gd name="connsiteX14" fmla="*/ 886691 w 1012131"/>
              <a:gd name="connsiteY14" fmla="*/ 75804 h 820422"/>
              <a:gd name="connsiteX15" fmla="*/ 928254 w 1012131"/>
              <a:gd name="connsiteY15" fmla="*/ 48095 h 820422"/>
              <a:gd name="connsiteX16" fmla="*/ 969818 w 1012131"/>
              <a:gd name="connsiteY16" fmla="*/ 6531 h 820422"/>
              <a:gd name="connsiteX17" fmla="*/ 997527 w 1012131"/>
              <a:gd name="connsiteY17" fmla="*/ 48095 h 820422"/>
              <a:gd name="connsiteX18" fmla="*/ 983672 w 1012131"/>
              <a:gd name="connsiteY18" fmla="*/ 6531 h 820422"/>
              <a:gd name="connsiteX19" fmla="*/ 955963 w 1012131"/>
              <a:gd name="connsiteY19" fmla="*/ 6531 h 820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12131" h="820422">
                <a:moveTo>
                  <a:pt x="0" y="588422"/>
                </a:moveTo>
                <a:cubicBezTo>
                  <a:pt x="14061" y="651697"/>
                  <a:pt x="13503" y="754560"/>
                  <a:pt x="96982" y="782386"/>
                </a:cubicBezTo>
                <a:cubicBezTo>
                  <a:pt x="110837" y="787004"/>
                  <a:pt x="106218" y="754677"/>
                  <a:pt x="110836" y="740822"/>
                </a:cubicBezTo>
                <a:cubicBezTo>
                  <a:pt x="115454" y="763913"/>
                  <a:pt x="108040" y="793444"/>
                  <a:pt x="124691" y="810095"/>
                </a:cubicBezTo>
                <a:cubicBezTo>
                  <a:pt x="135018" y="820422"/>
                  <a:pt x="140610" y="782988"/>
                  <a:pt x="138545" y="768531"/>
                </a:cubicBezTo>
                <a:cubicBezTo>
                  <a:pt x="135624" y="748086"/>
                  <a:pt x="93652" y="724569"/>
                  <a:pt x="110836" y="713113"/>
                </a:cubicBezTo>
                <a:cubicBezTo>
                  <a:pt x="131529" y="699318"/>
                  <a:pt x="157018" y="731586"/>
                  <a:pt x="180109" y="740822"/>
                </a:cubicBezTo>
                <a:cubicBezTo>
                  <a:pt x="212436" y="694640"/>
                  <a:pt x="226670" y="627487"/>
                  <a:pt x="277091" y="602277"/>
                </a:cubicBezTo>
                <a:cubicBezTo>
                  <a:pt x="303540" y="589053"/>
                  <a:pt x="328400" y="681185"/>
                  <a:pt x="346363" y="657695"/>
                </a:cubicBezTo>
                <a:cubicBezTo>
                  <a:pt x="409405" y="575256"/>
                  <a:pt x="420254" y="463731"/>
                  <a:pt x="457200" y="366749"/>
                </a:cubicBezTo>
                <a:cubicBezTo>
                  <a:pt x="626658" y="608833"/>
                  <a:pt x="510251" y="523884"/>
                  <a:pt x="665018" y="214349"/>
                </a:cubicBezTo>
                <a:cubicBezTo>
                  <a:pt x="671549" y="201287"/>
                  <a:pt x="692727" y="205113"/>
                  <a:pt x="706582" y="200495"/>
                </a:cubicBezTo>
                <a:cubicBezTo>
                  <a:pt x="729673" y="158931"/>
                  <a:pt x="729727" y="87336"/>
                  <a:pt x="775854" y="75804"/>
                </a:cubicBezTo>
                <a:cubicBezTo>
                  <a:pt x="809975" y="67274"/>
                  <a:pt x="782247" y="172786"/>
                  <a:pt x="817418" y="172786"/>
                </a:cubicBezTo>
                <a:cubicBezTo>
                  <a:pt x="857145" y="172786"/>
                  <a:pt x="860298" y="105497"/>
                  <a:pt x="886691" y="75804"/>
                </a:cubicBezTo>
                <a:cubicBezTo>
                  <a:pt x="897753" y="63359"/>
                  <a:pt x="915462" y="58755"/>
                  <a:pt x="928254" y="48095"/>
                </a:cubicBezTo>
                <a:cubicBezTo>
                  <a:pt x="943306" y="35552"/>
                  <a:pt x="955963" y="20386"/>
                  <a:pt x="969818" y="6531"/>
                </a:cubicBezTo>
                <a:cubicBezTo>
                  <a:pt x="979054" y="20386"/>
                  <a:pt x="980876" y="48095"/>
                  <a:pt x="997527" y="48095"/>
                </a:cubicBezTo>
                <a:cubicBezTo>
                  <a:pt x="1012131" y="48095"/>
                  <a:pt x="993999" y="16858"/>
                  <a:pt x="983672" y="6531"/>
                </a:cubicBezTo>
                <a:cubicBezTo>
                  <a:pt x="977141" y="0"/>
                  <a:pt x="965199" y="6531"/>
                  <a:pt x="955963" y="653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019800" cy="792162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b="1" dirty="0" smtClean="0"/>
              <a:t>Tasks- </a:t>
            </a:r>
            <a:r>
              <a:rPr lang="en-US" sz="3200" dirty="0" smtClean="0"/>
              <a:t>keywords task and </a:t>
            </a:r>
            <a:r>
              <a:rPr lang="en-US" sz="3200" dirty="0" err="1" smtClean="0"/>
              <a:t>endtask</a:t>
            </a:r>
            <a:r>
              <a:rPr lang="en-US" sz="3200" dirty="0" smtClean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Consider a task called </a:t>
            </a:r>
            <a:r>
              <a:rPr lang="en-US" sz="2000" dirty="0" err="1" smtClean="0"/>
              <a:t>bitwise_oper</a:t>
            </a:r>
            <a:r>
              <a:rPr lang="en-US" sz="2000" dirty="0" smtClean="0"/>
              <a:t>, which computes the bitwise and, bitwise or, and bitwise ex-or of two 16-bit numbers. The two 16-bit numbers a and b are inputs and the three outputs are 16-bit numbers </a:t>
            </a:r>
            <a:r>
              <a:rPr lang="en-US" sz="2000" dirty="0" err="1" smtClean="0"/>
              <a:t>ab_and</a:t>
            </a:r>
            <a:r>
              <a:rPr lang="en-US" sz="2000" dirty="0" smtClean="0"/>
              <a:t>, </a:t>
            </a:r>
            <a:r>
              <a:rPr lang="en-US" sz="2000" dirty="0" err="1" smtClean="0"/>
              <a:t>ab_or</a:t>
            </a:r>
            <a:r>
              <a:rPr lang="en-US" sz="2000" dirty="0" smtClean="0"/>
              <a:t>, </a:t>
            </a:r>
            <a:r>
              <a:rPr lang="en-US" sz="2000" dirty="0" err="1" smtClean="0"/>
              <a:t>ab_xor</a:t>
            </a:r>
            <a:r>
              <a:rPr lang="en-US" sz="2000" dirty="0" smtClean="0"/>
              <a:t>. 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066800" y="1981200"/>
            <a:ext cx="55626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module operation;</a:t>
            </a:r>
            <a:br>
              <a:rPr lang="en-US" sz="1600" dirty="0" smtClean="0"/>
            </a:br>
            <a:r>
              <a:rPr lang="en-US" sz="1600" dirty="0" smtClean="0"/>
              <a:t>parameter delay = 10;</a:t>
            </a:r>
            <a:br>
              <a:rPr lang="en-US" sz="1600" dirty="0" smtClean="0"/>
            </a:br>
            <a:r>
              <a:rPr lang="en-US" sz="1600" dirty="0" err="1" smtClean="0"/>
              <a:t>reg</a:t>
            </a:r>
            <a:r>
              <a:rPr lang="en-US" sz="1600" dirty="0" smtClean="0"/>
              <a:t> [15:0] A, B;</a:t>
            </a:r>
            <a:br>
              <a:rPr lang="en-US" sz="1600" dirty="0" smtClean="0"/>
            </a:br>
            <a:r>
              <a:rPr lang="en-US" sz="1600" dirty="0" err="1" smtClean="0"/>
              <a:t>reg</a:t>
            </a:r>
            <a:r>
              <a:rPr lang="en-US" sz="1600" dirty="0" smtClean="0"/>
              <a:t> [15:0] AB_AND, AB_OR, AB_XOR;</a:t>
            </a:r>
            <a:br>
              <a:rPr lang="en-US" sz="1600" dirty="0" smtClean="0"/>
            </a:br>
            <a:r>
              <a:rPr lang="en-US" sz="1600" dirty="0" smtClean="0"/>
              <a:t>always @(A or B) </a:t>
            </a:r>
            <a:br>
              <a:rPr lang="en-US" sz="1600" dirty="0" smtClean="0"/>
            </a:br>
            <a:r>
              <a:rPr lang="en-US" sz="1600" dirty="0" smtClean="0"/>
              <a:t>begin </a:t>
            </a:r>
            <a:br>
              <a:rPr lang="en-US" sz="1600" dirty="0" smtClean="0"/>
            </a:br>
            <a:r>
              <a:rPr lang="en-US" sz="1600" dirty="0" err="1" smtClean="0"/>
              <a:t>bitwise_oper</a:t>
            </a:r>
            <a:r>
              <a:rPr lang="en-US" sz="1600" dirty="0" smtClean="0"/>
              <a:t>(AB_AND, AB_OR, AB_XOR, A, B);</a:t>
            </a:r>
            <a:br>
              <a:rPr lang="en-US" sz="1600" dirty="0" smtClean="0"/>
            </a:br>
            <a:r>
              <a:rPr lang="en-US" sz="1600" dirty="0" smtClean="0"/>
              <a:t>end </a:t>
            </a:r>
            <a:br>
              <a:rPr lang="en-US" sz="1600" dirty="0" smtClean="0"/>
            </a:br>
            <a:endParaRPr lang="en-US" sz="1600" dirty="0" smtClean="0"/>
          </a:p>
          <a:p>
            <a:r>
              <a:rPr lang="en-US" sz="1600" dirty="0" smtClean="0"/>
              <a:t>task </a:t>
            </a:r>
            <a:r>
              <a:rPr lang="en-US" sz="1600" dirty="0" err="1" smtClean="0"/>
              <a:t>bitwise_oper</a:t>
            </a:r>
            <a:r>
              <a:rPr lang="en-US" sz="1600" dirty="0" smtClean="0"/>
              <a:t>; </a:t>
            </a:r>
            <a:br>
              <a:rPr lang="en-US" sz="1600" dirty="0" smtClean="0"/>
            </a:br>
            <a:r>
              <a:rPr lang="en-US" sz="1600" dirty="0" smtClean="0"/>
              <a:t>output [15:0] </a:t>
            </a:r>
            <a:r>
              <a:rPr lang="en-US" sz="1600" dirty="0" err="1" smtClean="0"/>
              <a:t>ab_and</a:t>
            </a:r>
            <a:r>
              <a:rPr lang="en-US" sz="1600" dirty="0" smtClean="0"/>
              <a:t>, </a:t>
            </a:r>
            <a:r>
              <a:rPr lang="en-US" sz="1600" dirty="0" err="1" smtClean="0"/>
              <a:t>ab_or</a:t>
            </a:r>
            <a:r>
              <a:rPr lang="en-US" sz="1600" dirty="0" smtClean="0"/>
              <a:t>, </a:t>
            </a:r>
            <a:r>
              <a:rPr lang="en-US" sz="1600" dirty="0" err="1" smtClean="0"/>
              <a:t>ab_xor</a:t>
            </a:r>
            <a:r>
              <a:rPr lang="en-US" sz="1600" dirty="0" smtClean="0"/>
              <a:t>; </a:t>
            </a:r>
            <a:br>
              <a:rPr lang="en-US" sz="1600" dirty="0" smtClean="0"/>
            </a:br>
            <a:r>
              <a:rPr lang="en-US" sz="1600" dirty="0" smtClean="0"/>
              <a:t>input [15:0] a, b; </a:t>
            </a:r>
            <a:br>
              <a:rPr lang="en-US" sz="1600" dirty="0" smtClean="0"/>
            </a:br>
            <a:r>
              <a:rPr lang="en-US" sz="1600" dirty="0" smtClean="0"/>
              <a:t>begin</a:t>
            </a:r>
            <a:br>
              <a:rPr lang="en-US" sz="1600" dirty="0" smtClean="0"/>
            </a:br>
            <a:r>
              <a:rPr lang="en-US" sz="1600" dirty="0" smtClean="0"/>
              <a:t>#delay </a:t>
            </a:r>
            <a:r>
              <a:rPr lang="en-US" sz="1600" dirty="0" err="1" smtClean="0"/>
              <a:t>ab_and</a:t>
            </a:r>
            <a:r>
              <a:rPr lang="en-US" sz="1600" dirty="0" smtClean="0"/>
              <a:t> = a &amp; b;</a:t>
            </a:r>
            <a:br>
              <a:rPr lang="en-US" sz="1600" dirty="0" smtClean="0"/>
            </a:br>
            <a:r>
              <a:rPr lang="en-US" sz="1600" dirty="0" err="1" smtClean="0"/>
              <a:t>ab_or</a:t>
            </a:r>
            <a:r>
              <a:rPr lang="en-US" sz="1600" dirty="0" smtClean="0"/>
              <a:t> = a | b;</a:t>
            </a:r>
            <a:br>
              <a:rPr lang="en-US" sz="1600" dirty="0" smtClean="0"/>
            </a:br>
            <a:r>
              <a:rPr lang="en-US" sz="1600" dirty="0" err="1" smtClean="0"/>
              <a:t>ab_xor</a:t>
            </a:r>
            <a:r>
              <a:rPr lang="en-US" sz="1600" dirty="0" smtClean="0"/>
              <a:t> = a ^ b;</a:t>
            </a:r>
            <a:br>
              <a:rPr lang="en-US" sz="1600" dirty="0" smtClean="0"/>
            </a:br>
            <a:r>
              <a:rPr lang="en-US" sz="1600" dirty="0" smtClean="0"/>
              <a:t>end</a:t>
            </a:r>
            <a:br>
              <a:rPr lang="en-US" sz="1600" dirty="0" smtClean="0"/>
            </a:br>
            <a:r>
              <a:rPr lang="en-US" sz="1600" dirty="0" err="1" smtClean="0"/>
              <a:t>endtask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err="1" smtClean="0"/>
              <a:t>endmodule</a:t>
            </a:r>
            <a:r>
              <a:rPr lang="en-US" sz="1600" dirty="0" smtClean="0"/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638800" cy="792162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Automatic (Re-entrant)</a:t>
            </a:r>
            <a:r>
              <a:rPr lang="en-US" sz="3600" dirty="0" smtClean="0"/>
              <a:t> Task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Tasks are static in nature.</a:t>
            </a:r>
          </a:p>
          <a:p>
            <a:pPr>
              <a:buNone/>
            </a:pPr>
            <a:r>
              <a:rPr lang="en-US" sz="2000" dirty="0" smtClean="0"/>
              <a:t>Task is called concurrently from two places in code, operate on same task variables. </a:t>
            </a:r>
          </a:p>
          <a:p>
            <a:pPr>
              <a:buNone/>
            </a:pPr>
            <a:r>
              <a:rPr lang="en-US" sz="2000" dirty="0" smtClean="0"/>
              <a:t>Highly likely that the results of such an operation will be incorrect 	</a:t>
            </a:r>
          </a:p>
          <a:p>
            <a:pPr>
              <a:buNone/>
            </a:pPr>
            <a:r>
              <a:rPr lang="en-US" sz="2000" dirty="0" smtClean="0"/>
              <a:t>To avoid this problem, a keyword </a:t>
            </a:r>
            <a:r>
              <a:rPr lang="en-US" sz="2000" b="1" dirty="0" smtClean="0"/>
              <a:t>automatic</a:t>
            </a:r>
            <a:r>
              <a:rPr lang="en-US" sz="2000" dirty="0" smtClean="0"/>
              <a:t> is added in front of the task 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895600" cy="838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Functions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1"/>
            <a:ext cx="6172200" cy="2667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 smtClean="0"/>
              <a:t>Declared with the keywords </a:t>
            </a:r>
            <a:r>
              <a:rPr lang="en-US" sz="2000" b="1" dirty="0" smtClean="0"/>
              <a:t>function</a:t>
            </a:r>
            <a:r>
              <a:rPr lang="en-US" sz="2000" dirty="0" smtClean="0"/>
              <a:t> and </a:t>
            </a:r>
            <a:r>
              <a:rPr lang="en-US" sz="2000" b="1" dirty="0" err="1" smtClean="0"/>
              <a:t>endfunction</a:t>
            </a:r>
            <a:r>
              <a:rPr lang="en-US" sz="2000" dirty="0" smtClean="0"/>
              <a:t> </a:t>
            </a:r>
          </a:p>
          <a:p>
            <a:pPr>
              <a:buNone/>
            </a:pPr>
            <a:r>
              <a:rPr lang="en-US" sz="2000" dirty="0" smtClean="0"/>
              <a:t>	No delay, timing, or event control constructs in the procedure.</a:t>
            </a:r>
          </a:p>
          <a:p>
            <a:pPr>
              <a:buNone/>
            </a:pPr>
            <a:r>
              <a:rPr lang="en-US" sz="2000" dirty="0" smtClean="0"/>
              <a:t>	Returns a single value.</a:t>
            </a:r>
          </a:p>
          <a:p>
            <a:pPr>
              <a:buNone/>
            </a:pPr>
            <a:r>
              <a:rPr lang="en-US" sz="2000" dirty="0" smtClean="0"/>
              <a:t>	At least one input argument.</a:t>
            </a:r>
          </a:p>
          <a:p>
            <a:pPr>
              <a:buNone/>
            </a:pPr>
            <a:r>
              <a:rPr lang="en-US" sz="2000" dirty="0" smtClean="0"/>
              <a:t>	No output or </a:t>
            </a:r>
            <a:r>
              <a:rPr lang="en-US" sz="2000" dirty="0" err="1" smtClean="0"/>
              <a:t>inout</a:t>
            </a:r>
            <a:r>
              <a:rPr lang="en-US" sz="2000" dirty="0" smtClean="0"/>
              <a:t> arguments</a:t>
            </a:r>
          </a:p>
          <a:p>
            <a:pPr>
              <a:buNone/>
            </a:pPr>
            <a:r>
              <a:rPr lang="en-US" sz="2000" dirty="0" smtClean="0"/>
              <a:t>	No </a:t>
            </a:r>
            <a:r>
              <a:rPr lang="en-US" sz="2000" dirty="0" err="1" smtClean="0"/>
              <a:t>nonblocking</a:t>
            </a:r>
            <a:r>
              <a:rPr lang="en-US" sz="2000" dirty="0" smtClean="0"/>
              <a:t> assignments 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810000"/>
            <a:ext cx="4106381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Parity calculation with Function</a:t>
            </a:r>
            <a:endParaRPr lang="en-US" sz="24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5272021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Bidirectional Shifter using Function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304800" y="1447800"/>
            <a:ext cx="8458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module shifter;</a:t>
            </a:r>
          </a:p>
          <a:p>
            <a:r>
              <a:rPr lang="en-US" dirty="0" smtClean="0"/>
              <a:t>Input [31:0] </a:t>
            </a:r>
            <a:r>
              <a:rPr lang="en-US" dirty="0" err="1" smtClean="0"/>
              <a:t>addr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output </a:t>
            </a:r>
            <a:r>
              <a:rPr lang="en-US" dirty="0" err="1" smtClean="0"/>
              <a:t>reg</a:t>
            </a:r>
            <a:r>
              <a:rPr lang="en-US" dirty="0" smtClean="0"/>
              <a:t> [31:0] </a:t>
            </a:r>
            <a:r>
              <a:rPr lang="en-US" dirty="0" err="1" smtClean="0"/>
              <a:t>left_addr</a:t>
            </a:r>
            <a:r>
              <a:rPr lang="en-US" dirty="0" smtClean="0"/>
              <a:t>, </a:t>
            </a:r>
            <a:r>
              <a:rPr lang="en-US" dirty="0" err="1" smtClean="0"/>
              <a:t>right_addr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control;</a:t>
            </a:r>
            <a:br>
              <a:rPr lang="en-US" dirty="0" smtClean="0"/>
            </a:br>
            <a:r>
              <a:rPr lang="en-US" dirty="0" smtClean="0"/>
              <a:t>always @(</a:t>
            </a:r>
            <a:r>
              <a:rPr lang="en-US" dirty="0" err="1" smtClean="0"/>
              <a:t>addr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err="1" smtClean="0"/>
              <a:t>left_addr</a:t>
            </a:r>
            <a:r>
              <a:rPr lang="en-US" dirty="0" smtClean="0"/>
              <a:t> = shift(</a:t>
            </a:r>
            <a:r>
              <a:rPr lang="en-US" dirty="0" err="1" smtClean="0"/>
              <a:t>addr</a:t>
            </a:r>
            <a:r>
              <a:rPr lang="en-US" dirty="0" smtClean="0"/>
              <a:t>, `LEFT_SHIFT);</a:t>
            </a:r>
            <a:br>
              <a:rPr lang="en-US" dirty="0" smtClean="0"/>
            </a:br>
            <a:r>
              <a:rPr lang="en-US" dirty="0" err="1" smtClean="0"/>
              <a:t>right_addr</a:t>
            </a:r>
            <a:r>
              <a:rPr lang="en-US" dirty="0" smtClean="0"/>
              <a:t> = shift(</a:t>
            </a:r>
            <a:r>
              <a:rPr lang="en-US" dirty="0" err="1" smtClean="0"/>
              <a:t>addr</a:t>
            </a:r>
            <a:r>
              <a:rPr lang="en-US" dirty="0" smtClean="0"/>
              <a:t>, `RIGHT_SHIFT);</a:t>
            </a:r>
            <a:br>
              <a:rPr lang="en-US" dirty="0" smtClean="0"/>
            </a:br>
            <a:r>
              <a:rPr lang="en-US" dirty="0" smtClean="0"/>
              <a:t>end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function [31:0] shift;</a:t>
            </a:r>
            <a:br>
              <a:rPr lang="en-US" dirty="0" smtClean="0"/>
            </a:br>
            <a:r>
              <a:rPr lang="en-US" dirty="0" smtClean="0"/>
              <a:t>input [31:0] address;</a:t>
            </a:r>
            <a:br>
              <a:rPr lang="en-US" dirty="0" smtClean="0"/>
            </a:br>
            <a:r>
              <a:rPr lang="en-US" dirty="0" smtClean="0"/>
              <a:t>input control;</a:t>
            </a:r>
            <a:br>
              <a:rPr lang="en-US" dirty="0" smtClean="0"/>
            </a:br>
            <a:r>
              <a:rPr lang="en-US" dirty="0" smtClean="0"/>
              <a:t>begin</a:t>
            </a:r>
            <a:br>
              <a:rPr lang="en-US" dirty="0" smtClean="0"/>
            </a:br>
            <a:r>
              <a:rPr lang="en-US" dirty="0" smtClean="0"/>
              <a:t>shift = (control ) ?(address &lt;&lt; 1) : (address &gt;&gt; 1);</a:t>
            </a:r>
            <a:br>
              <a:rPr lang="en-US" dirty="0" smtClean="0"/>
            </a:br>
            <a:r>
              <a:rPr lang="en-US" dirty="0" smtClean="0"/>
              <a:t>end</a:t>
            </a:r>
            <a:br>
              <a:rPr lang="en-US" dirty="0" smtClean="0"/>
            </a:br>
            <a:r>
              <a:rPr lang="en-US" dirty="0" err="1" smtClean="0"/>
              <a:t>endfunction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endmodule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610600" cy="4876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/>
              <a:t>Automatic (Recursive) Functions</a:t>
            </a:r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Functions are normally used non-recursively .</a:t>
            </a:r>
          </a:p>
          <a:p>
            <a:pPr>
              <a:buNone/>
            </a:pPr>
            <a:r>
              <a:rPr lang="en-US" sz="2000" dirty="0" smtClean="0"/>
              <a:t> If a function is called concurrently from two locations, the results are non-deterministic because both calls operate on the same variable space.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keyword automatic can be used to declare a recursive (automatic) function</a:t>
            </a:r>
            <a:br>
              <a:rPr lang="en-US" sz="2000" dirty="0" smtClean="0"/>
            </a:br>
            <a:r>
              <a:rPr lang="en-US" sz="2000" dirty="0" smtClean="0"/>
              <a:t>where all function declarations are allocated dynamically for each recursive calls </a:t>
            </a:r>
            <a:br>
              <a:rPr lang="en-US" sz="2000" dirty="0" smtClean="0"/>
            </a:br>
            <a:r>
              <a:rPr lang="en-US" sz="2000" dirty="0" smtClean="0"/>
              <a:t> </a:t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How to avoid error due to recursive call of task or function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A. Automatic</a:t>
            </a:r>
          </a:p>
          <a:p>
            <a:pPr>
              <a:buNone/>
            </a:pPr>
            <a:r>
              <a:rPr lang="en-US" sz="2400" dirty="0" smtClean="0"/>
              <a:t>B. Re-entrant 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User-Defined Primitives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All the logic gate are in-built primitive</a:t>
            </a:r>
          </a:p>
          <a:p>
            <a:pPr>
              <a:buNone/>
            </a:pPr>
            <a:r>
              <a:rPr lang="en-US" sz="2000" dirty="0" smtClean="0"/>
              <a:t>UDP allow own custom built primitive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Combinational UDP- Output defined by logical combination of input</a:t>
            </a:r>
          </a:p>
          <a:p>
            <a:pPr>
              <a:buNone/>
            </a:pPr>
            <a:r>
              <a:rPr lang="en-US" sz="2000" dirty="0" smtClean="0"/>
              <a:t>Sequential UDP- Output defined by present input and present state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457200" y="3164681"/>
            <a:ext cx="7772400" cy="36933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primitive &lt;</a:t>
            </a:r>
            <a:r>
              <a:rPr lang="en-US" dirty="0" err="1" smtClean="0"/>
              <a:t>udp_name</a:t>
            </a:r>
            <a:r>
              <a:rPr lang="en-US" dirty="0" smtClean="0"/>
              <a:t>&gt; (</a:t>
            </a:r>
            <a:r>
              <a:rPr lang="en-US" dirty="0" err="1" smtClean="0"/>
              <a:t>output_terminal_name,input_terminal_names</a:t>
            </a:r>
            <a:r>
              <a:rPr lang="en-US" dirty="0" smtClean="0"/>
              <a:t>&gt; );</a:t>
            </a:r>
            <a:br>
              <a:rPr lang="en-US" dirty="0" smtClean="0"/>
            </a:br>
            <a:r>
              <a:rPr lang="en-US" dirty="0" smtClean="0"/>
              <a:t>output &lt;</a:t>
            </a:r>
            <a:r>
              <a:rPr lang="en-US" dirty="0" err="1" smtClean="0"/>
              <a:t>output_terminal_name</a:t>
            </a:r>
            <a:r>
              <a:rPr lang="en-US" dirty="0" smtClean="0"/>
              <a:t>&gt;;</a:t>
            </a:r>
            <a:br>
              <a:rPr lang="en-US" dirty="0" smtClean="0"/>
            </a:br>
            <a:r>
              <a:rPr lang="en-US" dirty="0" smtClean="0"/>
              <a:t>input &lt;</a:t>
            </a:r>
            <a:r>
              <a:rPr lang="en-US" dirty="0" err="1" smtClean="0"/>
              <a:t>input_terminal_names</a:t>
            </a:r>
            <a:r>
              <a:rPr lang="en-US" dirty="0" smtClean="0"/>
              <a:t>&gt;;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err="1" smtClean="0"/>
              <a:t>reg</a:t>
            </a:r>
            <a:r>
              <a:rPr lang="en-US" dirty="0" smtClean="0"/>
              <a:t> &lt;</a:t>
            </a:r>
            <a:r>
              <a:rPr lang="en-US" dirty="0" err="1" smtClean="0"/>
              <a:t>output_terminal_name</a:t>
            </a:r>
            <a:r>
              <a:rPr lang="en-US" dirty="0" smtClean="0"/>
              <a:t>&gt;;		</a:t>
            </a:r>
            <a:r>
              <a:rPr lang="en-US" i="1" dirty="0" smtClean="0"/>
              <a:t>only for sequential UDP</a:t>
            </a:r>
          </a:p>
          <a:p>
            <a:r>
              <a:rPr lang="en-US" dirty="0" smtClean="0"/>
              <a:t>initial &lt;</a:t>
            </a:r>
            <a:r>
              <a:rPr lang="en-US" dirty="0" err="1" smtClean="0"/>
              <a:t>output_terminal_name</a:t>
            </a:r>
            <a:r>
              <a:rPr lang="en-US" dirty="0" smtClean="0"/>
              <a:t>&gt; = &lt;value&gt;;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table</a:t>
            </a:r>
            <a:br>
              <a:rPr lang="en-US" dirty="0" smtClean="0"/>
            </a:br>
            <a:r>
              <a:rPr lang="en-US" dirty="0" smtClean="0"/>
              <a:t>input _</a:t>
            </a:r>
            <a:r>
              <a:rPr lang="en-US" dirty="0" err="1" smtClean="0"/>
              <a:t>terminal_name</a:t>
            </a:r>
            <a:r>
              <a:rPr lang="en-US" dirty="0" smtClean="0"/>
              <a:t> : </a:t>
            </a:r>
            <a:r>
              <a:rPr lang="en-US" dirty="0" err="1" smtClean="0"/>
              <a:t>output_terminal_name</a:t>
            </a:r>
            <a:r>
              <a:rPr lang="en-US" dirty="0" smtClean="0"/>
              <a:t>;</a:t>
            </a:r>
          </a:p>
          <a:p>
            <a:r>
              <a:rPr lang="en-US" dirty="0" smtClean="0"/>
              <a:t>&lt;table entries&gt;</a:t>
            </a:r>
            <a:br>
              <a:rPr lang="en-US" dirty="0" smtClean="0"/>
            </a:br>
            <a:r>
              <a:rPr lang="en-US" dirty="0" err="1" smtClean="0"/>
              <a:t>endtable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endprimitive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8600"/>
            <a:ext cx="4648200" cy="94456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Combinational UDP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Primitive </a:t>
            </a:r>
            <a:r>
              <a:rPr lang="en-US" b="1" dirty="0" err="1" smtClean="0"/>
              <a:t>udp_and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895600" cy="76200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UDP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839200" cy="53340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/>
              <a:t>Only scalar input terminals (1 bit).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Multiple input terminals are permitted.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Only one scalar output terminal (1 bit).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output terminal must always appear first in the terminal list.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Multiple output not permitted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UDPs do not support </a:t>
            </a:r>
            <a:r>
              <a:rPr lang="en-US" sz="2000" dirty="0" err="1" smtClean="0"/>
              <a:t>inout</a:t>
            </a:r>
            <a:r>
              <a:rPr lang="en-US" sz="2000" dirty="0" smtClean="0"/>
              <a:t> ports 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state table entries can contain values 0, 1, or x.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 UDPs do not handle z values.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z values passed to a UDP are treated as x values 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UDP defined with primitive -- </a:t>
            </a:r>
            <a:r>
              <a:rPr lang="en-US" sz="2000" dirty="0" err="1" smtClean="0"/>
              <a:t>endprimitive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UDPs can instantiated 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Sequential UDP present state declared as </a:t>
            </a:r>
            <a:r>
              <a:rPr lang="en-US" sz="2000" dirty="0" err="1" smtClean="0"/>
              <a:t>reg</a:t>
            </a: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state in a sequential UDP can be initialized with an initial statement 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In </a:t>
            </a:r>
            <a:r>
              <a:rPr lang="en-US" sz="2400" dirty="0" err="1" smtClean="0"/>
              <a:t>verilog</a:t>
            </a:r>
            <a:r>
              <a:rPr lang="en-US" sz="2400" dirty="0" smtClean="0"/>
              <a:t> UDP program first signal in the port list </a:t>
            </a:r>
          </a:p>
          <a:p>
            <a:endParaRPr lang="en-US" sz="2400" dirty="0" smtClean="0"/>
          </a:p>
          <a:p>
            <a:pPr marL="457200" indent="-457200" fontAlgn="t">
              <a:buAutoNum type="alphaUcPeriod"/>
            </a:pPr>
            <a:r>
              <a:rPr lang="en-US" sz="2400" dirty="0" smtClean="0"/>
              <a:t>Input</a:t>
            </a:r>
          </a:p>
          <a:p>
            <a:pPr marL="457200" indent="-457200" fontAlgn="t">
              <a:buAutoNum type="alphaUcPeriod"/>
            </a:pPr>
            <a:r>
              <a:rPr lang="en-US" sz="2400" dirty="0" smtClean="0"/>
              <a:t>Output</a:t>
            </a:r>
          </a:p>
          <a:p>
            <a:pPr marL="457200" indent="-457200" fontAlgn="t">
              <a:buAutoNum type="alphaUcPeriod"/>
            </a:pPr>
            <a:r>
              <a:rPr lang="en-US" sz="2400" dirty="0" err="1" smtClean="0"/>
              <a:t>Reg</a:t>
            </a:r>
            <a:endParaRPr lang="en-US" sz="2400" dirty="0" smtClean="0"/>
          </a:p>
          <a:p>
            <a:pPr marL="457200" indent="-457200" fontAlgn="t">
              <a:buAutoNum type="alphaUcPeriod"/>
            </a:pPr>
            <a:r>
              <a:rPr lang="en-US" sz="2400" dirty="0" smtClean="0"/>
              <a:t>wire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UDP does </a:t>
            </a:r>
            <a:r>
              <a:rPr lang="en-US" b="1" dirty="0" smtClean="0"/>
              <a:t>not</a:t>
            </a:r>
            <a:r>
              <a:rPr lang="en-US" dirty="0" smtClean="0"/>
              <a:t> handle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AutoNum type="alphaUcPeriod"/>
            </a:pPr>
            <a:r>
              <a:rPr lang="en-US" dirty="0" smtClean="0"/>
              <a:t>0</a:t>
            </a:r>
          </a:p>
          <a:p>
            <a:pPr marL="514350" indent="-514350">
              <a:buAutoNum type="alphaUcPeriod"/>
            </a:pPr>
            <a:r>
              <a:rPr lang="en-US" dirty="0" smtClean="0"/>
              <a:t>1</a:t>
            </a:r>
          </a:p>
          <a:p>
            <a:pPr marL="514350" indent="-514350">
              <a:buAutoNum type="alphaUcPeriod"/>
            </a:pPr>
            <a:r>
              <a:rPr lang="en-US" dirty="0" smtClean="0"/>
              <a:t>Z</a:t>
            </a:r>
          </a:p>
          <a:p>
            <a:pPr marL="514350" indent="-514350">
              <a:buAutoNum type="alphaUcPeriod"/>
            </a:pPr>
            <a:r>
              <a:rPr lang="en-US" dirty="0" smtClean="0"/>
              <a:t>x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514600" cy="6858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UDP_OR</a:t>
            </a:r>
            <a:endParaRPr lang="en-US" dirty="0"/>
          </a:p>
        </p:txBody>
      </p:sp>
      <p:pic>
        <p:nvPicPr>
          <p:cNvPr id="716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432098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362200"/>
            <a:ext cx="3200400" cy="3369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572000" y="1219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? symbol is used for a don't care condition.</a:t>
            </a:r>
            <a:br>
              <a:rPr lang="en-US" dirty="0" smtClean="0"/>
            </a:br>
            <a:r>
              <a:rPr lang="en-US" dirty="0" smtClean="0"/>
              <a:t>? symbol is automatically expanded to 0, 1, x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47428" y="0"/>
            <a:ext cx="2378343" cy="9541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UDP_OR </a:t>
            </a:r>
          </a:p>
          <a:p>
            <a:pPr algn="ctr"/>
            <a:r>
              <a:rPr lang="en-US" sz="2800" dirty="0" err="1" smtClean="0"/>
              <a:t>Shortned</a:t>
            </a:r>
            <a:r>
              <a:rPr lang="en-US" sz="2800" dirty="0" smtClean="0"/>
              <a:t> Table</a:t>
            </a:r>
            <a:endParaRPr lang="en-US" sz="2800" dirty="0"/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68069" y="3124200"/>
            <a:ext cx="4775931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200400" cy="79216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UDP_MUX4:1</a:t>
            </a:r>
            <a:endParaRPr lang="en-US" dirty="0"/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04586" y="0"/>
            <a:ext cx="3039414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1828800"/>
            <a:ext cx="89916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 smtClean="0"/>
              <a:t>Identify correct</a:t>
            </a:r>
          </a:p>
          <a:p>
            <a:pPr>
              <a:buNone/>
            </a:pPr>
            <a:endParaRPr lang="en-US" sz="2000" dirty="0" smtClean="0"/>
          </a:p>
          <a:p>
            <a:pPr marL="514350" indent="-514350">
              <a:buAutoNum type="alphaUcPeriod"/>
            </a:pPr>
            <a:r>
              <a:rPr lang="en-US" sz="2000" dirty="0" smtClean="0"/>
              <a:t>state table becomes large very quickly as the number of inputs increases. </a:t>
            </a:r>
          </a:p>
          <a:p>
            <a:pPr marL="514350" indent="-514350">
              <a:buAutoNum type="alphaUcPeriod"/>
            </a:pPr>
            <a:r>
              <a:rPr lang="en-US" sz="2000" dirty="0" smtClean="0"/>
              <a:t>Memory requirements to simulate UDPs increase exponentially .</a:t>
            </a:r>
          </a:p>
          <a:p>
            <a:pPr marL="514350" indent="-514350">
              <a:buAutoNum type="alphaUcPeriod"/>
            </a:pPr>
            <a:r>
              <a:rPr lang="en-US" sz="2000" dirty="0" smtClean="0"/>
              <a:t>Both are true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5" name="Freeform 4"/>
          <p:cNvSpPr/>
          <p:nvPr/>
        </p:nvSpPr>
        <p:spPr>
          <a:xfrm>
            <a:off x="110836" y="3394364"/>
            <a:ext cx="720437" cy="318654"/>
          </a:xfrm>
          <a:custGeom>
            <a:avLst/>
            <a:gdLst>
              <a:gd name="connsiteX0" fmla="*/ 0 w 720437"/>
              <a:gd name="connsiteY0" fmla="*/ 235527 h 318654"/>
              <a:gd name="connsiteX1" fmla="*/ 110837 w 720437"/>
              <a:gd name="connsiteY1" fmla="*/ 277091 h 318654"/>
              <a:gd name="connsiteX2" fmla="*/ 263237 w 720437"/>
              <a:gd name="connsiteY2" fmla="*/ 318654 h 318654"/>
              <a:gd name="connsiteX3" fmla="*/ 318655 w 720437"/>
              <a:gd name="connsiteY3" fmla="*/ 304800 h 318654"/>
              <a:gd name="connsiteX4" fmla="*/ 415637 w 720437"/>
              <a:gd name="connsiteY4" fmla="*/ 221672 h 318654"/>
              <a:gd name="connsiteX5" fmla="*/ 457200 w 720437"/>
              <a:gd name="connsiteY5" fmla="*/ 166254 h 318654"/>
              <a:gd name="connsiteX6" fmla="*/ 665019 w 720437"/>
              <a:gd name="connsiteY6" fmla="*/ 0 h 318654"/>
              <a:gd name="connsiteX7" fmla="*/ 720437 w 720437"/>
              <a:gd name="connsiteY7" fmla="*/ 13854 h 318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0437" h="318654">
                <a:moveTo>
                  <a:pt x="0" y="235527"/>
                </a:moveTo>
                <a:cubicBezTo>
                  <a:pt x="36946" y="249382"/>
                  <a:pt x="72557" y="267521"/>
                  <a:pt x="110837" y="277091"/>
                </a:cubicBezTo>
                <a:cubicBezTo>
                  <a:pt x="276405" y="318483"/>
                  <a:pt x="173605" y="258900"/>
                  <a:pt x="263237" y="318654"/>
                </a:cubicBezTo>
                <a:cubicBezTo>
                  <a:pt x="281710" y="314036"/>
                  <a:pt x="301624" y="313315"/>
                  <a:pt x="318655" y="304800"/>
                </a:cubicBezTo>
                <a:cubicBezTo>
                  <a:pt x="346030" y="291112"/>
                  <a:pt x="394841" y="245934"/>
                  <a:pt x="415637" y="221672"/>
                </a:cubicBezTo>
                <a:cubicBezTo>
                  <a:pt x="430664" y="204140"/>
                  <a:pt x="441538" y="183221"/>
                  <a:pt x="457200" y="166254"/>
                </a:cubicBezTo>
                <a:cubicBezTo>
                  <a:pt x="582854" y="30128"/>
                  <a:pt x="540354" y="62331"/>
                  <a:pt x="665019" y="0"/>
                </a:cubicBezTo>
                <a:lnTo>
                  <a:pt x="720437" y="13854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733800" cy="6858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Sequential UDP</a:t>
            </a:r>
            <a:endParaRPr lang="en-US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457200"/>
            <a:ext cx="234315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86200" y="228600"/>
            <a:ext cx="327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Level-Sensitive Latch with clear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12192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"-" symbol is used to denote no </a:t>
            </a:r>
            <a:r>
              <a:rPr lang="en-US" dirty="0" err="1" smtClean="0"/>
              <a:t>chang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1676400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&lt;input1&gt; &lt;input2&gt; ..... &lt;</a:t>
            </a:r>
            <a:r>
              <a:rPr lang="en-US" dirty="0" err="1" smtClean="0"/>
              <a:t>inputN</a:t>
            </a:r>
            <a:r>
              <a:rPr lang="en-US" dirty="0" smtClean="0"/>
              <a:t>&gt; : &lt;</a:t>
            </a:r>
            <a:r>
              <a:rPr lang="en-US" dirty="0" err="1" smtClean="0"/>
              <a:t>current_state</a:t>
            </a:r>
            <a:r>
              <a:rPr lang="en-US" dirty="0" smtClean="0"/>
              <a:t>&gt; : &lt;</a:t>
            </a:r>
            <a:r>
              <a:rPr lang="en-US" dirty="0" err="1" smtClean="0"/>
              <a:t>next_state</a:t>
            </a:r>
            <a:r>
              <a:rPr lang="en-US" dirty="0" smtClean="0"/>
              <a:t>&gt;;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8600" y="2514600"/>
            <a:ext cx="838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primitive latch(q, d, clock, clear);</a:t>
            </a:r>
            <a:br>
              <a:rPr lang="en-US" dirty="0" smtClean="0"/>
            </a:br>
            <a:r>
              <a:rPr lang="en-US" dirty="0" smtClean="0"/>
              <a:t>output q;</a:t>
            </a:r>
            <a:br>
              <a:rPr lang="en-US" dirty="0" smtClean="0"/>
            </a:br>
            <a:r>
              <a:rPr lang="en-US" dirty="0" err="1" smtClean="0"/>
              <a:t>reg</a:t>
            </a:r>
            <a:r>
              <a:rPr lang="en-US" dirty="0" smtClean="0"/>
              <a:t> q; </a:t>
            </a:r>
          </a:p>
          <a:p>
            <a:r>
              <a:rPr lang="en-US" dirty="0" smtClean="0"/>
              <a:t>input d, clock, clear;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initial</a:t>
            </a:r>
            <a:br>
              <a:rPr lang="en-US" dirty="0" smtClean="0"/>
            </a:br>
            <a:r>
              <a:rPr lang="en-US" dirty="0" smtClean="0"/>
              <a:t>q = 0; </a:t>
            </a:r>
            <a:br>
              <a:rPr lang="en-US" dirty="0" smtClean="0"/>
            </a:br>
            <a:r>
              <a:rPr lang="en-US" dirty="0" smtClean="0"/>
              <a:t>table</a:t>
            </a:r>
            <a:br>
              <a:rPr lang="en-US" dirty="0" smtClean="0"/>
            </a:br>
            <a:r>
              <a:rPr lang="en-US" dirty="0" smtClean="0"/>
              <a:t>d clock clear : q : q+ ;</a:t>
            </a:r>
            <a:br>
              <a:rPr lang="en-US" dirty="0" smtClean="0"/>
            </a:br>
            <a:r>
              <a:rPr lang="en-US" dirty="0" smtClean="0"/>
              <a:t>?   ?           1   : ? : 0 ; </a:t>
            </a:r>
            <a:br>
              <a:rPr lang="en-US" dirty="0" smtClean="0"/>
            </a:br>
            <a:r>
              <a:rPr lang="en-US" dirty="0" smtClean="0"/>
              <a:t>1  1            0   : ? : 1 ; </a:t>
            </a:r>
            <a:br>
              <a:rPr lang="en-US" dirty="0" smtClean="0"/>
            </a:br>
            <a:r>
              <a:rPr lang="en-US" dirty="0" smtClean="0"/>
              <a:t>0  1            0   : ? : 0 ; </a:t>
            </a:r>
          </a:p>
          <a:p>
            <a:r>
              <a:rPr lang="en-US" dirty="0" smtClean="0"/>
              <a:t>?  0            0   : ? : - ; </a:t>
            </a:r>
            <a:br>
              <a:rPr lang="en-US" dirty="0" smtClean="0"/>
            </a:br>
            <a:r>
              <a:rPr lang="en-US" dirty="0" err="1" smtClean="0"/>
              <a:t>endtable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endprimitive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3246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dirty="0" smtClean="0"/>
              <a:t>Edge-Sensitive Sequential UDPs</a:t>
            </a:r>
            <a:r>
              <a:rPr lang="en-US" sz="3200" dirty="0" smtClean="0"/>
              <a:t> </a:t>
            </a:r>
            <a:endParaRPr lang="en-US" sz="3200" dirty="0"/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030" y="1447800"/>
            <a:ext cx="328697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5334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(10) denotes a negative edge transition from logic 1 to logic 0.</a:t>
            </a:r>
            <a:br>
              <a:rPr lang="en-US" dirty="0" smtClean="0"/>
            </a:br>
            <a:r>
              <a:rPr lang="en-US" dirty="0" smtClean="0"/>
              <a:t>(1x) denotes a transition from logic 1 to unknown x state.</a:t>
            </a:r>
            <a:br>
              <a:rPr lang="en-US" dirty="0" smtClean="0"/>
            </a:br>
            <a:r>
              <a:rPr lang="en-US" dirty="0" smtClean="0"/>
              <a:t>(0?) denotes a transition from 0 to 0, 1, or x. Potential positive-edge transition.</a:t>
            </a:r>
            <a:br>
              <a:rPr lang="en-US" dirty="0" smtClean="0"/>
            </a:br>
            <a:r>
              <a:rPr lang="en-US" dirty="0" smtClean="0"/>
              <a:t>(??) denotes any transition in signal value 0,1, or x to 0, 1, or x. </a:t>
            </a:r>
            <a:endParaRPr lang="en-US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228600"/>
            <a:ext cx="853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Define a negative edge-triggered JK </a:t>
            </a:r>
            <a:r>
              <a:rPr lang="en-US" dirty="0" err="1" smtClean="0"/>
              <a:t>flipflop</a:t>
            </a:r>
            <a:r>
              <a:rPr lang="en-US" dirty="0" smtClean="0"/>
              <a:t>, </a:t>
            </a:r>
            <a:r>
              <a:rPr lang="en-US" dirty="0" err="1" smtClean="0"/>
              <a:t>jk_ff</a:t>
            </a:r>
            <a:r>
              <a:rPr lang="en-US" dirty="0" smtClean="0"/>
              <a:t> with asynchronous preset and clear as a UDP. q = 1 when preset = 1 and q = 0 when clear = 1.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17469" y="609600"/>
            <a:ext cx="282653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4800"/>
            <a:ext cx="5979986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0" y="3657600"/>
            <a:ext cx="8991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UDPs model functionality only</a:t>
            </a:r>
          </a:p>
          <a:p>
            <a:endParaRPr lang="en-US" dirty="0" smtClean="0"/>
          </a:p>
          <a:p>
            <a:r>
              <a:rPr lang="en-US" dirty="0" smtClean="0"/>
              <a:t>limit on the maximum number of inputs specific to simulator being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minimum of 9 inputs for sequential UDPs and 10 for combinational UDPs </a:t>
            </a:r>
          </a:p>
          <a:p>
            <a:endParaRPr lang="en-US" dirty="0" smtClean="0"/>
          </a:p>
          <a:p>
            <a:r>
              <a:rPr lang="en-US" dirty="0" smtClean="0"/>
              <a:t>UDP is typically implemented as a lookup table in memory 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Memory requirement for a UDP grows exponentially in relation to the number of inputs 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state table should be specified as completely as possible </a:t>
            </a:r>
            <a:br>
              <a:rPr lang="en-US" dirty="0" smtClean="0"/>
            </a:br>
            <a:r>
              <a:rPr lang="en-US" dirty="0" smtClean="0"/>
              <a:t>If a certain combination of inputs is not specified, the default output value x</a:t>
            </a:r>
            <a:endParaRPr lang="en-US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In </a:t>
            </a:r>
            <a:r>
              <a:rPr lang="en-US" dirty="0" err="1" smtClean="0"/>
              <a:t>verilog</a:t>
            </a:r>
            <a:r>
              <a:rPr lang="en-US" dirty="0" smtClean="0"/>
              <a:t> UDP state table symbol </a:t>
            </a:r>
            <a:r>
              <a:rPr lang="en-US" b="1" dirty="0" smtClean="0"/>
              <a:t>'-'</a:t>
            </a:r>
            <a:r>
              <a:rPr lang="en-US" dirty="0" smtClean="0"/>
              <a:t> stands for</a:t>
            </a:r>
          </a:p>
          <a:p>
            <a:pPr fontAlgn="t">
              <a:buNone/>
            </a:pPr>
            <a:endParaRPr lang="en-US" dirty="0" smtClean="0"/>
          </a:p>
          <a:p>
            <a:pPr marL="514350" indent="-514350" fontAlgn="t">
              <a:buAutoNum type="alphaUcPeriod"/>
            </a:pPr>
            <a:r>
              <a:rPr lang="en-US" dirty="0" smtClean="0"/>
              <a:t>No change</a:t>
            </a:r>
          </a:p>
          <a:p>
            <a:pPr marL="514350" indent="-514350" fontAlgn="t">
              <a:buAutoNum type="alphaUcPeriod"/>
            </a:pPr>
            <a:r>
              <a:rPr lang="en-US" dirty="0" smtClean="0"/>
              <a:t>Set</a:t>
            </a:r>
          </a:p>
          <a:p>
            <a:pPr marL="514350" indent="-514350" fontAlgn="t">
              <a:buAutoNum type="alphaUcPeriod"/>
            </a:pPr>
            <a:r>
              <a:rPr lang="en-US" dirty="0" smtClean="0"/>
              <a:t>Reset</a:t>
            </a:r>
          </a:p>
          <a:p>
            <a:pPr marL="514350" indent="-514350" fontAlgn="t">
              <a:buAutoNum type="alphaUcPeriod"/>
            </a:pPr>
            <a:r>
              <a:rPr lang="en-US" dirty="0" smtClean="0"/>
              <a:t>toggle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5400" dirty="0" smtClean="0"/>
              <a:t>Synthesis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89154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logic synthesis is the process of converting a high-level description of the design into an optimized gate-level representation, given a standard cell library and certain design constraints.</a:t>
            </a:r>
          </a:p>
          <a:p>
            <a:pPr>
              <a:buNone/>
            </a:pPr>
            <a:r>
              <a:rPr lang="en-US" sz="2000" dirty="0" smtClean="0"/>
              <a:t> A standard cell library can have simple cells, such as basic logic gates like and, or, and nor, or macro cells, such as adders, </a:t>
            </a:r>
            <a:r>
              <a:rPr lang="en-US" sz="2000" dirty="0" err="1" smtClean="0"/>
              <a:t>muxes</a:t>
            </a:r>
            <a:r>
              <a:rPr lang="en-US" sz="2000" dirty="0" smtClean="0"/>
              <a:t>, and special </a:t>
            </a:r>
            <a:r>
              <a:rPr lang="en-US" sz="2000" dirty="0" err="1" smtClean="0"/>
              <a:t>flipflops</a:t>
            </a:r>
            <a:r>
              <a:rPr lang="en-US" sz="2000" dirty="0" smtClean="0"/>
              <a:t>. 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743199"/>
            <a:ext cx="4345833" cy="411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2373868"/>
            <a:ext cx="40386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Designer's Mind as Logic Synthesis Tool</a:t>
            </a:r>
            <a:endParaRPr lang="en-US" dirty="0"/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2819400"/>
            <a:ext cx="4419601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029200" y="2362200"/>
            <a:ext cx="41148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Computer-Aided Logic Synthesis Process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915400" cy="243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u="sng" dirty="0" smtClean="0"/>
              <a:t>CAD Synthesis Tool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2000" dirty="0" smtClean="0"/>
              <a:t>Computer-aided logic synthesis tools has automated the process of converting the high-level description to logic gates. </a:t>
            </a:r>
          </a:p>
          <a:p>
            <a:pPr>
              <a:buNone/>
            </a:pPr>
            <a:r>
              <a:rPr lang="en-US" sz="2000" dirty="0" smtClean="0"/>
              <a:t>	Designers can now concentrate on the architectural trade-offs</a:t>
            </a:r>
            <a:br>
              <a:rPr lang="en-US" sz="2000" dirty="0" smtClean="0"/>
            </a:br>
            <a:r>
              <a:rPr lang="en-US" sz="2000" dirty="0" smtClean="0"/>
              <a:t>High-level description of the design </a:t>
            </a:r>
          </a:p>
          <a:p>
            <a:pPr>
              <a:buNone/>
            </a:pPr>
            <a:r>
              <a:rPr lang="en-US" sz="2000" dirty="0" smtClean="0"/>
              <a:t>	Accurate design constraints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593675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/>
              <a:t>Impact of synthesis / Limitation of Manual Conversion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8839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Manual conversion was prone to human error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Designer could never be sure that the design constraints were going to be met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Time taken to convert a high-level design into gates.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If the gate-level design did not meet requirements, the turnaround time for redesign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Re-design was needed to verify what-if scenarios.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Each designer would implement design blocks differently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If a bug was found require redesign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Timing, area, and power dissipation in library cells are fabrication-technology specific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Design reuse was not possible </a:t>
            </a:r>
            <a:endParaRPr lang="en-US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88392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Automated logic synthesis tools Impacts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less prone to human error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without significant concern about design constraints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Conversion from high-level design to gates is fast.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Turnaround time for redesign of blocks is shorter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What-if scenarios are easy to verify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optimize the design as a whole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If a bug is found need to change few code of program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technology-independent design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Design reuse is possible </a:t>
            </a:r>
            <a:br>
              <a:rPr lang="en-US" sz="20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"/>
            <a:ext cx="4895921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3802" y="3962400"/>
            <a:ext cx="488779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51524"/>
            <a:ext cx="5410200" cy="3306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059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410200" cy="3666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059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10201" y="2362200"/>
            <a:ext cx="3733799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1"/>
          <p:cNvSpPr>
            <a:spLocks noChangeArrowheads="1"/>
          </p:cNvSpPr>
          <p:nvPr/>
        </p:nvSpPr>
        <p:spPr bwMode="auto">
          <a:xfrm>
            <a:off x="228600" y="762000"/>
            <a:ext cx="75438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Delay of the circuit shown below 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  </a:t>
            </a:r>
          </a:p>
          <a:p>
            <a:pPr marL="514350" marR="0" lvl="0" indent="-5143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8</a:t>
            </a:r>
          </a:p>
          <a:p>
            <a:pPr marL="514350" marR="0" lvl="0" indent="-5143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11</a:t>
            </a:r>
          </a:p>
          <a:p>
            <a:pPr marL="514350" marR="0" lvl="0" indent="-5143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12</a:t>
            </a:r>
          </a:p>
          <a:p>
            <a:pPr marL="514350" marR="0" lvl="0" indent="-5143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UcPeriod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15</a:t>
            </a:r>
            <a:endParaRPr kumimoji="0" lang="en-US" sz="880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cs typeface="Arial" pitchFamily="34" charset="0"/>
            </a:endParaRPr>
          </a:p>
        </p:txBody>
      </p:sp>
      <p:pic>
        <p:nvPicPr>
          <p:cNvPr id="185346" name="Picture 2" descr="https://s3.ap-south-1.amazonaws.com/ct-public-bucket/dmi/image/1392/q-613c28b4d17131eafacd9a17/4be0666d-11a1-cdfb-da81-21c010d7c3f1/46e6eeae-8c60-3d66-ac28-65e81948984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1752600"/>
            <a:ext cx="3438525" cy="1885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2514600"/>
            <a:ext cx="7772400" cy="1600200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Introduction to FPGA &amp; CPLD Devices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8CEEDA1-5FDC-475B-A59C-0FF352398E0A}" type="datetime1">
              <a:rPr lang="en-US"/>
              <a:pPr>
                <a:defRPr/>
              </a:pPr>
              <a:t>11-Oct-24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6C12FE-352B-4BE2-9C73-347329668CFF}" type="slidenum">
              <a:rPr lang="en-US" smtClean="0"/>
              <a:pPr>
                <a:defRPr/>
              </a:pPr>
              <a:t>172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458200" cy="800100"/>
          </a:xfrm>
        </p:spPr>
        <p:txBody>
          <a:bodyPr/>
          <a:lstStyle/>
          <a:p>
            <a:r>
              <a:rPr lang="en-US" altLang="en-US" smtClean="0"/>
              <a:t>Hierarchy of Logic Implementations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808435" y="4600575"/>
            <a:ext cx="2604624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en-US" sz="1400" b="1" u="sng"/>
              <a:t>Acronyms</a:t>
            </a:r>
            <a:endParaRPr lang="en-US" altLang="en-US" sz="1400"/>
          </a:p>
          <a:p>
            <a:r>
              <a:rPr lang="en-US" altLang="en-US" sz="1400"/>
              <a:t>SPLD = Simple Prog. Logic Device </a:t>
            </a:r>
          </a:p>
          <a:p>
            <a:r>
              <a:rPr lang="en-US" altLang="en-US" sz="1400"/>
              <a:t>PAL    = Prog. Array of Logic</a:t>
            </a:r>
          </a:p>
          <a:p>
            <a:r>
              <a:rPr lang="en-US" altLang="en-US" sz="1400"/>
              <a:t>CPLD = Complex PLD</a:t>
            </a:r>
          </a:p>
          <a:p>
            <a:r>
              <a:rPr lang="en-US" altLang="en-US" sz="1400"/>
              <a:t>FPGA = Field Prog. Gate Array</a:t>
            </a:r>
          </a:p>
          <a:p>
            <a:r>
              <a:rPr lang="en-US" altLang="en-US" sz="1400"/>
              <a:t>ASIC  = Application Specific IC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48200" y="4600576"/>
            <a:ext cx="4343400" cy="1914525"/>
          </a:xfrm>
          <a:noFill/>
        </p:spPr>
        <p:txBody>
          <a:bodyPr lIns="90488" tIns="46038" rIns="90488" bIns="46038"/>
          <a:lstStyle/>
          <a:p>
            <a:pPr>
              <a:spcBef>
                <a:spcPct val="0"/>
              </a:spcBef>
              <a:buClr>
                <a:schemeClr val="tx2"/>
              </a:buClr>
              <a:buFont typeface="CommonBullets" pitchFamily="34" charset="2"/>
              <a:buNone/>
            </a:pPr>
            <a:r>
              <a:rPr lang="en-US" altLang="en-US" sz="1400" b="1" u="sng" smtClean="0">
                <a:latin typeface="Arial" pitchFamily="34" charset="0"/>
              </a:rPr>
              <a:t>Common Resources</a:t>
            </a:r>
            <a:endParaRPr lang="en-US" altLang="en-US" sz="1400" u="sng" smtClean="0">
              <a:latin typeface="Arial" pitchFamily="34" charset="0"/>
            </a:endParaRP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 pitchFamily="34" charset="2"/>
              <a:buNone/>
            </a:pPr>
            <a:r>
              <a:rPr lang="en-US" altLang="en-US" sz="1400" smtClean="0">
                <a:latin typeface="Arial" pitchFamily="34" charset="0"/>
              </a:rPr>
              <a:t>Configurable Logic Blocks (CLB)</a:t>
            </a:r>
          </a:p>
          <a:p>
            <a:pPr lvl="1">
              <a:spcBef>
                <a:spcPct val="0"/>
              </a:spcBef>
            </a:pPr>
            <a:r>
              <a:rPr lang="en-US" altLang="en-US" sz="1200" smtClean="0">
                <a:latin typeface="Arial" pitchFamily="34" charset="0"/>
              </a:rPr>
              <a:t>Memory Look-Up Table (LUT)</a:t>
            </a:r>
          </a:p>
          <a:p>
            <a:pPr lvl="1">
              <a:spcBef>
                <a:spcPct val="0"/>
              </a:spcBef>
            </a:pPr>
            <a:r>
              <a:rPr lang="en-US" altLang="en-US" sz="1200" smtClean="0">
                <a:latin typeface="Arial" pitchFamily="34" charset="0"/>
              </a:rPr>
              <a:t>AND-OR planes</a:t>
            </a:r>
          </a:p>
          <a:p>
            <a:pPr lvl="1">
              <a:spcBef>
                <a:spcPct val="0"/>
              </a:spcBef>
            </a:pPr>
            <a:r>
              <a:rPr lang="en-US" altLang="en-US" sz="1200" smtClean="0">
                <a:latin typeface="Arial" pitchFamily="34" charset="0"/>
              </a:rPr>
              <a:t>Simple gates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 pitchFamily="34" charset="2"/>
              <a:buNone/>
            </a:pPr>
            <a:r>
              <a:rPr lang="en-US" altLang="en-US" sz="1400" smtClean="0">
                <a:latin typeface="Arial" pitchFamily="34" charset="0"/>
              </a:rPr>
              <a:t>Input / Output Blocks (IOB)</a:t>
            </a:r>
          </a:p>
          <a:p>
            <a:pPr lvl="1">
              <a:spcBef>
                <a:spcPct val="0"/>
              </a:spcBef>
            </a:pPr>
            <a:r>
              <a:rPr lang="en-US" altLang="en-US" sz="1200" smtClean="0">
                <a:latin typeface="Arial" pitchFamily="34" charset="0"/>
              </a:rPr>
              <a:t>Bidirectional, latches, inverters, pullup/pulldowns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 pitchFamily="34" charset="2"/>
              <a:buNone/>
            </a:pPr>
            <a:r>
              <a:rPr lang="en-US" altLang="en-US" sz="1400" smtClean="0">
                <a:latin typeface="Arial" pitchFamily="34" charset="0"/>
              </a:rPr>
              <a:t>Interconnect or Routing</a:t>
            </a:r>
          </a:p>
          <a:p>
            <a:pPr lvl="1">
              <a:spcBef>
                <a:spcPct val="0"/>
              </a:spcBef>
            </a:pPr>
            <a:r>
              <a:rPr lang="en-US" altLang="en-US" sz="1200" smtClean="0">
                <a:latin typeface="Arial" pitchFamily="34" charset="0"/>
              </a:rPr>
              <a:t>Local, internal feedback, and global</a:t>
            </a: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189435" y="1665289"/>
            <a:ext cx="6231731" cy="2663825"/>
            <a:chOff x="810" y="1033"/>
            <a:chExt cx="3925" cy="1678"/>
          </a:xfrm>
        </p:grpSpPr>
        <p:sp>
          <p:nvSpPr>
            <p:cNvPr id="7179" name="Line 6"/>
            <p:cNvSpPr>
              <a:spLocks noChangeShapeType="1"/>
            </p:cNvSpPr>
            <p:nvPr/>
          </p:nvSpPr>
          <p:spPr bwMode="auto">
            <a:xfrm>
              <a:off x="1084" y="1364"/>
              <a:ext cx="6" cy="1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7"/>
            <p:cNvGrpSpPr>
              <a:grpSpLocks/>
            </p:cNvGrpSpPr>
            <p:nvPr/>
          </p:nvGrpSpPr>
          <p:grpSpPr bwMode="auto">
            <a:xfrm>
              <a:off x="2052" y="1033"/>
              <a:ext cx="523" cy="282"/>
              <a:chOff x="2190" y="800"/>
              <a:chExt cx="453" cy="244"/>
            </a:xfrm>
          </p:grpSpPr>
          <p:sp>
            <p:nvSpPr>
              <p:cNvPr id="3" name="Rectangle 8"/>
              <p:cNvSpPr>
                <a:spLocks noChangeArrowheads="1"/>
              </p:cNvSpPr>
              <p:nvPr/>
            </p:nvSpPr>
            <p:spPr bwMode="auto">
              <a:xfrm>
                <a:off x="2190" y="800"/>
                <a:ext cx="453" cy="244"/>
              </a:xfrm>
              <a:prstGeom prst="rect">
                <a:avLst/>
              </a:prstGeom>
              <a:solidFill>
                <a:srgbClr val="9933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 altLang="en-US"/>
              </a:p>
            </p:txBody>
          </p:sp>
          <p:sp>
            <p:nvSpPr>
              <p:cNvPr id="7208" name="Rectangle 9"/>
              <p:cNvSpPr>
                <a:spLocks noChangeArrowheads="1"/>
              </p:cNvSpPr>
              <p:nvPr/>
            </p:nvSpPr>
            <p:spPr bwMode="auto">
              <a:xfrm>
                <a:off x="2276" y="862"/>
                <a:ext cx="263" cy="134"/>
              </a:xfrm>
              <a:prstGeom prst="rect">
                <a:avLst/>
              </a:prstGeom>
              <a:solidFill>
                <a:srgbClr val="993366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77788" tIns="39688" rIns="77788" bIns="39688">
                <a:spAutoFit/>
              </a:bodyPr>
              <a:lstStyle/>
              <a:p>
                <a:pPr defTabSz="661988"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</a:rPr>
                  <a:t>Logic</a:t>
                </a:r>
                <a:endParaRPr lang="en-US" altLang="en-US" sz="9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10"/>
            <p:cNvGrpSpPr>
              <a:grpSpLocks/>
            </p:cNvGrpSpPr>
            <p:nvPr/>
          </p:nvGrpSpPr>
          <p:grpSpPr bwMode="auto">
            <a:xfrm>
              <a:off x="810" y="1427"/>
              <a:ext cx="549" cy="283"/>
              <a:chOff x="1505" y="1151"/>
              <a:chExt cx="476" cy="246"/>
            </a:xfrm>
          </p:grpSpPr>
          <p:sp>
            <p:nvSpPr>
              <p:cNvPr id="7205" name="Rectangle 11"/>
              <p:cNvSpPr>
                <a:spLocks noChangeArrowheads="1"/>
              </p:cNvSpPr>
              <p:nvPr/>
            </p:nvSpPr>
            <p:spPr bwMode="auto">
              <a:xfrm>
                <a:off x="1505" y="1151"/>
                <a:ext cx="476" cy="246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 altLang="en-US"/>
              </a:p>
            </p:txBody>
          </p:sp>
          <p:sp>
            <p:nvSpPr>
              <p:cNvPr id="7206" name="Rectangle 12"/>
              <p:cNvSpPr>
                <a:spLocks noChangeArrowheads="1"/>
              </p:cNvSpPr>
              <p:nvPr/>
            </p:nvSpPr>
            <p:spPr bwMode="auto">
              <a:xfrm>
                <a:off x="1530" y="1171"/>
                <a:ext cx="349" cy="196"/>
              </a:xfrm>
              <a:prstGeom prst="rect">
                <a:avLst/>
              </a:prstGeom>
              <a:solidFill>
                <a:srgbClr val="CF0E30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lIns="77788" tIns="39688" rIns="77788" bIns="39688">
                <a:spAutoFit/>
              </a:bodyPr>
              <a:lstStyle/>
              <a:p>
                <a:pPr defTabSz="661988">
                  <a:lnSpc>
                    <a:spcPct val="90000"/>
                  </a:lnSpc>
                </a:pPr>
                <a:r>
                  <a:rPr lang="en-US" altLang="en-US" sz="2000" b="1">
                    <a:solidFill>
                      <a:schemeClr val="bg1"/>
                    </a:solidFill>
                  </a:rPr>
                  <a:t>ASIC</a:t>
                </a:r>
              </a:p>
            </p:txBody>
          </p:sp>
        </p:grpSp>
        <p:grpSp>
          <p:nvGrpSpPr>
            <p:cNvPr id="8" name="Group 13"/>
            <p:cNvGrpSpPr>
              <a:grpSpLocks/>
            </p:cNvGrpSpPr>
            <p:nvPr/>
          </p:nvGrpSpPr>
          <p:grpSpPr bwMode="auto">
            <a:xfrm>
              <a:off x="3217" y="1418"/>
              <a:ext cx="862" cy="302"/>
              <a:chOff x="2743" y="1143"/>
              <a:chExt cx="745" cy="262"/>
            </a:xfrm>
          </p:grpSpPr>
          <p:sp>
            <p:nvSpPr>
              <p:cNvPr id="7203" name="Rectangle 14"/>
              <p:cNvSpPr>
                <a:spLocks noChangeArrowheads="1"/>
              </p:cNvSpPr>
              <p:nvPr/>
            </p:nvSpPr>
            <p:spPr bwMode="auto">
              <a:xfrm>
                <a:off x="2776" y="1143"/>
                <a:ext cx="573" cy="262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 altLang="en-US"/>
              </a:p>
            </p:txBody>
          </p:sp>
          <p:sp>
            <p:nvSpPr>
              <p:cNvPr id="7207" name="Rectangle 15"/>
              <p:cNvSpPr>
                <a:spLocks noChangeArrowheads="1"/>
              </p:cNvSpPr>
              <p:nvPr/>
            </p:nvSpPr>
            <p:spPr bwMode="auto">
              <a:xfrm>
                <a:off x="2743" y="1230"/>
                <a:ext cx="745" cy="123"/>
              </a:xfrm>
              <a:prstGeom prst="rect">
                <a:avLst/>
              </a:prstGeom>
              <a:solidFill>
                <a:srgbClr val="CF0E3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lvl1pPr defTabSz="661988" eaLnBrk="0" hangingPunct="0">
                  <a:lnSpc>
                    <a:spcPct val="90000"/>
                  </a:lnSpc>
                  <a:spcBef>
                    <a:spcPts val="1000"/>
                  </a:spcBef>
                  <a:buFont typeface="Arial" pitchFamily="34" charset="0"/>
                  <a:buChar char="•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defTabSz="661988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defTabSz="661988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defTabSz="661988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defTabSz="661988" eaLnBrk="0" hangingPunct="0">
                  <a:lnSpc>
                    <a:spcPct val="90000"/>
                  </a:lnSpc>
                  <a:spcBef>
                    <a:spcPts val="500"/>
                  </a:spcBef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defTabSz="661988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defTabSz="661988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defTabSz="661988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defTabSz="661988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050" b="1" dirty="0" smtClean="0">
                    <a:solidFill>
                      <a:schemeClr val="bg1"/>
                    </a:solidFill>
                    <a:latin typeface="Arial" pitchFamily="34" charset="0"/>
                  </a:rPr>
                  <a:t>STANDERD LOGIC</a:t>
                </a:r>
              </a:p>
            </p:txBody>
          </p:sp>
        </p:grpSp>
        <p:sp>
          <p:nvSpPr>
            <p:cNvPr id="7183" name="Rectangle 16"/>
            <p:cNvSpPr>
              <a:spLocks noChangeArrowheads="1"/>
            </p:cNvSpPr>
            <p:nvPr/>
          </p:nvSpPr>
          <p:spPr bwMode="auto">
            <a:xfrm>
              <a:off x="3144" y="1838"/>
              <a:ext cx="676" cy="309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 altLang="en-US"/>
            </a:p>
          </p:txBody>
        </p:sp>
        <p:sp>
          <p:nvSpPr>
            <p:cNvPr id="7184" name="Rectangle 17"/>
            <p:cNvSpPr>
              <a:spLocks noChangeArrowheads="1"/>
            </p:cNvSpPr>
            <p:nvPr/>
          </p:nvSpPr>
          <p:spPr bwMode="auto">
            <a:xfrm>
              <a:off x="1938" y="1802"/>
              <a:ext cx="729" cy="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7788" tIns="39688" rIns="77788" bIns="39688">
              <a:spAutoFit/>
            </a:bodyPr>
            <a:lstStyle/>
            <a:p>
              <a:pPr defTabSz="661988">
                <a:lnSpc>
                  <a:spcPct val="90000"/>
                </a:lnSpc>
              </a:pPr>
              <a:r>
                <a:rPr lang="en-US" altLang="en-US" sz="1000" b="1">
                  <a:solidFill>
                    <a:schemeClr val="bg1"/>
                  </a:solidFill>
                </a:rPr>
                <a:t>Programmable</a:t>
              </a:r>
            </a:p>
            <a:p>
              <a:pPr defTabSz="661988">
                <a:lnSpc>
                  <a:spcPct val="90000"/>
                </a:lnSpc>
              </a:pPr>
              <a:r>
                <a:rPr lang="en-US" altLang="en-US" sz="1000" b="1">
                  <a:solidFill>
                    <a:schemeClr val="bg1"/>
                  </a:solidFill>
                </a:rPr>
                <a:t>Logic Devices</a:t>
              </a:r>
            </a:p>
            <a:p>
              <a:pPr defTabSz="661988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</a:rPr>
                <a:t>(FPLDs)</a:t>
              </a:r>
              <a:endParaRPr lang="en-US" altLang="en-US" sz="900" b="1">
                <a:solidFill>
                  <a:schemeClr val="bg1"/>
                </a:solidFill>
              </a:endParaRPr>
            </a:p>
          </p:txBody>
        </p:sp>
        <p:sp>
          <p:nvSpPr>
            <p:cNvPr id="7185" name="Rectangle 19"/>
            <p:cNvSpPr>
              <a:spLocks noChangeArrowheads="1"/>
            </p:cNvSpPr>
            <p:nvPr/>
          </p:nvSpPr>
          <p:spPr bwMode="auto">
            <a:xfrm>
              <a:off x="3292" y="1868"/>
              <a:ext cx="413" cy="25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7788" tIns="39688" rIns="77788" bIns="39688">
              <a:spAutoFit/>
            </a:bodyPr>
            <a:lstStyle/>
            <a:p>
              <a:pPr defTabSz="661988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</a:rPr>
                <a:t>Gate</a:t>
              </a:r>
            </a:p>
            <a:p>
              <a:pPr defTabSz="661988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</a:rPr>
                <a:t>Arrays</a:t>
              </a:r>
            </a:p>
          </p:txBody>
        </p:sp>
        <p:sp>
          <p:nvSpPr>
            <p:cNvPr id="7186" name="Rectangle 24"/>
            <p:cNvSpPr>
              <a:spLocks noChangeArrowheads="1"/>
            </p:cNvSpPr>
            <p:nvPr/>
          </p:nvSpPr>
          <p:spPr bwMode="auto">
            <a:xfrm>
              <a:off x="2606" y="2394"/>
              <a:ext cx="592" cy="3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 altLang="en-US"/>
            </a:p>
          </p:txBody>
        </p:sp>
        <p:sp>
          <p:nvSpPr>
            <p:cNvPr id="7187" name="Rectangle 25"/>
            <p:cNvSpPr>
              <a:spLocks noChangeArrowheads="1"/>
            </p:cNvSpPr>
            <p:nvPr/>
          </p:nvSpPr>
          <p:spPr bwMode="auto">
            <a:xfrm>
              <a:off x="2731" y="2456"/>
              <a:ext cx="343" cy="15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7788" tIns="39688" rIns="77788" bIns="39688">
              <a:spAutoFit/>
            </a:bodyPr>
            <a:lstStyle/>
            <a:p>
              <a:pPr defTabSz="661988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</a:rPr>
                <a:t>CPLDs</a:t>
              </a:r>
              <a:endParaRPr lang="en-US" altLang="en-US" sz="900" b="1">
                <a:solidFill>
                  <a:srgbClr val="414141"/>
                </a:solidFill>
              </a:endParaRPr>
            </a:p>
          </p:txBody>
        </p:sp>
        <p:sp>
          <p:nvSpPr>
            <p:cNvPr id="7188" name="Rectangle 26"/>
            <p:cNvSpPr>
              <a:spLocks noChangeArrowheads="1"/>
            </p:cNvSpPr>
            <p:nvPr/>
          </p:nvSpPr>
          <p:spPr bwMode="auto">
            <a:xfrm>
              <a:off x="1674" y="2391"/>
              <a:ext cx="580" cy="3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 altLang="en-US"/>
            </a:p>
          </p:txBody>
        </p:sp>
        <p:sp>
          <p:nvSpPr>
            <p:cNvPr id="7189" name="Rectangle 27"/>
            <p:cNvSpPr>
              <a:spLocks noChangeArrowheads="1"/>
            </p:cNvSpPr>
            <p:nvPr/>
          </p:nvSpPr>
          <p:spPr bwMode="auto">
            <a:xfrm>
              <a:off x="1734" y="2419"/>
              <a:ext cx="539" cy="2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7788" tIns="39688" rIns="77788" bIns="39688">
              <a:spAutoFit/>
            </a:bodyPr>
            <a:lstStyle/>
            <a:p>
              <a:pPr defTabSz="661988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</a:rPr>
                <a:t>SPLDs</a:t>
              </a:r>
            </a:p>
            <a:p>
              <a:pPr defTabSz="661988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</a:rPr>
                <a:t>(e.g., PALs)</a:t>
              </a:r>
              <a:endParaRPr lang="en-US" altLang="en-US" sz="900" b="1">
                <a:solidFill>
                  <a:srgbClr val="414141"/>
                </a:solidFill>
              </a:endParaRPr>
            </a:p>
          </p:txBody>
        </p:sp>
        <p:sp>
          <p:nvSpPr>
            <p:cNvPr id="7190" name="Rectangle 28"/>
            <p:cNvSpPr>
              <a:spLocks noChangeArrowheads="1"/>
            </p:cNvSpPr>
            <p:nvPr/>
          </p:nvSpPr>
          <p:spPr bwMode="auto">
            <a:xfrm>
              <a:off x="3383" y="2400"/>
              <a:ext cx="632" cy="3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 altLang="en-US"/>
            </a:p>
          </p:txBody>
        </p:sp>
        <p:sp>
          <p:nvSpPr>
            <p:cNvPr id="7191" name="Rectangle 29"/>
            <p:cNvSpPr>
              <a:spLocks noChangeArrowheads="1"/>
            </p:cNvSpPr>
            <p:nvPr/>
          </p:nvSpPr>
          <p:spPr bwMode="auto">
            <a:xfrm>
              <a:off x="3510" y="2477"/>
              <a:ext cx="435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7788" tIns="39688" rIns="77788" bIns="39688">
              <a:spAutoFit/>
            </a:bodyPr>
            <a:lstStyle/>
            <a:p>
              <a:pPr defTabSz="661988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</a:rPr>
                <a:t>FPGAs</a:t>
              </a:r>
              <a:endParaRPr lang="en-US" altLang="en-US" sz="900" b="1">
                <a:solidFill>
                  <a:srgbClr val="414141"/>
                </a:solidFill>
              </a:endParaRPr>
            </a:p>
          </p:txBody>
        </p:sp>
        <p:sp>
          <p:nvSpPr>
            <p:cNvPr id="7192" name="Line 30"/>
            <p:cNvSpPr>
              <a:spLocks noChangeShapeType="1"/>
            </p:cNvSpPr>
            <p:nvPr/>
          </p:nvSpPr>
          <p:spPr bwMode="auto">
            <a:xfrm>
              <a:off x="2302" y="1317"/>
              <a:ext cx="0" cy="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3" name="Line 31"/>
            <p:cNvSpPr>
              <a:spLocks noChangeShapeType="1"/>
            </p:cNvSpPr>
            <p:nvPr/>
          </p:nvSpPr>
          <p:spPr bwMode="auto">
            <a:xfrm>
              <a:off x="3520" y="1371"/>
              <a:ext cx="0" cy="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Line 32"/>
            <p:cNvSpPr>
              <a:spLocks noChangeShapeType="1"/>
            </p:cNvSpPr>
            <p:nvPr/>
          </p:nvSpPr>
          <p:spPr bwMode="auto">
            <a:xfrm>
              <a:off x="3515" y="1729"/>
              <a:ext cx="0" cy="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Line 34"/>
            <p:cNvSpPr>
              <a:spLocks noChangeShapeType="1"/>
            </p:cNvSpPr>
            <p:nvPr/>
          </p:nvSpPr>
          <p:spPr bwMode="auto">
            <a:xfrm>
              <a:off x="3132" y="1764"/>
              <a:ext cx="0" cy="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36"/>
            <p:cNvSpPr>
              <a:spLocks noChangeShapeType="1"/>
            </p:cNvSpPr>
            <p:nvPr/>
          </p:nvSpPr>
          <p:spPr bwMode="auto">
            <a:xfrm>
              <a:off x="3919" y="1767"/>
              <a:ext cx="0" cy="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37"/>
            <p:cNvSpPr>
              <a:spLocks noChangeShapeType="1"/>
            </p:cNvSpPr>
            <p:nvPr/>
          </p:nvSpPr>
          <p:spPr bwMode="auto">
            <a:xfrm>
              <a:off x="4735" y="1771"/>
              <a:ext cx="0" cy="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8" name="Line 38"/>
            <p:cNvSpPr>
              <a:spLocks noChangeShapeType="1"/>
            </p:cNvSpPr>
            <p:nvPr/>
          </p:nvSpPr>
          <p:spPr bwMode="auto">
            <a:xfrm>
              <a:off x="3414" y="2116"/>
              <a:ext cx="0" cy="1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39"/>
            <p:cNvSpPr>
              <a:spLocks noChangeShapeType="1"/>
            </p:cNvSpPr>
            <p:nvPr/>
          </p:nvSpPr>
          <p:spPr bwMode="auto">
            <a:xfrm>
              <a:off x="1792" y="2289"/>
              <a:ext cx="20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Line 40"/>
            <p:cNvSpPr>
              <a:spLocks noChangeShapeType="1"/>
            </p:cNvSpPr>
            <p:nvPr/>
          </p:nvSpPr>
          <p:spPr bwMode="auto">
            <a:xfrm>
              <a:off x="1986" y="2294"/>
              <a:ext cx="0" cy="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" name="Line 41"/>
            <p:cNvSpPr>
              <a:spLocks noChangeShapeType="1"/>
            </p:cNvSpPr>
            <p:nvPr/>
          </p:nvSpPr>
          <p:spPr bwMode="auto">
            <a:xfrm>
              <a:off x="3817" y="2294"/>
              <a:ext cx="0" cy="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2" name="Line 42"/>
            <p:cNvSpPr>
              <a:spLocks noChangeShapeType="1"/>
            </p:cNvSpPr>
            <p:nvPr/>
          </p:nvSpPr>
          <p:spPr bwMode="auto">
            <a:xfrm flipH="1">
              <a:off x="1086" y="1368"/>
              <a:ext cx="24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4" name="Oval 44"/>
          <p:cNvSpPr>
            <a:spLocks noChangeArrowheads="1"/>
          </p:cNvSpPr>
          <p:nvPr/>
        </p:nvSpPr>
        <p:spPr bwMode="auto">
          <a:xfrm>
            <a:off x="3821906" y="3557589"/>
            <a:ext cx="1295400" cy="981075"/>
          </a:xfrm>
          <a:prstGeom prst="ellips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altLang="en-US"/>
          </a:p>
        </p:txBody>
      </p:sp>
      <p:sp>
        <p:nvSpPr>
          <p:cNvPr id="7175" name="Rectangle 11"/>
          <p:cNvSpPr>
            <a:spLocks noChangeArrowheads="1"/>
          </p:cNvSpPr>
          <p:nvPr/>
        </p:nvSpPr>
        <p:spPr bwMode="auto">
          <a:xfrm>
            <a:off x="1322785" y="2936876"/>
            <a:ext cx="871538" cy="449263"/>
          </a:xfrm>
          <a:prstGeom prst="rect">
            <a:avLst/>
          </a:prstGeom>
          <a:solidFill>
            <a:srgbClr val="CF0E3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310878" y="2984501"/>
            <a:ext cx="957263" cy="4154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chemeClr val="bg1"/>
                </a:solidFill>
              </a:rPr>
              <a:t>FULL CUSTOM</a:t>
            </a:r>
          </a:p>
        </p:txBody>
      </p:sp>
      <p:cxnSp>
        <p:nvCxnSpPr>
          <p:cNvPr id="4" name="Straight Connector 3"/>
          <p:cNvCxnSpPr>
            <a:stCxn id="7183" idx="0"/>
          </p:cNvCxnSpPr>
          <p:nvPr/>
        </p:nvCxnSpPr>
        <p:spPr>
          <a:xfrm flipV="1">
            <a:off x="5431631" y="2938463"/>
            <a:ext cx="52388" cy="4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Line 40"/>
          <p:cNvSpPr>
            <a:spLocks noChangeShapeType="1"/>
          </p:cNvSpPr>
          <p:nvPr/>
        </p:nvSpPr>
        <p:spPr bwMode="auto">
          <a:xfrm>
            <a:off x="5479256" y="2789238"/>
            <a:ext cx="0" cy="157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1026"/>
          <p:cNvSpPr>
            <a:spLocks noChangeArrowheads="1"/>
          </p:cNvSpPr>
          <p:nvPr/>
        </p:nvSpPr>
        <p:spPr bwMode="auto">
          <a:xfrm>
            <a:off x="4876800" y="1143000"/>
            <a:ext cx="3962400" cy="16002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altLang="en-US"/>
          </a:p>
        </p:txBody>
      </p:sp>
      <p:sp>
        <p:nvSpPr>
          <p:cNvPr id="8195" name="AutoShape 1027"/>
          <p:cNvSpPr>
            <a:spLocks noChangeArrowheads="1"/>
          </p:cNvSpPr>
          <p:nvPr/>
        </p:nvSpPr>
        <p:spPr bwMode="auto">
          <a:xfrm>
            <a:off x="304800" y="1143000"/>
            <a:ext cx="3962400" cy="16002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altLang="en-US"/>
          </a:p>
        </p:txBody>
      </p:sp>
      <p:sp>
        <p:nvSpPr>
          <p:cNvPr id="8196" name="Text Box 1028"/>
          <p:cNvSpPr txBox="1">
            <a:spLocks noChangeArrowheads="1"/>
          </p:cNvSpPr>
          <p:nvPr/>
        </p:nvSpPr>
        <p:spPr bwMode="auto">
          <a:xfrm>
            <a:off x="42862" y="2895600"/>
            <a:ext cx="430053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000" dirty="0"/>
              <a:t> designs must be </a:t>
            </a:r>
            <a:r>
              <a:rPr lang="en-US" altLang="en-US" sz="2000" dirty="0" smtClean="0"/>
              <a:t>sent  </a:t>
            </a:r>
            <a:r>
              <a:rPr lang="en-US" altLang="en-US" sz="2000" dirty="0"/>
              <a:t>for expensive and </a:t>
            </a:r>
            <a:r>
              <a:rPr lang="en-US" altLang="en-US" sz="2000" dirty="0" smtClean="0"/>
              <a:t>time  </a:t>
            </a:r>
            <a:r>
              <a:rPr lang="en-US" altLang="en-US" sz="2000" dirty="0"/>
              <a:t>consuming </a:t>
            </a:r>
            <a:r>
              <a:rPr lang="en-US" altLang="en-US" sz="2000" dirty="0">
                <a:solidFill>
                  <a:srgbClr val="990033"/>
                </a:solidFill>
              </a:rPr>
              <a:t>fabrication</a:t>
            </a:r>
            <a:endParaRPr lang="en-US" altLang="en-US" sz="2000" dirty="0"/>
          </a:p>
          <a:p>
            <a:r>
              <a:rPr lang="en-US" altLang="en-US" sz="2000" dirty="0"/>
              <a:t>  in semiconductor foundry</a:t>
            </a:r>
          </a:p>
        </p:txBody>
      </p:sp>
      <p:sp>
        <p:nvSpPr>
          <p:cNvPr id="8197" name="Text Box 1029"/>
          <p:cNvSpPr txBox="1">
            <a:spLocks noChangeArrowheads="1"/>
          </p:cNvSpPr>
          <p:nvPr/>
        </p:nvSpPr>
        <p:spPr bwMode="auto">
          <a:xfrm>
            <a:off x="4633912" y="2887662"/>
            <a:ext cx="43576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000" dirty="0"/>
              <a:t> bought </a:t>
            </a:r>
            <a:r>
              <a:rPr lang="en-US" altLang="en-US" sz="2000" dirty="0">
                <a:solidFill>
                  <a:srgbClr val="990033"/>
                </a:solidFill>
              </a:rPr>
              <a:t>off the shelf (ready to use)</a:t>
            </a:r>
            <a:endParaRPr lang="en-US" altLang="en-US" sz="2000" dirty="0"/>
          </a:p>
          <a:p>
            <a:r>
              <a:rPr lang="en-US" altLang="en-US" sz="2000" dirty="0"/>
              <a:t>  and reconfigured </a:t>
            </a:r>
            <a:r>
              <a:rPr lang="en-US" altLang="en-US" sz="2000" dirty="0" smtClean="0"/>
              <a:t>by  </a:t>
            </a:r>
            <a:r>
              <a:rPr lang="en-US" altLang="en-US" sz="2000" dirty="0"/>
              <a:t>designers themselves</a:t>
            </a:r>
          </a:p>
        </p:txBody>
      </p:sp>
      <p:sp>
        <p:nvSpPr>
          <p:cNvPr id="8198" name="Text Box 1030"/>
          <p:cNvSpPr txBox="1">
            <a:spLocks noChangeArrowheads="1"/>
          </p:cNvSpPr>
          <p:nvPr/>
        </p:nvSpPr>
        <p:spPr bwMode="auto">
          <a:xfrm>
            <a:off x="123826" y="103188"/>
            <a:ext cx="8433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3600">
                <a:solidFill>
                  <a:srgbClr val="003399"/>
                </a:solidFill>
              </a:rPr>
              <a:t>Two competing implementation approaches</a:t>
            </a:r>
          </a:p>
        </p:txBody>
      </p:sp>
      <p:sp>
        <p:nvSpPr>
          <p:cNvPr id="8199" name="Text Box 1031"/>
          <p:cNvSpPr txBox="1">
            <a:spLocks noChangeArrowheads="1"/>
          </p:cNvSpPr>
          <p:nvPr/>
        </p:nvSpPr>
        <p:spPr bwMode="auto">
          <a:xfrm>
            <a:off x="457200" y="1143000"/>
            <a:ext cx="345081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990033"/>
                </a:solidFill>
              </a:rPr>
              <a:t>ASIC</a:t>
            </a:r>
            <a:endParaRPr lang="en-US" altLang="en-US" sz="3200" dirty="0"/>
          </a:p>
          <a:p>
            <a:pPr algn="ctr"/>
            <a:r>
              <a:rPr lang="en-US" altLang="en-US" sz="3200" b="1" dirty="0">
                <a:solidFill>
                  <a:srgbClr val="990033"/>
                </a:solidFill>
              </a:rPr>
              <a:t>A</a:t>
            </a:r>
            <a:r>
              <a:rPr lang="en-US" altLang="en-US" sz="3200" dirty="0">
                <a:solidFill>
                  <a:srgbClr val="000066"/>
                </a:solidFill>
              </a:rPr>
              <a:t>pplication</a:t>
            </a:r>
            <a:r>
              <a:rPr lang="en-US" altLang="en-US" sz="3200" dirty="0"/>
              <a:t> </a:t>
            </a:r>
            <a:r>
              <a:rPr lang="en-US" altLang="en-US" sz="3200" b="1" dirty="0">
                <a:solidFill>
                  <a:srgbClr val="990033"/>
                </a:solidFill>
              </a:rPr>
              <a:t>S</a:t>
            </a:r>
            <a:r>
              <a:rPr lang="en-US" altLang="en-US" sz="3200" dirty="0">
                <a:solidFill>
                  <a:srgbClr val="000066"/>
                </a:solidFill>
              </a:rPr>
              <a:t>pecific</a:t>
            </a:r>
            <a:endParaRPr lang="en-US" altLang="en-US" sz="3200" dirty="0"/>
          </a:p>
          <a:p>
            <a:pPr algn="ctr"/>
            <a:r>
              <a:rPr lang="en-US" altLang="en-US" sz="3200" b="1" dirty="0">
                <a:solidFill>
                  <a:srgbClr val="990033"/>
                </a:solidFill>
              </a:rPr>
              <a:t>I</a:t>
            </a:r>
            <a:r>
              <a:rPr lang="en-US" altLang="en-US" sz="3200" dirty="0">
                <a:solidFill>
                  <a:srgbClr val="000066"/>
                </a:solidFill>
              </a:rPr>
              <a:t>ntegrated</a:t>
            </a:r>
            <a:r>
              <a:rPr lang="en-US" altLang="en-US" sz="3200" dirty="0"/>
              <a:t> </a:t>
            </a:r>
            <a:r>
              <a:rPr lang="en-US" altLang="en-US" sz="3200" b="1" dirty="0">
                <a:solidFill>
                  <a:srgbClr val="990033"/>
                </a:solidFill>
              </a:rPr>
              <a:t>C</a:t>
            </a:r>
            <a:r>
              <a:rPr lang="en-US" altLang="en-US" sz="3200" dirty="0">
                <a:solidFill>
                  <a:srgbClr val="000066"/>
                </a:solidFill>
              </a:rPr>
              <a:t>ircuit</a:t>
            </a:r>
            <a:endParaRPr lang="en-US" altLang="en-US" sz="3200" dirty="0"/>
          </a:p>
        </p:txBody>
      </p:sp>
      <p:sp>
        <p:nvSpPr>
          <p:cNvPr id="8200" name="Text Box 1032"/>
          <p:cNvSpPr txBox="1">
            <a:spLocks noChangeArrowheads="1"/>
          </p:cNvSpPr>
          <p:nvPr/>
        </p:nvSpPr>
        <p:spPr bwMode="auto">
          <a:xfrm>
            <a:off x="4956572" y="1082675"/>
            <a:ext cx="354077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3200" b="1">
                <a:solidFill>
                  <a:srgbClr val="990033"/>
                </a:solidFill>
              </a:rPr>
              <a:t>FPGA</a:t>
            </a:r>
            <a:endParaRPr lang="en-US" altLang="en-US" sz="3200"/>
          </a:p>
          <a:p>
            <a:pPr algn="ctr"/>
            <a:r>
              <a:rPr lang="en-US" altLang="en-US" sz="3200" b="1">
                <a:solidFill>
                  <a:srgbClr val="990033"/>
                </a:solidFill>
              </a:rPr>
              <a:t>F</a:t>
            </a:r>
            <a:r>
              <a:rPr lang="en-US" altLang="en-US" sz="3200">
                <a:solidFill>
                  <a:srgbClr val="000066"/>
                </a:solidFill>
              </a:rPr>
              <a:t>ield</a:t>
            </a:r>
            <a:r>
              <a:rPr lang="en-US" altLang="en-US" sz="3200" b="1"/>
              <a:t> </a:t>
            </a:r>
            <a:r>
              <a:rPr lang="en-US" altLang="en-US" sz="3200" b="1">
                <a:solidFill>
                  <a:srgbClr val="990033"/>
                </a:solidFill>
              </a:rPr>
              <a:t>P</a:t>
            </a:r>
            <a:r>
              <a:rPr lang="en-US" altLang="en-US" sz="3200">
                <a:solidFill>
                  <a:srgbClr val="000066"/>
                </a:solidFill>
              </a:rPr>
              <a:t>rogrammable</a:t>
            </a:r>
            <a:endParaRPr lang="en-US" altLang="en-US" sz="3200" b="1"/>
          </a:p>
          <a:p>
            <a:pPr algn="ctr"/>
            <a:r>
              <a:rPr lang="en-US" altLang="en-US" sz="3200" b="1">
                <a:solidFill>
                  <a:srgbClr val="990033"/>
                </a:solidFill>
              </a:rPr>
              <a:t>G</a:t>
            </a:r>
            <a:r>
              <a:rPr lang="en-US" altLang="en-US" sz="3200">
                <a:solidFill>
                  <a:srgbClr val="000066"/>
                </a:solidFill>
              </a:rPr>
              <a:t>ate</a:t>
            </a:r>
            <a:r>
              <a:rPr lang="en-US" altLang="en-US" sz="3200" b="1"/>
              <a:t> </a:t>
            </a:r>
            <a:r>
              <a:rPr lang="en-US" altLang="en-US" sz="3200" b="1">
                <a:solidFill>
                  <a:srgbClr val="990033"/>
                </a:solidFill>
              </a:rPr>
              <a:t>A</a:t>
            </a:r>
            <a:r>
              <a:rPr lang="en-US" altLang="en-US" sz="3200">
                <a:solidFill>
                  <a:srgbClr val="000066"/>
                </a:solidFill>
              </a:rPr>
              <a:t>rray</a:t>
            </a:r>
            <a:endParaRPr lang="en-US" altLang="en-US" sz="3200"/>
          </a:p>
        </p:txBody>
      </p:sp>
      <p:sp>
        <p:nvSpPr>
          <p:cNvPr id="8201" name="Line 1033"/>
          <p:cNvSpPr>
            <a:spLocks noChangeShapeType="1"/>
          </p:cNvSpPr>
          <p:nvPr/>
        </p:nvSpPr>
        <p:spPr bwMode="auto">
          <a:xfrm>
            <a:off x="4585097" y="1458914"/>
            <a:ext cx="0" cy="5399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2" name="Text Box 1034"/>
          <p:cNvSpPr txBox="1">
            <a:spLocks noChangeArrowheads="1"/>
          </p:cNvSpPr>
          <p:nvPr/>
        </p:nvSpPr>
        <p:spPr bwMode="auto">
          <a:xfrm>
            <a:off x="0" y="4114800"/>
            <a:ext cx="44958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000" dirty="0"/>
              <a:t> designed all the </a:t>
            </a:r>
            <a:r>
              <a:rPr lang="en-US" altLang="en-US" sz="2000" dirty="0" smtClean="0"/>
              <a:t>way  </a:t>
            </a:r>
            <a:r>
              <a:rPr lang="en-US" altLang="en-US" sz="2000" dirty="0"/>
              <a:t>from behavioral </a:t>
            </a:r>
            <a:r>
              <a:rPr lang="en-US" altLang="en-US" sz="2000" dirty="0" smtClean="0"/>
              <a:t>description   </a:t>
            </a:r>
            <a:r>
              <a:rPr lang="en-US" altLang="en-US" sz="2000" dirty="0"/>
              <a:t>to </a:t>
            </a:r>
            <a:r>
              <a:rPr lang="en-US" altLang="en-US" sz="2000" dirty="0">
                <a:solidFill>
                  <a:srgbClr val="990033"/>
                </a:solidFill>
              </a:rPr>
              <a:t>physical </a:t>
            </a:r>
            <a:r>
              <a:rPr lang="en-US" altLang="en-US" sz="2000" dirty="0" smtClean="0">
                <a:solidFill>
                  <a:srgbClr val="990033"/>
                </a:solidFill>
              </a:rPr>
              <a:t>layout</a:t>
            </a:r>
          </a:p>
          <a:p>
            <a:pPr>
              <a:buFontTx/>
              <a:buChar char="•"/>
            </a:pPr>
            <a:endParaRPr lang="en-US" altLang="en-US" sz="2000" dirty="0" smtClean="0">
              <a:solidFill>
                <a:srgbClr val="990033"/>
              </a:solidFill>
            </a:endParaRPr>
          </a:p>
          <a:p>
            <a:pPr>
              <a:buFontTx/>
              <a:buChar char="•"/>
            </a:pPr>
            <a:r>
              <a:rPr lang="en-US" altLang="en-US" sz="2000" dirty="0" smtClean="0"/>
              <a:t>High performance</a:t>
            </a:r>
          </a:p>
          <a:p>
            <a:pPr>
              <a:buFontTx/>
              <a:buChar char="•"/>
            </a:pPr>
            <a:r>
              <a:rPr lang="en-US" altLang="en-US" sz="2000" dirty="0" smtClean="0"/>
              <a:t>Low power</a:t>
            </a:r>
          </a:p>
          <a:p>
            <a:pPr>
              <a:buFontTx/>
              <a:buChar char="•"/>
            </a:pPr>
            <a:r>
              <a:rPr lang="en-US" altLang="en-US" sz="2000" dirty="0" smtClean="0"/>
              <a:t>Low cost in high volume</a:t>
            </a:r>
            <a:endParaRPr lang="en-US" altLang="en-US" sz="2000" dirty="0"/>
          </a:p>
        </p:txBody>
      </p:sp>
      <p:sp>
        <p:nvSpPr>
          <p:cNvPr id="8203" name="Text Box 1035"/>
          <p:cNvSpPr txBox="1">
            <a:spLocks noChangeArrowheads="1"/>
          </p:cNvSpPr>
          <p:nvPr/>
        </p:nvSpPr>
        <p:spPr bwMode="auto">
          <a:xfrm>
            <a:off x="4648200" y="3962400"/>
            <a:ext cx="4267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altLang="en-US" sz="2000" dirty="0"/>
              <a:t> no physical layout design</a:t>
            </a:r>
            <a:r>
              <a:rPr lang="en-US" altLang="en-US" sz="2000" dirty="0" smtClean="0"/>
              <a:t>;  </a:t>
            </a:r>
            <a:r>
              <a:rPr lang="en-US" altLang="en-US" sz="2000" dirty="0"/>
              <a:t>design ends </a:t>
            </a:r>
            <a:r>
              <a:rPr lang="en-US" altLang="en-US" sz="2000" dirty="0" smtClean="0"/>
              <a:t>with a </a:t>
            </a:r>
            <a:r>
              <a:rPr lang="en-US" altLang="en-US" sz="2000" dirty="0" err="1">
                <a:solidFill>
                  <a:srgbClr val="990033"/>
                </a:solidFill>
              </a:rPr>
              <a:t>bitstream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used to </a:t>
            </a:r>
            <a:r>
              <a:rPr lang="en-US" altLang="en-US" sz="2000" dirty="0"/>
              <a:t>configure a </a:t>
            </a:r>
            <a:r>
              <a:rPr lang="en-US" altLang="en-US" sz="2000" dirty="0" smtClean="0"/>
              <a:t>device</a:t>
            </a:r>
          </a:p>
          <a:p>
            <a:pPr>
              <a:buFontTx/>
              <a:buChar char="•"/>
            </a:pPr>
            <a:endParaRPr lang="en-US" altLang="en-US" sz="2000" dirty="0" smtClean="0"/>
          </a:p>
          <a:p>
            <a:pPr>
              <a:buFontTx/>
              <a:buChar char="•"/>
            </a:pPr>
            <a:r>
              <a:rPr lang="en-US" altLang="en-US" sz="2000" dirty="0" smtClean="0"/>
              <a:t>Low development cost</a:t>
            </a:r>
          </a:p>
          <a:p>
            <a:pPr>
              <a:buFontTx/>
              <a:buChar char="•"/>
            </a:pPr>
            <a:r>
              <a:rPr lang="en-US" altLang="en-US" sz="2000" dirty="0" smtClean="0"/>
              <a:t> Short time of market</a:t>
            </a:r>
          </a:p>
          <a:p>
            <a:pPr>
              <a:buFontTx/>
              <a:buChar char="•"/>
            </a:pPr>
            <a:r>
              <a:rPr lang="en-US" altLang="en-US" sz="2000" dirty="0" err="1" smtClean="0"/>
              <a:t>Reconfigurability</a:t>
            </a:r>
            <a:endParaRPr lang="en-US" altLang="en-US" sz="2000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92AF2F7-39C7-409F-ADF3-6CF94E389757}" type="datetime1">
              <a:rPr lang="en-US"/>
              <a:pPr>
                <a:defRPr/>
              </a:pPr>
              <a:t>11-Oct-24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C854E6-1846-4D1D-8619-A3B4FB89C8E3}" type="slidenum">
              <a:rPr lang="en-US" smtClean="0"/>
              <a:pPr>
                <a:defRPr/>
              </a:pPr>
              <a:t>174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1585"/>
          <p:cNvSpPr>
            <a:spLocks noChangeArrowheads="1"/>
          </p:cNvSpPr>
          <p:nvPr/>
        </p:nvSpPr>
        <p:spPr bwMode="auto">
          <a:xfrm>
            <a:off x="4876800" y="3657601"/>
            <a:ext cx="358379" cy="252413"/>
          </a:xfrm>
          <a:prstGeom prst="ellips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altLang="en-US"/>
          </a:p>
        </p:txBody>
      </p:sp>
      <p:grpSp>
        <p:nvGrpSpPr>
          <p:cNvPr id="2" name="Group 1157"/>
          <p:cNvGrpSpPr>
            <a:grpSpLocks/>
          </p:cNvGrpSpPr>
          <p:nvPr/>
        </p:nvGrpSpPr>
        <p:grpSpPr bwMode="auto">
          <a:xfrm>
            <a:off x="762000" y="1371600"/>
            <a:ext cx="4597004" cy="4648200"/>
            <a:chOff x="1200" y="864"/>
            <a:chExt cx="2896" cy="2928"/>
          </a:xfrm>
        </p:grpSpPr>
        <p:grpSp>
          <p:nvGrpSpPr>
            <p:cNvPr id="3" name="Group 1028"/>
            <p:cNvGrpSpPr>
              <a:grpSpLocks/>
            </p:cNvGrpSpPr>
            <p:nvPr/>
          </p:nvGrpSpPr>
          <p:grpSpPr bwMode="auto">
            <a:xfrm>
              <a:off x="1313" y="1204"/>
              <a:ext cx="181" cy="2248"/>
              <a:chOff x="1968" y="1008"/>
              <a:chExt cx="384" cy="4752"/>
            </a:xfrm>
          </p:grpSpPr>
          <p:grpSp>
            <p:nvGrpSpPr>
              <p:cNvPr id="4" name="Group 1029"/>
              <p:cNvGrpSpPr>
                <a:grpSpLocks/>
              </p:cNvGrpSpPr>
              <p:nvPr/>
            </p:nvGrpSpPr>
            <p:grpSpPr bwMode="auto">
              <a:xfrm>
                <a:off x="1968" y="1008"/>
                <a:ext cx="384" cy="192"/>
                <a:chOff x="2304" y="2160"/>
                <a:chExt cx="384" cy="192"/>
              </a:xfrm>
            </p:grpSpPr>
            <p:sp>
              <p:nvSpPr>
                <p:cNvPr id="10363" name="Rectangle 103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64" name="Line 103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65" name="Line 103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66" name="Line 103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67" name="Line 103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035"/>
              <p:cNvGrpSpPr>
                <a:grpSpLocks/>
              </p:cNvGrpSpPr>
              <p:nvPr/>
            </p:nvGrpSpPr>
            <p:grpSpPr bwMode="auto">
              <a:xfrm>
                <a:off x="1968" y="1248"/>
                <a:ext cx="384" cy="192"/>
                <a:chOff x="2304" y="2160"/>
                <a:chExt cx="384" cy="192"/>
              </a:xfrm>
            </p:grpSpPr>
            <p:sp>
              <p:nvSpPr>
                <p:cNvPr id="10358" name="Rectangle 103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59" name="Line 103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60" name="Line 103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61" name="Line 103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62" name="Line 104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041"/>
              <p:cNvGrpSpPr>
                <a:grpSpLocks/>
              </p:cNvGrpSpPr>
              <p:nvPr/>
            </p:nvGrpSpPr>
            <p:grpSpPr bwMode="auto">
              <a:xfrm>
                <a:off x="1968" y="1488"/>
                <a:ext cx="384" cy="192"/>
                <a:chOff x="2304" y="2160"/>
                <a:chExt cx="384" cy="192"/>
              </a:xfrm>
            </p:grpSpPr>
            <p:sp>
              <p:nvSpPr>
                <p:cNvPr id="10353" name="Rectangle 104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54" name="Line 104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55" name="Line 104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56" name="Line 104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57" name="Line 104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047"/>
              <p:cNvGrpSpPr>
                <a:grpSpLocks/>
              </p:cNvGrpSpPr>
              <p:nvPr/>
            </p:nvGrpSpPr>
            <p:grpSpPr bwMode="auto">
              <a:xfrm>
                <a:off x="1968" y="1728"/>
                <a:ext cx="384" cy="192"/>
                <a:chOff x="2304" y="2160"/>
                <a:chExt cx="384" cy="192"/>
              </a:xfrm>
            </p:grpSpPr>
            <p:sp>
              <p:nvSpPr>
                <p:cNvPr id="10348" name="Rectangle 104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49" name="Line 104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50" name="Line 105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51" name="Line 105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52" name="Line 105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053"/>
              <p:cNvGrpSpPr>
                <a:grpSpLocks/>
              </p:cNvGrpSpPr>
              <p:nvPr/>
            </p:nvGrpSpPr>
            <p:grpSpPr bwMode="auto">
              <a:xfrm>
                <a:off x="1968" y="1968"/>
                <a:ext cx="384" cy="192"/>
                <a:chOff x="2304" y="2160"/>
                <a:chExt cx="384" cy="192"/>
              </a:xfrm>
            </p:grpSpPr>
            <p:sp>
              <p:nvSpPr>
                <p:cNvPr id="10343" name="Rectangle 105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44" name="Line 105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5" name="Line 105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6" name="Line 105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7" name="Line 105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1059"/>
              <p:cNvGrpSpPr>
                <a:grpSpLocks/>
              </p:cNvGrpSpPr>
              <p:nvPr/>
            </p:nvGrpSpPr>
            <p:grpSpPr bwMode="auto">
              <a:xfrm>
                <a:off x="1968" y="2208"/>
                <a:ext cx="384" cy="192"/>
                <a:chOff x="2304" y="2160"/>
                <a:chExt cx="384" cy="192"/>
              </a:xfrm>
            </p:grpSpPr>
            <p:sp>
              <p:nvSpPr>
                <p:cNvPr id="10338" name="Rectangle 106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39" name="Line 106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0" name="Line 106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1" name="Line 106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42" name="Line 106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1065"/>
              <p:cNvGrpSpPr>
                <a:grpSpLocks/>
              </p:cNvGrpSpPr>
              <p:nvPr/>
            </p:nvGrpSpPr>
            <p:grpSpPr bwMode="auto">
              <a:xfrm>
                <a:off x="1968" y="2448"/>
                <a:ext cx="384" cy="192"/>
                <a:chOff x="2304" y="2160"/>
                <a:chExt cx="384" cy="192"/>
              </a:xfrm>
            </p:grpSpPr>
            <p:sp>
              <p:nvSpPr>
                <p:cNvPr id="10333" name="Rectangle 106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34" name="Line 106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35" name="Line 106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36" name="Line 106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37" name="Line 107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71"/>
              <p:cNvGrpSpPr>
                <a:grpSpLocks/>
              </p:cNvGrpSpPr>
              <p:nvPr/>
            </p:nvGrpSpPr>
            <p:grpSpPr bwMode="auto">
              <a:xfrm>
                <a:off x="1968" y="2688"/>
                <a:ext cx="384" cy="192"/>
                <a:chOff x="2304" y="2160"/>
                <a:chExt cx="384" cy="192"/>
              </a:xfrm>
            </p:grpSpPr>
            <p:sp>
              <p:nvSpPr>
                <p:cNvPr id="10328" name="Rectangle 107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29" name="Line 107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30" name="Line 107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31" name="Line 107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32" name="Line 107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077"/>
              <p:cNvGrpSpPr>
                <a:grpSpLocks/>
              </p:cNvGrpSpPr>
              <p:nvPr/>
            </p:nvGrpSpPr>
            <p:grpSpPr bwMode="auto">
              <a:xfrm>
                <a:off x="1968" y="2928"/>
                <a:ext cx="384" cy="192"/>
                <a:chOff x="2304" y="2160"/>
                <a:chExt cx="384" cy="192"/>
              </a:xfrm>
            </p:grpSpPr>
            <p:sp>
              <p:nvSpPr>
                <p:cNvPr id="10323" name="Rectangle 107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24" name="Line 107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25" name="Line 108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26" name="Line 108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27" name="Line 108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083"/>
              <p:cNvGrpSpPr>
                <a:grpSpLocks/>
              </p:cNvGrpSpPr>
              <p:nvPr/>
            </p:nvGrpSpPr>
            <p:grpSpPr bwMode="auto">
              <a:xfrm>
                <a:off x="1968" y="3168"/>
                <a:ext cx="384" cy="192"/>
                <a:chOff x="2304" y="2160"/>
                <a:chExt cx="384" cy="192"/>
              </a:xfrm>
            </p:grpSpPr>
            <p:sp>
              <p:nvSpPr>
                <p:cNvPr id="10318" name="Rectangle 108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19" name="Line 108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20" name="Line 108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21" name="Line 108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22" name="Line 108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089"/>
              <p:cNvGrpSpPr>
                <a:grpSpLocks/>
              </p:cNvGrpSpPr>
              <p:nvPr/>
            </p:nvGrpSpPr>
            <p:grpSpPr bwMode="auto">
              <a:xfrm>
                <a:off x="1968" y="3408"/>
                <a:ext cx="384" cy="192"/>
                <a:chOff x="2304" y="2160"/>
                <a:chExt cx="384" cy="192"/>
              </a:xfrm>
            </p:grpSpPr>
            <p:sp>
              <p:nvSpPr>
                <p:cNvPr id="10313" name="Rectangle 109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14" name="Line 109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15" name="Line 109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16" name="Line 109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17" name="Line 109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095"/>
              <p:cNvGrpSpPr>
                <a:grpSpLocks/>
              </p:cNvGrpSpPr>
              <p:nvPr/>
            </p:nvGrpSpPr>
            <p:grpSpPr bwMode="auto">
              <a:xfrm>
                <a:off x="1968" y="3648"/>
                <a:ext cx="384" cy="192"/>
                <a:chOff x="2304" y="2160"/>
                <a:chExt cx="384" cy="192"/>
              </a:xfrm>
            </p:grpSpPr>
            <p:sp>
              <p:nvSpPr>
                <p:cNvPr id="10308" name="Rectangle 109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09" name="Line 109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10" name="Line 109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11" name="Line 109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12" name="Line 110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1101"/>
              <p:cNvGrpSpPr>
                <a:grpSpLocks/>
              </p:cNvGrpSpPr>
              <p:nvPr/>
            </p:nvGrpSpPr>
            <p:grpSpPr bwMode="auto">
              <a:xfrm>
                <a:off x="1968" y="3888"/>
                <a:ext cx="384" cy="192"/>
                <a:chOff x="2304" y="2160"/>
                <a:chExt cx="384" cy="192"/>
              </a:xfrm>
            </p:grpSpPr>
            <p:sp>
              <p:nvSpPr>
                <p:cNvPr id="10303" name="Rectangle 110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304" name="Line 110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05" name="Line 110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06" name="Line 110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07" name="Line 110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1107"/>
              <p:cNvGrpSpPr>
                <a:grpSpLocks/>
              </p:cNvGrpSpPr>
              <p:nvPr/>
            </p:nvGrpSpPr>
            <p:grpSpPr bwMode="auto">
              <a:xfrm>
                <a:off x="1968" y="4128"/>
                <a:ext cx="384" cy="192"/>
                <a:chOff x="2304" y="2160"/>
                <a:chExt cx="384" cy="192"/>
              </a:xfrm>
            </p:grpSpPr>
            <p:sp>
              <p:nvSpPr>
                <p:cNvPr id="10298" name="Rectangle 110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99" name="Line 110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00" name="Line 111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01" name="Line 111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02" name="Line 111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1113"/>
              <p:cNvGrpSpPr>
                <a:grpSpLocks/>
              </p:cNvGrpSpPr>
              <p:nvPr/>
            </p:nvGrpSpPr>
            <p:grpSpPr bwMode="auto">
              <a:xfrm>
                <a:off x="1968" y="4368"/>
                <a:ext cx="384" cy="192"/>
                <a:chOff x="2304" y="2160"/>
                <a:chExt cx="384" cy="192"/>
              </a:xfrm>
            </p:grpSpPr>
            <p:sp>
              <p:nvSpPr>
                <p:cNvPr id="10293" name="Rectangle 111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94" name="Line 111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95" name="Line 111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96" name="Line 111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97" name="Line 111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1119"/>
              <p:cNvGrpSpPr>
                <a:grpSpLocks/>
              </p:cNvGrpSpPr>
              <p:nvPr/>
            </p:nvGrpSpPr>
            <p:grpSpPr bwMode="auto">
              <a:xfrm>
                <a:off x="1968" y="4608"/>
                <a:ext cx="384" cy="192"/>
                <a:chOff x="2304" y="2160"/>
                <a:chExt cx="384" cy="192"/>
              </a:xfrm>
            </p:grpSpPr>
            <p:sp>
              <p:nvSpPr>
                <p:cNvPr id="10288" name="Rectangle 112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89" name="Line 112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90" name="Line 112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91" name="Line 112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92" name="Line 112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1125"/>
              <p:cNvGrpSpPr>
                <a:grpSpLocks/>
              </p:cNvGrpSpPr>
              <p:nvPr/>
            </p:nvGrpSpPr>
            <p:grpSpPr bwMode="auto">
              <a:xfrm>
                <a:off x="1968" y="4848"/>
                <a:ext cx="384" cy="192"/>
                <a:chOff x="2304" y="2160"/>
                <a:chExt cx="384" cy="192"/>
              </a:xfrm>
            </p:grpSpPr>
            <p:sp>
              <p:nvSpPr>
                <p:cNvPr id="10283" name="Rectangle 112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84" name="Line 112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5" name="Line 112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6" name="Line 112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7" name="Line 113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1131"/>
              <p:cNvGrpSpPr>
                <a:grpSpLocks/>
              </p:cNvGrpSpPr>
              <p:nvPr/>
            </p:nvGrpSpPr>
            <p:grpSpPr bwMode="auto">
              <a:xfrm>
                <a:off x="1968" y="5088"/>
                <a:ext cx="384" cy="192"/>
                <a:chOff x="2304" y="2160"/>
                <a:chExt cx="384" cy="192"/>
              </a:xfrm>
            </p:grpSpPr>
            <p:sp>
              <p:nvSpPr>
                <p:cNvPr id="10278" name="Rectangle 113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79" name="Line 113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0" name="Line 113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1" name="Line 113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2" name="Line 113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1137"/>
              <p:cNvGrpSpPr>
                <a:grpSpLocks/>
              </p:cNvGrpSpPr>
              <p:nvPr/>
            </p:nvGrpSpPr>
            <p:grpSpPr bwMode="auto">
              <a:xfrm>
                <a:off x="1968" y="5328"/>
                <a:ext cx="384" cy="192"/>
                <a:chOff x="2304" y="2160"/>
                <a:chExt cx="384" cy="192"/>
              </a:xfrm>
            </p:grpSpPr>
            <p:sp>
              <p:nvSpPr>
                <p:cNvPr id="10273" name="Rectangle 113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74" name="Line 113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5" name="Line 114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6" name="Line 114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7" name="Line 114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1143"/>
              <p:cNvGrpSpPr>
                <a:grpSpLocks/>
              </p:cNvGrpSpPr>
              <p:nvPr/>
            </p:nvGrpSpPr>
            <p:grpSpPr bwMode="auto">
              <a:xfrm>
                <a:off x="1968" y="5568"/>
                <a:ext cx="384" cy="192"/>
                <a:chOff x="2304" y="2160"/>
                <a:chExt cx="384" cy="192"/>
              </a:xfrm>
            </p:grpSpPr>
            <p:sp>
              <p:nvSpPr>
                <p:cNvPr id="10268" name="Rectangle 114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69" name="Line 114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0" name="Line 114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1" name="Line 114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2" name="Line 114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4" name="Group 1149"/>
            <p:cNvGrpSpPr>
              <a:grpSpLocks/>
            </p:cNvGrpSpPr>
            <p:nvPr/>
          </p:nvGrpSpPr>
          <p:grpSpPr bwMode="auto">
            <a:xfrm rot="-5400000">
              <a:off x="2566" y="2469"/>
              <a:ext cx="182" cy="2237"/>
              <a:chOff x="1968" y="1008"/>
              <a:chExt cx="384" cy="4752"/>
            </a:xfrm>
          </p:grpSpPr>
          <p:grpSp>
            <p:nvGrpSpPr>
              <p:cNvPr id="25" name="Group 1150"/>
              <p:cNvGrpSpPr>
                <a:grpSpLocks/>
              </p:cNvGrpSpPr>
              <p:nvPr/>
            </p:nvGrpSpPr>
            <p:grpSpPr bwMode="auto">
              <a:xfrm>
                <a:off x="1968" y="1008"/>
                <a:ext cx="384" cy="192"/>
                <a:chOff x="2304" y="2160"/>
                <a:chExt cx="384" cy="192"/>
              </a:xfrm>
            </p:grpSpPr>
            <p:sp>
              <p:nvSpPr>
                <p:cNvPr id="10243" name="Rectangle 115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44" name="Line 115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45" name="Line 115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46" name="Line 115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47" name="Line 115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1156"/>
              <p:cNvGrpSpPr>
                <a:grpSpLocks/>
              </p:cNvGrpSpPr>
              <p:nvPr/>
            </p:nvGrpSpPr>
            <p:grpSpPr bwMode="auto">
              <a:xfrm>
                <a:off x="1968" y="1248"/>
                <a:ext cx="384" cy="192"/>
                <a:chOff x="2304" y="2160"/>
                <a:chExt cx="384" cy="192"/>
              </a:xfrm>
            </p:grpSpPr>
            <p:sp>
              <p:nvSpPr>
                <p:cNvPr id="10238" name="Rectangle 115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39" name="Line 115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40" name="Line 115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41" name="Line 116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42" name="Line 116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1162"/>
              <p:cNvGrpSpPr>
                <a:grpSpLocks/>
              </p:cNvGrpSpPr>
              <p:nvPr/>
            </p:nvGrpSpPr>
            <p:grpSpPr bwMode="auto">
              <a:xfrm>
                <a:off x="1968" y="1488"/>
                <a:ext cx="384" cy="192"/>
                <a:chOff x="2304" y="2160"/>
                <a:chExt cx="384" cy="192"/>
              </a:xfrm>
            </p:grpSpPr>
            <p:sp>
              <p:nvSpPr>
                <p:cNvPr id="10233" name="Rectangle 116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34" name="Line 116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35" name="Line 116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36" name="Line 116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37" name="Line 116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1168"/>
              <p:cNvGrpSpPr>
                <a:grpSpLocks/>
              </p:cNvGrpSpPr>
              <p:nvPr/>
            </p:nvGrpSpPr>
            <p:grpSpPr bwMode="auto">
              <a:xfrm>
                <a:off x="1968" y="1728"/>
                <a:ext cx="384" cy="192"/>
                <a:chOff x="2304" y="2160"/>
                <a:chExt cx="384" cy="192"/>
              </a:xfrm>
            </p:grpSpPr>
            <p:sp>
              <p:nvSpPr>
                <p:cNvPr id="10228" name="Rectangle 116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29" name="Line 117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30" name="Line 117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31" name="Line 117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32" name="Line 117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1174"/>
              <p:cNvGrpSpPr>
                <a:grpSpLocks/>
              </p:cNvGrpSpPr>
              <p:nvPr/>
            </p:nvGrpSpPr>
            <p:grpSpPr bwMode="auto">
              <a:xfrm>
                <a:off x="1968" y="1968"/>
                <a:ext cx="384" cy="192"/>
                <a:chOff x="2304" y="2160"/>
                <a:chExt cx="384" cy="192"/>
              </a:xfrm>
            </p:grpSpPr>
            <p:sp>
              <p:nvSpPr>
                <p:cNvPr id="10223" name="Rectangle 117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24" name="Line 117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25" name="Line 117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26" name="Line 117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27" name="Line 117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180"/>
              <p:cNvGrpSpPr>
                <a:grpSpLocks/>
              </p:cNvGrpSpPr>
              <p:nvPr/>
            </p:nvGrpSpPr>
            <p:grpSpPr bwMode="auto">
              <a:xfrm>
                <a:off x="1968" y="2208"/>
                <a:ext cx="384" cy="192"/>
                <a:chOff x="2304" y="2160"/>
                <a:chExt cx="384" cy="192"/>
              </a:xfrm>
            </p:grpSpPr>
            <p:sp>
              <p:nvSpPr>
                <p:cNvPr id="10218" name="Rectangle 118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19" name="Line 118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20" name="Line 118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21" name="Line 118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22" name="Line 118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1186"/>
              <p:cNvGrpSpPr>
                <a:grpSpLocks/>
              </p:cNvGrpSpPr>
              <p:nvPr/>
            </p:nvGrpSpPr>
            <p:grpSpPr bwMode="auto">
              <a:xfrm>
                <a:off x="1968" y="2448"/>
                <a:ext cx="384" cy="192"/>
                <a:chOff x="2304" y="2160"/>
                <a:chExt cx="384" cy="192"/>
              </a:xfrm>
            </p:grpSpPr>
            <p:sp>
              <p:nvSpPr>
                <p:cNvPr id="10213" name="Rectangle 118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14" name="Line 118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15" name="Line 118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16" name="Line 119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17" name="Line 119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16" name="Group 1192"/>
              <p:cNvGrpSpPr>
                <a:grpSpLocks/>
              </p:cNvGrpSpPr>
              <p:nvPr/>
            </p:nvGrpSpPr>
            <p:grpSpPr bwMode="auto">
              <a:xfrm>
                <a:off x="1968" y="2688"/>
                <a:ext cx="384" cy="192"/>
                <a:chOff x="2304" y="2160"/>
                <a:chExt cx="384" cy="192"/>
              </a:xfrm>
            </p:grpSpPr>
            <p:sp>
              <p:nvSpPr>
                <p:cNvPr id="10208" name="Rectangle 119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09" name="Line 119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10" name="Line 119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11" name="Line 119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12" name="Line 119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17" name="Group 1198"/>
              <p:cNvGrpSpPr>
                <a:grpSpLocks/>
              </p:cNvGrpSpPr>
              <p:nvPr/>
            </p:nvGrpSpPr>
            <p:grpSpPr bwMode="auto">
              <a:xfrm>
                <a:off x="1968" y="2928"/>
                <a:ext cx="384" cy="192"/>
                <a:chOff x="2304" y="2160"/>
                <a:chExt cx="384" cy="192"/>
              </a:xfrm>
            </p:grpSpPr>
            <p:sp>
              <p:nvSpPr>
                <p:cNvPr id="10203" name="Rectangle 119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204" name="Line 120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05" name="Line 120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06" name="Line 120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07" name="Line 120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19" name="Group 1204"/>
              <p:cNvGrpSpPr>
                <a:grpSpLocks/>
              </p:cNvGrpSpPr>
              <p:nvPr/>
            </p:nvGrpSpPr>
            <p:grpSpPr bwMode="auto">
              <a:xfrm>
                <a:off x="1968" y="3168"/>
                <a:ext cx="384" cy="192"/>
                <a:chOff x="2304" y="2160"/>
                <a:chExt cx="384" cy="192"/>
              </a:xfrm>
            </p:grpSpPr>
            <p:sp>
              <p:nvSpPr>
                <p:cNvPr id="10198" name="Rectangle 120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99" name="Line 120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00" name="Line 120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01" name="Line 120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02" name="Line 120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28" name="Group 1210"/>
              <p:cNvGrpSpPr>
                <a:grpSpLocks/>
              </p:cNvGrpSpPr>
              <p:nvPr/>
            </p:nvGrpSpPr>
            <p:grpSpPr bwMode="auto">
              <a:xfrm>
                <a:off x="1968" y="3408"/>
                <a:ext cx="384" cy="192"/>
                <a:chOff x="2304" y="2160"/>
                <a:chExt cx="384" cy="192"/>
              </a:xfrm>
            </p:grpSpPr>
            <p:sp>
              <p:nvSpPr>
                <p:cNvPr id="10193" name="Rectangle 121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94" name="Line 121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95" name="Line 121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96" name="Line 121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97" name="Line 121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29" name="Group 1216"/>
              <p:cNvGrpSpPr>
                <a:grpSpLocks/>
              </p:cNvGrpSpPr>
              <p:nvPr/>
            </p:nvGrpSpPr>
            <p:grpSpPr bwMode="auto">
              <a:xfrm>
                <a:off x="1968" y="3648"/>
                <a:ext cx="384" cy="192"/>
                <a:chOff x="2304" y="2160"/>
                <a:chExt cx="384" cy="192"/>
              </a:xfrm>
            </p:grpSpPr>
            <p:sp>
              <p:nvSpPr>
                <p:cNvPr id="10188" name="Rectangle 121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89" name="Line 121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90" name="Line 121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91" name="Line 122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92" name="Line 122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30" name="Group 1222"/>
              <p:cNvGrpSpPr>
                <a:grpSpLocks/>
              </p:cNvGrpSpPr>
              <p:nvPr/>
            </p:nvGrpSpPr>
            <p:grpSpPr bwMode="auto">
              <a:xfrm>
                <a:off x="1968" y="3888"/>
                <a:ext cx="384" cy="192"/>
                <a:chOff x="2304" y="2160"/>
                <a:chExt cx="384" cy="192"/>
              </a:xfrm>
            </p:grpSpPr>
            <p:sp>
              <p:nvSpPr>
                <p:cNvPr id="10183" name="Rectangle 122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84" name="Line 122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85" name="Line 122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86" name="Line 122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87" name="Line 122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31" name="Group 1228"/>
              <p:cNvGrpSpPr>
                <a:grpSpLocks/>
              </p:cNvGrpSpPr>
              <p:nvPr/>
            </p:nvGrpSpPr>
            <p:grpSpPr bwMode="auto">
              <a:xfrm>
                <a:off x="1968" y="4128"/>
                <a:ext cx="384" cy="192"/>
                <a:chOff x="2304" y="2160"/>
                <a:chExt cx="384" cy="192"/>
              </a:xfrm>
            </p:grpSpPr>
            <p:sp>
              <p:nvSpPr>
                <p:cNvPr id="10178" name="Rectangle 122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79" name="Line 123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80" name="Line 123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81" name="Line 123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82" name="Line 123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32" name="Group 1234"/>
              <p:cNvGrpSpPr>
                <a:grpSpLocks/>
              </p:cNvGrpSpPr>
              <p:nvPr/>
            </p:nvGrpSpPr>
            <p:grpSpPr bwMode="auto">
              <a:xfrm>
                <a:off x="1968" y="4368"/>
                <a:ext cx="384" cy="192"/>
                <a:chOff x="2304" y="2160"/>
                <a:chExt cx="384" cy="192"/>
              </a:xfrm>
            </p:grpSpPr>
            <p:sp>
              <p:nvSpPr>
                <p:cNvPr id="10173" name="Rectangle 123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74" name="Line 123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75" name="Line 123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76" name="Line 123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77" name="Line 123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33" name="Group 1240"/>
              <p:cNvGrpSpPr>
                <a:grpSpLocks/>
              </p:cNvGrpSpPr>
              <p:nvPr/>
            </p:nvGrpSpPr>
            <p:grpSpPr bwMode="auto">
              <a:xfrm>
                <a:off x="1968" y="4608"/>
                <a:ext cx="384" cy="192"/>
                <a:chOff x="2304" y="2160"/>
                <a:chExt cx="384" cy="192"/>
              </a:xfrm>
            </p:grpSpPr>
            <p:sp>
              <p:nvSpPr>
                <p:cNvPr id="10168" name="Rectangle 124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69" name="Line 124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70" name="Line 124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71" name="Line 124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72" name="Line 124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36" name="Group 1246"/>
              <p:cNvGrpSpPr>
                <a:grpSpLocks/>
              </p:cNvGrpSpPr>
              <p:nvPr/>
            </p:nvGrpSpPr>
            <p:grpSpPr bwMode="auto">
              <a:xfrm>
                <a:off x="1968" y="4848"/>
                <a:ext cx="384" cy="192"/>
                <a:chOff x="2304" y="2160"/>
                <a:chExt cx="384" cy="192"/>
              </a:xfrm>
            </p:grpSpPr>
            <p:sp>
              <p:nvSpPr>
                <p:cNvPr id="10163" name="Rectangle 124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64" name="Line 124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65" name="Line 124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66" name="Line 125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67" name="Line 125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58" name="Group 1252"/>
              <p:cNvGrpSpPr>
                <a:grpSpLocks/>
              </p:cNvGrpSpPr>
              <p:nvPr/>
            </p:nvGrpSpPr>
            <p:grpSpPr bwMode="auto">
              <a:xfrm>
                <a:off x="1968" y="5088"/>
                <a:ext cx="384" cy="192"/>
                <a:chOff x="2304" y="2160"/>
                <a:chExt cx="384" cy="192"/>
              </a:xfrm>
            </p:grpSpPr>
            <p:sp>
              <p:nvSpPr>
                <p:cNvPr id="10158" name="Rectangle 125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59" name="Line 125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60" name="Line 125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61" name="Line 125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62" name="Line 125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59" name="Group 1258"/>
              <p:cNvGrpSpPr>
                <a:grpSpLocks/>
              </p:cNvGrpSpPr>
              <p:nvPr/>
            </p:nvGrpSpPr>
            <p:grpSpPr bwMode="auto">
              <a:xfrm>
                <a:off x="1968" y="5328"/>
                <a:ext cx="384" cy="192"/>
                <a:chOff x="2304" y="2160"/>
                <a:chExt cx="384" cy="192"/>
              </a:xfrm>
            </p:grpSpPr>
            <p:sp>
              <p:nvSpPr>
                <p:cNvPr id="10153" name="Rectangle 125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54" name="Line 126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55" name="Line 126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56" name="Line 126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57" name="Line 126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0" name="Group 1264"/>
              <p:cNvGrpSpPr>
                <a:grpSpLocks/>
              </p:cNvGrpSpPr>
              <p:nvPr/>
            </p:nvGrpSpPr>
            <p:grpSpPr bwMode="auto">
              <a:xfrm>
                <a:off x="1968" y="5568"/>
                <a:ext cx="384" cy="192"/>
                <a:chOff x="2304" y="2160"/>
                <a:chExt cx="384" cy="192"/>
              </a:xfrm>
            </p:grpSpPr>
            <p:sp>
              <p:nvSpPr>
                <p:cNvPr id="10148" name="Rectangle 126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49" name="Line 126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50" name="Line 126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51" name="Line 126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52" name="Line 126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261" name="Group 1270"/>
            <p:cNvGrpSpPr>
              <a:grpSpLocks/>
            </p:cNvGrpSpPr>
            <p:nvPr/>
          </p:nvGrpSpPr>
          <p:grpSpPr bwMode="auto">
            <a:xfrm rot="10800000">
              <a:off x="3820" y="1204"/>
              <a:ext cx="181" cy="2248"/>
              <a:chOff x="1968" y="1008"/>
              <a:chExt cx="384" cy="4752"/>
            </a:xfrm>
          </p:grpSpPr>
          <p:grpSp>
            <p:nvGrpSpPr>
              <p:cNvPr id="9262" name="Group 1271"/>
              <p:cNvGrpSpPr>
                <a:grpSpLocks/>
              </p:cNvGrpSpPr>
              <p:nvPr/>
            </p:nvGrpSpPr>
            <p:grpSpPr bwMode="auto">
              <a:xfrm>
                <a:off x="1968" y="1008"/>
                <a:ext cx="384" cy="192"/>
                <a:chOff x="2304" y="2160"/>
                <a:chExt cx="384" cy="192"/>
              </a:xfrm>
            </p:grpSpPr>
            <p:sp>
              <p:nvSpPr>
                <p:cNvPr id="10123" name="Rectangle 127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24" name="Line 127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25" name="Line 127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26" name="Line 127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27" name="Line 127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3" name="Group 1277"/>
              <p:cNvGrpSpPr>
                <a:grpSpLocks/>
              </p:cNvGrpSpPr>
              <p:nvPr/>
            </p:nvGrpSpPr>
            <p:grpSpPr bwMode="auto">
              <a:xfrm>
                <a:off x="1968" y="1248"/>
                <a:ext cx="384" cy="192"/>
                <a:chOff x="2304" y="2160"/>
                <a:chExt cx="384" cy="192"/>
              </a:xfrm>
            </p:grpSpPr>
            <p:sp>
              <p:nvSpPr>
                <p:cNvPr id="10118" name="Rectangle 127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19" name="Line 127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20" name="Line 128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21" name="Line 128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22" name="Line 128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4" name="Group 1283"/>
              <p:cNvGrpSpPr>
                <a:grpSpLocks/>
              </p:cNvGrpSpPr>
              <p:nvPr/>
            </p:nvGrpSpPr>
            <p:grpSpPr bwMode="auto">
              <a:xfrm>
                <a:off x="1968" y="1488"/>
                <a:ext cx="384" cy="192"/>
                <a:chOff x="2304" y="2160"/>
                <a:chExt cx="384" cy="192"/>
              </a:xfrm>
            </p:grpSpPr>
            <p:sp>
              <p:nvSpPr>
                <p:cNvPr id="10113" name="Rectangle 128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14" name="Line 128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15" name="Line 128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16" name="Line 128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17" name="Line 128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5" name="Group 1289"/>
              <p:cNvGrpSpPr>
                <a:grpSpLocks/>
              </p:cNvGrpSpPr>
              <p:nvPr/>
            </p:nvGrpSpPr>
            <p:grpSpPr bwMode="auto">
              <a:xfrm>
                <a:off x="1968" y="1728"/>
                <a:ext cx="384" cy="192"/>
                <a:chOff x="2304" y="2160"/>
                <a:chExt cx="384" cy="192"/>
              </a:xfrm>
            </p:grpSpPr>
            <p:sp>
              <p:nvSpPr>
                <p:cNvPr id="10108" name="Rectangle 129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09" name="Line 129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10" name="Line 129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11" name="Line 129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12" name="Line 129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6" name="Group 1295"/>
              <p:cNvGrpSpPr>
                <a:grpSpLocks/>
              </p:cNvGrpSpPr>
              <p:nvPr/>
            </p:nvGrpSpPr>
            <p:grpSpPr bwMode="auto">
              <a:xfrm>
                <a:off x="1968" y="1968"/>
                <a:ext cx="384" cy="192"/>
                <a:chOff x="2304" y="2160"/>
                <a:chExt cx="384" cy="192"/>
              </a:xfrm>
            </p:grpSpPr>
            <p:sp>
              <p:nvSpPr>
                <p:cNvPr id="10103" name="Rectangle 129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104" name="Line 129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05" name="Line 129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06" name="Line 129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07" name="Line 130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7" name="Group 1301"/>
              <p:cNvGrpSpPr>
                <a:grpSpLocks/>
              </p:cNvGrpSpPr>
              <p:nvPr/>
            </p:nvGrpSpPr>
            <p:grpSpPr bwMode="auto">
              <a:xfrm>
                <a:off x="1968" y="2208"/>
                <a:ext cx="384" cy="192"/>
                <a:chOff x="2304" y="2160"/>
                <a:chExt cx="384" cy="192"/>
              </a:xfrm>
            </p:grpSpPr>
            <p:sp>
              <p:nvSpPr>
                <p:cNvPr id="10098" name="Rectangle 130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99" name="Line 130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00" name="Line 130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01" name="Line 130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02" name="Line 130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8" name="Group 1307"/>
              <p:cNvGrpSpPr>
                <a:grpSpLocks/>
              </p:cNvGrpSpPr>
              <p:nvPr/>
            </p:nvGrpSpPr>
            <p:grpSpPr bwMode="auto">
              <a:xfrm>
                <a:off x="1968" y="2448"/>
                <a:ext cx="384" cy="192"/>
                <a:chOff x="2304" y="2160"/>
                <a:chExt cx="384" cy="192"/>
              </a:xfrm>
            </p:grpSpPr>
            <p:sp>
              <p:nvSpPr>
                <p:cNvPr id="10093" name="Rectangle 130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94" name="Line 130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95" name="Line 131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96" name="Line 131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97" name="Line 131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9" name="Group 1313"/>
              <p:cNvGrpSpPr>
                <a:grpSpLocks/>
              </p:cNvGrpSpPr>
              <p:nvPr/>
            </p:nvGrpSpPr>
            <p:grpSpPr bwMode="auto">
              <a:xfrm>
                <a:off x="1968" y="2688"/>
                <a:ext cx="384" cy="192"/>
                <a:chOff x="2304" y="2160"/>
                <a:chExt cx="384" cy="192"/>
              </a:xfrm>
            </p:grpSpPr>
            <p:sp>
              <p:nvSpPr>
                <p:cNvPr id="10088" name="Rectangle 131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89" name="Line 131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90" name="Line 131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91" name="Line 131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92" name="Line 131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0" name="Group 1319"/>
              <p:cNvGrpSpPr>
                <a:grpSpLocks/>
              </p:cNvGrpSpPr>
              <p:nvPr/>
            </p:nvGrpSpPr>
            <p:grpSpPr bwMode="auto">
              <a:xfrm>
                <a:off x="1968" y="2928"/>
                <a:ext cx="384" cy="192"/>
                <a:chOff x="2304" y="2160"/>
                <a:chExt cx="384" cy="192"/>
              </a:xfrm>
            </p:grpSpPr>
            <p:sp>
              <p:nvSpPr>
                <p:cNvPr id="10083" name="Rectangle 132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84" name="Line 132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85" name="Line 132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86" name="Line 132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87" name="Line 132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1" name="Group 1325"/>
              <p:cNvGrpSpPr>
                <a:grpSpLocks/>
              </p:cNvGrpSpPr>
              <p:nvPr/>
            </p:nvGrpSpPr>
            <p:grpSpPr bwMode="auto">
              <a:xfrm>
                <a:off x="1968" y="3168"/>
                <a:ext cx="384" cy="192"/>
                <a:chOff x="2304" y="2160"/>
                <a:chExt cx="384" cy="192"/>
              </a:xfrm>
            </p:grpSpPr>
            <p:sp>
              <p:nvSpPr>
                <p:cNvPr id="10078" name="Rectangle 132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79" name="Line 132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80" name="Line 132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81" name="Line 132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82" name="Line 133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2" name="Group 1331"/>
              <p:cNvGrpSpPr>
                <a:grpSpLocks/>
              </p:cNvGrpSpPr>
              <p:nvPr/>
            </p:nvGrpSpPr>
            <p:grpSpPr bwMode="auto">
              <a:xfrm>
                <a:off x="1968" y="3408"/>
                <a:ext cx="384" cy="192"/>
                <a:chOff x="2304" y="2160"/>
                <a:chExt cx="384" cy="192"/>
              </a:xfrm>
            </p:grpSpPr>
            <p:sp>
              <p:nvSpPr>
                <p:cNvPr id="10073" name="Rectangle 133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74" name="Line 133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75" name="Line 133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76" name="Line 133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77" name="Line 133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3" name="Group 1337"/>
              <p:cNvGrpSpPr>
                <a:grpSpLocks/>
              </p:cNvGrpSpPr>
              <p:nvPr/>
            </p:nvGrpSpPr>
            <p:grpSpPr bwMode="auto">
              <a:xfrm>
                <a:off x="1968" y="3648"/>
                <a:ext cx="384" cy="192"/>
                <a:chOff x="2304" y="2160"/>
                <a:chExt cx="384" cy="192"/>
              </a:xfrm>
            </p:grpSpPr>
            <p:sp>
              <p:nvSpPr>
                <p:cNvPr id="10068" name="Rectangle 133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69" name="Line 133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70" name="Line 134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71" name="Line 134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72" name="Line 134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4" name="Group 1343"/>
              <p:cNvGrpSpPr>
                <a:grpSpLocks/>
              </p:cNvGrpSpPr>
              <p:nvPr/>
            </p:nvGrpSpPr>
            <p:grpSpPr bwMode="auto">
              <a:xfrm>
                <a:off x="1968" y="3888"/>
                <a:ext cx="384" cy="192"/>
                <a:chOff x="2304" y="2160"/>
                <a:chExt cx="384" cy="192"/>
              </a:xfrm>
            </p:grpSpPr>
            <p:sp>
              <p:nvSpPr>
                <p:cNvPr id="10063" name="Rectangle 134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64" name="Line 134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65" name="Line 134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66" name="Line 134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67" name="Line 134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38" name="Group 1349"/>
              <p:cNvGrpSpPr>
                <a:grpSpLocks/>
              </p:cNvGrpSpPr>
              <p:nvPr/>
            </p:nvGrpSpPr>
            <p:grpSpPr bwMode="auto">
              <a:xfrm>
                <a:off x="1968" y="4128"/>
                <a:ext cx="384" cy="192"/>
                <a:chOff x="2304" y="2160"/>
                <a:chExt cx="384" cy="192"/>
              </a:xfrm>
            </p:grpSpPr>
            <p:sp>
              <p:nvSpPr>
                <p:cNvPr id="10058" name="Rectangle 135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59" name="Line 135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60" name="Line 135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61" name="Line 135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62" name="Line 135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39" name="Group 1355"/>
              <p:cNvGrpSpPr>
                <a:grpSpLocks/>
              </p:cNvGrpSpPr>
              <p:nvPr/>
            </p:nvGrpSpPr>
            <p:grpSpPr bwMode="auto">
              <a:xfrm>
                <a:off x="1968" y="4368"/>
                <a:ext cx="384" cy="192"/>
                <a:chOff x="2304" y="2160"/>
                <a:chExt cx="384" cy="192"/>
              </a:xfrm>
            </p:grpSpPr>
            <p:sp>
              <p:nvSpPr>
                <p:cNvPr id="10053" name="Rectangle 135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54" name="Line 135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55" name="Line 135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56" name="Line 135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57" name="Line 136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40" name="Group 1361"/>
              <p:cNvGrpSpPr>
                <a:grpSpLocks/>
              </p:cNvGrpSpPr>
              <p:nvPr/>
            </p:nvGrpSpPr>
            <p:grpSpPr bwMode="auto">
              <a:xfrm>
                <a:off x="1968" y="4608"/>
                <a:ext cx="384" cy="192"/>
                <a:chOff x="2304" y="2160"/>
                <a:chExt cx="384" cy="192"/>
              </a:xfrm>
            </p:grpSpPr>
            <p:sp>
              <p:nvSpPr>
                <p:cNvPr id="10048" name="Rectangle 1362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49" name="Line 1363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50" name="Line 1364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51" name="Line 1365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52" name="Line 1366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41" name="Group 1367"/>
              <p:cNvGrpSpPr>
                <a:grpSpLocks/>
              </p:cNvGrpSpPr>
              <p:nvPr/>
            </p:nvGrpSpPr>
            <p:grpSpPr bwMode="auto">
              <a:xfrm>
                <a:off x="1968" y="4848"/>
                <a:ext cx="384" cy="192"/>
                <a:chOff x="2304" y="2160"/>
                <a:chExt cx="384" cy="192"/>
              </a:xfrm>
            </p:grpSpPr>
            <p:sp>
              <p:nvSpPr>
                <p:cNvPr id="10043" name="Rectangle 1368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44" name="Line 1369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45" name="Line 1370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46" name="Line 1371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47" name="Line 1372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42" name="Group 1373"/>
              <p:cNvGrpSpPr>
                <a:grpSpLocks/>
              </p:cNvGrpSpPr>
              <p:nvPr/>
            </p:nvGrpSpPr>
            <p:grpSpPr bwMode="auto">
              <a:xfrm>
                <a:off x="1968" y="5088"/>
                <a:ext cx="384" cy="192"/>
                <a:chOff x="2304" y="2160"/>
                <a:chExt cx="384" cy="192"/>
              </a:xfrm>
            </p:grpSpPr>
            <p:sp>
              <p:nvSpPr>
                <p:cNvPr id="10038" name="Rectangle 1374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39" name="Line 1375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40" name="Line 1376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41" name="Line 1377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42" name="Line 1378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43" name="Group 1379"/>
              <p:cNvGrpSpPr>
                <a:grpSpLocks/>
              </p:cNvGrpSpPr>
              <p:nvPr/>
            </p:nvGrpSpPr>
            <p:grpSpPr bwMode="auto">
              <a:xfrm>
                <a:off x="1968" y="5328"/>
                <a:ext cx="384" cy="192"/>
                <a:chOff x="2304" y="2160"/>
                <a:chExt cx="384" cy="192"/>
              </a:xfrm>
            </p:grpSpPr>
            <p:sp>
              <p:nvSpPr>
                <p:cNvPr id="10033" name="Rectangle 1380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34" name="Line 1381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35" name="Line 1382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36" name="Line 1383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37" name="Line 1384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44" name="Group 1385"/>
              <p:cNvGrpSpPr>
                <a:grpSpLocks/>
              </p:cNvGrpSpPr>
              <p:nvPr/>
            </p:nvGrpSpPr>
            <p:grpSpPr bwMode="auto">
              <a:xfrm>
                <a:off x="1968" y="5568"/>
                <a:ext cx="384" cy="192"/>
                <a:chOff x="2304" y="2160"/>
                <a:chExt cx="384" cy="192"/>
              </a:xfrm>
            </p:grpSpPr>
            <p:sp>
              <p:nvSpPr>
                <p:cNvPr id="10028" name="Rectangle 1386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29" name="Line 1387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30" name="Line 1388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31" name="Line 1389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32" name="Line 1390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408" name="Group 1391"/>
            <p:cNvGrpSpPr>
              <a:grpSpLocks/>
            </p:cNvGrpSpPr>
            <p:nvPr/>
          </p:nvGrpSpPr>
          <p:grpSpPr bwMode="auto">
            <a:xfrm>
              <a:off x="1540" y="977"/>
              <a:ext cx="2235" cy="182"/>
              <a:chOff x="1540" y="977"/>
              <a:chExt cx="2235" cy="182"/>
            </a:xfrm>
          </p:grpSpPr>
          <p:grpSp>
            <p:nvGrpSpPr>
              <p:cNvPr id="9409" name="Group 1392"/>
              <p:cNvGrpSpPr>
                <a:grpSpLocks/>
              </p:cNvGrpSpPr>
              <p:nvPr/>
            </p:nvGrpSpPr>
            <p:grpSpPr bwMode="auto">
              <a:xfrm rot="5400000">
                <a:off x="2962" y="1022"/>
                <a:ext cx="182" cy="91"/>
                <a:chOff x="2304" y="2160"/>
                <a:chExt cx="384" cy="192"/>
              </a:xfrm>
            </p:grpSpPr>
            <p:sp>
              <p:nvSpPr>
                <p:cNvPr id="10003" name="Rectangle 139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10004" name="Line 139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05" name="Line 139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06" name="Line 139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07" name="Line 139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10" name="Group 1398"/>
              <p:cNvGrpSpPr>
                <a:grpSpLocks/>
              </p:cNvGrpSpPr>
              <p:nvPr/>
            </p:nvGrpSpPr>
            <p:grpSpPr bwMode="auto">
              <a:xfrm rot="5400000">
                <a:off x="2849" y="1022"/>
                <a:ext cx="182" cy="91"/>
                <a:chOff x="2304" y="2160"/>
                <a:chExt cx="384" cy="192"/>
              </a:xfrm>
            </p:grpSpPr>
            <p:sp>
              <p:nvSpPr>
                <p:cNvPr id="9998" name="Rectangle 139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99" name="Line 140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00" name="Line 140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01" name="Line 140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02" name="Line 140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11" name="Group 1404"/>
              <p:cNvGrpSpPr>
                <a:grpSpLocks/>
              </p:cNvGrpSpPr>
              <p:nvPr/>
            </p:nvGrpSpPr>
            <p:grpSpPr bwMode="auto">
              <a:xfrm rot="5400000">
                <a:off x="2736" y="1022"/>
                <a:ext cx="182" cy="91"/>
                <a:chOff x="2304" y="2160"/>
                <a:chExt cx="384" cy="192"/>
              </a:xfrm>
            </p:grpSpPr>
            <p:sp>
              <p:nvSpPr>
                <p:cNvPr id="9993" name="Rectangle 140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94" name="Line 140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95" name="Line 140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96" name="Line 140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97" name="Line 140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12" name="Group 1410"/>
              <p:cNvGrpSpPr>
                <a:grpSpLocks/>
              </p:cNvGrpSpPr>
              <p:nvPr/>
            </p:nvGrpSpPr>
            <p:grpSpPr bwMode="auto">
              <a:xfrm rot="5400000">
                <a:off x="2622" y="1023"/>
                <a:ext cx="182" cy="90"/>
                <a:chOff x="2304" y="2160"/>
                <a:chExt cx="384" cy="192"/>
              </a:xfrm>
            </p:grpSpPr>
            <p:sp>
              <p:nvSpPr>
                <p:cNvPr id="9988" name="Rectangle 141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89" name="Line 141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90" name="Line 141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91" name="Line 141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92" name="Line 141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13" name="Group 1416"/>
              <p:cNvGrpSpPr>
                <a:grpSpLocks/>
              </p:cNvGrpSpPr>
              <p:nvPr/>
            </p:nvGrpSpPr>
            <p:grpSpPr bwMode="auto">
              <a:xfrm rot="5400000">
                <a:off x="2509" y="1023"/>
                <a:ext cx="182" cy="90"/>
                <a:chOff x="2304" y="2160"/>
                <a:chExt cx="384" cy="192"/>
              </a:xfrm>
            </p:grpSpPr>
            <p:sp>
              <p:nvSpPr>
                <p:cNvPr id="9983" name="Rectangle 141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84" name="Line 141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85" name="Line 141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86" name="Line 142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87" name="Line 142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14" name="Group 1422"/>
              <p:cNvGrpSpPr>
                <a:grpSpLocks/>
              </p:cNvGrpSpPr>
              <p:nvPr/>
            </p:nvGrpSpPr>
            <p:grpSpPr bwMode="auto">
              <a:xfrm rot="5400000">
                <a:off x="2397" y="1023"/>
                <a:ext cx="182" cy="89"/>
                <a:chOff x="2304" y="2160"/>
                <a:chExt cx="384" cy="192"/>
              </a:xfrm>
            </p:grpSpPr>
            <p:sp>
              <p:nvSpPr>
                <p:cNvPr id="9978" name="Rectangle 142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79" name="Line 142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80" name="Line 142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81" name="Line 142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82" name="Line 142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78" name="Group 1428"/>
              <p:cNvGrpSpPr>
                <a:grpSpLocks/>
              </p:cNvGrpSpPr>
              <p:nvPr/>
            </p:nvGrpSpPr>
            <p:grpSpPr bwMode="auto">
              <a:xfrm rot="5400000">
                <a:off x="2284" y="1023"/>
                <a:ext cx="182" cy="89"/>
                <a:chOff x="2304" y="2160"/>
                <a:chExt cx="384" cy="192"/>
              </a:xfrm>
            </p:grpSpPr>
            <p:sp>
              <p:nvSpPr>
                <p:cNvPr id="9973" name="Rectangle 142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74" name="Line 143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75" name="Line 143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76" name="Line 143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77" name="Line 143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79" name="Group 1434"/>
              <p:cNvGrpSpPr>
                <a:grpSpLocks/>
              </p:cNvGrpSpPr>
              <p:nvPr/>
            </p:nvGrpSpPr>
            <p:grpSpPr bwMode="auto">
              <a:xfrm rot="5400000">
                <a:off x="2171" y="1023"/>
                <a:ext cx="182" cy="90"/>
                <a:chOff x="2304" y="2160"/>
                <a:chExt cx="384" cy="192"/>
              </a:xfrm>
            </p:grpSpPr>
            <p:sp>
              <p:nvSpPr>
                <p:cNvPr id="9968" name="Rectangle 143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69" name="Line 143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70" name="Line 143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71" name="Line 143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72" name="Line 143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80" name="Group 1440"/>
              <p:cNvGrpSpPr>
                <a:grpSpLocks/>
              </p:cNvGrpSpPr>
              <p:nvPr/>
            </p:nvGrpSpPr>
            <p:grpSpPr bwMode="auto">
              <a:xfrm rot="5400000">
                <a:off x="2058" y="1023"/>
                <a:ext cx="182" cy="90"/>
                <a:chOff x="2304" y="2160"/>
                <a:chExt cx="384" cy="192"/>
              </a:xfrm>
            </p:grpSpPr>
            <p:sp>
              <p:nvSpPr>
                <p:cNvPr id="9963" name="Rectangle 144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64" name="Line 144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65" name="Line 144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66" name="Line 144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67" name="Line 144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81" name="Group 1446"/>
              <p:cNvGrpSpPr>
                <a:grpSpLocks/>
              </p:cNvGrpSpPr>
              <p:nvPr/>
            </p:nvGrpSpPr>
            <p:grpSpPr bwMode="auto">
              <a:xfrm rot="5400000">
                <a:off x="1945" y="1023"/>
                <a:ext cx="182" cy="90"/>
                <a:chOff x="2304" y="2160"/>
                <a:chExt cx="384" cy="192"/>
              </a:xfrm>
            </p:grpSpPr>
            <p:sp>
              <p:nvSpPr>
                <p:cNvPr id="9958" name="Rectangle 144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59" name="Line 144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60" name="Line 144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61" name="Line 145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62" name="Line 145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82" name="Group 1452"/>
              <p:cNvGrpSpPr>
                <a:grpSpLocks/>
              </p:cNvGrpSpPr>
              <p:nvPr/>
            </p:nvGrpSpPr>
            <p:grpSpPr bwMode="auto">
              <a:xfrm rot="5400000">
                <a:off x="1832" y="1022"/>
                <a:ext cx="182" cy="91"/>
                <a:chOff x="2304" y="2160"/>
                <a:chExt cx="384" cy="192"/>
              </a:xfrm>
            </p:grpSpPr>
            <p:sp>
              <p:nvSpPr>
                <p:cNvPr id="9953" name="Rectangle 145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54" name="Line 145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55" name="Line 145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56" name="Line 145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57" name="Line 145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83" name="Group 1458"/>
              <p:cNvGrpSpPr>
                <a:grpSpLocks/>
              </p:cNvGrpSpPr>
              <p:nvPr/>
            </p:nvGrpSpPr>
            <p:grpSpPr bwMode="auto">
              <a:xfrm rot="5400000">
                <a:off x="1719" y="1022"/>
                <a:ext cx="182" cy="91"/>
                <a:chOff x="2304" y="2160"/>
                <a:chExt cx="384" cy="192"/>
              </a:xfrm>
            </p:grpSpPr>
            <p:sp>
              <p:nvSpPr>
                <p:cNvPr id="9948" name="Rectangle 145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49" name="Line 146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50" name="Line 146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51" name="Line 146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52" name="Line 146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84" name="Group 1464"/>
              <p:cNvGrpSpPr>
                <a:grpSpLocks/>
              </p:cNvGrpSpPr>
              <p:nvPr/>
            </p:nvGrpSpPr>
            <p:grpSpPr bwMode="auto">
              <a:xfrm rot="5400000">
                <a:off x="1606" y="1022"/>
                <a:ext cx="182" cy="91"/>
                <a:chOff x="2304" y="2160"/>
                <a:chExt cx="384" cy="192"/>
              </a:xfrm>
            </p:grpSpPr>
            <p:sp>
              <p:nvSpPr>
                <p:cNvPr id="9943" name="Rectangle 146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44" name="Line 146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45" name="Line 146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46" name="Line 146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47" name="Line 146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48" name="Group 1470"/>
              <p:cNvGrpSpPr>
                <a:grpSpLocks/>
              </p:cNvGrpSpPr>
              <p:nvPr/>
            </p:nvGrpSpPr>
            <p:grpSpPr bwMode="auto">
              <a:xfrm rot="5400000">
                <a:off x="3639" y="1023"/>
                <a:ext cx="182" cy="90"/>
                <a:chOff x="2304" y="2160"/>
                <a:chExt cx="384" cy="192"/>
              </a:xfrm>
            </p:grpSpPr>
            <p:sp>
              <p:nvSpPr>
                <p:cNvPr id="9938" name="Rectangle 147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39" name="Line 147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40" name="Line 147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41" name="Line 147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42" name="Line 147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49" name="Group 1476"/>
              <p:cNvGrpSpPr>
                <a:grpSpLocks/>
              </p:cNvGrpSpPr>
              <p:nvPr/>
            </p:nvGrpSpPr>
            <p:grpSpPr bwMode="auto">
              <a:xfrm rot="5400000">
                <a:off x="3526" y="1023"/>
                <a:ext cx="182" cy="90"/>
                <a:chOff x="2304" y="2160"/>
                <a:chExt cx="384" cy="192"/>
              </a:xfrm>
            </p:grpSpPr>
            <p:sp>
              <p:nvSpPr>
                <p:cNvPr id="9933" name="Rectangle 147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34" name="Line 147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35" name="Line 147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36" name="Line 148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37" name="Line 148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50" name="Group 1482"/>
              <p:cNvGrpSpPr>
                <a:grpSpLocks/>
              </p:cNvGrpSpPr>
              <p:nvPr/>
            </p:nvGrpSpPr>
            <p:grpSpPr bwMode="auto">
              <a:xfrm rot="5400000">
                <a:off x="3414" y="1023"/>
                <a:ext cx="182" cy="89"/>
                <a:chOff x="2304" y="2160"/>
                <a:chExt cx="384" cy="192"/>
              </a:xfrm>
            </p:grpSpPr>
            <p:sp>
              <p:nvSpPr>
                <p:cNvPr id="9928" name="Rectangle 1483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29" name="Line 1484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30" name="Line 1485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31" name="Line 1486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32" name="Line 1487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51" name="Group 1488"/>
              <p:cNvGrpSpPr>
                <a:grpSpLocks/>
              </p:cNvGrpSpPr>
              <p:nvPr/>
            </p:nvGrpSpPr>
            <p:grpSpPr bwMode="auto">
              <a:xfrm rot="5400000">
                <a:off x="3301" y="1023"/>
                <a:ext cx="182" cy="89"/>
                <a:chOff x="2304" y="2160"/>
                <a:chExt cx="384" cy="192"/>
              </a:xfrm>
            </p:grpSpPr>
            <p:sp>
              <p:nvSpPr>
                <p:cNvPr id="9923" name="Rectangle 1489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24" name="Line 1490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25" name="Line 1491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26" name="Line 1492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27" name="Line 1493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52" name="Group 1494"/>
              <p:cNvGrpSpPr>
                <a:grpSpLocks/>
              </p:cNvGrpSpPr>
              <p:nvPr/>
            </p:nvGrpSpPr>
            <p:grpSpPr bwMode="auto">
              <a:xfrm rot="5400000">
                <a:off x="3187" y="1022"/>
                <a:ext cx="182" cy="92"/>
                <a:chOff x="2304" y="2160"/>
                <a:chExt cx="384" cy="192"/>
              </a:xfrm>
            </p:grpSpPr>
            <p:sp>
              <p:nvSpPr>
                <p:cNvPr id="9918" name="Rectangle 1495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19" name="Line 1496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20" name="Line 1497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21" name="Line 1498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22" name="Line 1499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53" name="Group 1500"/>
              <p:cNvGrpSpPr>
                <a:grpSpLocks/>
              </p:cNvGrpSpPr>
              <p:nvPr/>
            </p:nvGrpSpPr>
            <p:grpSpPr bwMode="auto">
              <a:xfrm rot="5400000">
                <a:off x="3075" y="1022"/>
                <a:ext cx="182" cy="91"/>
                <a:chOff x="2304" y="2160"/>
                <a:chExt cx="384" cy="192"/>
              </a:xfrm>
            </p:grpSpPr>
            <p:sp>
              <p:nvSpPr>
                <p:cNvPr id="9913" name="Rectangle 1501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14" name="Line 1502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15" name="Line 1503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16" name="Line 1504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17" name="Line 1505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54" name="Group 1506"/>
              <p:cNvGrpSpPr>
                <a:grpSpLocks/>
              </p:cNvGrpSpPr>
              <p:nvPr/>
            </p:nvGrpSpPr>
            <p:grpSpPr bwMode="auto">
              <a:xfrm rot="5400000">
                <a:off x="1494" y="1024"/>
                <a:ext cx="181" cy="90"/>
                <a:chOff x="2304" y="2160"/>
                <a:chExt cx="384" cy="192"/>
              </a:xfrm>
            </p:grpSpPr>
            <p:sp>
              <p:nvSpPr>
                <p:cNvPr id="9908" name="Rectangle 1507"/>
                <p:cNvSpPr>
                  <a:spLocks noChangeArrowheads="1"/>
                </p:cNvSpPr>
                <p:nvPr/>
              </p:nvSpPr>
              <p:spPr bwMode="auto">
                <a:xfrm>
                  <a:off x="2400" y="2160"/>
                  <a:ext cx="192" cy="192"/>
                </a:xfrm>
                <a:prstGeom prst="rect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909" name="Line 1508"/>
                <p:cNvSpPr>
                  <a:spLocks noChangeShapeType="1"/>
                </p:cNvSpPr>
                <p:nvPr/>
              </p:nvSpPr>
              <p:spPr bwMode="auto">
                <a:xfrm>
                  <a:off x="230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10" name="Line 1509"/>
                <p:cNvSpPr>
                  <a:spLocks noChangeShapeType="1"/>
                </p:cNvSpPr>
                <p:nvPr/>
              </p:nvSpPr>
              <p:spPr bwMode="auto">
                <a:xfrm>
                  <a:off x="2592" y="22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11" name="Line 1510"/>
                <p:cNvSpPr>
                  <a:spLocks noChangeShapeType="1"/>
                </p:cNvSpPr>
                <p:nvPr/>
              </p:nvSpPr>
              <p:spPr bwMode="auto">
                <a:xfrm>
                  <a:off x="2592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12" name="Line 1511"/>
                <p:cNvSpPr>
                  <a:spLocks noChangeShapeType="1"/>
                </p:cNvSpPr>
                <p:nvPr/>
              </p:nvSpPr>
              <p:spPr bwMode="auto">
                <a:xfrm>
                  <a:off x="2592" y="230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9234" name="Rectangle 1512"/>
            <p:cNvSpPr>
              <a:spLocks noChangeArrowheads="1"/>
            </p:cNvSpPr>
            <p:nvPr/>
          </p:nvSpPr>
          <p:spPr bwMode="auto">
            <a:xfrm>
              <a:off x="1651" y="1272"/>
              <a:ext cx="204" cy="204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r>
                <a:rPr lang="en-US" altLang="en-US" sz="1400">
                  <a:solidFill>
                    <a:schemeClr val="bg1"/>
                  </a:solidFill>
                </a:rPr>
                <a:t>Block RAMs</a:t>
              </a:r>
            </a:p>
          </p:txBody>
        </p:sp>
        <p:sp>
          <p:nvSpPr>
            <p:cNvPr id="9235" name="Rectangle 1513"/>
            <p:cNvSpPr>
              <a:spLocks noChangeArrowheads="1"/>
            </p:cNvSpPr>
            <p:nvPr/>
          </p:nvSpPr>
          <p:spPr bwMode="auto">
            <a:xfrm>
              <a:off x="3481" y="1272"/>
              <a:ext cx="204" cy="204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r>
                <a:rPr lang="en-US" altLang="en-US" sz="1400">
                  <a:solidFill>
                    <a:schemeClr val="bg1"/>
                  </a:solidFill>
                </a:rPr>
                <a:t>Block RAMs</a:t>
              </a:r>
            </a:p>
          </p:txBody>
        </p:sp>
        <p:grpSp>
          <p:nvGrpSpPr>
            <p:cNvPr id="9618" name="Group 1514"/>
            <p:cNvGrpSpPr>
              <a:grpSpLocks/>
            </p:cNvGrpSpPr>
            <p:nvPr/>
          </p:nvGrpSpPr>
          <p:grpSpPr bwMode="auto">
            <a:xfrm>
              <a:off x="1900" y="1818"/>
              <a:ext cx="1536" cy="204"/>
              <a:chOff x="3216" y="2304"/>
              <a:chExt cx="3264" cy="432"/>
            </a:xfrm>
          </p:grpSpPr>
          <p:grpSp>
            <p:nvGrpSpPr>
              <p:cNvPr id="9619" name="Group 1515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879" name="Rectangle 151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880" name="Line 151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81" name="Line 151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82" name="Line 151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83" name="Line 152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84" name="Line 152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85" name="Line 152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86" name="Line 152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87" name="Line 152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20" name="Group 1525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870" name="Rectangle 152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871" name="Line 152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72" name="Line 152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73" name="Line 152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74" name="Line 153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75" name="Line 153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76" name="Line 153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77" name="Line 153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78" name="Line 153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21" name="Group 1535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861" name="Rectangle 153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862" name="Line 153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3" name="Line 153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4" name="Line 153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5" name="Line 154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6" name="Line 154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7" name="Line 154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8" name="Line 154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9" name="Line 154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22" name="Group 1545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852" name="Rectangle 154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853" name="Line 154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4" name="Line 154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5" name="Line 154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6" name="Line 155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7" name="Line 155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8" name="Line 155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9" name="Line 155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60" name="Line 155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23" name="Group 1555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843" name="Rectangle 155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844" name="Line 155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5" name="Line 155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6" name="Line 155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7" name="Line 156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8" name="Line 156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9" name="Line 156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0" name="Line 156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51" name="Line 156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24" name="Group 1565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834" name="Rectangle 156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835" name="Line 156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6" name="Line 156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7" name="Line 156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8" name="Line 157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9" name="Line 157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0" name="Line 157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1" name="Line 157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42" name="Line 157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88" name="Group 1575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825" name="Rectangle 157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826" name="Line 157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27" name="Line 157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28" name="Line 157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29" name="Line 158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0" name="Line 158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1" name="Line 158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2" name="Line 158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33" name="Line 158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9237" name="Rectangle 1586"/>
            <p:cNvSpPr>
              <a:spLocks noChangeArrowheads="1"/>
            </p:cNvSpPr>
            <p:nvPr/>
          </p:nvSpPr>
          <p:spPr bwMode="auto">
            <a:xfrm>
              <a:off x="1313" y="977"/>
              <a:ext cx="2688" cy="270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 altLang="en-US"/>
            </a:p>
          </p:txBody>
        </p:sp>
        <p:sp>
          <p:nvSpPr>
            <p:cNvPr id="9238" name="Line 1587"/>
            <p:cNvSpPr>
              <a:spLocks noChangeShapeType="1"/>
            </p:cNvSpPr>
            <p:nvPr/>
          </p:nvSpPr>
          <p:spPr bwMode="auto">
            <a:xfrm>
              <a:off x="1583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9" name="Line 1588"/>
            <p:cNvSpPr>
              <a:spLocks noChangeShapeType="1"/>
            </p:cNvSpPr>
            <p:nvPr/>
          </p:nvSpPr>
          <p:spPr bwMode="auto">
            <a:xfrm>
              <a:off x="1698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Line 1589"/>
            <p:cNvSpPr>
              <a:spLocks noChangeShapeType="1"/>
            </p:cNvSpPr>
            <p:nvPr/>
          </p:nvSpPr>
          <p:spPr bwMode="auto">
            <a:xfrm>
              <a:off x="1810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Line 1590"/>
            <p:cNvSpPr>
              <a:spLocks noChangeShapeType="1"/>
            </p:cNvSpPr>
            <p:nvPr/>
          </p:nvSpPr>
          <p:spPr bwMode="auto">
            <a:xfrm>
              <a:off x="1923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2" name="Line 1591"/>
            <p:cNvSpPr>
              <a:spLocks noChangeShapeType="1"/>
            </p:cNvSpPr>
            <p:nvPr/>
          </p:nvSpPr>
          <p:spPr bwMode="auto">
            <a:xfrm>
              <a:off x="2036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Line 1592"/>
            <p:cNvSpPr>
              <a:spLocks noChangeShapeType="1"/>
            </p:cNvSpPr>
            <p:nvPr/>
          </p:nvSpPr>
          <p:spPr bwMode="auto">
            <a:xfrm>
              <a:off x="2149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4" name="Line 1593"/>
            <p:cNvSpPr>
              <a:spLocks noChangeShapeType="1"/>
            </p:cNvSpPr>
            <p:nvPr/>
          </p:nvSpPr>
          <p:spPr bwMode="auto">
            <a:xfrm>
              <a:off x="2262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5" name="Line 1594"/>
            <p:cNvSpPr>
              <a:spLocks noChangeShapeType="1"/>
            </p:cNvSpPr>
            <p:nvPr/>
          </p:nvSpPr>
          <p:spPr bwMode="auto">
            <a:xfrm>
              <a:off x="2375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6" name="Line 1595"/>
            <p:cNvSpPr>
              <a:spLocks noChangeShapeType="1"/>
            </p:cNvSpPr>
            <p:nvPr/>
          </p:nvSpPr>
          <p:spPr bwMode="auto">
            <a:xfrm>
              <a:off x="2487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7" name="Line 1596"/>
            <p:cNvSpPr>
              <a:spLocks noChangeShapeType="1"/>
            </p:cNvSpPr>
            <p:nvPr/>
          </p:nvSpPr>
          <p:spPr bwMode="auto">
            <a:xfrm>
              <a:off x="2600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8" name="Line 1597"/>
            <p:cNvSpPr>
              <a:spLocks noChangeShapeType="1"/>
            </p:cNvSpPr>
            <p:nvPr/>
          </p:nvSpPr>
          <p:spPr bwMode="auto">
            <a:xfrm>
              <a:off x="2713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9" name="Line 1598"/>
            <p:cNvSpPr>
              <a:spLocks noChangeShapeType="1"/>
            </p:cNvSpPr>
            <p:nvPr/>
          </p:nvSpPr>
          <p:spPr bwMode="auto">
            <a:xfrm>
              <a:off x="2826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0" name="Line 1599"/>
            <p:cNvSpPr>
              <a:spLocks noChangeShapeType="1"/>
            </p:cNvSpPr>
            <p:nvPr/>
          </p:nvSpPr>
          <p:spPr bwMode="auto">
            <a:xfrm>
              <a:off x="2939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1" name="Line 1600"/>
            <p:cNvSpPr>
              <a:spLocks noChangeShapeType="1"/>
            </p:cNvSpPr>
            <p:nvPr/>
          </p:nvSpPr>
          <p:spPr bwMode="auto">
            <a:xfrm>
              <a:off x="3052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2" name="Line 1601"/>
            <p:cNvSpPr>
              <a:spLocks noChangeShapeType="1"/>
            </p:cNvSpPr>
            <p:nvPr/>
          </p:nvSpPr>
          <p:spPr bwMode="auto">
            <a:xfrm>
              <a:off x="3166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3" name="Line 1602"/>
            <p:cNvSpPr>
              <a:spLocks noChangeShapeType="1"/>
            </p:cNvSpPr>
            <p:nvPr/>
          </p:nvSpPr>
          <p:spPr bwMode="auto">
            <a:xfrm>
              <a:off x="3279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4" name="Line 1603"/>
            <p:cNvSpPr>
              <a:spLocks noChangeShapeType="1"/>
            </p:cNvSpPr>
            <p:nvPr/>
          </p:nvSpPr>
          <p:spPr bwMode="auto">
            <a:xfrm>
              <a:off x="3392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5" name="Line 1604"/>
            <p:cNvSpPr>
              <a:spLocks noChangeShapeType="1"/>
            </p:cNvSpPr>
            <p:nvPr/>
          </p:nvSpPr>
          <p:spPr bwMode="auto">
            <a:xfrm>
              <a:off x="3504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6" name="Line 1605"/>
            <p:cNvSpPr>
              <a:spLocks noChangeShapeType="1"/>
            </p:cNvSpPr>
            <p:nvPr/>
          </p:nvSpPr>
          <p:spPr bwMode="auto">
            <a:xfrm>
              <a:off x="3617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7" name="Line 1606"/>
            <p:cNvSpPr>
              <a:spLocks noChangeShapeType="1"/>
            </p:cNvSpPr>
            <p:nvPr/>
          </p:nvSpPr>
          <p:spPr bwMode="auto">
            <a:xfrm>
              <a:off x="3730" y="3679"/>
              <a:ext cx="0" cy="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689" name="Group 1607"/>
            <p:cNvGrpSpPr>
              <a:grpSpLocks/>
            </p:cNvGrpSpPr>
            <p:nvPr/>
          </p:nvGrpSpPr>
          <p:grpSpPr bwMode="auto">
            <a:xfrm>
              <a:off x="1583" y="864"/>
              <a:ext cx="2147" cy="113"/>
              <a:chOff x="2544" y="288"/>
              <a:chExt cx="4560" cy="240"/>
            </a:xfrm>
          </p:grpSpPr>
          <p:sp>
            <p:nvSpPr>
              <p:cNvPr id="9798" name="Line 1608"/>
              <p:cNvSpPr>
                <a:spLocks noChangeShapeType="1"/>
              </p:cNvSpPr>
              <p:nvPr/>
            </p:nvSpPr>
            <p:spPr bwMode="auto">
              <a:xfrm>
                <a:off x="25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9" name="Line 1609"/>
              <p:cNvSpPr>
                <a:spLocks noChangeShapeType="1"/>
              </p:cNvSpPr>
              <p:nvPr/>
            </p:nvSpPr>
            <p:spPr bwMode="auto">
              <a:xfrm>
                <a:off x="27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0" name="Line 1610"/>
              <p:cNvSpPr>
                <a:spLocks noChangeShapeType="1"/>
              </p:cNvSpPr>
              <p:nvPr/>
            </p:nvSpPr>
            <p:spPr bwMode="auto">
              <a:xfrm>
                <a:off x="30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1" name="Line 1611"/>
              <p:cNvSpPr>
                <a:spLocks noChangeShapeType="1"/>
              </p:cNvSpPr>
              <p:nvPr/>
            </p:nvSpPr>
            <p:spPr bwMode="auto">
              <a:xfrm>
                <a:off x="32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2" name="Line 1612"/>
              <p:cNvSpPr>
                <a:spLocks noChangeShapeType="1"/>
              </p:cNvSpPr>
              <p:nvPr/>
            </p:nvSpPr>
            <p:spPr bwMode="auto">
              <a:xfrm>
                <a:off x="35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3" name="Line 1613"/>
              <p:cNvSpPr>
                <a:spLocks noChangeShapeType="1"/>
              </p:cNvSpPr>
              <p:nvPr/>
            </p:nvSpPr>
            <p:spPr bwMode="auto">
              <a:xfrm>
                <a:off x="37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4" name="Line 1614"/>
              <p:cNvSpPr>
                <a:spLocks noChangeShapeType="1"/>
              </p:cNvSpPr>
              <p:nvPr/>
            </p:nvSpPr>
            <p:spPr bwMode="auto">
              <a:xfrm>
                <a:off x="39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5" name="Line 1615"/>
              <p:cNvSpPr>
                <a:spLocks noChangeShapeType="1"/>
              </p:cNvSpPr>
              <p:nvPr/>
            </p:nvSpPr>
            <p:spPr bwMode="auto">
              <a:xfrm>
                <a:off x="42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6" name="Line 1616"/>
              <p:cNvSpPr>
                <a:spLocks noChangeShapeType="1"/>
              </p:cNvSpPr>
              <p:nvPr/>
            </p:nvSpPr>
            <p:spPr bwMode="auto">
              <a:xfrm>
                <a:off x="44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7" name="Line 1617"/>
              <p:cNvSpPr>
                <a:spLocks noChangeShapeType="1"/>
              </p:cNvSpPr>
              <p:nvPr/>
            </p:nvSpPr>
            <p:spPr bwMode="auto">
              <a:xfrm>
                <a:off x="47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8" name="Line 1618"/>
              <p:cNvSpPr>
                <a:spLocks noChangeShapeType="1"/>
              </p:cNvSpPr>
              <p:nvPr/>
            </p:nvSpPr>
            <p:spPr bwMode="auto">
              <a:xfrm>
                <a:off x="49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09" name="Line 1619"/>
              <p:cNvSpPr>
                <a:spLocks noChangeShapeType="1"/>
              </p:cNvSpPr>
              <p:nvPr/>
            </p:nvSpPr>
            <p:spPr bwMode="auto">
              <a:xfrm>
                <a:off x="51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0" name="Line 1620"/>
              <p:cNvSpPr>
                <a:spLocks noChangeShapeType="1"/>
              </p:cNvSpPr>
              <p:nvPr/>
            </p:nvSpPr>
            <p:spPr bwMode="auto">
              <a:xfrm>
                <a:off x="54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1" name="Line 1621"/>
              <p:cNvSpPr>
                <a:spLocks noChangeShapeType="1"/>
              </p:cNvSpPr>
              <p:nvPr/>
            </p:nvSpPr>
            <p:spPr bwMode="auto">
              <a:xfrm>
                <a:off x="56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2" name="Line 1622"/>
              <p:cNvSpPr>
                <a:spLocks noChangeShapeType="1"/>
              </p:cNvSpPr>
              <p:nvPr/>
            </p:nvSpPr>
            <p:spPr bwMode="auto">
              <a:xfrm>
                <a:off x="59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3" name="Line 1623"/>
              <p:cNvSpPr>
                <a:spLocks noChangeShapeType="1"/>
              </p:cNvSpPr>
              <p:nvPr/>
            </p:nvSpPr>
            <p:spPr bwMode="auto">
              <a:xfrm>
                <a:off x="61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4" name="Line 1624"/>
              <p:cNvSpPr>
                <a:spLocks noChangeShapeType="1"/>
              </p:cNvSpPr>
              <p:nvPr/>
            </p:nvSpPr>
            <p:spPr bwMode="auto">
              <a:xfrm>
                <a:off x="63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5" name="Line 1625"/>
              <p:cNvSpPr>
                <a:spLocks noChangeShapeType="1"/>
              </p:cNvSpPr>
              <p:nvPr/>
            </p:nvSpPr>
            <p:spPr bwMode="auto">
              <a:xfrm>
                <a:off x="66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6" name="Line 1626"/>
              <p:cNvSpPr>
                <a:spLocks noChangeShapeType="1"/>
              </p:cNvSpPr>
              <p:nvPr/>
            </p:nvSpPr>
            <p:spPr bwMode="auto">
              <a:xfrm>
                <a:off x="68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17" name="Line 1627"/>
              <p:cNvSpPr>
                <a:spLocks noChangeShapeType="1"/>
              </p:cNvSpPr>
              <p:nvPr/>
            </p:nvSpPr>
            <p:spPr bwMode="auto">
              <a:xfrm>
                <a:off x="71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690" name="Group 1628"/>
            <p:cNvGrpSpPr>
              <a:grpSpLocks/>
            </p:cNvGrpSpPr>
            <p:nvPr/>
          </p:nvGrpSpPr>
          <p:grpSpPr bwMode="auto">
            <a:xfrm rot="5400000">
              <a:off x="2961" y="2271"/>
              <a:ext cx="2157" cy="112"/>
              <a:chOff x="2544" y="288"/>
              <a:chExt cx="4560" cy="240"/>
            </a:xfrm>
          </p:grpSpPr>
          <p:sp>
            <p:nvSpPr>
              <p:cNvPr id="9778" name="Line 1629"/>
              <p:cNvSpPr>
                <a:spLocks noChangeShapeType="1"/>
              </p:cNvSpPr>
              <p:nvPr/>
            </p:nvSpPr>
            <p:spPr bwMode="auto">
              <a:xfrm>
                <a:off x="25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9" name="Line 1630"/>
              <p:cNvSpPr>
                <a:spLocks noChangeShapeType="1"/>
              </p:cNvSpPr>
              <p:nvPr/>
            </p:nvSpPr>
            <p:spPr bwMode="auto">
              <a:xfrm>
                <a:off x="27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0" name="Line 1631"/>
              <p:cNvSpPr>
                <a:spLocks noChangeShapeType="1"/>
              </p:cNvSpPr>
              <p:nvPr/>
            </p:nvSpPr>
            <p:spPr bwMode="auto">
              <a:xfrm>
                <a:off x="30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1" name="Line 1632"/>
              <p:cNvSpPr>
                <a:spLocks noChangeShapeType="1"/>
              </p:cNvSpPr>
              <p:nvPr/>
            </p:nvSpPr>
            <p:spPr bwMode="auto">
              <a:xfrm>
                <a:off x="32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2" name="Line 1633"/>
              <p:cNvSpPr>
                <a:spLocks noChangeShapeType="1"/>
              </p:cNvSpPr>
              <p:nvPr/>
            </p:nvSpPr>
            <p:spPr bwMode="auto">
              <a:xfrm>
                <a:off x="35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3" name="Line 1634"/>
              <p:cNvSpPr>
                <a:spLocks noChangeShapeType="1"/>
              </p:cNvSpPr>
              <p:nvPr/>
            </p:nvSpPr>
            <p:spPr bwMode="auto">
              <a:xfrm>
                <a:off x="37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4" name="Line 1635"/>
              <p:cNvSpPr>
                <a:spLocks noChangeShapeType="1"/>
              </p:cNvSpPr>
              <p:nvPr/>
            </p:nvSpPr>
            <p:spPr bwMode="auto">
              <a:xfrm>
                <a:off x="39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5" name="Line 1636"/>
              <p:cNvSpPr>
                <a:spLocks noChangeShapeType="1"/>
              </p:cNvSpPr>
              <p:nvPr/>
            </p:nvSpPr>
            <p:spPr bwMode="auto">
              <a:xfrm>
                <a:off x="42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6" name="Line 1637"/>
              <p:cNvSpPr>
                <a:spLocks noChangeShapeType="1"/>
              </p:cNvSpPr>
              <p:nvPr/>
            </p:nvSpPr>
            <p:spPr bwMode="auto">
              <a:xfrm>
                <a:off x="44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7" name="Line 1638"/>
              <p:cNvSpPr>
                <a:spLocks noChangeShapeType="1"/>
              </p:cNvSpPr>
              <p:nvPr/>
            </p:nvSpPr>
            <p:spPr bwMode="auto">
              <a:xfrm>
                <a:off x="47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8" name="Line 1639"/>
              <p:cNvSpPr>
                <a:spLocks noChangeShapeType="1"/>
              </p:cNvSpPr>
              <p:nvPr/>
            </p:nvSpPr>
            <p:spPr bwMode="auto">
              <a:xfrm>
                <a:off x="49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89" name="Line 1640"/>
              <p:cNvSpPr>
                <a:spLocks noChangeShapeType="1"/>
              </p:cNvSpPr>
              <p:nvPr/>
            </p:nvSpPr>
            <p:spPr bwMode="auto">
              <a:xfrm>
                <a:off x="51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0" name="Line 1641"/>
              <p:cNvSpPr>
                <a:spLocks noChangeShapeType="1"/>
              </p:cNvSpPr>
              <p:nvPr/>
            </p:nvSpPr>
            <p:spPr bwMode="auto">
              <a:xfrm>
                <a:off x="54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1" name="Line 1642"/>
              <p:cNvSpPr>
                <a:spLocks noChangeShapeType="1"/>
              </p:cNvSpPr>
              <p:nvPr/>
            </p:nvSpPr>
            <p:spPr bwMode="auto">
              <a:xfrm>
                <a:off x="56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2" name="Line 1643"/>
              <p:cNvSpPr>
                <a:spLocks noChangeShapeType="1"/>
              </p:cNvSpPr>
              <p:nvPr/>
            </p:nvSpPr>
            <p:spPr bwMode="auto">
              <a:xfrm>
                <a:off x="59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3" name="Line 1644"/>
              <p:cNvSpPr>
                <a:spLocks noChangeShapeType="1"/>
              </p:cNvSpPr>
              <p:nvPr/>
            </p:nvSpPr>
            <p:spPr bwMode="auto">
              <a:xfrm>
                <a:off x="61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4" name="Line 1645"/>
              <p:cNvSpPr>
                <a:spLocks noChangeShapeType="1"/>
              </p:cNvSpPr>
              <p:nvPr/>
            </p:nvSpPr>
            <p:spPr bwMode="auto">
              <a:xfrm>
                <a:off x="63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5" name="Line 1646"/>
              <p:cNvSpPr>
                <a:spLocks noChangeShapeType="1"/>
              </p:cNvSpPr>
              <p:nvPr/>
            </p:nvSpPr>
            <p:spPr bwMode="auto">
              <a:xfrm>
                <a:off x="66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6" name="Line 1647"/>
              <p:cNvSpPr>
                <a:spLocks noChangeShapeType="1"/>
              </p:cNvSpPr>
              <p:nvPr/>
            </p:nvSpPr>
            <p:spPr bwMode="auto">
              <a:xfrm>
                <a:off x="68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97" name="Line 1648"/>
              <p:cNvSpPr>
                <a:spLocks noChangeShapeType="1"/>
              </p:cNvSpPr>
              <p:nvPr/>
            </p:nvSpPr>
            <p:spPr bwMode="auto">
              <a:xfrm>
                <a:off x="71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691" name="Group 1649"/>
            <p:cNvGrpSpPr>
              <a:grpSpLocks/>
            </p:cNvGrpSpPr>
            <p:nvPr/>
          </p:nvGrpSpPr>
          <p:grpSpPr bwMode="auto">
            <a:xfrm rot="5400000">
              <a:off x="178" y="2272"/>
              <a:ext cx="2157" cy="113"/>
              <a:chOff x="2544" y="288"/>
              <a:chExt cx="4560" cy="240"/>
            </a:xfrm>
          </p:grpSpPr>
          <p:sp>
            <p:nvSpPr>
              <p:cNvPr id="9758" name="Line 1650"/>
              <p:cNvSpPr>
                <a:spLocks noChangeShapeType="1"/>
              </p:cNvSpPr>
              <p:nvPr/>
            </p:nvSpPr>
            <p:spPr bwMode="auto">
              <a:xfrm>
                <a:off x="25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59" name="Line 1651"/>
              <p:cNvSpPr>
                <a:spLocks noChangeShapeType="1"/>
              </p:cNvSpPr>
              <p:nvPr/>
            </p:nvSpPr>
            <p:spPr bwMode="auto">
              <a:xfrm>
                <a:off x="27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0" name="Line 1652"/>
              <p:cNvSpPr>
                <a:spLocks noChangeShapeType="1"/>
              </p:cNvSpPr>
              <p:nvPr/>
            </p:nvSpPr>
            <p:spPr bwMode="auto">
              <a:xfrm>
                <a:off x="30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1" name="Line 1653"/>
              <p:cNvSpPr>
                <a:spLocks noChangeShapeType="1"/>
              </p:cNvSpPr>
              <p:nvPr/>
            </p:nvSpPr>
            <p:spPr bwMode="auto">
              <a:xfrm>
                <a:off x="32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2" name="Line 1654"/>
              <p:cNvSpPr>
                <a:spLocks noChangeShapeType="1"/>
              </p:cNvSpPr>
              <p:nvPr/>
            </p:nvSpPr>
            <p:spPr bwMode="auto">
              <a:xfrm>
                <a:off x="35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3" name="Line 1655"/>
              <p:cNvSpPr>
                <a:spLocks noChangeShapeType="1"/>
              </p:cNvSpPr>
              <p:nvPr/>
            </p:nvSpPr>
            <p:spPr bwMode="auto">
              <a:xfrm>
                <a:off x="37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4" name="Line 1656"/>
              <p:cNvSpPr>
                <a:spLocks noChangeShapeType="1"/>
              </p:cNvSpPr>
              <p:nvPr/>
            </p:nvSpPr>
            <p:spPr bwMode="auto">
              <a:xfrm>
                <a:off x="39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5" name="Line 1657"/>
              <p:cNvSpPr>
                <a:spLocks noChangeShapeType="1"/>
              </p:cNvSpPr>
              <p:nvPr/>
            </p:nvSpPr>
            <p:spPr bwMode="auto">
              <a:xfrm>
                <a:off x="42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6" name="Line 1658"/>
              <p:cNvSpPr>
                <a:spLocks noChangeShapeType="1"/>
              </p:cNvSpPr>
              <p:nvPr/>
            </p:nvSpPr>
            <p:spPr bwMode="auto">
              <a:xfrm>
                <a:off x="44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7" name="Line 1659"/>
              <p:cNvSpPr>
                <a:spLocks noChangeShapeType="1"/>
              </p:cNvSpPr>
              <p:nvPr/>
            </p:nvSpPr>
            <p:spPr bwMode="auto">
              <a:xfrm>
                <a:off x="47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8" name="Line 1660"/>
              <p:cNvSpPr>
                <a:spLocks noChangeShapeType="1"/>
              </p:cNvSpPr>
              <p:nvPr/>
            </p:nvSpPr>
            <p:spPr bwMode="auto">
              <a:xfrm>
                <a:off x="49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69" name="Line 1661"/>
              <p:cNvSpPr>
                <a:spLocks noChangeShapeType="1"/>
              </p:cNvSpPr>
              <p:nvPr/>
            </p:nvSpPr>
            <p:spPr bwMode="auto">
              <a:xfrm>
                <a:off x="51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0" name="Line 1662"/>
              <p:cNvSpPr>
                <a:spLocks noChangeShapeType="1"/>
              </p:cNvSpPr>
              <p:nvPr/>
            </p:nvSpPr>
            <p:spPr bwMode="auto">
              <a:xfrm>
                <a:off x="54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1" name="Line 1663"/>
              <p:cNvSpPr>
                <a:spLocks noChangeShapeType="1"/>
              </p:cNvSpPr>
              <p:nvPr/>
            </p:nvSpPr>
            <p:spPr bwMode="auto">
              <a:xfrm>
                <a:off x="56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2" name="Line 1664"/>
              <p:cNvSpPr>
                <a:spLocks noChangeShapeType="1"/>
              </p:cNvSpPr>
              <p:nvPr/>
            </p:nvSpPr>
            <p:spPr bwMode="auto">
              <a:xfrm>
                <a:off x="59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3" name="Line 1665"/>
              <p:cNvSpPr>
                <a:spLocks noChangeShapeType="1"/>
              </p:cNvSpPr>
              <p:nvPr/>
            </p:nvSpPr>
            <p:spPr bwMode="auto">
              <a:xfrm>
                <a:off x="614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4" name="Line 1666"/>
              <p:cNvSpPr>
                <a:spLocks noChangeShapeType="1"/>
              </p:cNvSpPr>
              <p:nvPr/>
            </p:nvSpPr>
            <p:spPr bwMode="auto">
              <a:xfrm>
                <a:off x="638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5" name="Line 1667"/>
              <p:cNvSpPr>
                <a:spLocks noChangeShapeType="1"/>
              </p:cNvSpPr>
              <p:nvPr/>
            </p:nvSpPr>
            <p:spPr bwMode="auto">
              <a:xfrm>
                <a:off x="662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6" name="Line 1668"/>
              <p:cNvSpPr>
                <a:spLocks noChangeShapeType="1"/>
              </p:cNvSpPr>
              <p:nvPr/>
            </p:nvSpPr>
            <p:spPr bwMode="auto">
              <a:xfrm>
                <a:off x="686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77" name="Line 1669"/>
              <p:cNvSpPr>
                <a:spLocks noChangeShapeType="1"/>
              </p:cNvSpPr>
              <p:nvPr/>
            </p:nvSpPr>
            <p:spPr bwMode="auto">
              <a:xfrm>
                <a:off x="7104" y="28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692" name="Group 1670"/>
            <p:cNvGrpSpPr>
              <a:grpSpLocks/>
            </p:cNvGrpSpPr>
            <p:nvPr/>
          </p:nvGrpSpPr>
          <p:grpSpPr bwMode="auto">
            <a:xfrm>
              <a:off x="1900" y="2067"/>
              <a:ext cx="1536" cy="204"/>
              <a:chOff x="3216" y="2304"/>
              <a:chExt cx="3264" cy="432"/>
            </a:xfrm>
          </p:grpSpPr>
          <p:grpSp>
            <p:nvGrpSpPr>
              <p:cNvPr id="9693" name="Group 1671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749" name="Rectangle 1672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750" name="Line 1673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51" name="Line 1674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52" name="Line 1675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53" name="Line 1676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54" name="Line 1677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55" name="Line 1678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56" name="Line 1679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57" name="Line 1680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94" name="Group 1681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740" name="Rectangle 1682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741" name="Line 1683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42" name="Line 1684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43" name="Line 1685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44" name="Line 1686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45" name="Line 1687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46" name="Line 1688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47" name="Line 1689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48" name="Line 1690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18" name="Group 1691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731" name="Rectangle 1692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732" name="Line 1693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3" name="Line 1694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4" name="Line 1695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5" name="Line 1696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6" name="Line 1697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7" name="Line 1698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8" name="Line 1699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9" name="Line 1700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19" name="Group 1701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722" name="Rectangle 1702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723" name="Line 1703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4" name="Line 1704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5" name="Line 1705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6" name="Line 1706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7" name="Line 1707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8" name="Line 1708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9" name="Line 1709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30" name="Line 1710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20" name="Group 1711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713" name="Rectangle 1712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714" name="Line 1713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5" name="Line 1714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6" name="Line 1715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7" name="Line 1716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8" name="Line 1717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9" name="Line 1718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0" name="Line 1719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21" name="Line 1720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21" name="Group 1721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704" name="Rectangle 1722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705" name="Line 1723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6" name="Line 1724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7" name="Line 1725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8" name="Line 1726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9" name="Line 1727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0" name="Line 1728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1" name="Line 1729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12" name="Line 1730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22" name="Group 1731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695" name="Rectangle 1732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96" name="Line 1733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97" name="Line 1734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98" name="Line 1735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99" name="Line 1736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0" name="Line 1737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1" name="Line 1738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2" name="Line 1739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03" name="Line 1740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823" name="Group 1741"/>
            <p:cNvGrpSpPr>
              <a:grpSpLocks/>
            </p:cNvGrpSpPr>
            <p:nvPr/>
          </p:nvGrpSpPr>
          <p:grpSpPr bwMode="auto">
            <a:xfrm>
              <a:off x="1900" y="2317"/>
              <a:ext cx="1536" cy="204"/>
              <a:chOff x="3216" y="2304"/>
              <a:chExt cx="3264" cy="432"/>
            </a:xfrm>
          </p:grpSpPr>
          <p:grpSp>
            <p:nvGrpSpPr>
              <p:cNvPr id="9824" name="Group 1742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679" name="Rectangle 174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80" name="Line 174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81" name="Line 174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82" name="Line 174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83" name="Line 174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84" name="Line 174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85" name="Line 174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86" name="Line 175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87" name="Line 175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88" name="Group 1752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670" name="Rectangle 175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71" name="Line 175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72" name="Line 175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73" name="Line 175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74" name="Line 175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75" name="Line 175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76" name="Line 175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77" name="Line 176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78" name="Line 176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89" name="Group 1762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661" name="Rectangle 176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62" name="Line 176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3" name="Line 176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4" name="Line 176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5" name="Line 176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6" name="Line 176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7" name="Line 176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8" name="Line 177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9" name="Line 177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0" name="Group 1772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652" name="Rectangle 177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53" name="Line 177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4" name="Line 177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5" name="Line 177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6" name="Line 177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7" name="Line 177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8" name="Line 177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9" name="Line 178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60" name="Line 178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1" name="Group 1782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643" name="Rectangle 178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44" name="Line 178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5" name="Line 178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6" name="Line 178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7" name="Line 178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8" name="Line 178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9" name="Line 178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0" name="Line 179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51" name="Line 179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2" name="Group 1792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634" name="Rectangle 179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35" name="Line 179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6" name="Line 179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7" name="Line 179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8" name="Line 179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9" name="Line 179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0" name="Line 179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1" name="Line 180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42" name="Line 180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3" name="Group 1802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625" name="Rectangle 180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26" name="Line 180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27" name="Line 180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28" name="Line 180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29" name="Line 180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0" name="Line 180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1" name="Line 180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2" name="Line 181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33" name="Line 181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894" name="Group 1812"/>
            <p:cNvGrpSpPr>
              <a:grpSpLocks/>
            </p:cNvGrpSpPr>
            <p:nvPr/>
          </p:nvGrpSpPr>
          <p:grpSpPr bwMode="auto">
            <a:xfrm>
              <a:off x="1900" y="2566"/>
              <a:ext cx="1536" cy="206"/>
              <a:chOff x="3216" y="2304"/>
              <a:chExt cx="3264" cy="432"/>
            </a:xfrm>
          </p:grpSpPr>
          <p:grpSp>
            <p:nvGrpSpPr>
              <p:cNvPr id="9895" name="Group 1813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609" name="Rectangle 181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10" name="Line 181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11" name="Line 181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12" name="Line 181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13" name="Line 181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14" name="Line 181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15" name="Line 182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16" name="Line 182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17" name="Line 182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6" name="Group 1823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600" name="Rectangle 182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601" name="Line 182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02" name="Line 182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03" name="Line 182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04" name="Line 182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05" name="Line 182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06" name="Line 183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07" name="Line 183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08" name="Line 183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7" name="Group 1833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591" name="Rectangle 183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92" name="Line 183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3" name="Line 183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4" name="Line 183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5" name="Line 183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6" name="Line 183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7" name="Line 184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8" name="Line 184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9" name="Line 184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8" name="Group 1843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582" name="Rectangle 184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83" name="Line 184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4" name="Line 184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5" name="Line 184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6" name="Line 184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7" name="Line 184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8" name="Line 185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9" name="Line 185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90" name="Line 185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899" name="Group 1853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573" name="Rectangle 185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74" name="Line 185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5" name="Line 185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6" name="Line 185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7" name="Line 185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8" name="Line 185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9" name="Line 186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0" name="Line 186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81" name="Line 186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00" name="Group 1863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564" name="Rectangle 186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65" name="Line 186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6" name="Line 186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7" name="Line 186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8" name="Line 186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9" name="Line 186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0" name="Line 187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1" name="Line 187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72" name="Line 187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01" name="Group 1873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555" name="Rectangle 187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56" name="Line 187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57" name="Line 187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58" name="Line 187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59" name="Line 187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0" name="Line 187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1" name="Line 188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2" name="Line 188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63" name="Line 188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902" name="Group 1883"/>
            <p:cNvGrpSpPr>
              <a:grpSpLocks/>
            </p:cNvGrpSpPr>
            <p:nvPr/>
          </p:nvGrpSpPr>
          <p:grpSpPr bwMode="auto">
            <a:xfrm>
              <a:off x="1900" y="2817"/>
              <a:ext cx="1536" cy="204"/>
              <a:chOff x="3216" y="2304"/>
              <a:chExt cx="3264" cy="432"/>
            </a:xfrm>
          </p:grpSpPr>
          <p:grpSp>
            <p:nvGrpSpPr>
              <p:cNvPr id="9903" name="Group 1884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539" name="Rectangle 1885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40" name="Line 1886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41" name="Line 1887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42" name="Line 1888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43" name="Line 1889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44" name="Line 1890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45" name="Line 1891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46" name="Line 1892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47" name="Line 1893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04" name="Group 1894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530" name="Rectangle 1895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31" name="Line 1896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32" name="Line 1897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33" name="Line 1898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34" name="Line 1899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35" name="Line 1900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36" name="Line 1901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37" name="Line 1902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38" name="Line 1903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05" name="Group 1904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521" name="Rectangle 1905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22" name="Line 1906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3" name="Line 1907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4" name="Line 1908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5" name="Line 1909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6" name="Line 1910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7" name="Line 1911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8" name="Line 1912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9" name="Line 1913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06" name="Group 1914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512" name="Rectangle 1915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13" name="Line 1916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4" name="Line 1917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5" name="Line 1918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6" name="Line 1919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7" name="Line 1920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8" name="Line 1921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9" name="Line 1922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20" name="Line 1923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907" name="Group 1924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503" name="Rectangle 1925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504" name="Line 1926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5" name="Line 1927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6" name="Line 1928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7" name="Line 1929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8" name="Line 1930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9" name="Line 1931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0" name="Line 1932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11" name="Line 1933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08" name="Group 1934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494" name="Rectangle 1935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95" name="Line 1936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6" name="Line 1937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7" name="Line 1938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8" name="Line 1939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9" name="Line 1940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0" name="Line 1941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1" name="Line 1942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02" name="Line 1943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09" name="Group 1944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485" name="Rectangle 1945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86" name="Line 1946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87" name="Line 1947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88" name="Line 1948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89" name="Line 1949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0" name="Line 1950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1" name="Line 1951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2" name="Line 1952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93" name="Line 1953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010" name="Group 1954"/>
            <p:cNvGrpSpPr>
              <a:grpSpLocks/>
            </p:cNvGrpSpPr>
            <p:nvPr/>
          </p:nvGrpSpPr>
          <p:grpSpPr bwMode="auto">
            <a:xfrm>
              <a:off x="1900" y="3065"/>
              <a:ext cx="1536" cy="206"/>
              <a:chOff x="3216" y="2304"/>
              <a:chExt cx="3264" cy="432"/>
            </a:xfrm>
          </p:grpSpPr>
          <p:grpSp>
            <p:nvGrpSpPr>
              <p:cNvPr id="10011" name="Group 1955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469" name="Rectangle 195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70" name="Line 195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71" name="Line 195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72" name="Line 195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73" name="Line 196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74" name="Line 196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75" name="Line 196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76" name="Line 196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77" name="Line 196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12" name="Group 1965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460" name="Rectangle 196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61" name="Line 196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62" name="Line 196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63" name="Line 196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64" name="Line 197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65" name="Line 197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66" name="Line 197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67" name="Line 197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68" name="Line 197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13" name="Group 1975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451" name="Rectangle 197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52" name="Line 197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3" name="Line 197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4" name="Line 197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5" name="Line 198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6" name="Line 198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7" name="Line 198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8" name="Line 198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9" name="Line 198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14" name="Group 1985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442" name="Rectangle 198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43" name="Line 198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4" name="Line 198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5" name="Line 198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6" name="Line 199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7" name="Line 199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8" name="Line 199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9" name="Line 199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50" name="Line 199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15" name="Group 1995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433" name="Rectangle 199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34" name="Line 199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5" name="Line 199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6" name="Line 199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7" name="Line 200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8" name="Line 200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9" name="Line 200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0" name="Line 200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41" name="Line 200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16" name="Group 2005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424" name="Rectangle 200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25" name="Line 200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6" name="Line 200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7" name="Line 200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8" name="Line 201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9" name="Line 201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0" name="Line 201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1" name="Line 201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32" name="Line 201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17" name="Group 2015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415" name="Rectangle 2016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16" name="Line 2017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17" name="Line 2018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18" name="Line 2019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19" name="Line 2020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0" name="Line 2021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1" name="Line 2022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2" name="Line 2023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23" name="Line 2024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018" name="Group 2025"/>
            <p:cNvGrpSpPr>
              <a:grpSpLocks/>
            </p:cNvGrpSpPr>
            <p:nvPr/>
          </p:nvGrpSpPr>
          <p:grpSpPr bwMode="auto">
            <a:xfrm>
              <a:off x="1900" y="1567"/>
              <a:ext cx="1536" cy="204"/>
              <a:chOff x="3216" y="2304"/>
              <a:chExt cx="3264" cy="432"/>
            </a:xfrm>
          </p:grpSpPr>
          <p:grpSp>
            <p:nvGrpSpPr>
              <p:cNvPr id="10019" name="Group 2026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399" name="Rectangle 2027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400" name="Line 2028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01" name="Line 2029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02" name="Line 2030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03" name="Line 2031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04" name="Line 2032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05" name="Line 2033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06" name="Line 2034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07" name="Line 2035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20" name="Group 2036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390" name="Rectangle 2037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91" name="Line 2038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92" name="Line 2039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93" name="Line 2040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94" name="Line 2041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95" name="Line 2042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96" name="Line 2043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97" name="Line 2044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98" name="Line 2045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21" name="Group 2046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381" name="Rectangle 2047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82" name="Line 102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3" name="Line 102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4" name="Line 102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5" name="Line 102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6" name="Line 102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7" name="Line 102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8" name="Line 103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9" name="Line 103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22" name="Group 1032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372" name="Rectangle 103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73" name="Line 103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4" name="Line 103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5" name="Line 103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6" name="Line 103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7" name="Line 103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8" name="Line 103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9" name="Line 104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80" name="Line 104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23" name="Group 1042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363" name="Rectangle 104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64" name="Line 104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5" name="Line 104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6" name="Line 104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7" name="Line 104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8" name="Line 104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9" name="Line 104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0" name="Line 105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71" name="Line 105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24" name="Group 1052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354" name="Rectangle 105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55" name="Line 105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6" name="Line 105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7" name="Line 105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8" name="Line 105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9" name="Line 105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0" name="Line 105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1" name="Line 106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62" name="Line 106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025" name="Group 1062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345" name="Rectangle 1063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46" name="Line 1064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47" name="Line 1065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48" name="Line 1066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49" name="Line 1067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0" name="Line 1068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1" name="Line 1069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2" name="Line 1070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53" name="Line 1071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026" name="Group 1072"/>
            <p:cNvGrpSpPr>
              <a:grpSpLocks/>
            </p:cNvGrpSpPr>
            <p:nvPr/>
          </p:nvGrpSpPr>
          <p:grpSpPr bwMode="auto">
            <a:xfrm>
              <a:off x="1900" y="1319"/>
              <a:ext cx="1536" cy="204"/>
              <a:chOff x="3216" y="2304"/>
              <a:chExt cx="3264" cy="432"/>
            </a:xfrm>
          </p:grpSpPr>
          <p:grpSp>
            <p:nvGrpSpPr>
              <p:cNvPr id="10027" name="Group 1073"/>
              <p:cNvGrpSpPr>
                <a:grpSpLocks/>
              </p:cNvGrpSpPr>
              <p:nvPr/>
            </p:nvGrpSpPr>
            <p:grpSpPr bwMode="auto">
              <a:xfrm>
                <a:off x="3216" y="2304"/>
                <a:ext cx="384" cy="432"/>
                <a:chOff x="3984" y="2784"/>
                <a:chExt cx="384" cy="432"/>
              </a:xfrm>
            </p:grpSpPr>
            <p:sp>
              <p:nvSpPr>
                <p:cNvPr id="9329" name="Rectangle 107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30" name="Line 107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31" name="Line 107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32" name="Line 107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33" name="Line 107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34" name="Line 107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35" name="Line 108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36" name="Line 108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37" name="Line 108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28" name="Group 1083"/>
              <p:cNvGrpSpPr>
                <a:grpSpLocks/>
              </p:cNvGrpSpPr>
              <p:nvPr/>
            </p:nvGrpSpPr>
            <p:grpSpPr bwMode="auto">
              <a:xfrm>
                <a:off x="3696" y="2304"/>
                <a:ext cx="384" cy="432"/>
                <a:chOff x="3984" y="2784"/>
                <a:chExt cx="384" cy="432"/>
              </a:xfrm>
            </p:grpSpPr>
            <p:sp>
              <p:nvSpPr>
                <p:cNvPr id="9320" name="Rectangle 108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21" name="Line 108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22" name="Line 108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23" name="Line 108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24" name="Line 108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25" name="Line 108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26" name="Line 109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27" name="Line 109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28" name="Line 109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29" name="Group 1093"/>
              <p:cNvGrpSpPr>
                <a:grpSpLocks/>
              </p:cNvGrpSpPr>
              <p:nvPr/>
            </p:nvGrpSpPr>
            <p:grpSpPr bwMode="auto">
              <a:xfrm>
                <a:off x="4176" y="2304"/>
                <a:ext cx="384" cy="432"/>
                <a:chOff x="3984" y="2784"/>
                <a:chExt cx="384" cy="432"/>
              </a:xfrm>
            </p:grpSpPr>
            <p:sp>
              <p:nvSpPr>
                <p:cNvPr id="9311" name="Rectangle 109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12" name="Line 109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3" name="Line 109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4" name="Line 109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5" name="Line 109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6" name="Line 109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7" name="Line 110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8" name="Line 110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9" name="Line 110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30" name="Group 1103"/>
              <p:cNvGrpSpPr>
                <a:grpSpLocks/>
              </p:cNvGrpSpPr>
              <p:nvPr/>
            </p:nvGrpSpPr>
            <p:grpSpPr bwMode="auto">
              <a:xfrm>
                <a:off x="4656" y="2304"/>
                <a:ext cx="384" cy="432"/>
                <a:chOff x="3984" y="2784"/>
                <a:chExt cx="384" cy="432"/>
              </a:xfrm>
            </p:grpSpPr>
            <p:sp>
              <p:nvSpPr>
                <p:cNvPr id="9302" name="Rectangle 110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303" name="Line 110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4" name="Line 110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5" name="Line 110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6" name="Line 110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7" name="Line 110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8" name="Line 111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9" name="Line 111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0" name="Line 111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31" name="Group 1113"/>
              <p:cNvGrpSpPr>
                <a:grpSpLocks/>
              </p:cNvGrpSpPr>
              <p:nvPr/>
            </p:nvGrpSpPr>
            <p:grpSpPr bwMode="auto">
              <a:xfrm>
                <a:off x="5136" y="2304"/>
                <a:ext cx="384" cy="432"/>
                <a:chOff x="3984" y="2784"/>
                <a:chExt cx="384" cy="432"/>
              </a:xfrm>
            </p:grpSpPr>
            <p:sp>
              <p:nvSpPr>
                <p:cNvPr id="9293" name="Rectangle 111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294" name="Line 111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5" name="Line 111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6" name="Line 111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7" name="Line 111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8" name="Line 111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9" name="Line 112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0" name="Line 112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1" name="Line 112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32" name="Group 1123"/>
              <p:cNvGrpSpPr>
                <a:grpSpLocks/>
              </p:cNvGrpSpPr>
              <p:nvPr/>
            </p:nvGrpSpPr>
            <p:grpSpPr bwMode="auto">
              <a:xfrm>
                <a:off x="5616" y="2304"/>
                <a:ext cx="384" cy="432"/>
                <a:chOff x="3984" y="2784"/>
                <a:chExt cx="384" cy="432"/>
              </a:xfrm>
            </p:grpSpPr>
            <p:sp>
              <p:nvSpPr>
                <p:cNvPr id="9284" name="Rectangle 112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285" name="Line 112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6" name="Line 112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7" name="Line 112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8" name="Line 112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9" name="Line 112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0" name="Line 113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1" name="Line 113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2" name="Line 113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33" name="Group 1133"/>
              <p:cNvGrpSpPr>
                <a:grpSpLocks/>
              </p:cNvGrpSpPr>
              <p:nvPr/>
            </p:nvGrpSpPr>
            <p:grpSpPr bwMode="auto">
              <a:xfrm>
                <a:off x="6096" y="2304"/>
                <a:ext cx="384" cy="432"/>
                <a:chOff x="3984" y="2784"/>
                <a:chExt cx="384" cy="432"/>
              </a:xfrm>
            </p:grpSpPr>
            <p:sp>
              <p:nvSpPr>
                <p:cNvPr id="9275" name="Rectangle 1134"/>
                <p:cNvSpPr>
                  <a:spLocks noChangeArrowheads="1"/>
                </p:cNvSpPr>
                <p:nvPr/>
              </p:nvSpPr>
              <p:spPr bwMode="auto">
                <a:xfrm>
                  <a:off x="4080" y="2880"/>
                  <a:ext cx="192" cy="24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IN" altLang="en-US"/>
                </a:p>
              </p:txBody>
            </p:sp>
            <p:sp>
              <p:nvSpPr>
                <p:cNvPr id="9276" name="Line 1135"/>
                <p:cNvSpPr>
                  <a:spLocks noChangeShapeType="1"/>
                </p:cNvSpPr>
                <p:nvPr/>
              </p:nvSpPr>
              <p:spPr bwMode="auto">
                <a:xfrm>
                  <a:off x="3984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77" name="Line 1136"/>
                <p:cNvSpPr>
                  <a:spLocks noChangeShapeType="1"/>
                </p:cNvSpPr>
                <p:nvPr/>
              </p:nvSpPr>
              <p:spPr bwMode="auto">
                <a:xfrm>
                  <a:off x="3984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78" name="Line 1137"/>
                <p:cNvSpPr>
                  <a:spLocks noChangeShapeType="1"/>
                </p:cNvSpPr>
                <p:nvPr/>
              </p:nvSpPr>
              <p:spPr bwMode="auto">
                <a:xfrm>
                  <a:off x="3984" y="3024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79" name="Line 1138"/>
                <p:cNvSpPr>
                  <a:spLocks noChangeShapeType="1"/>
                </p:cNvSpPr>
                <p:nvPr/>
              </p:nvSpPr>
              <p:spPr bwMode="auto">
                <a:xfrm>
                  <a:off x="3984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0" name="Line 1139"/>
                <p:cNvSpPr>
                  <a:spLocks noChangeShapeType="1"/>
                </p:cNvSpPr>
                <p:nvPr/>
              </p:nvSpPr>
              <p:spPr bwMode="auto">
                <a:xfrm>
                  <a:off x="4272" y="292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1" name="Line 1140"/>
                <p:cNvSpPr>
                  <a:spLocks noChangeShapeType="1"/>
                </p:cNvSpPr>
                <p:nvPr/>
              </p:nvSpPr>
              <p:spPr bwMode="auto">
                <a:xfrm>
                  <a:off x="4272" y="307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2" name="Line 1141"/>
                <p:cNvSpPr>
                  <a:spLocks noChangeShapeType="1"/>
                </p:cNvSpPr>
                <p:nvPr/>
              </p:nvSpPr>
              <p:spPr bwMode="auto">
                <a:xfrm>
                  <a:off x="4176" y="278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3" name="Line 1142"/>
                <p:cNvSpPr>
                  <a:spLocks noChangeShapeType="1"/>
                </p:cNvSpPr>
                <p:nvPr/>
              </p:nvSpPr>
              <p:spPr bwMode="auto">
                <a:xfrm>
                  <a:off x="4176" y="312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9220" name="Line 1143"/>
          <p:cNvSpPr>
            <a:spLocks noChangeShapeType="1"/>
          </p:cNvSpPr>
          <p:nvPr/>
        </p:nvSpPr>
        <p:spPr bwMode="auto">
          <a:xfrm flipH="1">
            <a:off x="3962400" y="2209800"/>
            <a:ext cx="2209800" cy="750888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Line 1144"/>
          <p:cNvSpPr>
            <a:spLocks noChangeShapeType="1"/>
          </p:cNvSpPr>
          <p:nvPr/>
        </p:nvSpPr>
        <p:spPr bwMode="auto">
          <a:xfrm flipH="1">
            <a:off x="5223273" y="3451226"/>
            <a:ext cx="948928" cy="282575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Text Box 1145"/>
          <p:cNvSpPr txBox="1">
            <a:spLocks noChangeArrowheads="1"/>
          </p:cNvSpPr>
          <p:nvPr/>
        </p:nvSpPr>
        <p:spPr bwMode="auto">
          <a:xfrm>
            <a:off x="6172200" y="1600200"/>
            <a:ext cx="139987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b="1"/>
              <a:t>Configurable</a:t>
            </a:r>
          </a:p>
          <a:p>
            <a:r>
              <a:rPr lang="en-US" altLang="en-US" b="1"/>
              <a:t>Logic</a:t>
            </a:r>
          </a:p>
          <a:p>
            <a:r>
              <a:rPr lang="en-US" altLang="en-US" b="1"/>
              <a:t>Blocks</a:t>
            </a:r>
          </a:p>
        </p:txBody>
      </p:sp>
      <p:sp>
        <p:nvSpPr>
          <p:cNvPr id="9223" name="Text Box 1146"/>
          <p:cNvSpPr txBox="1">
            <a:spLocks noChangeArrowheads="1"/>
          </p:cNvSpPr>
          <p:nvPr/>
        </p:nvSpPr>
        <p:spPr bwMode="auto">
          <a:xfrm>
            <a:off x="6206729" y="3048001"/>
            <a:ext cx="79028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b="1"/>
              <a:t>I/O</a:t>
            </a:r>
          </a:p>
          <a:p>
            <a:r>
              <a:rPr lang="en-US" altLang="en-US" b="1"/>
              <a:t>Blocks</a:t>
            </a:r>
          </a:p>
        </p:txBody>
      </p:sp>
      <p:sp>
        <p:nvSpPr>
          <p:cNvPr id="9224" name="Oval 1147"/>
          <p:cNvSpPr>
            <a:spLocks noChangeArrowheads="1"/>
          </p:cNvSpPr>
          <p:nvPr/>
        </p:nvSpPr>
        <p:spPr bwMode="auto">
          <a:xfrm>
            <a:off x="3629025" y="2862263"/>
            <a:ext cx="358379" cy="360362"/>
          </a:xfrm>
          <a:prstGeom prst="ellips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altLang="en-US"/>
          </a:p>
        </p:txBody>
      </p:sp>
      <p:sp>
        <p:nvSpPr>
          <p:cNvPr id="9225" name="Rectangle 1156"/>
          <p:cNvSpPr>
            <a:spLocks noChangeArrowheads="1"/>
          </p:cNvSpPr>
          <p:nvPr/>
        </p:nvSpPr>
        <p:spPr bwMode="auto">
          <a:xfrm>
            <a:off x="457200" y="152401"/>
            <a:ext cx="384175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en-US" sz="4000">
                <a:solidFill>
                  <a:srgbClr val="000099"/>
                </a:solidFill>
              </a:rPr>
              <a:t>What is an FPGA?</a:t>
            </a:r>
          </a:p>
        </p:txBody>
      </p:sp>
      <p:sp>
        <p:nvSpPr>
          <p:cNvPr id="9226" name="Text Box 1158"/>
          <p:cNvSpPr txBox="1">
            <a:spLocks noChangeArrowheads="1"/>
          </p:cNvSpPr>
          <p:nvPr/>
        </p:nvSpPr>
        <p:spPr bwMode="auto">
          <a:xfrm>
            <a:off x="6242447" y="4246563"/>
            <a:ext cx="74732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b="1"/>
              <a:t>Block</a:t>
            </a:r>
          </a:p>
          <a:p>
            <a:r>
              <a:rPr lang="en-US" altLang="en-US" b="1"/>
              <a:t>RAMs</a:t>
            </a:r>
          </a:p>
        </p:txBody>
      </p:sp>
      <p:sp>
        <p:nvSpPr>
          <p:cNvPr id="9227" name="Line 1159"/>
          <p:cNvSpPr>
            <a:spLocks noChangeShapeType="1"/>
          </p:cNvSpPr>
          <p:nvPr/>
        </p:nvSpPr>
        <p:spPr bwMode="auto">
          <a:xfrm flipH="1">
            <a:off x="4724401" y="4660901"/>
            <a:ext cx="1470422" cy="296863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50" name="Date Placeholder 114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B4B264F-4ABA-405C-85B5-07653D0A22FE}" type="datetime1">
              <a:rPr lang="en-US"/>
              <a:pPr>
                <a:defRPr/>
              </a:pPr>
              <a:t>11-Oct-24</a:t>
            </a:fld>
            <a:endParaRPr lang="en-US"/>
          </a:p>
        </p:txBody>
      </p:sp>
      <p:sp>
        <p:nvSpPr>
          <p:cNvPr id="1151" name="Slide Number Placeholder 11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086F47-4C48-4700-B64B-3E255020282C}" type="slidenum">
              <a:rPr lang="en-US" smtClean="0"/>
              <a:pPr>
                <a:defRPr/>
              </a:pPr>
              <a:t>175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Other FPGA Advantages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820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smtClean="0"/>
              <a:t>Manufacturing cycle for ASIC is very costly, lengthy and engages lots of manpower</a:t>
            </a:r>
          </a:p>
          <a:p>
            <a:pPr lvl="1" eaLnBrk="1" hangingPunct="1"/>
            <a:r>
              <a:rPr lang="en-US" altLang="en-US" sz="2000" dirty="0" smtClean="0"/>
              <a:t>Mistakes not detected at design time have large impact on development time and cost</a:t>
            </a:r>
          </a:p>
          <a:p>
            <a:pPr lvl="1" eaLnBrk="1" hangingPunct="1"/>
            <a:r>
              <a:rPr lang="en-US" altLang="en-US" sz="2000" dirty="0" smtClean="0"/>
              <a:t>FPGAs are perfect for rapid prototyping of digital circuits</a:t>
            </a:r>
          </a:p>
          <a:p>
            <a:pPr eaLnBrk="1" hangingPunct="1"/>
            <a:r>
              <a:rPr lang="en-US" altLang="en-US" sz="2400" dirty="0" smtClean="0"/>
              <a:t>Easy upgrades like in case of software</a:t>
            </a:r>
          </a:p>
          <a:p>
            <a:pPr eaLnBrk="1" hangingPunct="1"/>
            <a:r>
              <a:rPr lang="en-US" altLang="en-US" sz="2400" dirty="0" smtClean="0"/>
              <a:t>Unique applications</a:t>
            </a:r>
          </a:p>
          <a:p>
            <a:pPr lvl="1" eaLnBrk="1" hangingPunct="1"/>
            <a:r>
              <a:rPr lang="en-US" altLang="en-US" sz="2000" dirty="0" smtClean="0"/>
              <a:t>reconfigurable computing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42A1792-2E53-495E-89F0-11C90AF4BF5D}" type="datetime1">
              <a:rPr lang="en-US"/>
              <a:pPr>
                <a:defRPr/>
              </a:pPr>
              <a:t>11-Oct-24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55B890-8096-4DDE-ABCC-A858991BCB45}" type="slidenum">
              <a:rPr lang="en-US" smtClean="0"/>
              <a:pPr>
                <a:defRPr/>
              </a:pPr>
              <a:t>176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Major FPGA Vendors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b="1" smtClean="0"/>
              <a:t>SRAM-based FPGAs</a:t>
            </a:r>
          </a:p>
          <a:p>
            <a:pPr eaLnBrk="1" hangingPunct="1"/>
            <a:r>
              <a:rPr lang="en-US" altLang="en-US" b="1" smtClean="0"/>
              <a:t>Xilinx, Inc.</a:t>
            </a:r>
          </a:p>
          <a:p>
            <a:pPr eaLnBrk="1" hangingPunct="1"/>
            <a:r>
              <a:rPr lang="en-US" altLang="en-US" b="1" smtClean="0"/>
              <a:t>Altera Corp.</a:t>
            </a:r>
          </a:p>
          <a:p>
            <a:pPr eaLnBrk="1" hangingPunct="1"/>
            <a:r>
              <a:rPr lang="en-US" altLang="en-US" smtClean="0"/>
              <a:t>Atmel</a:t>
            </a:r>
          </a:p>
          <a:p>
            <a:pPr eaLnBrk="1" hangingPunct="1"/>
            <a:r>
              <a:rPr lang="en-US" altLang="en-US" smtClean="0"/>
              <a:t>Lattice Semiconductor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b="1" smtClean="0"/>
              <a:t>Flash &amp; antifuse FPGAs</a:t>
            </a:r>
          </a:p>
          <a:p>
            <a:pPr eaLnBrk="1" hangingPunct="1"/>
            <a:r>
              <a:rPr lang="en-US" altLang="en-US" smtClean="0"/>
              <a:t>Actel Corp.</a:t>
            </a:r>
          </a:p>
          <a:p>
            <a:pPr eaLnBrk="1" hangingPunct="1"/>
            <a:r>
              <a:rPr lang="en-US" altLang="en-US" smtClean="0"/>
              <a:t>Quick Logic Corp.</a:t>
            </a:r>
          </a:p>
        </p:txBody>
      </p:sp>
      <p:sp>
        <p:nvSpPr>
          <p:cNvPr id="13316" name="AutoShape 4"/>
          <p:cNvSpPr>
            <a:spLocks/>
          </p:cNvSpPr>
          <p:nvPr/>
        </p:nvSpPr>
        <p:spPr bwMode="auto">
          <a:xfrm>
            <a:off x="3276600" y="1981200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altLang="en-US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3810000" y="2209800"/>
            <a:ext cx="30167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b="1"/>
              <a:t>Share over 60% of the market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2A4355-7327-465E-9C3B-23AE1B967FE0}" type="datetime1">
              <a:rPr lang="en-US"/>
              <a:pPr>
                <a:defRPr/>
              </a:pPr>
              <a:t>11-Oct-24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ED3E5-6147-405C-86C3-892475133232}" type="slidenum">
              <a:rPr lang="en-US" smtClean="0"/>
              <a:pPr>
                <a:defRPr/>
              </a:pPr>
              <a:t>177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1492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Xilinx FPGA Families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5181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smtClean="0"/>
              <a:t>Old families</a:t>
            </a:r>
          </a:p>
          <a:p>
            <a:pPr lvl="1" eaLnBrk="1" hangingPunct="1"/>
            <a:r>
              <a:rPr lang="en-US" altLang="en-US" sz="2000" smtClean="0"/>
              <a:t>XC3000, XC4000, XC5200</a:t>
            </a:r>
          </a:p>
          <a:p>
            <a:pPr lvl="1" eaLnBrk="1" hangingPunct="1"/>
            <a:r>
              <a:rPr lang="en-US" altLang="en-US" sz="2000" smtClean="0"/>
              <a:t>Old 0.5</a:t>
            </a:r>
            <a:r>
              <a:rPr lang="en-US" altLang="en-US" sz="2000" smtClean="0">
                <a:cs typeface="Arial" pitchFamily="34" charset="0"/>
              </a:rPr>
              <a:t>µm,</a:t>
            </a:r>
            <a:r>
              <a:rPr lang="en-US" altLang="en-US" sz="2000" smtClean="0"/>
              <a:t> 0.35</a:t>
            </a:r>
            <a:r>
              <a:rPr lang="en-US" altLang="en-US" sz="2000" smtClean="0">
                <a:cs typeface="Arial" pitchFamily="34" charset="0"/>
              </a:rPr>
              <a:t>µm</a:t>
            </a:r>
            <a:r>
              <a:rPr lang="en-US" altLang="en-US" sz="2000" smtClean="0"/>
              <a:t> and 0.25</a:t>
            </a:r>
            <a:r>
              <a:rPr lang="en-US" altLang="en-US" sz="2000" smtClean="0">
                <a:cs typeface="Arial" pitchFamily="34" charset="0"/>
              </a:rPr>
              <a:t>µm</a:t>
            </a:r>
            <a:r>
              <a:rPr lang="en-US" altLang="en-US" sz="2000" smtClean="0"/>
              <a:t> technology. Not recommended for modern designs.</a:t>
            </a:r>
          </a:p>
          <a:p>
            <a:pPr eaLnBrk="1" hangingPunct="1"/>
            <a:r>
              <a:rPr lang="en-US" altLang="en-US" sz="2400" b="1" smtClean="0"/>
              <a:t>High-performance families</a:t>
            </a:r>
          </a:p>
          <a:p>
            <a:pPr lvl="1" eaLnBrk="1" hangingPunct="1"/>
            <a:r>
              <a:rPr lang="en-US" altLang="en-US" sz="2000" smtClean="0"/>
              <a:t>Virtex (0.22</a:t>
            </a:r>
            <a:r>
              <a:rPr lang="en-US" altLang="en-US" sz="2000" smtClean="0">
                <a:cs typeface="Arial" pitchFamily="34" charset="0"/>
              </a:rPr>
              <a:t>µm)</a:t>
            </a:r>
            <a:endParaRPr lang="en-US" altLang="en-US" sz="2000" smtClean="0"/>
          </a:p>
          <a:p>
            <a:pPr lvl="1" eaLnBrk="1" hangingPunct="1"/>
            <a:r>
              <a:rPr lang="en-US" altLang="en-US" sz="2000" smtClean="0"/>
              <a:t>Virtex-E, Virtex-EM (0.18</a:t>
            </a:r>
            <a:r>
              <a:rPr lang="en-US" altLang="en-US" sz="2000" smtClean="0">
                <a:cs typeface="Arial" pitchFamily="34" charset="0"/>
              </a:rPr>
              <a:t>µm)</a:t>
            </a:r>
          </a:p>
          <a:p>
            <a:pPr lvl="1" eaLnBrk="1" hangingPunct="1"/>
            <a:r>
              <a:rPr lang="en-US" altLang="en-US" sz="2000" smtClean="0"/>
              <a:t>Virtex-II, </a:t>
            </a:r>
            <a:r>
              <a:rPr lang="en-US" altLang="en-US" sz="2000" smtClean="0">
                <a:solidFill>
                  <a:srgbClr val="333399"/>
                </a:solidFill>
              </a:rPr>
              <a:t>Virtex-II PRO</a:t>
            </a:r>
            <a:r>
              <a:rPr lang="en-US" altLang="en-US" sz="2000" smtClean="0"/>
              <a:t> (0.13</a:t>
            </a:r>
            <a:r>
              <a:rPr lang="en-US" altLang="en-US" sz="2000" smtClean="0">
                <a:cs typeface="Arial" pitchFamily="34" charset="0"/>
              </a:rPr>
              <a:t>µm)</a:t>
            </a:r>
          </a:p>
          <a:p>
            <a:pPr lvl="1" eaLnBrk="1" hangingPunct="1"/>
            <a:r>
              <a:rPr lang="en-US" altLang="en-US" sz="2000" smtClean="0">
                <a:cs typeface="Arial" pitchFamily="34" charset="0"/>
              </a:rPr>
              <a:t>Virtex-4 (0.09µm)</a:t>
            </a:r>
            <a:endParaRPr lang="en-US" altLang="en-US" sz="2000" smtClean="0"/>
          </a:p>
          <a:p>
            <a:pPr eaLnBrk="1" hangingPunct="1"/>
            <a:r>
              <a:rPr lang="en-US" altLang="en-US" sz="2400" b="1" smtClean="0"/>
              <a:t>Low Cost Family</a:t>
            </a:r>
          </a:p>
          <a:p>
            <a:pPr lvl="1" eaLnBrk="1" hangingPunct="1"/>
            <a:r>
              <a:rPr lang="en-US" altLang="en-US" sz="2000" smtClean="0"/>
              <a:t>Spartan/XL – derived from XC4000</a:t>
            </a:r>
          </a:p>
          <a:p>
            <a:pPr lvl="1" eaLnBrk="1" hangingPunct="1"/>
            <a:r>
              <a:rPr lang="en-US" altLang="en-US" sz="2000" smtClean="0">
                <a:solidFill>
                  <a:srgbClr val="A50021"/>
                </a:solidFill>
              </a:rPr>
              <a:t>Spartan-II – derived from Virtex</a:t>
            </a:r>
          </a:p>
          <a:p>
            <a:pPr lvl="1" eaLnBrk="1" hangingPunct="1"/>
            <a:r>
              <a:rPr lang="en-US" altLang="en-US" sz="2000" smtClean="0"/>
              <a:t>Spartan-IIE – derived from Virtex-E</a:t>
            </a:r>
          </a:p>
          <a:p>
            <a:pPr lvl="1" eaLnBrk="1" hangingPunct="1"/>
            <a:r>
              <a:rPr lang="en-US" altLang="en-US" sz="2000" b="1" smtClean="0">
                <a:solidFill>
                  <a:srgbClr val="333399"/>
                </a:solidFill>
              </a:rPr>
              <a:t>Spartan-3</a:t>
            </a:r>
          </a:p>
        </p:txBody>
      </p:sp>
      <p:pic>
        <p:nvPicPr>
          <p:cNvPr id="14340" name="Picture 4" descr="virte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2438400"/>
            <a:ext cx="1195388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5" descr="virtex2pr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3200" y="3201988"/>
            <a:ext cx="1676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6" descr="sspartan_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419601"/>
            <a:ext cx="1095375" cy="95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7" descr="spartanII_logo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1800" y="4953001"/>
            <a:ext cx="1252538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0CF8647-6273-4857-A44C-3501A115073C}" type="datetime1">
              <a:rPr lang="en-US"/>
              <a:pPr>
                <a:defRPr/>
              </a:pPr>
              <a:t>11-Oct-24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59840D-B334-4766-B847-8A07B4ED1CCC}" type="slidenum">
              <a:rPr lang="en-US" smtClean="0"/>
              <a:pPr>
                <a:defRPr/>
              </a:pPr>
              <a:t>178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en-US" altLang="en-US" sz="7100" dirty="0" smtClean="0"/>
              <a:t>FPGA</a:t>
            </a:r>
          </a:p>
          <a:p>
            <a:pPr lvl="1"/>
            <a:endParaRPr lang="en-US" altLang="en-US" sz="2400" dirty="0" smtClean="0"/>
          </a:p>
          <a:p>
            <a:pPr lvl="1"/>
            <a:r>
              <a:rPr lang="en-US" altLang="en-US" sz="2400" dirty="0" smtClean="0"/>
              <a:t>SPLDs and CPLDs are relatively small and useful for simple logic devices</a:t>
            </a:r>
          </a:p>
          <a:p>
            <a:pPr lvl="2"/>
            <a:r>
              <a:rPr lang="en-US" altLang="en-US" sz="2000" dirty="0" smtClean="0"/>
              <a:t>Up to about 20000 gates</a:t>
            </a:r>
          </a:p>
          <a:p>
            <a:pPr lvl="1"/>
            <a:endParaRPr lang="en-US" altLang="en-US" sz="2400" dirty="0" smtClean="0"/>
          </a:p>
          <a:p>
            <a:pPr lvl="1"/>
            <a:r>
              <a:rPr lang="en-US" altLang="en-US" sz="2400" dirty="0" smtClean="0"/>
              <a:t>Field Programmable Gate Arrays (FPGA) can handle larger circuits</a:t>
            </a:r>
          </a:p>
          <a:p>
            <a:pPr lvl="2"/>
            <a:r>
              <a:rPr lang="en-US" altLang="en-US" sz="2000" dirty="0" smtClean="0"/>
              <a:t>No AND/OR planes</a:t>
            </a:r>
          </a:p>
          <a:p>
            <a:pPr lvl="2"/>
            <a:r>
              <a:rPr lang="en-US" altLang="en-US" sz="2000" dirty="0" smtClean="0"/>
              <a:t>Provide logic blocks, I/O blocks, and interconnection wires and switches</a:t>
            </a:r>
          </a:p>
          <a:p>
            <a:pPr lvl="2"/>
            <a:endParaRPr lang="en-US" altLang="en-US" sz="2000" dirty="0" smtClean="0"/>
          </a:p>
          <a:p>
            <a:pPr lvl="2"/>
            <a:r>
              <a:rPr lang="en-US" altLang="en-US" sz="2000" dirty="0" smtClean="0"/>
              <a:t>Logic blocks provide functionality</a:t>
            </a:r>
          </a:p>
          <a:p>
            <a:pPr lvl="2"/>
            <a:r>
              <a:rPr lang="en-US" altLang="en-US" sz="2000" dirty="0" smtClean="0"/>
              <a:t>Interconnection switches allow logic blocks to be connected to each other and to the I/O pins</a:t>
            </a:r>
          </a:p>
        </p:txBody>
      </p:sp>
      <p:sp>
        <p:nvSpPr>
          <p:cNvPr id="22531" name="Freeform 3"/>
          <p:cNvSpPr>
            <a:spLocks/>
          </p:cNvSpPr>
          <p:nvPr/>
        </p:nvSpPr>
        <p:spPr bwMode="auto">
          <a:xfrm>
            <a:off x="4133851" y="2787650"/>
            <a:ext cx="1222772" cy="1588"/>
          </a:xfrm>
          <a:custGeom>
            <a:avLst/>
            <a:gdLst>
              <a:gd name="T0" fmla="*/ 2147483647 w 848"/>
              <a:gd name="T1" fmla="*/ 0 h 1588"/>
              <a:gd name="T2" fmla="*/ 0 w 848"/>
              <a:gd name="T3" fmla="*/ 0 h 1588"/>
              <a:gd name="T4" fmla="*/ 2147483647 w 848"/>
              <a:gd name="T5" fmla="*/ 0 h 1588"/>
              <a:gd name="T6" fmla="*/ 0 60000 65536"/>
              <a:gd name="T7" fmla="*/ 0 60000 65536"/>
              <a:gd name="T8" fmla="*/ 0 60000 65536"/>
              <a:gd name="T9" fmla="*/ 0 w 848"/>
              <a:gd name="T10" fmla="*/ 0 h 1588"/>
              <a:gd name="T11" fmla="*/ 848 w 84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8" h="1588">
                <a:moveTo>
                  <a:pt x="848" y="0"/>
                </a:moveTo>
                <a:lnTo>
                  <a:pt x="0" y="0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2" name="Freeform 4"/>
          <p:cNvSpPr>
            <a:spLocks/>
          </p:cNvSpPr>
          <p:nvPr/>
        </p:nvSpPr>
        <p:spPr bwMode="auto">
          <a:xfrm>
            <a:off x="3384947" y="2532063"/>
            <a:ext cx="1971675" cy="0"/>
          </a:xfrm>
          <a:custGeom>
            <a:avLst/>
            <a:gdLst>
              <a:gd name="T0" fmla="*/ 2147483647 w 1368"/>
              <a:gd name="T1" fmla="*/ 0 w 1368"/>
              <a:gd name="T2" fmla="*/ 2147483647 w 1368"/>
              <a:gd name="T3" fmla="*/ 0 60000 65536"/>
              <a:gd name="T4" fmla="*/ 0 60000 65536"/>
              <a:gd name="T5" fmla="*/ 0 60000 65536"/>
              <a:gd name="T6" fmla="*/ 0 w 1368"/>
              <a:gd name="T7" fmla="*/ 1368 w 1368"/>
            </a:gdLst>
            <a:ahLst/>
            <a:cxnLst>
              <a:cxn ang="T3">
                <a:pos x="T0" y="0"/>
              </a:cxn>
              <a:cxn ang="T4">
                <a:pos x="T1" y="0"/>
              </a:cxn>
              <a:cxn ang="T5">
                <a:pos x="T2" y="0"/>
              </a:cxn>
            </a:cxnLst>
            <a:rect l="T6" t="0" r="T7" b="0"/>
            <a:pathLst>
              <a:path w="136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3" name="Freeform 5"/>
          <p:cNvSpPr>
            <a:spLocks/>
          </p:cNvSpPr>
          <p:nvPr/>
        </p:nvSpPr>
        <p:spPr bwMode="auto">
          <a:xfrm>
            <a:off x="3384947" y="4238625"/>
            <a:ext cx="1971675" cy="1588"/>
          </a:xfrm>
          <a:custGeom>
            <a:avLst/>
            <a:gdLst>
              <a:gd name="T0" fmla="*/ 2147483647 w 1368"/>
              <a:gd name="T1" fmla="*/ 0 h 1588"/>
              <a:gd name="T2" fmla="*/ 0 w 1368"/>
              <a:gd name="T3" fmla="*/ 0 h 1588"/>
              <a:gd name="T4" fmla="*/ 2147483647 w 1368"/>
              <a:gd name="T5" fmla="*/ 0 h 1588"/>
              <a:gd name="T6" fmla="*/ 0 60000 65536"/>
              <a:gd name="T7" fmla="*/ 0 60000 65536"/>
              <a:gd name="T8" fmla="*/ 0 60000 65536"/>
              <a:gd name="T9" fmla="*/ 0 w 1368"/>
              <a:gd name="T10" fmla="*/ 0 h 1588"/>
              <a:gd name="T11" fmla="*/ 1368 w 136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58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229600" cy="4525963"/>
          </a:xfrm>
        </p:spPr>
        <p:txBody>
          <a:bodyPr/>
          <a:lstStyle/>
          <a:p>
            <a:r>
              <a:rPr lang="en-US" altLang="en-US" dirty="0" smtClean="0"/>
              <a:t>Structure of an FPGA</a:t>
            </a:r>
          </a:p>
          <a:p>
            <a:pPr lvl="1"/>
            <a:endParaRPr lang="en-US" altLang="en-US" sz="2400" dirty="0" smtClean="0"/>
          </a:p>
        </p:txBody>
      </p:sp>
      <p:sp>
        <p:nvSpPr>
          <p:cNvPr id="23555" name="Freeform 3"/>
          <p:cNvSpPr>
            <a:spLocks/>
          </p:cNvSpPr>
          <p:nvPr/>
        </p:nvSpPr>
        <p:spPr bwMode="auto">
          <a:xfrm>
            <a:off x="4133851" y="2787650"/>
            <a:ext cx="1222772" cy="1588"/>
          </a:xfrm>
          <a:custGeom>
            <a:avLst/>
            <a:gdLst>
              <a:gd name="T0" fmla="*/ 2147483647 w 848"/>
              <a:gd name="T1" fmla="*/ 0 h 1588"/>
              <a:gd name="T2" fmla="*/ 0 w 848"/>
              <a:gd name="T3" fmla="*/ 0 h 1588"/>
              <a:gd name="T4" fmla="*/ 2147483647 w 848"/>
              <a:gd name="T5" fmla="*/ 0 h 1588"/>
              <a:gd name="T6" fmla="*/ 0 60000 65536"/>
              <a:gd name="T7" fmla="*/ 0 60000 65536"/>
              <a:gd name="T8" fmla="*/ 0 60000 65536"/>
              <a:gd name="T9" fmla="*/ 0 w 848"/>
              <a:gd name="T10" fmla="*/ 0 h 1588"/>
              <a:gd name="T11" fmla="*/ 848 w 84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8" h="1588">
                <a:moveTo>
                  <a:pt x="848" y="0"/>
                </a:moveTo>
                <a:lnTo>
                  <a:pt x="0" y="0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Freeform 4"/>
          <p:cNvSpPr>
            <a:spLocks/>
          </p:cNvSpPr>
          <p:nvPr/>
        </p:nvSpPr>
        <p:spPr bwMode="auto">
          <a:xfrm>
            <a:off x="3384947" y="2532063"/>
            <a:ext cx="1971675" cy="0"/>
          </a:xfrm>
          <a:custGeom>
            <a:avLst/>
            <a:gdLst>
              <a:gd name="T0" fmla="*/ 2147483647 w 1368"/>
              <a:gd name="T1" fmla="*/ 0 w 1368"/>
              <a:gd name="T2" fmla="*/ 2147483647 w 1368"/>
              <a:gd name="T3" fmla="*/ 0 60000 65536"/>
              <a:gd name="T4" fmla="*/ 0 60000 65536"/>
              <a:gd name="T5" fmla="*/ 0 60000 65536"/>
              <a:gd name="T6" fmla="*/ 0 w 1368"/>
              <a:gd name="T7" fmla="*/ 1368 w 1368"/>
            </a:gdLst>
            <a:ahLst/>
            <a:cxnLst>
              <a:cxn ang="T3">
                <a:pos x="T0" y="0"/>
              </a:cxn>
              <a:cxn ang="T4">
                <a:pos x="T1" y="0"/>
              </a:cxn>
              <a:cxn ang="T5">
                <a:pos x="T2" y="0"/>
              </a:cxn>
            </a:cxnLst>
            <a:rect l="T6" t="0" r="T7" b="0"/>
            <a:pathLst>
              <a:path w="136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7" name="Freeform 5"/>
          <p:cNvSpPr>
            <a:spLocks/>
          </p:cNvSpPr>
          <p:nvPr/>
        </p:nvSpPr>
        <p:spPr bwMode="auto">
          <a:xfrm>
            <a:off x="3384947" y="4238625"/>
            <a:ext cx="1971675" cy="1588"/>
          </a:xfrm>
          <a:custGeom>
            <a:avLst/>
            <a:gdLst>
              <a:gd name="T0" fmla="*/ 2147483647 w 1368"/>
              <a:gd name="T1" fmla="*/ 0 h 1588"/>
              <a:gd name="T2" fmla="*/ 0 w 1368"/>
              <a:gd name="T3" fmla="*/ 0 h 1588"/>
              <a:gd name="T4" fmla="*/ 2147483647 w 1368"/>
              <a:gd name="T5" fmla="*/ 0 h 1588"/>
              <a:gd name="T6" fmla="*/ 0 60000 65536"/>
              <a:gd name="T7" fmla="*/ 0 60000 65536"/>
              <a:gd name="T8" fmla="*/ 0 60000 65536"/>
              <a:gd name="T9" fmla="*/ 0 w 1368"/>
              <a:gd name="T10" fmla="*/ 0 h 1588"/>
              <a:gd name="T11" fmla="*/ 1368 w 136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58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8" name="Rectangle 386"/>
          <p:cNvSpPr>
            <a:spLocks noChangeArrowheads="1"/>
          </p:cNvSpPr>
          <p:nvPr/>
        </p:nvSpPr>
        <p:spPr bwMode="auto">
          <a:xfrm>
            <a:off x="3890963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59" name="Rectangle 501"/>
          <p:cNvSpPr>
            <a:spLocks noChangeArrowheads="1"/>
          </p:cNvSpPr>
          <p:nvPr/>
        </p:nvSpPr>
        <p:spPr bwMode="auto">
          <a:xfrm>
            <a:off x="3890963" y="5646738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0" name="Rectangle 586"/>
          <p:cNvSpPr>
            <a:spLocks noChangeArrowheads="1"/>
          </p:cNvSpPr>
          <p:nvPr/>
        </p:nvSpPr>
        <p:spPr bwMode="auto">
          <a:xfrm>
            <a:off x="2658666" y="31226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1" name="Rectangle 689"/>
          <p:cNvSpPr>
            <a:spLocks noChangeArrowheads="1"/>
          </p:cNvSpPr>
          <p:nvPr/>
        </p:nvSpPr>
        <p:spPr bwMode="auto">
          <a:xfrm>
            <a:off x="2658666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2" name="Rectangle 824"/>
          <p:cNvSpPr>
            <a:spLocks noChangeArrowheads="1"/>
          </p:cNvSpPr>
          <p:nvPr/>
        </p:nvSpPr>
        <p:spPr bwMode="auto">
          <a:xfrm>
            <a:off x="619125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3" name="Rectangle 941"/>
          <p:cNvSpPr>
            <a:spLocks noChangeArrowheads="1"/>
          </p:cNvSpPr>
          <p:nvPr/>
        </p:nvSpPr>
        <p:spPr bwMode="auto">
          <a:xfrm>
            <a:off x="6016228" y="28860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4" name="Rectangle 1033"/>
          <p:cNvSpPr>
            <a:spLocks noChangeArrowheads="1"/>
          </p:cNvSpPr>
          <p:nvPr/>
        </p:nvSpPr>
        <p:spPr bwMode="auto">
          <a:xfrm>
            <a:off x="3890963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5" name="Rectangle 27"/>
          <p:cNvSpPr>
            <a:spLocks noChangeArrowheads="1"/>
          </p:cNvSpPr>
          <p:nvPr/>
        </p:nvSpPr>
        <p:spPr bwMode="auto">
          <a:xfrm>
            <a:off x="3939778" y="2219325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6" name="Rectangle 86"/>
          <p:cNvSpPr>
            <a:spLocks noChangeArrowheads="1"/>
          </p:cNvSpPr>
          <p:nvPr/>
        </p:nvSpPr>
        <p:spPr bwMode="auto">
          <a:xfrm>
            <a:off x="3939778" y="2936875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7" name="Rectangle 191"/>
          <p:cNvSpPr>
            <a:spLocks noChangeArrowheads="1"/>
          </p:cNvSpPr>
          <p:nvPr/>
        </p:nvSpPr>
        <p:spPr bwMode="auto">
          <a:xfrm>
            <a:off x="3981451" y="2978151"/>
            <a:ext cx="13097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8" name="Rectangle 236"/>
          <p:cNvSpPr>
            <a:spLocks noChangeArrowheads="1"/>
          </p:cNvSpPr>
          <p:nvPr/>
        </p:nvSpPr>
        <p:spPr bwMode="auto">
          <a:xfrm>
            <a:off x="3939778" y="3346450"/>
            <a:ext cx="4763" cy="127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69" name="Rectangle 280"/>
          <p:cNvSpPr>
            <a:spLocks noChangeArrowheads="1"/>
          </p:cNvSpPr>
          <p:nvPr/>
        </p:nvSpPr>
        <p:spPr bwMode="auto">
          <a:xfrm>
            <a:off x="3939778" y="4064000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0" name="Rectangle 470"/>
          <p:cNvSpPr>
            <a:spLocks noChangeArrowheads="1"/>
          </p:cNvSpPr>
          <p:nvPr/>
        </p:nvSpPr>
        <p:spPr bwMode="auto">
          <a:xfrm>
            <a:off x="3939778" y="5684838"/>
            <a:ext cx="4763" cy="127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1" name="Rectangle 517"/>
          <p:cNvSpPr>
            <a:spLocks noChangeArrowheads="1"/>
          </p:cNvSpPr>
          <p:nvPr/>
        </p:nvSpPr>
        <p:spPr bwMode="auto">
          <a:xfrm>
            <a:off x="3939778" y="5822950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2" name="Rectangle 522"/>
          <p:cNvSpPr>
            <a:spLocks noChangeArrowheads="1"/>
          </p:cNvSpPr>
          <p:nvPr/>
        </p:nvSpPr>
        <p:spPr bwMode="auto">
          <a:xfrm>
            <a:off x="5106591" y="5822950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3" name="Rectangle 574"/>
          <p:cNvSpPr>
            <a:spLocks noChangeArrowheads="1"/>
          </p:cNvSpPr>
          <p:nvPr/>
        </p:nvSpPr>
        <p:spPr bwMode="auto">
          <a:xfrm>
            <a:off x="3189685" y="2708276"/>
            <a:ext cx="14288" cy="3175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4" name="Rectangle 644"/>
          <p:cNvSpPr>
            <a:spLocks noChangeArrowheads="1"/>
          </p:cNvSpPr>
          <p:nvPr/>
        </p:nvSpPr>
        <p:spPr bwMode="auto">
          <a:xfrm>
            <a:off x="2749153" y="5410201"/>
            <a:ext cx="13097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5" name="Rectangle 729"/>
          <p:cNvSpPr>
            <a:spLocks noChangeArrowheads="1"/>
          </p:cNvSpPr>
          <p:nvPr/>
        </p:nvSpPr>
        <p:spPr bwMode="auto">
          <a:xfrm>
            <a:off x="6268641" y="2708276"/>
            <a:ext cx="14288" cy="3175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6" name="Rectangle 745"/>
          <p:cNvSpPr>
            <a:spLocks noChangeArrowheads="1"/>
          </p:cNvSpPr>
          <p:nvPr/>
        </p:nvSpPr>
        <p:spPr bwMode="auto">
          <a:xfrm>
            <a:off x="5834062" y="3321050"/>
            <a:ext cx="4763" cy="127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7" name="Rectangle 780"/>
          <p:cNvSpPr>
            <a:spLocks noChangeArrowheads="1"/>
          </p:cNvSpPr>
          <p:nvPr/>
        </p:nvSpPr>
        <p:spPr bwMode="auto">
          <a:xfrm>
            <a:off x="6268641" y="2708276"/>
            <a:ext cx="14288" cy="3175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8" name="Rectangle 782"/>
          <p:cNvSpPr>
            <a:spLocks noChangeArrowheads="1"/>
          </p:cNvSpPr>
          <p:nvPr/>
        </p:nvSpPr>
        <p:spPr bwMode="auto">
          <a:xfrm>
            <a:off x="6310312" y="2760664"/>
            <a:ext cx="4763" cy="14287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79" name="Rectangle 785"/>
          <p:cNvSpPr>
            <a:spLocks noChangeArrowheads="1"/>
          </p:cNvSpPr>
          <p:nvPr/>
        </p:nvSpPr>
        <p:spPr bwMode="auto">
          <a:xfrm>
            <a:off x="6310312" y="2468564"/>
            <a:ext cx="4763" cy="14287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0" name="Rectangle 787"/>
          <p:cNvSpPr>
            <a:spLocks noChangeArrowheads="1"/>
          </p:cNvSpPr>
          <p:nvPr/>
        </p:nvSpPr>
        <p:spPr bwMode="auto">
          <a:xfrm>
            <a:off x="6310312" y="2894014"/>
            <a:ext cx="4763" cy="14287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1" name="Rectangle 790"/>
          <p:cNvSpPr>
            <a:spLocks noChangeArrowheads="1"/>
          </p:cNvSpPr>
          <p:nvPr/>
        </p:nvSpPr>
        <p:spPr bwMode="auto">
          <a:xfrm>
            <a:off x="6310312" y="3186114"/>
            <a:ext cx="4763" cy="14287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2" name="Rectangle 801"/>
          <p:cNvSpPr>
            <a:spLocks noChangeArrowheads="1"/>
          </p:cNvSpPr>
          <p:nvPr/>
        </p:nvSpPr>
        <p:spPr bwMode="auto">
          <a:xfrm>
            <a:off x="6310312" y="3611564"/>
            <a:ext cx="4763" cy="15875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3" name="Rectangle 804"/>
          <p:cNvSpPr>
            <a:spLocks noChangeArrowheads="1"/>
          </p:cNvSpPr>
          <p:nvPr/>
        </p:nvSpPr>
        <p:spPr bwMode="auto">
          <a:xfrm>
            <a:off x="6310312" y="3321050"/>
            <a:ext cx="4763" cy="127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4" name="Rectangle 806"/>
          <p:cNvSpPr>
            <a:spLocks noChangeArrowheads="1"/>
          </p:cNvSpPr>
          <p:nvPr/>
        </p:nvSpPr>
        <p:spPr bwMode="auto">
          <a:xfrm>
            <a:off x="6310312" y="3746500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5" name="Rectangle 809"/>
          <p:cNvSpPr>
            <a:spLocks noChangeArrowheads="1"/>
          </p:cNvSpPr>
          <p:nvPr/>
        </p:nvSpPr>
        <p:spPr bwMode="auto">
          <a:xfrm>
            <a:off x="6310312" y="4038600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6" name="Rectangle 817"/>
          <p:cNvSpPr>
            <a:spLocks noChangeArrowheads="1"/>
          </p:cNvSpPr>
          <p:nvPr/>
        </p:nvSpPr>
        <p:spPr bwMode="auto">
          <a:xfrm>
            <a:off x="6310312" y="5232400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7" name="Rectangle 821"/>
          <p:cNvSpPr>
            <a:spLocks noChangeArrowheads="1"/>
          </p:cNvSpPr>
          <p:nvPr/>
        </p:nvSpPr>
        <p:spPr bwMode="auto">
          <a:xfrm>
            <a:off x="6310312" y="5372100"/>
            <a:ext cx="4763" cy="142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8" name="Rectangle 833"/>
          <p:cNvSpPr>
            <a:spLocks noChangeArrowheads="1"/>
          </p:cNvSpPr>
          <p:nvPr/>
        </p:nvSpPr>
        <p:spPr bwMode="auto">
          <a:xfrm>
            <a:off x="6653212" y="54102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89" name="Rectangle 960"/>
          <p:cNvSpPr>
            <a:spLocks noChangeArrowheads="1"/>
          </p:cNvSpPr>
          <p:nvPr/>
        </p:nvSpPr>
        <p:spPr bwMode="auto">
          <a:xfrm>
            <a:off x="2777728" y="5859463"/>
            <a:ext cx="13097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0" name="Rectangle 961"/>
          <p:cNvSpPr>
            <a:spLocks noChangeArrowheads="1"/>
          </p:cNvSpPr>
          <p:nvPr/>
        </p:nvSpPr>
        <p:spPr bwMode="auto">
          <a:xfrm>
            <a:off x="2777728" y="6134101"/>
            <a:ext cx="13097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1" name="Rectangle 963"/>
          <p:cNvSpPr>
            <a:spLocks noChangeArrowheads="1"/>
          </p:cNvSpPr>
          <p:nvPr/>
        </p:nvSpPr>
        <p:spPr bwMode="auto">
          <a:xfrm>
            <a:off x="2915841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2" name="Rectangle 964"/>
          <p:cNvSpPr>
            <a:spLocks noChangeArrowheads="1"/>
          </p:cNvSpPr>
          <p:nvPr/>
        </p:nvSpPr>
        <p:spPr bwMode="auto">
          <a:xfrm>
            <a:off x="2915841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3" name="Rectangle 966"/>
          <p:cNvSpPr>
            <a:spLocks noChangeArrowheads="1"/>
          </p:cNvSpPr>
          <p:nvPr/>
        </p:nvSpPr>
        <p:spPr bwMode="auto">
          <a:xfrm>
            <a:off x="3189685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4" name="Rectangle 967"/>
          <p:cNvSpPr>
            <a:spLocks noChangeArrowheads="1"/>
          </p:cNvSpPr>
          <p:nvPr/>
        </p:nvSpPr>
        <p:spPr bwMode="auto">
          <a:xfrm>
            <a:off x="3189685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5" name="Rectangle 969"/>
          <p:cNvSpPr>
            <a:spLocks noChangeArrowheads="1"/>
          </p:cNvSpPr>
          <p:nvPr/>
        </p:nvSpPr>
        <p:spPr bwMode="auto">
          <a:xfrm>
            <a:off x="3324225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6" name="Rectangle 970"/>
          <p:cNvSpPr>
            <a:spLocks noChangeArrowheads="1"/>
          </p:cNvSpPr>
          <p:nvPr/>
        </p:nvSpPr>
        <p:spPr bwMode="auto">
          <a:xfrm>
            <a:off x="3324225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7" name="Rectangle 972"/>
          <p:cNvSpPr>
            <a:spLocks noChangeArrowheads="1"/>
          </p:cNvSpPr>
          <p:nvPr/>
        </p:nvSpPr>
        <p:spPr bwMode="auto">
          <a:xfrm>
            <a:off x="3596878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8" name="Rectangle 973"/>
          <p:cNvSpPr>
            <a:spLocks noChangeArrowheads="1"/>
          </p:cNvSpPr>
          <p:nvPr/>
        </p:nvSpPr>
        <p:spPr bwMode="auto">
          <a:xfrm>
            <a:off x="3596878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599" name="Rectangle 977"/>
          <p:cNvSpPr>
            <a:spLocks noChangeArrowheads="1"/>
          </p:cNvSpPr>
          <p:nvPr/>
        </p:nvSpPr>
        <p:spPr bwMode="auto">
          <a:xfrm>
            <a:off x="4010026" y="5859463"/>
            <a:ext cx="13097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0" name="Rectangle 978"/>
          <p:cNvSpPr>
            <a:spLocks noChangeArrowheads="1"/>
          </p:cNvSpPr>
          <p:nvPr/>
        </p:nvSpPr>
        <p:spPr bwMode="auto">
          <a:xfrm>
            <a:off x="4010026" y="6134101"/>
            <a:ext cx="13097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1" name="Rectangle 980"/>
          <p:cNvSpPr>
            <a:spLocks noChangeArrowheads="1"/>
          </p:cNvSpPr>
          <p:nvPr/>
        </p:nvSpPr>
        <p:spPr bwMode="auto">
          <a:xfrm>
            <a:off x="4143375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2" name="Rectangle 981"/>
          <p:cNvSpPr>
            <a:spLocks noChangeArrowheads="1"/>
          </p:cNvSpPr>
          <p:nvPr/>
        </p:nvSpPr>
        <p:spPr bwMode="auto">
          <a:xfrm>
            <a:off x="4143375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3" name="Rectangle 983"/>
          <p:cNvSpPr>
            <a:spLocks noChangeArrowheads="1"/>
          </p:cNvSpPr>
          <p:nvPr/>
        </p:nvSpPr>
        <p:spPr bwMode="auto">
          <a:xfrm>
            <a:off x="4416028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4" name="Rectangle 984"/>
          <p:cNvSpPr>
            <a:spLocks noChangeArrowheads="1"/>
          </p:cNvSpPr>
          <p:nvPr/>
        </p:nvSpPr>
        <p:spPr bwMode="auto">
          <a:xfrm>
            <a:off x="4416028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5" name="Rectangle 986"/>
          <p:cNvSpPr>
            <a:spLocks noChangeArrowheads="1"/>
          </p:cNvSpPr>
          <p:nvPr/>
        </p:nvSpPr>
        <p:spPr bwMode="auto">
          <a:xfrm>
            <a:off x="4556522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6" name="Rectangle 987"/>
          <p:cNvSpPr>
            <a:spLocks noChangeArrowheads="1"/>
          </p:cNvSpPr>
          <p:nvPr/>
        </p:nvSpPr>
        <p:spPr bwMode="auto">
          <a:xfrm>
            <a:off x="4556522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7" name="Rectangle 989"/>
          <p:cNvSpPr>
            <a:spLocks noChangeArrowheads="1"/>
          </p:cNvSpPr>
          <p:nvPr/>
        </p:nvSpPr>
        <p:spPr bwMode="auto">
          <a:xfrm>
            <a:off x="4829175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8" name="Rectangle 990"/>
          <p:cNvSpPr>
            <a:spLocks noChangeArrowheads="1"/>
          </p:cNvSpPr>
          <p:nvPr/>
        </p:nvSpPr>
        <p:spPr bwMode="auto">
          <a:xfrm>
            <a:off x="4829175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09" name="Rectangle 992"/>
          <p:cNvSpPr>
            <a:spLocks noChangeArrowheads="1"/>
          </p:cNvSpPr>
          <p:nvPr/>
        </p:nvSpPr>
        <p:spPr bwMode="auto">
          <a:xfrm>
            <a:off x="4967287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10" name="Rectangle 993"/>
          <p:cNvSpPr>
            <a:spLocks noChangeArrowheads="1"/>
          </p:cNvSpPr>
          <p:nvPr/>
        </p:nvSpPr>
        <p:spPr bwMode="auto">
          <a:xfrm>
            <a:off x="4967287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11" name="Rectangle 997"/>
          <p:cNvSpPr>
            <a:spLocks noChangeArrowheads="1"/>
          </p:cNvSpPr>
          <p:nvPr/>
        </p:nvSpPr>
        <p:spPr bwMode="auto">
          <a:xfrm>
            <a:off x="6268641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12" name="Rectangle 999"/>
          <p:cNvSpPr>
            <a:spLocks noChangeArrowheads="1"/>
          </p:cNvSpPr>
          <p:nvPr/>
        </p:nvSpPr>
        <p:spPr bwMode="auto">
          <a:xfrm>
            <a:off x="6542485" y="5859463"/>
            <a:ext cx="14288" cy="635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13" name="Rectangle 1000"/>
          <p:cNvSpPr>
            <a:spLocks noChangeArrowheads="1"/>
          </p:cNvSpPr>
          <p:nvPr/>
        </p:nvSpPr>
        <p:spPr bwMode="auto">
          <a:xfrm>
            <a:off x="6542485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3614" name="Rectangle 1003"/>
          <p:cNvSpPr>
            <a:spLocks noChangeArrowheads="1"/>
          </p:cNvSpPr>
          <p:nvPr/>
        </p:nvSpPr>
        <p:spPr bwMode="auto">
          <a:xfrm>
            <a:off x="6681787" y="6134101"/>
            <a:ext cx="14288" cy="4763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grpSp>
        <p:nvGrpSpPr>
          <p:cNvPr id="2" name="Group 1062"/>
          <p:cNvGrpSpPr>
            <a:grpSpLocks/>
          </p:cNvGrpSpPr>
          <p:nvPr/>
        </p:nvGrpSpPr>
        <p:grpSpPr bwMode="auto">
          <a:xfrm>
            <a:off x="1524000" y="1577975"/>
            <a:ext cx="5791200" cy="4886325"/>
            <a:chOff x="960" y="994"/>
            <a:chExt cx="3648" cy="3078"/>
          </a:xfrm>
        </p:grpSpPr>
        <p:sp>
          <p:nvSpPr>
            <p:cNvPr id="23618" name="Rectangle 377"/>
            <p:cNvSpPr>
              <a:spLocks noChangeArrowheads="1"/>
            </p:cNvSpPr>
            <p:nvPr/>
          </p:nvSpPr>
          <p:spPr bwMode="auto">
            <a:xfrm>
              <a:off x="2191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19" name="Rectangle 378"/>
            <p:cNvSpPr>
              <a:spLocks noChangeArrowheads="1"/>
            </p:cNvSpPr>
            <p:nvPr/>
          </p:nvSpPr>
          <p:spPr bwMode="auto">
            <a:xfrm>
              <a:off x="2191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0" name="Rectangle 380"/>
            <p:cNvSpPr>
              <a:spLocks noChangeArrowheads="1"/>
            </p:cNvSpPr>
            <p:nvPr/>
          </p:nvSpPr>
          <p:spPr bwMode="auto">
            <a:xfrm>
              <a:off x="2279" y="2935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1" name="Rectangle 382"/>
            <p:cNvSpPr>
              <a:spLocks noChangeArrowheads="1"/>
            </p:cNvSpPr>
            <p:nvPr/>
          </p:nvSpPr>
          <p:spPr bwMode="auto">
            <a:xfrm>
              <a:off x="2019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2" name="Rectangle 383"/>
            <p:cNvSpPr>
              <a:spLocks noChangeArrowheads="1"/>
            </p:cNvSpPr>
            <p:nvPr/>
          </p:nvSpPr>
          <p:spPr bwMode="auto">
            <a:xfrm>
              <a:off x="2019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3" name="Rectangle 385"/>
            <p:cNvSpPr>
              <a:spLocks noChangeArrowheads="1"/>
            </p:cNvSpPr>
            <p:nvPr/>
          </p:nvSpPr>
          <p:spPr bwMode="auto">
            <a:xfrm>
              <a:off x="2451" y="2772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4" name="Rectangle 388"/>
            <p:cNvSpPr>
              <a:spLocks noChangeArrowheads="1"/>
            </p:cNvSpPr>
            <p:nvPr/>
          </p:nvSpPr>
          <p:spPr bwMode="auto">
            <a:xfrm>
              <a:off x="2535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5" name="Rectangle 389"/>
            <p:cNvSpPr>
              <a:spLocks noChangeArrowheads="1"/>
            </p:cNvSpPr>
            <p:nvPr/>
          </p:nvSpPr>
          <p:spPr bwMode="auto">
            <a:xfrm>
              <a:off x="2535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6" name="Rectangle 391"/>
            <p:cNvSpPr>
              <a:spLocks noChangeArrowheads="1"/>
            </p:cNvSpPr>
            <p:nvPr/>
          </p:nvSpPr>
          <p:spPr bwMode="auto">
            <a:xfrm>
              <a:off x="2707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7" name="Rectangle 392"/>
            <p:cNvSpPr>
              <a:spLocks noChangeArrowheads="1"/>
            </p:cNvSpPr>
            <p:nvPr/>
          </p:nvSpPr>
          <p:spPr bwMode="auto">
            <a:xfrm>
              <a:off x="2707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8" name="Rectangle 394"/>
            <p:cNvSpPr>
              <a:spLocks noChangeArrowheads="1"/>
            </p:cNvSpPr>
            <p:nvPr/>
          </p:nvSpPr>
          <p:spPr bwMode="auto">
            <a:xfrm>
              <a:off x="2795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29" name="Rectangle 395"/>
            <p:cNvSpPr>
              <a:spLocks noChangeArrowheads="1"/>
            </p:cNvSpPr>
            <p:nvPr/>
          </p:nvSpPr>
          <p:spPr bwMode="auto">
            <a:xfrm>
              <a:off x="2795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0" name="Rectangle 397"/>
            <p:cNvSpPr>
              <a:spLocks noChangeArrowheads="1"/>
            </p:cNvSpPr>
            <p:nvPr/>
          </p:nvSpPr>
          <p:spPr bwMode="auto">
            <a:xfrm>
              <a:off x="2967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1" name="Rectangle 398"/>
            <p:cNvSpPr>
              <a:spLocks noChangeArrowheads="1"/>
            </p:cNvSpPr>
            <p:nvPr/>
          </p:nvSpPr>
          <p:spPr bwMode="auto">
            <a:xfrm>
              <a:off x="2967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2" name="Rectangle 400"/>
            <p:cNvSpPr>
              <a:spLocks noChangeArrowheads="1"/>
            </p:cNvSpPr>
            <p:nvPr/>
          </p:nvSpPr>
          <p:spPr bwMode="auto">
            <a:xfrm>
              <a:off x="3054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3" name="Rectangle 401"/>
            <p:cNvSpPr>
              <a:spLocks noChangeArrowheads="1"/>
            </p:cNvSpPr>
            <p:nvPr/>
          </p:nvSpPr>
          <p:spPr bwMode="auto">
            <a:xfrm>
              <a:off x="3054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4" name="Rectangle 444"/>
            <p:cNvSpPr>
              <a:spLocks noChangeArrowheads="1"/>
            </p:cNvSpPr>
            <p:nvPr/>
          </p:nvSpPr>
          <p:spPr bwMode="auto">
            <a:xfrm>
              <a:off x="2279" y="3236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5" name="Rectangle 485"/>
            <p:cNvSpPr>
              <a:spLocks noChangeArrowheads="1"/>
            </p:cNvSpPr>
            <p:nvPr/>
          </p:nvSpPr>
          <p:spPr bwMode="auto">
            <a:xfrm>
              <a:off x="1934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6" name="Rectangle 488"/>
            <p:cNvSpPr>
              <a:spLocks noChangeArrowheads="1"/>
            </p:cNvSpPr>
            <p:nvPr/>
          </p:nvSpPr>
          <p:spPr bwMode="auto">
            <a:xfrm>
              <a:off x="2191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7" name="Rectangle 490"/>
            <p:cNvSpPr>
              <a:spLocks noChangeArrowheads="1"/>
            </p:cNvSpPr>
            <p:nvPr/>
          </p:nvSpPr>
          <p:spPr bwMode="auto">
            <a:xfrm>
              <a:off x="2019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8" name="Rectangle 496"/>
            <p:cNvSpPr>
              <a:spLocks noChangeArrowheads="1"/>
            </p:cNvSpPr>
            <p:nvPr/>
          </p:nvSpPr>
          <p:spPr bwMode="auto">
            <a:xfrm>
              <a:off x="2535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39" name="Rectangle 498"/>
            <p:cNvSpPr>
              <a:spLocks noChangeArrowheads="1"/>
            </p:cNvSpPr>
            <p:nvPr/>
          </p:nvSpPr>
          <p:spPr bwMode="auto">
            <a:xfrm>
              <a:off x="2191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0" name="Rectangle 503"/>
            <p:cNvSpPr>
              <a:spLocks noChangeArrowheads="1"/>
            </p:cNvSpPr>
            <p:nvPr/>
          </p:nvSpPr>
          <p:spPr bwMode="auto">
            <a:xfrm>
              <a:off x="2707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1" name="Rectangle 506"/>
            <p:cNvSpPr>
              <a:spLocks noChangeArrowheads="1"/>
            </p:cNvSpPr>
            <p:nvPr/>
          </p:nvSpPr>
          <p:spPr bwMode="auto">
            <a:xfrm>
              <a:off x="2967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2" name="Rectangle 508"/>
            <p:cNvSpPr>
              <a:spLocks noChangeArrowheads="1"/>
            </p:cNvSpPr>
            <p:nvPr/>
          </p:nvSpPr>
          <p:spPr bwMode="auto">
            <a:xfrm>
              <a:off x="2795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3" name="Rectangle 511"/>
            <p:cNvSpPr>
              <a:spLocks noChangeArrowheads="1"/>
            </p:cNvSpPr>
            <p:nvPr/>
          </p:nvSpPr>
          <p:spPr bwMode="auto">
            <a:xfrm>
              <a:off x="3054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4" name="Rectangle 608"/>
            <p:cNvSpPr>
              <a:spLocks noChangeArrowheads="1"/>
            </p:cNvSpPr>
            <p:nvPr/>
          </p:nvSpPr>
          <p:spPr bwMode="auto">
            <a:xfrm>
              <a:off x="1934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5" name="Rectangle 609"/>
            <p:cNvSpPr>
              <a:spLocks noChangeArrowheads="1"/>
            </p:cNvSpPr>
            <p:nvPr/>
          </p:nvSpPr>
          <p:spPr bwMode="auto">
            <a:xfrm>
              <a:off x="1934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6" name="Rectangle 647"/>
            <p:cNvSpPr>
              <a:spLocks noChangeArrowheads="1"/>
            </p:cNvSpPr>
            <p:nvPr/>
          </p:nvSpPr>
          <p:spPr bwMode="auto">
            <a:xfrm>
              <a:off x="1934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7" name="Rectangle 690"/>
            <p:cNvSpPr>
              <a:spLocks noChangeArrowheads="1"/>
            </p:cNvSpPr>
            <p:nvPr/>
          </p:nvSpPr>
          <p:spPr bwMode="auto">
            <a:xfrm>
              <a:off x="1675" y="2935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8" name="Rectangle 692"/>
            <p:cNvSpPr>
              <a:spLocks noChangeArrowheads="1"/>
            </p:cNvSpPr>
            <p:nvPr/>
          </p:nvSpPr>
          <p:spPr bwMode="auto">
            <a:xfrm>
              <a:off x="1762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49" name="Rectangle 693"/>
            <p:cNvSpPr>
              <a:spLocks noChangeArrowheads="1"/>
            </p:cNvSpPr>
            <p:nvPr/>
          </p:nvSpPr>
          <p:spPr bwMode="auto">
            <a:xfrm>
              <a:off x="1762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0" name="Rectangle 763"/>
            <p:cNvSpPr>
              <a:spLocks noChangeArrowheads="1"/>
            </p:cNvSpPr>
            <p:nvPr/>
          </p:nvSpPr>
          <p:spPr bwMode="auto">
            <a:xfrm>
              <a:off x="3790" y="2935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1" name="Rectangle 771"/>
            <p:cNvSpPr>
              <a:spLocks noChangeArrowheads="1"/>
            </p:cNvSpPr>
            <p:nvPr/>
          </p:nvSpPr>
          <p:spPr bwMode="auto">
            <a:xfrm>
              <a:off x="3874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2" name="Rectangle 773"/>
            <p:cNvSpPr>
              <a:spLocks noChangeArrowheads="1"/>
            </p:cNvSpPr>
            <p:nvPr/>
          </p:nvSpPr>
          <p:spPr bwMode="auto">
            <a:xfrm>
              <a:off x="3600" y="3669"/>
              <a:ext cx="3" cy="8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3" name="Rectangle 775"/>
            <p:cNvSpPr>
              <a:spLocks noChangeArrowheads="1"/>
            </p:cNvSpPr>
            <p:nvPr/>
          </p:nvSpPr>
          <p:spPr bwMode="auto">
            <a:xfrm>
              <a:off x="3790" y="3236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4" name="Rectangle 792"/>
            <p:cNvSpPr>
              <a:spLocks noChangeArrowheads="1"/>
            </p:cNvSpPr>
            <p:nvPr/>
          </p:nvSpPr>
          <p:spPr bwMode="auto">
            <a:xfrm>
              <a:off x="4134" y="196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5" name="Rectangle 814"/>
            <p:cNvSpPr>
              <a:spLocks noChangeArrowheads="1"/>
            </p:cNvSpPr>
            <p:nvPr/>
          </p:nvSpPr>
          <p:spPr bwMode="auto">
            <a:xfrm>
              <a:off x="3874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6" name="Rectangle 815"/>
            <p:cNvSpPr>
              <a:spLocks noChangeArrowheads="1"/>
            </p:cNvSpPr>
            <p:nvPr/>
          </p:nvSpPr>
          <p:spPr bwMode="auto">
            <a:xfrm>
              <a:off x="3874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7" name="Rectangle 836"/>
            <p:cNvSpPr>
              <a:spLocks noChangeArrowheads="1"/>
            </p:cNvSpPr>
            <p:nvPr/>
          </p:nvSpPr>
          <p:spPr bwMode="auto">
            <a:xfrm>
              <a:off x="3874" y="3557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8" name="Rectangle 886"/>
            <p:cNvSpPr>
              <a:spLocks noChangeArrowheads="1"/>
            </p:cNvSpPr>
            <p:nvPr/>
          </p:nvSpPr>
          <p:spPr bwMode="auto">
            <a:xfrm>
              <a:off x="4134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59" name="Rectangle 887"/>
            <p:cNvSpPr>
              <a:spLocks noChangeArrowheads="1"/>
            </p:cNvSpPr>
            <p:nvPr/>
          </p:nvSpPr>
          <p:spPr bwMode="auto">
            <a:xfrm>
              <a:off x="4134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0" name="Rectangle 889"/>
            <p:cNvSpPr>
              <a:spLocks noChangeArrowheads="1"/>
            </p:cNvSpPr>
            <p:nvPr/>
          </p:nvSpPr>
          <p:spPr bwMode="auto">
            <a:xfrm>
              <a:off x="4046" y="2772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1" name="Rectangle 890"/>
            <p:cNvSpPr>
              <a:spLocks noChangeArrowheads="1"/>
            </p:cNvSpPr>
            <p:nvPr/>
          </p:nvSpPr>
          <p:spPr bwMode="auto">
            <a:xfrm>
              <a:off x="4046" y="2935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2" name="Rectangle 934"/>
            <p:cNvSpPr>
              <a:spLocks noChangeArrowheads="1"/>
            </p:cNvSpPr>
            <p:nvPr/>
          </p:nvSpPr>
          <p:spPr bwMode="auto">
            <a:xfrm>
              <a:off x="3790" y="2235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3" name="Rectangle 975"/>
            <p:cNvSpPr>
              <a:spLocks noChangeArrowheads="1"/>
            </p:cNvSpPr>
            <p:nvPr/>
          </p:nvSpPr>
          <p:spPr bwMode="auto">
            <a:xfrm>
              <a:off x="2279" y="3795"/>
              <a:ext cx="8" cy="4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4" name="Rectangle 995"/>
            <p:cNvSpPr>
              <a:spLocks noChangeArrowheads="1"/>
            </p:cNvSpPr>
            <p:nvPr/>
          </p:nvSpPr>
          <p:spPr bwMode="auto">
            <a:xfrm>
              <a:off x="3790" y="3795"/>
              <a:ext cx="8" cy="4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5" name="Rectangle 1019"/>
            <p:cNvSpPr>
              <a:spLocks noChangeArrowheads="1"/>
            </p:cNvSpPr>
            <p:nvPr/>
          </p:nvSpPr>
          <p:spPr bwMode="auto">
            <a:xfrm>
              <a:off x="3874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6" name="Rectangle 1022"/>
            <p:cNvSpPr>
              <a:spLocks noChangeArrowheads="1"/>
            </p:cNvSpPr>
            <p:nvPr/>
          </p:nvSpPr>
          <p:spPr bwMode="auto">
            <a:xfrm>
              <a:off x="1675" y="1570"/>
              <a:ext cx="8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7" name="Rectangle 1024"/>
            <p:cNvSpPr>
              <a:spLocks noChangeArrowheads="1"/>
            </p:cNvSpPr>
            <p:nvPr/>
          </p:nvSpPr>
          <p:spPr bwMode="auto">
            <a:xfrm>
              <a:off x="1762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8" name="Rectangle 1026"/>
            <p:cNvSpPr>
              <a:spLocks noChangeArrowheads="1"/>
            </p:cNvSpPr>
            <p:nvPr/>
          </p:nvSpPr>
          <p:spPr bwMode="auto">
            <a:xfrm>
              <a:off x="1934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69" name="Rectangle 1028"/>
            <p:cNvSpPr>
              <a:spLocks noChangeArrowheads="1"/>
            </p:cNvSpPr>
            <p:nvPr/>
          </p:nvSpPr>
          <p:spPr bwMode="auto">
            <a:xfrm>
              <a:off x="2019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0" name="Rectangle 1030"/>
            <p:cNvSpPr>
              <a:spLocks noChangeArrowheads="1"/>
            </p:cNvSpPr>
            <p:nvPr/>
          </p:nvSpPr>
          <p:spPr bwMode="auto">
            <a:xfrm>
              <a:off x="2191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1" name="Rectangle 1035"/>
            <p:cNvSpPr>
              <a:spLocks noChangeArrowheads="1"/>
            </p:cNvSpPr>
            <p:nvPr/>
          </p:nvSpPr>
          <p:spPr bwMode="auto">
            <a:xfrm>
              <a:off x="2535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2" name="Rectangle 1037"/>
            <p:cNvSpPr>
              <a:spLocks noChangeArrowheads="1"/>
            </p:cNvSpPr>
            <p:nvPr/>
          </p:nvSpPr>
          <p:spPr bwMode="auto">
            <a:xfrm>
              <a:off x="2707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3" name="Rectangle 1039"/>
            <p:cNvSpPr>
              <a:spLocks noChangeArrowheads="1"/>
            </p:cNvSpPr>
            <p:nvPr/>
          </p:nvSpPr>
          <p:spPr bwMode="auto">
            <a:xfrm>
              <a:off x="2795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4" name="Rectangle 1041"/>
            <p:cNvSpPr>
              <a:spLocks noChangeArrowheads="1"/>
            </p:cNvSpPr>
            <p:nvPr/>
          </p:nvSpPr>
          <p:spPr bwMode="auto">
            <a:xfrm>
              <a:off x="2967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5" name="Rectangle 1043"/>
            <p:cNvSpPr>
              <a:spLocks noChangeArrowheads="1"/>
            </p:cNvSpPr>
            <p:nvPr/>
          </p:nvSpPr>
          <p:spPr bwMode="auto">
            <a:xfrm>
              <a:off x="3054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6" name="Rectangle 1046"/>
            <p:cNvSpPr>
              <a:spLocks noChangeArrowheads="1"/>
            </p:cNvSpPr>
            <p:nvPr/>
          </p:nvSpPr>
          <p:spPr bwMode="auto">
            <a:xfrm>
              <a:off x="4046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7" name="Rectangle 1048"/>
            <p:cNvSpPr>
              <a:spLocks noChangeArrowheads="1"/>
            </p:cNvSpPr>
            <p:nvPr/>
          </p:nvSpPr>
          <p:spPr bwMode="auto">
            <a:xfrm>
              <a:off x="4134" y="1570"/>
              <a:ext cx="9" cy="3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8" name="Rectangle 6"/>
            <p:cNvSpPr>
              <a:spLocks noChangeArrowheads="1"/>
            </p:cNvSpPr>
            <p:nvPr/>
          </p:nvSpPr>
          <p:spPr bwMode="auto">
            <a:xfrm>
              <a:off x="2248" y="1555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79" name="Rectangle 7"/>
            <p:cNvSpPr>
              <a:spLocks noChangeArrowheads="1"/>
            </p:cNvSpPr>
            <p:nvPr/>
          </p:nvSpPr>
          <p:spPr bwMode="auto">
            <a:xfrm>
              <a:off x="2251" y="1555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0" name="Rectangle 8"/>
            <p:cNvSpPr>
              <a:spLocks noChangeArrowheads="1"/>
            </p:cNvSpPr>
            <p:nvPr/>
          </p:nvSpPr>
          <p:spPr bwMode="auto">
            <a:xfrm>
              <a:off x="2508" y="1558"/>
              <a:ext cx="8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1" name="Rectangle 9"/>
            <p:cNvSpPr>
              <a:spLocks noChangeArrowheads="1"/>
            </p:cNvSpPr>
            <p:nvPr/>
          </p:nvSpPr>
          <p:spPr bwMode="auto">
            <a:xfrm>
              <a:off x="2120" y="1739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2" name="Rectangle 10"/>
            <p:cNvSpPr>
              <a:spLocks noChangeArrowheads="1"/>
            </p:cNvSpPr>
            <p:nvPr/>
          </p:nvSpPr>
          <p:spPr bwMode="auto">
            <a:xfrm>
              <a:off x="2123" y="1739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3" name="Rectangle 11"/>
            <p:cNvSpPr>
              <a:spLocks noChangeArrowheads="1"/>
            </p:cNvSpPr>
            <p:nvPr/>
          </p:nvSpPr>
          <p:spPr bwMode="auto">
            <a:xfrm>
              <a:off x="2248" y="1555"/>
              <a:ext cx="9" cy="18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4" name="Rectangle 12"/>
            <p:cNvSpPr>
              <a:spLocks noChangeArrowheads="1"/>
            </p:cNvSpPr>
            <p:nvPr/>
          </p:nvSpPr>
          <p:spPr bwMode="auto">
            <a:xfrm>
              <a:off x="2120" y="1555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5" name="Rectangle 13"/>
            <p:cNvSpPr>
              <a:spLocks noChangeArrowheads="1"/>
            </p:cNvSpPr>
            <p:nvPr/>
          </p:nvSpPr>
          <p:spPr bwMode="auto">
            <a:xfrm>
              <a:off x="2123" y="1555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6" name="Rectangle 14"/>
            <p:cNvSpPr>
              <a:spLocks noChangeArrowheads="1"/>
            </p:cNvSpPr>
            <p:nvPr/>
          </p:nvSpPr>
          <p:spPr bwMode="auto">
            <a:xfrm>
              <a:off x="2336" y="1739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7" name="Rectangle 15"/>
            <p:cNvSpPr>
              <a:spLocks noChangeArrowheads="1"/>
            </p:cNvSpPr>
            <p:nvPr/>
          </p:nvSpPr>
          <p:spPr bwMode="auto">
            <a:xfrm>
              <a:off x="2336" y="1555"/>
              <a:ext cx="8" cy="18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8" name="Rectangle 16"/>
            <p:cNvSpPr>
              <a:spLocks noChangeArrowheads="1"/>
            </p:cNvSpPr>
            <p:nvPr/>
          </p:nvSpPr>
          <p:spPr bwMode="auto">
            <a:xfrm>
              <a:off x="2338" y="1555"/>
              <a:ext cx="12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89" name="Rectangle 17"/>
            <p:cNvSpPr>
              <a:spLocks noChangeArrowheads="1"/>
            </p:cNvSpPr>
            <p:nvPr/>
          </p:nvSpPr>
          <p:spPr bwMode="auto">
            <a:xfrm>
              <a:off x="2654" y="1582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0" name="Rectangle 18"/>
            <p:cNvSpPr>
              <a:spLocks noChangeArrowheads="1"/>
            </p:cNvSpPr>
            <p:nvPr/>
          </p:nvSpPr>
          <p:spPr bwMode="auto">
            <a:xfrm>
              <a:off x="2639" y="1739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1" name="Rectangle 19"/>
            <p:cNvSpPr>
              <a:spLocks noChangeArrowheads="1"/>
            </p:cNvSpPr>
            <p:nvPr/>
          </p:nvSpPr>
          <p:spPr bwMode="auto">
            <a:xfrm>
              <a:off x="2764" y="1555"/>
              <a:ext cx="9" cy="18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2" name="Rectangle 20"/>
            <p:cNvSpPr>
              <a:spLocks noChangeArrowheads="1"/>
            </p:cNvSpPr>
            <p:nvPr/>
          </p:nvSpPr>
          <p:spPr bwMode="auto">
            <a:xfrm>
              <a:off x="2654" y="1398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3" name="Rectangle 21"/>
            <p:cNvSpPr>
              <a:spLocks noChangeArrowheads="1"/>
            </p:cNvSpPr>
            <p:nvPr/>
          </p:nvSpPr>
          <p:spPr bwMode="auto">
            <a:xfrm>
              <a:off x="2639" y="1555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4" name="Rectangle 22"/>
            <p:cNvSpPr>
              <a:spLocks noChangeArrowheads="1"/>
            </p:cNvSpPr>
            <p:nvPr/>
          </p:nvSpPr>
          <p:spPr bwMode="auto">
            <a:xfrm>
              <a:off x="2852" y="1739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5" name="Rectangle 23"/>
            <p:cNvSpPr>
              <a:spLocks noChangeArrowheads="1"/>
            </p:cNvSpPr>
            <p:nvPr/>
          </p:nvSpPr>
          <p:spPr bwMode="auto">
            <a:xfrm>
              <a:off x="2852" y="1555"/>
              <a:ext cx="9" cy="18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6" name="Rectangle 24"/>
            <p:cNvSpPr>
              <a:spLocks noChangeArrowheads="1"/>
            </p:cNvSpPr>
            <p:nvPr/>
          </p:nvSpPr>
          <p:spPr bwMode="auto">
            <a:xfrm>
              <a:off x="2855" y="1555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7" name="Rectangle 25"/>
            <p:cNvSpPr>
              <a:spLocks noChangeArrowheads="1"/>
            </p:cNvSpPr>
            <p:nvPr/>
          </p:nvSpPr>
          <p:spPr bwMode="auto">
            <a:xfrm>
              <a:off x="2219" y="1555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8" name="Rectangle 26"/>
            <p:cNvSpPr>
              <a:spLocks noChangeArrowheads="1"/>
            </p:cNvSpPr>
            <p:nvPr/>
          </p:nvSpPr>
          <p:spPr bwMode="auto">
            <a:xfrm>
              <a:off x="1822" y="1555"/>
              <a:ext cx="39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699" name="Rectangle 28"/>
            <p:cNvSpPr>
              <a:spLocks noChangeArrowheads="1"/>
            </p:cNvSpPr>
            <p:nvPr/>
          </p:nvSpPr>
          <p:spPr bwMode="auto">
            <a:xfrm>
              <a:off x="2657" y="1398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0" name="Rectangle 29"/>
            <p:cNvSpPr>
              <a:spLocks noChangeArrowheads="1"/>
            </p:cNvSpPr>
            <p:nvPr/>
          </p:nvSpPr>
          <p:spPr bwMode="auto">
            <a:xfrm>
              <a:off x="2467" y="1555"/>
              <a:ext cx="17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1" name="Rectangle 30"/>
            <p:cNvSpPr>
              <a:spLocks noChangeArrowheads="1"/>
            </p:cNvSpPr>
            <p:nvPr/>
          </p:nvSpPr>
          <p:spPr bwMode="auto">
            <a:xfrm>
              <a:off x="2980" y="1555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2" name="Rectangle 31"/>
            <p:cNvSpPr>
              <a:spLocks noChangeArrowheads="1"/>
            </p:cNvSpPr>
            <p:nvPr/>
          </p:nvSpPr>
          <p:spPr bwMode="auto">
            <a:xfrm>
              <a:off x="2983" y="1555"/>
              <a:ext cx="34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3" name="Rectangle 32"/>
            <p:cNvSpPr>
              <a:spLocks noChangeArrowheads="1"/>
            </p:cNvSpPr>
            <p:nvPr/>
          </p:nvSpPr>
          <p:spPr bwMode="auto">
            <a:xfrm>
              <a:off x="1822" y="1471"/>
              <a:ext cx="150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4" name="Rectangle 33"/>
            <p:cNvSpPr>
              <a:spLocks noChangeArrowheads="1"/>
            </p:cNvSpPr>
            <p:nvPr/>
          </p:nvSpPr>
          <p:spPr bwMode="auto">
            <a:xfrm>
              <a:off x="1991" y="1555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5" name="Rectangle 34"/>
            <p:cNvSpPr>
              <a:spLocks noChangeArrowheads="1"/>
            </p:cNvSpPr>
            <p:nvPr/>
          </p:nvSpPr>
          <p:spPr bwMode="auto">
            <a:xfrm>
              <a:off x="1994" y="1555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6" name="Rectangle 35"/>
            <p:cNvSpPr>
              <a:spLocks noChangeArrowheads="1"/>
            </p:cNvSpPr>
            <p:nvPr/>
          </p:nvSpPr>
          <p:spPr bwMode="auto">
            <a:xfrm>
              <a:off x="2248" y="1558"/>
              <a:ext cx="9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7" name="Rectangle 36"/>
            <p:cNvSpPr>
              <a:spLocks noChangeArrowheads="1"/>
            </p:cNvSpPr>
            <p:nvPr/>
          </p:nvSpPr>
          <p:spPr bwMode="auto">
            <a:xfrm>
              <a:off x="2076" y="1555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8" name="Rectangle 37"/>
            <p:cNvSpPr>
              <a:spLocks noChangeArrowheads="1"/>
            </p:cNvSpPr>
            <p:nvPr/>
          </p:nvSpPr>
          <p:spPr bwMode="auto">
            <a:xfrm>
              <a:off x="2079" y="1555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09" name="Rectangle 38"/>
            <p:cNvSpPr>
              <a:spLocks noChangeArrowheads="1"/>
            </p:cNvSpPr>
            <p:nvPr/>
          </p:nvSpPr>
          <p:spPr bwMode="auto">
            <a:xfrm>
              <a:off x="2336" y="1558"/>
              <a:ext cx="8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0" name="Rectangle 39"/>
            <p:cNvSpPr>
              <a:spLocks noChangeArrowheads="1"/>
            </p:cNvSpPr>
            <p:nvPr/>
          </p:nvSpPr>
          <p:spPr bwMode="auto">
            <a:xfrm>
              <a:off x="2336" y="1555"/>
              <a:ext cx="8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1" name="Rectangle 40"/>
            <p:cNvSpPr>
              <a:spLocks noChangeArrowheads="1"/>
            </p:cNvSpPr>
            <p:nvPr/>
          </p:nvSpPr>
          <p:spPr bwMode="auto">
            <a:xfrm>
              <a:off x="2338" y="1555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2" name="Rectangle 41"/>
            <p:cNvSpPr>
              <a:spLocks noChangeArrowheads="1"/>
            </p:cNvSpPr>
            <p:nvPr/>
          </p:nvSpPr>
          <p:spPr bwMode="auto">
            <a:xfrm>
              <a:off x="2592" y="1558"/>
              <a:ext cx="9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3" name="Rectangle 42"/>
            <p:cNvSpPr>
              <a:spLocks noChangeArrowheads="1"/>
            </p:cNvSpPr>
            <p:nvPr/>
          </p:nvSpPr>
          <p:spPr bwMode="auto">
            <a:xfrm>
              <a:off x="2764" y="1555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4" name="Rectangle 43"/>
            <p:cNvSpPr>
              <a:spLocks noChangeArrowheads="1"/>
            </p:cNvSpPr>
            <p:nvPr/>
          </p:nvSpPr>
          <p:spPr bwMode="auto">
            <a:xfrm>
              <a:off x="2767" y="1555"/>
              <a:ext cx="26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5" name="Rectangle 44"/>
            <p:cNvSpPr>
              <a:spLocks noChangeArrowheads="1"/>
            </p:cNvSpPr>
            <p:nvPr/>
          </p:nvSpPr>
          <p:spPr bwMode="auto">
            <a:xfrm>
              <a:off x="3024" y="1558"/>
              <a:ext cx="9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6" name="Rectangle 45"/>
            <p:cNvSpPr>
              <a:spLocks noChangeArrowheads="1"/>
            </p:cNvSpPr>
            <p:nvPr/>
          </p:nvSpPr>
          <p:spPr bwMode="auto">
            <a:xfrm>
              <a:off x="2852" y="1555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7" name="Rectangle 46"/>
            <p:cNvSpPr>
              <a:spLocks noChangeArrowheads="1"/>
            </p:cNvSpPr>
            <p:nvPr/>
          </p:nvSpPr>
          <p:spPr bwMode="auto">
            <a:xfrm>
              <a:off x="2855" y="1555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8" name="Rectangle 47"/>
            <p:cNvSpPr>
              <a:spLocks noChangeArrowheads="1"/>
            </p:cNvSpPr>
            <p:nvPr/>
          </p:nvSpPr>
          <p:spPr bwMode="auto">
            <a:xfrm>
              <a:off x="3111" y="1558"/>
              <a:ext cx="9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19" name="Rectangle 48"/>
            <p:cNvSpPr>
              <a:spLocks noChangeArrowheads="1"/>
            </p:cNvSpPr>
            <p:nvPr/>
          </p:nvSpPr>
          <p:spPr bwMode="auto">
            <a:xfrm>
              <a:off x="2228" y="1450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0" name="Rectangle 49"/>
            <p:cNvSpPr>
              <a:spLocks noChangeArrowheads="1"/>
            </p:cNvSpPr>
            <p:nvPr/>
          </p:nvSpPr>
          <p:spPr bwMode="auto">
            <a:xfrm>
              <a:off x="2228" y="1447"/>
              <a:ext cx="13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1" name="Rectangle 50"/>
            <p:cNvSpPr>
              <a:spLocks noChangeArrowheads="1"/>
            </p:cNvSpPr>
            <p:nvPr/>
          </p:nvSpPr>
          <p:spPr bwMode="auto">
            <a:xfrm>
              <a:off x="2359" y="1450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2" name="Rectangle 51"/>
            <p:cNvSpPr>
              <a:spLocks noChangeArrowheads="1"/>
            </p:cNvSpPr>
            <p:nvPr/>
          </p:nvSpPr>
          <p:spPr bwMode="auto">
            <a:xfrm>
              <a:off x="2225" y="1578"/>
              <a:ext cx="137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3" name="Rectangle 52"/>
            <p:cNvSpPr>
              <a:spLocks noChangeArrowheads="1"/>
            </p:cNvSpPr>
            <p:nvPr/>
          </p:nvSpPr>
          <p:spPr bwMode="auto">
            <a:xfrm>
              <a:off x="2225" y="1447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4" name="Rectangle 53"/>
            <p:cNvSpPr>
              <a:spLocks noChangeArrowheads="1"/>
            </p:cNvSpPr>
            <p:nvPr/>
          </p:nvSpPr>
          <p:spPr bwMode="auto">
            <a:xfrm>
              <a:off x="2747" y="1450"/>
              <a:ext cx="12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5" name="Rectangle 54"/>
            <p:cNvSpPr>
              <a:spLocks noChangeArrowheads="1"/>
            </p:cNvSpPr>
            <p:nvPr/>
          </p:nvSpPr>
          <p:spPr bwMode="auto">
            <a:xfrm>
              <a:off x="2747" y="1447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6" name="Rectangle 55"/>
            <p:cNvSpPr>
              <a:spLocks noChangeArrowheads="1"/>
            </p:cNvSpPr>
            <p:nvPr/>
          </p:nvSpPr>
          <p:spPr bwMode="auto">
            <a:xfrm>
              <a:off x="2875" y="1450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7" name="Rectangle 56"/>
            <p:cNvSpPr>
              <a:spLocks noChangeArrowheads="1"/>
            </p:cNvSpPr>
            <p:nvPr/>
          </p:nvSpPr>
          <p:spPr bwMode="auto">
            <a:xfrm>
              <a:off x="2744" y="1578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8" name="Rectangle 57"/>
            <p:cNvSpPr>
              <a:spLocks noChangeArrowheads="1"/>
            </p:cNvSpPr>
            <p:nvPr/>
          </p:nvSpPr>
          <p:spPr bwMode="auto">
            <a:xfrm>
              <a:off x="2744" y="1447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29" name="Rectangle 58"/>
            <p:cNvSpPr>
              <a:spLocks noChangeArrowheads="1"/>
            </p:cNvSpPr>
            <p:nvPr/>
          </p:nvSpPr>
          <p:spPr bwMode="auto">
            <a:xfrm>
              <a:off x="2487" y="1450"/>
              <a:ext cx="12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0" name="Rectangle 59"/>
            <p:cNvSpPr>
              <a:spLocks noChangeArrowheads="1"/>
            </p:cNvSpPr>
            <p:nvPr/>
          </p:nvSpPr>
          <p:spPr bwMode="auto">
            <a:xfrm>
              <a:off x="2487" y="1447"/>
              <a:ext cx="13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1" name="Rectangle 60"/>
            <p:cNvSpPr>
              <a:spLocks noChangeArrowheads="1"/>
            </p:cNvSpPr>
            <p:nvPr/>
          </p:nvSpPr>
          <p:spPr bwMode="auto">
            <a:xfrm>
              <a:off x="2615" y="1450"/>
              <a:ext cx="10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2" name="Rectangle 61"/>
            <p:cNvSpPr>
              <a:spLocks noChangeArrowheads="1"/>
            </p:cNvSpPr>
            <p:nvPr/>
          </p:nvSpPr>
          <p:spPr bwMode="auto">
            <a:xfrm>
              <a:off x="2484" y="1578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3" name="Rectangle 62"/>
            <p:cNvSpPr>
              <a:spLocks noChangeArrowheads="1"/>
            </p:cNvSpPr>
            <p:nvPr/>
          </p:nvSpPr>
          <p:spPr bwMode="auto">
            <a:xfrm>
              <a:off x="2484" y="1447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4" name="Rectangle 63"/>
            <p:cNvSpPr>
              <a:spLocks noChangeArrowheads="1"/>
            </p:cNvSpPr>
            <p:nvPr/>
          </p:nvSpPr>
          <p:spPr bwMode="auto">
            <a:xfrm>
              <a:off x="3004" y="1450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5" name="Rectangle 64"/>
            <p:cNvSpPr>
              <a:spLocks noChangeArrowheads="1"/>
            </p:cNvSpPr>
            <p:nvPr/>
          </p:nvSpPr>
          <p:spPr bwMode="auto">
            <a:xfrm>
              <a:off x="3004" y="1447"/>
              <a:ext cx="13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6" name="Rectangle 65"/>
            <p:cNvSpPr>
              <a:spLocks noChangeArrowheads="1"/>
            </p:cNvSpPr>
            <p:nvPr/>
          </p:nvSpPr>
          <p:spPr bwMode="auto">
            <a:xfrm>
              <a:off x="3135" y="1450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7" name="Rectangle 66"/>
            <p:cNvSpPr>
              <a:spLocks noChangeArrowheads="1"/>
            </p:cNvSpPr>
            <p:nvPr/>
          </p:nvSpPr>
          <p:spPr bwMode="auto">
            <a:xfrm>
              <a:off x="3001" y="1578"/>
              <a:ext cx="137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8" name="Rectangle 67"/>
            <p:cNvSpPr>
              <a:spLocks noChangeArrowheads="1"/>
            </p:cNvSpPr>
            <p:nvPr/>
          </p:nvSpPr>
          <p:spPr bwMode="auto">
            <a:xfrm>
              <a:off x="3001" y="1447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39" name="Rectangle 68"/>
            <p:cNvSpPr>
              <a:spLocks noChangeArrowheads="1"/>
            </p:cNvSpPr>
            <p:nvPr/>
          </p:nvSpPr>
          <p:spPr bwMode="auto">
            <a:xfrm>
              <a:off x="2120" y="1823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0" name="Rectangle 69"/>
            <p:cNvSpPr>
              <a:spLocks noChangeArrowheads="1"/>
            </p:cNvSpPr>
            <p:nvPr/>
          </p:nvSpPr>
          <p:spPr bwMode="auto">
            <a:xfrm>
              <a:off x="2123" y="1823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1" name="Rectangle 70"/>
            <p:cNvSpPr>
              <a:spLocks noChangeArrowheads="1"/>
            </p:cNvSpPr>
            <p:nvPr/>
          </p:nvSpPr>
          <p:spPr bwMode="auto">
            <a:xfrm>
              <a:off x="2248" y="1826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2" name="Rectangle 71"/>
            <p:cNvSpPr>
              <a:spLocks noChangeArrowheads="1"/>
            </p:cNvSpPr>
            <p:nvPr/>
          </p:nvSpPr>
          <p:spPr bwMode="auto">
            <a:xfrm>
              <a:off x="2120" y="2007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3" name="Rectangle 72"/>
            <p:cNvSpPr>
              <a:spLocks noChangeArrowheads="1"/>
            </p:cNvSpPr>
            <p:nvPr/>
          </p:nvSpPr>
          <p:spPr bwMode="auto">
            <a:xfrm>
              <a:off x="2123" y="2007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4" name="Rectangle 73"/>
            <p:cNvSpPr>
              <a:spLocks noChangeArrowheads="1"/>
            </p:cNvSpPr>
            <p:nvPr/>
          </p:nvSpPr>
          <p:spPr bwMode="auto">
            <a:xfrm>
              <a:off x="2336" y="1823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5" name="Rectangle 74"/>
            <p:cNvSpPr>
              <a:spLocks noChangeArrowheads="1"/>
            </p:cNvSpPr>
            <p:nvPr/>
          </p:nvSpPr>
          <p:spPr bwMode="auto">
            <a:xfrm>
              <a:off x="2336" y="1826"/>
              <a:ext cx="8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6" name="Rectangle 75"/>
            <p:cNvSpPr>
              <a:spLocks noChangeArrowheads="1"/>
            </p:cNvSpPr>
            <p:nvPr/>
          </p:nvSpPr>
          <p:spPr bwMode="auto">
            <a:xfrm>
              <a:off x="2338" y="2007"/>
              <a:ext cx="12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7" name="Rectangle 76"/>
            <p:cNvSpPr>
              <a:spLocks noChangeArrowheads="1"/>
            </p:cNvSpPr>
            <p:nvPr/>
          </p:nvSpPr>
          <p:spPr bwMode="auto">
            <a:xfrm>
              <a:off x="2654" y="1666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8" name="Rectangle 77"/>
            <p:cNvSpPr>
              <a:spLocks noChangeArrowheads="1"/>
            </p:cNvSpPr>
            <p:nvPr/>
          </p:nvSpPr>
          <p:spPr bwMode="auto">
            <a:xfrm>
              <a:off x="2639" y="1823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49" name="Rectangle 78"/>
            <p:cNvSpPr>
              <a:spLocks noChangeArrowheads="1"/>
            </p:cNvSpPr>
            <p:nvPr/>
          </p:nvSpPr>
          <p:spPr bwMode="auto">
            <a:xfrm>
              <a:off x="2764" y="1826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0" name="Rectangle 79"/>
            <p:cNvSpPr>
              <a:spLocks noChangeArrowheads="1"/>
            </p:cNvSpPr>
            <p:nvPr/>
          </p:nvSpPr>
          <p:spPr bwMode="auto">
            <a:xfrm>
              <a:off x="2654" y="185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1" name="Rectangle 80"/>
            <p:cNvSpPr>
              <a:spLocks noChangeArrowheads="1"/>
            </p:cNvSpPr>
            <p:nvPr/>
          </p:nvSpPr>
          <p:spPr bwMode="auto">
            <a:xfrm>
              <a:off x="2639" y="2007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2" name="Rectangle 81"/>
            <p:cNvSpPr>
              <a:spLocks noChangeArrowheads="1"/>
            </p:cNvSpPr>
            <p:nvPr/>
          </p:nvSpPr>
          <p:spPr bwMode="auto">
            <a:xfrm>
              <a:off x="2852" y="1823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3" name="Rectangle 82"/>
            <p:cNvSpPr>
              <a:spLocks noChangeArrowheads="1"/>
            </p:cNvSpPr>
            <p:nvPr/>
          </p:nvSpPr>
          <p:spPr bwMode="auto">
            <a:xfrm>
              <a:off x="2852" y="1826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4" name="Rectangle 83"/>
            <p:cNvSpPr>
              <a:spLocks noChangeArrowheads="1"/>
            </p:cNvSpPr>
            <p:nvPr/>
          </p:nvSpPr>
          <p:spPr bwMode="auto">
            <a:xfrm>
              <a:off x="2855" y="2007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5" name="Rectangle 84"/>
            <p:cNvSpPr>
              <a:spLocks noChangeArrowheads="1"/>
            </p:cNvSpPr>
            <p:nvPr/>
          </p:nvSpPr>
          <p:spPr bwMode="auto">
            <a:xfrm>
              <a:off x="2219" y="2007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6" name="Rectangle 85"/>
            <p:cNvSpPr>
              <a:spLocks noChangeArrowheads="1"/>
            </p:cNvSpPr>
            <p:nvPr/>
          </p:nvSpPr>
          <p:spPr bwMode="auto">
            <a:xfrm>
              <a:off x="1822" y="2007"/>
              <a:ext cx="39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7" name="Rectangle 87"/>
            <p:cNvSpPr>
              <a:spLocks noChangeArrowheads="1"/>
            </p:cNvSpPr>
            <p:nvPr/>
          </p:nvSpPr>
          <p:spPr bwMode="auto">
            <a:xfrm>
              <a:off x="2657" y="185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8" name="Rectangle 88"/>
            <p:cNvSpPr>
              <a:spLocks noChangeArrowheads="1"/>
            </p:cNvSpPr>
            <p:nvPr/>
          </p:nvSpPr>
          <p:spPr bwMode="auto">
            <a:xfrm>
              <a:off x="2467" y="2007"/>
              <a:ext cx="17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59" name="Rectangle 89"/>
            <p:cNvSpPr>
              <a:spLocks noChangeArrowheads="1"/>
            </p:cNvSpPr>
            <p:nvPr/>
          </p:nvSpPr>
          <p:spPr bwMode="auto">
            <a:xfrm>
              <a:off x="2980" y="2007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0" name="Rectangle 90"/>
            <p:cNvSpPr>
              <a:spLocks noChangeArrowheads="1"/>
            </p:cNvSpPr>
            <p:nvPr/>
          </p:nvSpPr>
          <p:spPr bwMode="auto">
            <a:xfrm>
              <a:off x="2983" y="2007"/>
              <a:ext cx="34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1" name="Rectangle 91"/>
            <p:cNvSpPr>
              <a:spLocks noChangeArrowheads="1"/>
            </p:cNvSpPr>
            <p:nvPr/>
          </p:nvSpPr>
          <p:spPr bwMode="auto">
            <a:xfrm>
              <a:off x="2747" y="1719"/>
              <a:ext cx="12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2" name="Rectangle 92"/>
            <p:cNvSpPr>
              <a:spLocks noChangeArrowheads="1"/>
            </p:cNvSpPr>
            <p:nvPr/>
          </p:nvSpPr>
          <p:spPr bwMode="auto">
            <a:xfrm>
              <a:off x="2747" y="1716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3" name="Rectangle 93"/>
            <p:cNvSpPr>
              <a:spLocks noChangeArrowheads="1"/>
            </p:cNvSpPr>
            <p:nvPr/>
          </p:nvSpPr>
          <p:spPr bwMode="auto">
            <a:xfrm>
              <a:off x="2875" y="1719"/>
              <a:ext cx="9" cy="13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4" name="Rectangle 94"/>
            <p:cNvSpPr>
              <a:spLocks noChangeArrowheads="1"/>
            </p:cNvSpPr>
            <p:nvPr/>
          </p:nvSpPr>
          <p:spPr bwMode="auto">
            <a:xfrm>
              <a:off x="2744" y="1847"/>
              <a:ext cx="134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5" name="Rectangle 95"/>
            <p:cNvSpPr>
              <a:spLocks noChangeArrowheads="1"/>
            </p:cNvSpPr>
            <p:nvPr/>
          </p:nvSpPr>
          <p:spPr bwMode="auto">
            <a:xfrm>
              <a:off x="2744" y="1716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6" name="Rectangle 96"/>
            <p:cNvSpPr>
              <a:spLocks noChangeArrowheads="1"/>
            </p:cNvSpPr>
            <p:nvPr/>
          </p:nvSpPr>
          <p:spPr bwMode="auto">
            <a:xfrm>
              <a:off x="2228" y="1719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7" name="Rectangle 97"/>
            <p:cNvSpPr>
              <a:spLocks noChangeArrowheads="1"/>
            </p:cNvSpPr>
            <p:nvPr/>
          </p:nvSpPr>
          <p:spPr bwMode="auto">
            <a:xfrm>
              <a:off x="2228" y="1716"/>
              <a:ext cx="13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8" name="Rectangle 98"/>
            <p:cNvSpPr>
              <a:spLocks noChangeArrowheads="1"/>
            </p:cNvSpPr>
            <p:nvPr/>
          </p:nvSpPr>
          <p:spPr bwMode="auto">
            <a:xfrm>
              <a:off x="2359" y="1719"/>
              <a:ext cx="8" cy="13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69" name="Rectangle 99"/>
            <p:cNvSpPr>
              <a:spLocks noChangeArrowheads="1"/>
            </p:cNvSpPr>
            <p:nvPr/>
          </p:nvSpPr>
          <p:spPr bwMode="auto">
            <a:xfrm>
              <a:off x="2225" y="1847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70" name="Rectangle 100"/>
            <p:cNvSpPr>
              <a:spLocks noChangeArrowheads="1"/>
            </p:cNvSpPr>
            <p:nvPr/>
          </p:nvSpPr>
          <p:spPr bwMode="auto">
            <a:xfrm>
              <a:off x="2225" y="1716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771" name="Freeform 101"/>
            <p:cNvSpPr>
              <a:spLocks/>
            </p:cNvSpPr>
            <p:nvPr/>
          </p:nvSpPr>
          <p:spPr bwMode="auto">
            <a:xfrm>
              <a:off x="3435" y="3603"/>
              <a:ext cx="15" cy="17"/>
            </a:xfrm>
            <a:custGeom>
              <a:avLst/>
              <a:gdLst>
                <a:gd name="T0" fmla="*/ 1 w 30"/>
                <a:gd name="T1" fmla="*/ 0 h 35"/>
                <a:gd name="T2" fmla="*/ 1 w 30"/>
                <a:gd name="T3" fmla="*/ 0 h 35"/>
                <a:gd name="T4" fmla="*/ 1 w 30"/>
                <a:gd name="T5" fmla="*/ 0 h 35"/>
                <a:gd name="T6" fmla="*/ 1 w 30"/>
                <a:gd name="T7" fmla="*/ 0 h 35"/>
                <a:gd name="T8" fmla="*/ 0 w 30"/>
                <a:gd name="T9" fmla="*/ 0 h 35"/>
                <a:gd name="T10" fmla="*/ 1 w 30"/>
                <a:gd name="T11" fmla="*/ 0 h 35"/>
                <a:gd name="T12" fmla="*/ 1 w 30"/>
                <a:gd name="T13" fmla="*/ 0 h 35"/>
                <a:gd name="T14" fmla="*/ 1 w 30"/>
                <a:gd name="T15" fmla="*/ 0 h 35"/>
                <a:gd name="T16" fmla="*/ 1 w 30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5"/>
                <a:gd name="T29" fmla="*/ 30 w 30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5">
                  <a:moveTo>
                    <a:pt x="30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2" name="Freeform 102"/>
            <p:cNvSpPr>
              <a:spLocks/>
            </p:cNvSpPr>
            <p:nvPr/>
          </p:nvSpPr>
          <p:spPr bwMode="auto">
            <a:xfrm>
              <a:off x="3432" y="3600"/>
              <a:ext cx="24" cy="26"/>
            </a:xfrm>
            <a:custGeom>
              <a:avLst/>
              <a:gdLst>
                <a:gd name="T0" fmla="*/ 1 w 48"/>
                <a:gd name="T1" fmla="*/ 0 h 53"/>
                <a:gd name="T2" fmla="*/ 1 w 48"/>
                <a:gd name="T3" fmla="*/ 0 h 53"/>
                <a:gd name="T4" fmla="*/ 1 w 48"/>
                <a:gd name="T5" fmla="*/ 0 h 53"/>
                <a:gd name="T6" fmla="*/ 1 w 48"/>
                <a:gd name="T7" fmla="*/ 0 h 53"/>
                <a:gd name="T8" fmla="*/ 1 w 48"/>
                <a:gd name="T9" fmla="*/ 0 h 53"/>
                <a:gd name="T10" fmla="*/ 1 w 48"/>
                <a:gd name="T11" fmla="*/ 0 h 53"/>
                <a:gd name="T12" fmla="*/ 1 w 48"/>
                <a:gd name="T13" fmla="*/ 0 h 53"/>
                <a:gd name="T14" fmla="*/ 1 w 48"/>
                <a:gd name="T15" fmla="*/ 0 h 53"/>
                <a:gd name="T16" fmla="*/ 1 w 48"/>
                <a:gd name="T17" fmla="*/ 0 h 53"/>
                <a:gd name="T18" fmla="*/ 1 w 48"/>
                <a:gd name="T19" fmla="*/ 0 h 53"/>
                <a:gd name="T20" fmla="*/ 1 w 48"/>
                <a:gd name="T21" fmla="*/ 0 h 53"/>
                <a:gd name="T22" fmla="*/ 1 w 48"/>
                <a:gd name="T23" fmla="*/ 0 h 53"/>
                <a:gd name="T24" fmla="*/ 1 w 48"/>
                <a:gd name="T25" fmla="*/ 0 h 53"/>
                <a:gd name="T26" fmla="*/ 1 w 48"/>
                <a:gd name="T27" fmla="*/ 0 h 53"/>
                <a:gd name="T28" fmla="*/ 1 w 48"/>
                <a:gd name="T29" fmla="*/ 0 h 53"/>
                <a:gd name="T30" fmla="*/ 1 w 48"/>
                <a:gd name="T31" fmla="*/ 0 h 53"/>
                <a:gd name="T32" fmla="*/ 1 w 48"/>
                <a:gd name="T33" fmla="*/ 0 h 53"/>
                <a:gd name="T34" fmla="*/ 1 w 48"/>
                <a:gd name="T35" fmla="*/ 0 h 53"/>
                <a:gd name="T36" fmla="*/ 1 w 48"/>
                <a:gd name="T37" fmla="*/ 0 h 53"/>
                <a:gd name="T38" fmla="*/ 1 w 48"/>
                <a:gd name="T39" fmla="*/ 0 h 53"/>
                <a:gd name="T40" fmla="*/ 1 w 48"/>
                <a:gd name="T41" fmla="*/ 0 h 53"/>
                <a:gd name="T42" fmla="*/ 1 w 48"/>
                <a:gd name="T43" fmla="*/ 0 h 53"/>
                <a:gd name="T44" fmla="*/ 1 w 48"/>
                <a:gd name="T45" fmla="*/ 0 h 53"/>
                <a:gd name="T46" fmla="*/ 1 w 48"/>
                <a:gd name="T47" fmla="*/ 0 h 53"/>
                <a:gd name="T48" fmla="*/ 1 w 48"/>
                <a:gd name="T49" fmla="*/ 0 h 53"/>
                <a:gd name="T50" fmla="*/ 1 w 48"/>
                <a:gd name="T51" fmla="*/ 0 h 53"/>
                <a:gd name="T52" fmla="*/ 1 w 48"/>
                <a:gd name="T53" fmla="*/ 0 h 53"/>
                <a:gd name="T54" fmla="*/ 1 w 48"/>
                <a:gd name="T55" fmla="*/ 0 h 53"/>
                <a:gd name="T56" fmla="*/ 1 w 48"/>
                <a:gd name="T57" fmla="*/ 0 h 53"/>
                <a:gd name="T58" fmla="*/ 1 w 48"/>
                <a:gd name="T59" fmla="*/ 0 h 53"/>
                <a:gd name="T60" fmla="*/ 1 w 48"/>
                <a:gd name="T61" fmla="*/ 0 h 53"/>
                <a:gd name="T62" fmla="*/ 1 w 48"/>
                <a:gd name="T63" fmla="*/ 0 h 53"/>
                <a:gd name="T64" fmla="*/ 1 w 48"/>
                <a:gd name="T65" fmla="*/ 0 h 53"/>
                <a:gd name="T66" fmla="*/ 1 w 48"/>
                <a:gd name="T67" fmla="*/ 0 h 53"/>
                <a:gd name="T68" fmla="*/ 1 w 48"/>
                <a:gd name="T69" fmla="*/ 0 h 53"/>
                <a:gd name="T70" fmla="*/ 0 w 48"/>
                <a:gd name="T71" fmla="*/ 0 h 53"/>
                <a:gd name="T72" fmla="*/ 0 w 48"/>
                <a:gd name="T73" fmla="*/ 0 h 53"/>
                <a:gd name="T74" fmla="*/ 0 w 48"/>
                <a:gd name="T75" fmla="*/ 0 h 53"/>
                <a:gd name="T76" fmla="*/ 1 w 48"/>
                <a:gd name="T77" fmla="*/ 0 h 53"/>
                <a:gd name="T78" fmla="*/ 1 w 48"/>
                <a:gd name="T79" fmla="*/ 0 h 53"/>
                <a:gd name="T80" fmla="*/ 1 w 48"/>
                <a:gd name="T81" fmla="*/ 0 h 53"/>
                <a:gd name="T82" fmla="*/ 1 w 48"/>
                <a:gd name="T83" fmla="*/ 0 h 53"/>
                <a:gd name="T84" fmla="*/ 1 w 48"/>
                <a:gd name="T85" fmla="*/ 0 h 53"/>
                <a:gd name="T86" fmla="*/ 1 w 48"/>
                <a:gd name="T87" fmla="*/ 0 h 53"/>
                <a:gd name="T88" fmla="*/ 1 w 48"/>
                <a:gd name="T89" fmla="*/ 0 h 53"/>
                <a:gd name="T90" fmla="*/ 1 w 48"/>
                <a:gd name="T91" fmla="*/ 0 h 53"/>
                <a:gd name="T92" fmla="*/ 1 w 48"/>
                <a:gd name="T93" fmla="*/ 0 h 53"/>
                <a:gd name="T94" fmla="*/ 1 w 48"/>
                <a:gd name="T95" fmla="*/ 0 h 53"/>
                <a:gd name="T96" fmla="*/ 1 w 48"/>
                <a:gd name="T97" fmla="*/ 0 h 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53"/>
                <a:gd name="T149" fmla="*/ 48 w 48"/>
                <a:gd name="T150" fmla="*/ 53 h 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53">
                  <a:moveTo>
                    <a:pt x="29" y="29"/>
                  </a:moveTo>
                  <a:lnTo>
                    <a:pt x="25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5" y="11"/>
                  </a:lnTo>
                  <a:lnTo>
                    <a:pt x="18" y="17"/>
                  </a:lnTo>
                  <a:lnTo>
                    <a:pt x="25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5" y="34"/>
                  </a:lnTo>
                  <a:lnTo>
                    <a:pt x="18" y="29"/>
                  </a:lnTo>
                  <a:lnTo>
                    <a:pt x="25" y="34"/>
                  </a:lnTo>
                  <a:lnTo>
                    <a:pt x="18" y="34"/>
                  </a:lnTo>
                  <a:lnTo>
                    <a:pt x="29" y="29"/>
                  </a:lnTo>
                  <a:lnTo>
                    <a:pt x="25" y="34"/>
                  </a:lnTo>
                  <a:lnTo>
                    <a:pt x="29" y="23"/>
                  </a:lnTo>
                  <a:lnTo>
                    <a:pt x="48" y="29"/>
                  </a:lnTo>
                  <a:lnTo>
                    <a:pt x="42" y="40"/>
                  </a:lnTo>
                  <a:lnTo>
                    <a:pt x="36" y="46"/>
                  </a:lnTo>
                  <a:lnTo>
                    <a:pt x="25" y="53"/>
                  </a:lnTo>
                  <a:lnTo>
                    <a:pt x="12" y="46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5"/>
                  </a:lnTo>
                  <a:lnTo>
                    <a:pt x="42" y="11"/>
                  </a:lnTo>
                  <a:lnTo>
                    <a:pt x="48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3" name="Freeform 103"/>
            <p:cNvSpPr>
              <a:spLocks/>
            </p:cNvSpPr>
            <p:nvPr/>
          </p:nvSpPr>
          <p:spPr bwMode="auto">
            <a:xfrm>
              <a:off x="3447" y="3612"/>
              <a:ext cx="9" cy="3"/>
            </a:xfrm>
            <a:custGeom>
              <a:avLst/>
              <a:gdLst>
                <a:gd name="T0" fmla="*/ 0 w 19"/>
                <a:gd name="T1" fmla="*/ 0 h 6"/>
                <a:gd name="T2" fmla="*/ 0 w 19"/>
                <a:gd name="T3" fmla="*/ 0 h 6"/>
                <a:gd name="T4" fmla="*/ 0 w 19"/>
                <a:gd name="T5" fmla="*/ 1 h 6"/>
                <a:gd name="T6" fmla="*/ 0 w 19"/>
                <a:gd name="T7" fmla="*/ 0 h 6"/>
                <a:gd name="T8" fmla="*/ 0 w 19"/>
                <a:gd name="T9" fmla="*/ 1 h 6"/>
                <a:gd name="T10" fmla="*/ 0 w 19"/>
                <a:gd name="T11" fmla="*/ 1 h 6"/>
                <a:gd name="T12" fmla="*/ 0 w 19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6"/>
                <a:gd name="T23" fmla="*/ 19 w 19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9" y="0"/>
                  </a:lnTo>
                  <a:lnTo>
                    <a:pt x="19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4" name="Freeform 104"/>
            <p:cNvSpPr>
              <a:spLocks/>
            </p:cNvSpPr>
            <p:nvPr/>
          </p:nvSpPr>
          <p:spPr bwMode="auto">
            <a:xfrm>
              <a:off x="3494" y="3603"/>
              <a:ext cx="14" cy="17"/>
            </a:xfrm>
            <a:custGeom>
              <a:avLst/>
              <a:gdLst>
                <a:gd name="T0" fmla="*/ 0 w 29"/>
                <a:gd name="T1" fmla="*/ 0 h 35"/>
                <a:gd name="T2" fmla="*/ 0 w 29"/>
                <a:gd name="T3" fmla="*/ 0 h 35"/>
                <a:gd name="T4" fmla="*/ 0 w 29"/>
                <a:gd name="T5" fmla="*/ 0 h 35"/>
                <a:gd name="T6" fmla="*/ 0 w 29"/>
                <a:gd name="T7" fmla="*/ 0 h 35"/>
                <a:gd name="T8" fmla="*/ 0 w 29"/>
                <a:gd name="T9" fmla="*/ 0 h 35"/>
                <a:gd name="T10" fmla="*/ 0 w 29"/>
                <a:gd name="T11" fmla="*/ 0 h 35"/>
                <a:gd name="T12" fmla="*/ 0 w 29"/>
                <a:gd name="T13" fmla="*/ 0 h 35"/>
                <a:gd name="T14" fmla="*/ 0 w 29"/>
                <a:gd name="T15" fmla="*/ 0 h 35"/>
                <a:gd name="T16" fmla="*/ 0 w 29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5"/>
                <a:gd name="T29" fmla="*/ 29 w 29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5">
                  <a:moveTo>
                    <a:pt x="29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5" name="Freeform 105"/>
            <p:cNvSpPr>
              <a:spLocks/>
            </p:cNvSpPr>
            <p:nvPr/>
          </p:nvSpPr>
          <p:spPr bwMode="auto">
            <a:xfrm>
              <a:off x="3490" y="3600"/>
              <a:ext cx="24" cy="26"/>
            </a:xfrm>
            <a:custGeom>
              <a:avLst/>
              <a:gdLst>
                <a:gd name="T0" fmla="*/ 1 w 47"/>
                <a:gd name="T1" fmla="*/ 0 h 53"/>
                <a:gd name="T2" fmla="*/ 1 w 47"/>
                <a:gd name="T3" fmla="*/ 0 h 53"/>
                <a:gd name="T4" fmla="*/ 1 w 47"/>
                <a:gd name="T5" fmla="*/ 0 h 53"/>
                <a:gd name="T6" fmla="*/ 1 w 47"/>
                <a:gd name="T7" fmla="*/ 0 h 53"/>
                <a:gd name="T8" fmla="*/ 1 w 47"/>
                <a:gd name="T9" fmla="*/ 0 h 53"/>
                <a:gd name="T10" fmla="*/ 1 w 47"/>
                <a:gd name="T11" fmla="*/ 0 h 53"/>
                <a:gd name="T12" fmla="*/ 1 w 47"/>
                <a:gd name="T13" fmla="*/ 0 h 53"/>
                <a:gd name="T14" fmla="*/ 1 w 47"/>
                <a:gd name="T15" fmla="*/ 0 h 53"/>
                <a:gd name="T16" fmla="*/ 1 w 47"/>
                <a:gd name="T17" fmla="*/ 0 h 53"/>
                <a:gd name="T18" fmla="*/ 1 w 47"/>
                <a:gd name="T19" fmla="*/ 0 h 53"/>
                <a:gd name="T20" fmla="*/ 1 w 47"/>
                <a:gd name="T21" fmla="*/ 0 h 53"/>
                <a:gd name="T22" fmla="*/ 1 w 47"/>
                <a:gd name="T23" fmla="*/ 0 h 53"/>
                <a:gd name="T24" fmla="*/ 1 w 47"/>
                <a:gd name="T25" fmla="*/ 0 h 53"/>
                <a:gd name="T26" fmla="*/ 1 w 47"/>
                <a:gd name="T27" fmla="*/ 0 h 53"/>
                <a:gd name="T28" fmla="*/ 1 w 47"/>
                <a:gd name="T29" fmla="*/ 0 h 53"/>
                <a:gd name="T30" fmla="*/ 1 w 47"/>
                <a:gd name="T31" fmla="*/ 0 h 53"/>
                <a:gd name="T32" fmla="*/ 1 w 47"/>
                <a:gd name="T33" fmla="*/ 0 h 53"/>
                <a:gd name="T34" fmla="*/ 1 w 47"/>
                <a:gd name="T35" fmla="*/ 0 h 53"/>
                <a:gd name="T36" fmla="*/ 1 w 47"/>
                <a:gd name="T37" fmla="*/ 0 h 53"/>
                <a:gd name="T38" fmla="*/ 1 w 47"/>
                <a:gd name="T39" fmla="*/ 0 h 53"/>
                <a:gd name="T40" fmla="*/ 1 w 47"/>
                <a:gd name="T41" fmla="*/ 0 h 53"/>
                <a:gd name="T42" fmla="*/ 1 w 47"/>
                <a:gd name="T43" fmla="*/ 0 h 53"/>
                <a:gd name="T44" fmla="*/ 1 w 47"/>
                <a:gd name="T45" fmla="*/ 0 h 53"/>
                <a:gd name="T46" fmla="*/ 1 w 47"/>
                <a:gd name="T47" fmla="*/ 0 h 53"/>
                <a:gd name="T48" fmla="*/ 1 w 47"/>
                <a:gd name="T49" fmla="*/ 0 h 53"/>
                <a:gd name="T50" fmla="*/ 1 w 47"/>
                <a:gd name="T51" fmla="*/ 0 h 53"/>
                <a:gd name="T52" fmla="*/ 1 w 47"/>
                <a:gd name="T53" fmla="*/ 0 h 53"/>
                <a:gd name="T54" fmla="*/ 1 w 47"/>
                <a:gd name="T55" fmla="*/ 0 h 53"/>
                <a:gd name="T56" fmla="*/ 1 w 47"/>
                <a:gd name="T57" fmla="*/ 0 h 53"/>
                <a:gd name="T58" fmla="*/ 1 w 47"/>
                <a:gd name="T59" fmla="*/ 0 h 53"/>
                <a:gd name="T60" fmla="*/ 1 w 47"/>
                <a:gd name="T61" fmla="*/ 0 h 53"/>
                <a:gd name="T62" fmla="*/ 1 w 47"/>
                <a:gd name="T63" fmla="*/ 0 h 53"/>
                <a:gd name="T64" fmla="*/ 1 w 47"/>
                <a:gd name="T65" fmla="*/ 0 h 53"/>
                <a:gd name="T66" fmla="*/ 1 w 47"/>
                <a:gd name="T67" fmla="*/ 0 h 53"/>
                <a:gd name="T68" fmla="*/ 1 w 47"/>
                <a:gd name="T69" fmla="*/ 0 h 53"/>
                <a:gd name="T70" fmla="*/ 0 w 47"/>
                <a:gd name="T71" fmla="*/ 0 h 53"/>
                <a:gd name="T72" fmla="*/ 0 w 47"/>
                <a:gd name="T73" fmla="*/ 0 h 53"/>
                <a:gd name="T74" fmla="*/ 0 w 47"/>
                <a:gd name="T75" fmla="*/ 0 h 53"/>
                <a:gd name="T76" fmla="*/ 1 w 47"/>
                <a:gd name="T77" fmla="*/ 0 h 53"/>
                <a:gd name="T78" fmla="*/ 1 w 47"/>
                <a:gd name="T79" fmla="*/ 0 h 53"/>
                <a:gd name="T80" fmla="*/ 1 w 47"/>
                <a:gd name="T81" fmla="*/ 0 h 53"/>
                <a:gd name="T82" fmla="*/ 1 w 47"/>
                <a:gd name="T83" fmla="*/ 0 h 53"/>
                <a:gd name="T84" fmla="*/ 1 w 47"/>
                <a:gd name="T85" fmla="*/ 0 h 53"/>
                <a:gd name="T86" fmla="*/ 1 w 47"/>
                <a:gd name="T87" fmla="*/ 0 h 53"/>
                <a:gd name="T88" fmla="*/ 1 w 47"/>
                <a:gd name="T89" fmla="*/ 0 h 53"/>
                <a:gd name="T90" fmla="*/ 1 w 47"/>
                <a:gd name="T91" fmla="*/ 0 h 53"/>
                <a:gd name="T92" fmla="*/ 1 w 47"/>
                <a:gd name="T93" fmla="*/ 0 h 53"/>
                <a:gd name="T94" fmla="*/ 1 w 47"/>
                <a:gd name="T95" fmla="*/ 0 h 53"/>
                <a:gd name="T96" fmla="*/ 1 w 47"/>
                <a:gd name="T97" fmla="*/ 0 h 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53"/>
                <a:gd name="T149" fmla="*/ 47 w 47"/>
                <a:gd name="T150" fmla="*/ 53 h 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53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4" y="34"/>
                  </a:lnTo>
                  <a:lnTo>
                    <a:pt x="18" y="29"/>
                  </a:lnTo>
                  <a:lnTo>
                    <a:pt x="24" y="34"/>
                  </a:lnTo>
                  <a:lnTo>
                    <a:pt x="18" y="34"/>
                  </a:lnTo>
                  <a:lnTo>
                    <a:pt x="29" y="29"/>
                  </a:lnTo>
                  <a:lnTo>
                    <a:pt x="24" y="34"/>
                  </a:lnTo>
                  <a:lnTo>
                    <a:pt x="29" y="23"/>
                  </a:lnTo>
                  <a:lnTo>
                    <a:pt x="47" y="29"/>
                  </a:lnTo>
                  <a:lnTo>
                    <a:pt x="41" y="40"/>
                  </a:lnTo>
                  <a:lnTo>
                    <a:pt x="35" y="46"/>
                  </a:lnTo>
                  <a:lnTo>
                    <a:pt x="24" y="53"/>
                  </a:lnTo>
                  <a:lnTo>
                    <a:pt x="12" y="46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5"/>
                  </a:lnTo>
                  <a:lnTo>
                    <a:pt x="41" y="11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6" name="Freeform 106"/>
            <p:cNvSpPr>
              <a:spLocks/>
            </p:cNvSpPr>
            <p:nvPr/>
          </p:nvSpPr>
          <p:spPr bwMode="auto">
            <a:xfrm>
              <a:off x="3505" y="3612"/>
              <a:ext cx="9" cy="3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0 h 6"/>
                <a:gd name="T4" fmla="*/ 0 w 18"/>
                <a:gd name="T5" fmla="*/ 1 h 6"/>
                <a:gd name="T6" fmla="*/ 1 w 18"/>
                <a:gd name="T7" fmla="*/ 0 h 6"/>
                <a:gd name="T8" fmla="*/ 1 w 18"/>
                <a:gd name="T9" fmla="*/ 1 h 6"/>
                <a:gd name="T10" fmla="*/ 1 w 18"/>
                <a:gd name="T11" fmla="*/ 1 h 6"/>
                <a:gd name="T12" fmla="*/ 0 w 18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6"/>
                <a:gd name="T23" fmla="*/ 18 w 18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7" name="Freeform 107"/>
            <p:cNvSpPr>
              <a:spLocks/>
            </p:cNvSpPr>
            <p:nvPr/>
          </p:nvSpPr>
          <p:spPr bwMode="auto">
            <a:xfrm>
              <a:off x="3552" y="3603"/>
              <a:ext cx="14" cy="17"/>
            </a:xfrm>
            <a:custGeom>
              <a:avLst/>
              <a:gdLst>
                <a:gd name="T0" fmla="*/ 0 w 29"/>
                <a:gd name="T1" fmla="*/ 0 h 35"/>
                <a:gd name="T2" fmla="*/ 0 w 29"/>
                <a:gd name="T3" fmla="*/ 0 h 35"/>
                <a:gd name="T4" fmla="*/ 0 w 29"/>
                <a:gd name="T5" fmla="*/ 0 h 35"/>
                <a:gd name="T6" fmla="*/ 0 w 29"/>
                <a:gd name="T7" fmla="*/ 0 h 35"/>
                <a:gd name="T8" fmla="*/ 0 w 29"/>
                <a:gd name="T9" fmla="*/ 0 h 35"/>
                <a:gd name="T10" fmla="*/ 0 w 29"/>
                <a:gd name="T11" fmla="*/ 0 h 35"/>
                <a:gd name="T12" fmla="*/ 0 w 29"/>
                <a:gd name="T13" fmla="*/ 0 h 35"/>
                <a:gd name="T14" fmla="*/ 0 w 29"/>
                <a:gd name="T15" fmla="*/ 0 h 35"/>
                <a:gd name="T16" fmla="*/ 0 w 29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5"/>
                <a:gd name="T29" fmla="*/ 29 w 29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5">
                  <a:moveTo>
                    <a:pt x="29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8" name="Freeform 108"/>
            <p:cNvSpPr>
              <a:spLocks/>
            </p:cNvSpPr>
            <p:nvPr/>
          </p:nvSpPr>
          <p:spPr bwMode="auto">
            <a:xfrm>
              <a:off x="3549" y="3600"/>
              <a:ext cx="24" cy="26"/>
            </a:xfrm>
            <a:custGeom>
              <a:avLst/>
              <a:gdLst>
                <a:gd name="T0" fmla="*/ 1 w 47"/>
                <a:gd name="T1" fmla="*/ 0 h 53"/>
                <a:gd name="T2" fmla="*/ 1 w 47"/>
                <a:gd name="T3" fmla="*/ 0 h 53"/>
                <a:gd name="T4" fmla="*/ 1 w 47"/>
                <a:gd name="T5" fmla="*/ 0 h 53"/>
                <a:gd name="T6" fmla="*/ 1 w 47"/>
                <a:gd name="T7" fmla="*/ 0 h 53"/>
                <a:gd name="T8" fmla="*/ 1 w 47"/>
                <a:gd name="T9" fmla="*/ 0 h 53"/>
                <a:gd name="T10" fmla="*/ 1 w 47"/>
                <a:gd name="T11" fmla="*/ 0 h 53"/>
                <a:gd name="T12" fmla="*/ 1 w 47"/>
                <a:gd name="T13" fmla="*/ 0 h 53"/>
                <a:gd name="T14" fmla="*/ 1 w 47"/>
                <a:gd name="T15" fmla="*/ 0 h 53"/>
                <a:gd name="T16" fmla="*/ 1 w 47"/>
                <a:gd name="T17" fmla="*/ 0 h 53"/>
                <a:gd name="T18" fmla="*/ 1 w 47"/>
                <a:gd name="T19" fmla="*/ 0 h 53"/>
                <a:gd name="T20" fmla="*/ 1 w 47"/>
                <a:gd name="T21" fmla="*/ 0 h 53"/>
                <a:gd name="T22" fmla="*/ 1 w 47"/>
                <a:gd name="T23" fmla="*/ 0 h 53"/>
                <a:gd name="T24" fmla="*/ 1 w 47"/>
                <a:gd name="T25" fmla="*/ 0 h 53"/>
                <a:gd name="T26" fmla="*/ 1 w 47"/>
                <a:gd name="T27" fmla="*/ 0 h 53"/>
                <a:gd name="T28" fmla="*/ 1 w 47"/>
                <a:gd name="T29" fmla="*/ 0 h 53"/>
                <a:gd name="T30" fmla="*/ 1 w 47"/>
                <a:gd name="T31" fmla="*/ 0 h 53"/>
                <a:gd name="T32" fmla="*/ 1 w 47"/>
                <a:gd name="T33" fmla="*/ 0 h 53"/>
                <a:gd name="T34" fmla="*/ 1 w 47"/>
                <a:gd name="T35" fmla="*/ 0 h 53"/>
                <a:gd name="T36" fmla="*/ 1 w 47"/>
                <a:gd name="T37" fmla="*/ 0 h 53"/>
                <a:gd name="T38" fmla="*/ 1 w 47"/>
                <a:gd name="T39" fmla="*/ 0 h 53"/>
                <a:gd name="T40" fmla="*/ 1 w 47"/>
                <a:gd name="T41" fmla="*/ 0 h 53"/>
                <a:gd name="T42" fmla="*/ 1 w 47"/>
                <a:gd name="T43" fmla="*/ 0 h 53"/>
                <a:gd name="T44" fmla="*/ 1 w 47"/>
                <a:gd name="T45" fmla="*/ 0 h 53"/>
                <a:gd name="T46" fmla="*/ 1 w 47"/>
                <a:gd name="T47" fmla="*/ 0 h 53"/>
                <a:gd name="T48" fmla="*/ 1 w 47"/>
                <a:gd name="T49" fmla="*/ 0 h 53"/>
                <a:gd name="T50" fmla="*/ 1 w 47"/>
                <a:gd name="T51" fmla="*/ 0 h 53"/>
                <a:gd name="T52" fmla="*/ 1 w 47"/>
                <a:gd name="T53" fmla="*/ 0 h 53"/>
                <a:gd name="T54" fmla="*/ 1 w 47"/>
                <a:gd name="T55" fmla="*/ 0 h 53"/>
                <a:gd name="T56" fmla="*/ 1 w 47"/>
                <a:gd name="T57" fmla="*/ 0 h 53"/>
                <a:gd name="T58" fmla="*/ 1 w 47"/>
                <a:gd name="T59" fmla="*/ 0 h 53"/>
                <a:gd name="T60" fmla="*/ 1 w 47"/>
                <a:gd name="T61" fmla="*/ 0 h 53"/>
                <a:gd name="T62" fmla="*/ 1 w 47"/>
                <a:gd name="T63" fmla="*/ 0 h 53"/>
                <a:gd name="T64" fmla="*/ 1 w 47"/>
                <a:gd name="T65" fmla="*/ 0 h 53"/>
                <a:gd name="T66" fmla="*/ 1 w 47"/>
                <a:gd name="T67" fmla="*/ 0 h 53"/>
                <a:gd name="T68" fmla="*/ 1 w 47"/>
                <a:gd name="T69" fmla="*/ 0 h 53"/>
                <a:gd name="T70" fmla="*/ 0 w 47"/>
                <a:gd name="T71" fmla="*/ 0 h 53"/>
                <a:gd name="T72" fmla="*/ 0 w 47"/>
                <a:gd name="T73" fmla="*/ 0 h 53"/>
                <a:gd name="T74" fmla="*/ 0 w 47"/>
                <a:gd name="T75" fmla="*/ 0 h 53"/>
                <a:gd name="T76" fmla="*/ 1 w 47"/>
                <a:gd name="T77" fmla="*/ 0 h 53"/>
                <a:gd name="T78" fmla="*/ 1 w 47"/>
                <a:gd name="T79" fmla="*/ 0 h 53"/>
                <a:gd name="T80" fmla="*/ 1 w 47"/>
                <a:gd name="T81" fmla="*/ 0 h 53"/>
                <a:gd name="T82" fmla="*/ 1 w 47"/>
                <a:gd name="T83" fmla="*/ 0 h 53"/>
                <a:gd name="T84" fmla="*/ 1 w 47"/>
                <a:gd name="T85" fmla="*/ 0 h 53"/>
                <a:gd name="T86" fmla="*/ 1 w 47"/>
                <a:gd name="T87" fmla="*/ 0 h 53"/>
                <a:gd name="T88" fmla="*/ 1 w 47"/>
                <a:gd name="T89" fmla="*/ 0 h 53"/>
                <a:gd name="T90" fmla="*/ 1 w 47"/>
                <a:gd name="T91" fmla="*/ 0 h 53"/>
                <a:gd name="T92" fmla="*/ 1 w 47"/>
                <a:gd name="T93" fmla="*/ 0 h 53"/>
                <a:gd name="T94" fmla="*/ 1 w 47"/>
                <a:gd name="T95" fmla="*/ 0 h 53"/>
                <a:gd name="T96" fmla="*/ 1 w 47"/>
                <a:gd name="T97" fmla="*/ 0 h 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53"/>
                <a:gd name="T149" fmla="*/ 47 w 47"/>
                <a:gd name="T150" fmla="*/ 53 h 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53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4" y="34"/>
                  </a:lnTo>
                  <a:lnTo>
                    <a:pt x="18" y="29"/>
                  </a:lnTo>
                  <a:lnTo>
                    <a:pt x="24" y="34"/>
                  </a:lnTo>
                  <a:lnTo>
                    <a:pt x="18" y="34"/>
                  </a:lnTo>
                  <a:lnTo>
                    <a:pt x="29" y="29"/>
                  </a:lnTo>
                  <a:lnTo>
                    <a:pt x="24" y="34"/>
                  </a:lnTo>
                  <a:lnTo>
                    <a:pt x="29" y="23"/>
                  </a:lnTo>
                  <a:lnTo>
                    <a:pt x="47" y="29"/>
                  </a:lnTo>
                  <a:lnTo>
                    <a:pt x="41" y="40"/>
                  </a:lnTo>
                  <a:lnTo>
                    <a:pt x="35" y="46"/>
                  </a:lnTo>
                  <a:lnTo>
                    <a:pt x="24" y="53"/>
                  </a:lnTo>
                  <a:lnTo>
                    <a:pt x="12" y="46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5"/>
                  </a:lnTo>
                  <a:lnTo>
                    <a:pt x="41" y="11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79" name="Freeform 109"/>
            <p:cNvSpPr>
              <a:spLocks/>
            </p:cNvSpPr>
            <p:nvPr/>
          </p:nvSpPr>
          <p:spPr bwMode="auto">
            <a:xfrm>
              <a:off x="3563" y="3612"/>
              <a:ext cx="10" cy="3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0 h 6"/>
                <a:gd name="T4" fmla="*/ 0 w 18"/>
                <a:gd name="T5" fmla="*/ 1 h 6"/>
                <a:gd name="T6" fmla="*/ 1 w 18"/>
                <a:gd name="T7" fmla="*/ 0 h 6"/>
                <a:gd name="T8" fmla="*/ 1 w 18"/>
                <a:gd name="T9" fmla="*/ 1 h 6"/>
                <a:gd name="T10" fmla="*/ 1 w 18"/>
                <a:gd name="T11" fmla="*/ 1 h 6"/>
                <a:gd name="T12" fmla="*/ 0 w 18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6"/>
                <a:gd name="T23" fmla="*/ 18 w 18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0" name="Freeform 110"/>
            <p:cNvSpPr>
              <a:spLocks/>
            </p:cNvSpPr>
            <p:nvPr/>
          </p:nvSpPr>
          <p:spPr bwMode="auto">
            <a:xfrm>
              <a:off x="3435" y="2314"/>
              <a:ext cx="15" cy="14"/>
            </a:xfrm>
            <a:custGeom>
              <a:avLst/>
              <a:gdLst>
                <a:gd name="T0" fmla="*/ 1 w 30"/>
                <a:gd name="T1" fmla="*/ 0 h 30"/>
                <a:gd name="T2" fmla="*/ 1 w 30"/>
                <a:gd name="T3" fmla="*/ 0 h 30"/>
                <a:gd name="T4" fmla="*/ 1 w 30"/>
                <a:gd name="T5" fmla="*/ 0 h 30"/>
                <a:gd name="T6" fmla="*/ 1 w 30"/>
                <a:gd name="T7" fmla="*/ 0 h 30"/>
                <a:gd name="T8" fmla="*/ 0 w 30"/>
                <a:gd name="T9" fmla="*/ 0 h 30"/>
                <a:gd name="T10" fmla="*/ 1 w 30"/>
                <a:gd name="T11" fmla="*/ 0 h 30"/>
                <a:gd name="T12" fmla="*/ 1 w 30"/>
                <a:gd name="T13" fmla="*/ 0 h 30"/>
                <a:gd name="T14" fmla="*/ 1 w 30"/>
                <a:gd name="T15" fmla="*/ 0 h 30"/>
                <a:gd name="T16" fmla="*/ 1 w 30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30"/>
                  </a:lnTo>
                  <a:lnTo>
                    <a:pt x="23" y="23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1" name="Freeform 111"/>
            <p:cNvSpPr>
              <a:spLocks/>
            </p:cNvSpPr>
            <p:nvPr/>
          </p:nvSpPr>
          <p:spPr bwMode="auto">
            <a:xfrm>
              <a:off x="3432" y="2311"/>
              <a:ext cx="24" cy="23"/>
            </a:xfrm>
            <a:custGeom>
              <a:avLst/>
              <a:gdLst>
                <a:gd name="T0" fmla="*/ 1 w 48"/>
                <a:gd name="T1" fmla="*/ 1 h 46"/>
                <a:gd name="T2" fmla="*/ 1 w 48"/>
                <a:gd name="T3" fmla="*/ 1 h 46"/>
                <a:gd name="T4" fmla="*/ 1 w 48"/>
                <a:gd name="T5" fmla="*/ 1 h 46"/>
                <a:gd name="T6" fmla="*/ 1 w 48"/>
                <a:gd name="T7" fmla="*/ 1 h 46"/>
                <a:gd name="T8" fmla="*/ 1 w 48"/>
                <a:gd name="T9" fmla="*/ 1 h 46"/>
                <a:gd name="T10" fmla="*/ 1 w 48"/>
                <a:gd name="T11" fmla="*/ 1 h 46"/>
                <a:gd name="T12" fmla="*/ 1 w 48"/>
                <a:gd name="T13" fmla="*/ 1 h 46"/>
                <a:gd name="T14" fmla="*/ 1 w 48"/>
                <a:gd name="T15" fmla="*/ 1 h 46"/>
                <a:gd name="T16" fmla="*/ 1 w 48"/>
                <a:gd name="T17" fmla="*/ 1 h 46"/>
                <a:gd name="T18" fmla="*/ 1 w 48"/>
                <a:gd name="T19" fmla="*/ 1 h 46"/>
                <a:gd name="T20" fmla="*/ 1 w 48"/>
                <a:gd name="T21" fmla="*/ 1 h 46"/>
                <a:gd name="T22" fmla="*/ 1 w 48"/>
                <a:gd name="T23" fmla="*/ 1 h 46"/>
                <a:gd name="T24" fmla="*/ 1 w 48"/>
                <a:gd name="T25" fmla="*/ 1 h 46"/>
                <a:gd name="T26" fmla="*/ 1 w 48"/>
                <a:gd name="T27" fmla="*/ 1 h 46"/>
                <a:gd name="T28" fmla="*/ 1 w 48"/>
                <a:gd name="T29" fmla="*/ 1 h 46"/>
                <a:gd name="T30" fmla="*/ 1 w 48"/>
                <a:gd name="T31" fmla="*/ 1 h 46"/>
                <a:gd name="T32" fmla="*/ 1 w 48"/>
                <a:gd name="T33" fmla="*/ 1 h 46"/>
                <a:gd name="T34" fmla="*/ 1 w 48"/>
                <a:gd name="T35" fmla="*/ 1 h 46"/>
                <a:gd name="T36" fmla="*/ 1 w 48"/>
                <a:gd name="T37" fmla="*/ 1 h 46"/>
                <a:gd name="T38" fmla="*/ 1 w 48"/>
                <a:gd name="T39" fmla="*/ 1 h 46"/>
                <a:gd name="T40" fmla="*/ 1 w 48"/>
                <a:gd name="T41" fmla="*/ 1 h 46"/>
                <a:gd name="T42" fmla="*/ 1 w 48"/>
                <a:gd name="T43" fmla="*/ 1 h 46"/>
                <a:gd name="T44" fmla="*/ 1 w 48"/>
                <a:gd name="T45" fmla="*/ 1 h 46"/>
                <a:gd name="T46" fmla="*/ 1 w 48"/>
                <a:gd name="T47" fmla="*/ 1 h 46"/>
                <a:gd name="T48" fmla="*/ 1 w 48"/>
                <a:gd name="T49" fmla="*/ 1 h 46"/>
                <a:gd name="T50" fmla="*/ 1 w 48"/>
                <a:gd name="T51" fmla="*/ 1 h 46"/>
                <a:gd name="T52" fmla="*/ 1 w 48"/>
                <a:gd name="T53" fmla="*/ 1 h 46"/>
                <a:gd name="T54" fmla="*/ 1 w 48"/>
                <a:gd name="T55" fmla="*/ 1 h 46"/>
                <a:gd name="T56" fmla="*/ 1 w 48"/>
                <a:gd name="T57" fmla="*/ 1 h 46"/>
                <a:gd name="T58" fmla="*/ 1 w 48"/>
                <a:gd name="T59" fmla="*/ 1 h 46"/>
                <a:gd name="T60" fmla="*/ 1 w 48"/>
                <a:gd name="T61" fmla="*/ 1 h 46"/>
                <a:gd name="T62" fmla="*/ 1 w 48"/>
                <a:gd name="T63" fmla="*/ 1 h 46"/>
                <a:gd name="T64" fmla="*/ 1 w 48"/>
                <a:gd name="T65" fmla="*/ 1 h 46"/>
                <a:gd name="T66" fmla="*/ 1 w 48"/>
                <a:gd name="T67" fmla="*/ 1 h 46"/>
                <a:gd name="T68" fmla="*/ 1 w 48"/>
                <a:gd name="T69" fmla="*/ 1 h 46"/>
                <a:gd name="T70" fmla="*/ 0 w 48"/>
                <a:gd name="T71" fmla="*/ 1 h 46"/>
                <a:gd name="T72" fmla="*/ 0 w 48"/>
                <a:gd name="T73" fmla="*/ 1 h 46"/>
                <a:gd name="T74" fmla="*/ 0 w 48"/>
                <a:gd name="T75" fmla="*/ 1 h 46"/>
                <a:gd name="T76" fmla="*/ 1 w 48"/>
                <a:gd name="T77" fmla="*/ 1 h 46"/>
                <a:gd name="T78" fmla="*/ 1 w 48"/>
                <a:gd name="T79" fmla="*/ 1 h 46"/>
                <a:gd name="T80" fmla="*/ 1 w 48"/>
                <a:gd name="T81" fmla="*/ 1 h 46"/>
                <a:gd name="T82" fmla="*/ 1 w 48"/>
                <a:gd name="T83" fmla="*/ 0 h 46"/>
                <a:gd name="T84" fmla="*/ 1 w 48"/>
                <a:gd name="T85" fmla="*/ 0 h 46"/>
                <a:gd name="T86" fmla="*/ 1 w 48"/>
                <a:gd name="T87" fmla="*/ 0 h 46"/>
                <a:gd name="T88" fmla="*/ 1 w 48"/>
                <a:gd name="T89" fmla="*/ 1 h 46"/>
                <a:gd name="T90" fmla="*/ 1 w 48"/>
                <a:gd name="T91" fmla="*/ 1 h 46"/>
                <a:gd name="T92" fmla="*/ 1 w 48"/>
                <a:gd name="T93" fmla="*/ 1 h 46"/>
                <a:gd name="T94" fmla="*/ 1 w 48"/>
                <a:gd name="T95" fmla="*/ 1 h 46"/>
                <a:gd name="T96" fmla="*/ 1 w 48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46"/>
                <a:gd name="T149" fmla="*/ 48 w 48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46">
                  <a:moveTo>
                    <a:pt x="29" y="29"/>
                  </a:moveTo>
                  <a:lnTo>
                    <a:pt x="25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5" y="12"/>
                  </a:lnTo>
                  <a:lnTo>
                    <a:pt x="18" y="17"/>
                  </a:lnTo>
                  <a:lnTo>
                    <a:pt x="25" y="17"/>
                  </a:lnTo>
                  <a:lnTo>
                    <a:pt x="18" y="29"/>
                  </a:lnTo>
                  <a:lnTo>
                    <a:pt x="12" y="17"/>
                  </a:lnTo>
                  <a:lnTo>
                    <a:pt x="18" y="23"/>
                  </a:lnTo>
                  <a:lnTo>
                    <a:pt x="25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5" y="23"/>
                  </a:lnTo>
                  <a:lnTo>
                    <a:pt x="29" y="17"/>
                  </a:lnTo>
                  <a:lnTo>
                    <a:pt x="42" y="29"/>
                  </a:lnTo>
                  <a:lnTo>
                    <a:pt x="36" y="36"/>
                  </a:lnTo>
                  <a:lnTo>
                    <a:pt x="36" y="42"/>
                  </a:lnTo>
                  <a:lnTo>
                    <a:pt x="25" y="46"/>
                  </a:lnTo>
                  <a:lnTo>
                    <a:pt x="12" y="42"/>
                  </a:lnTo>
                  <a:lnTo>
                    <a:pt x="6" y="36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8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2" name="Freeform 112"/>
            <p:cNvSpPr>
              <a:spLocks/>
            </p:cNvSpPr>
            <p:nvPr/>
          </p:nvSpPr>
          <p:spPr bwMode="auto">
            <a:xfrm>
              <a:off x="3447" y="2319"/>
              <a:ext cx="9" cy="6"/>
            </a:xfrm>
            <a:custGeom>
              <a:avLst/>
              <a:gdLst>
                <a:gd name="T0" fmla="*/ 0 w 19"/>
                <a:gd name="T1" fmla="*/ 0 h 12"/>
                <a:gd name="T2" fmla="*/ 0 w 19"/>
                <a:gd name="T3" fmla="*/ 0 h 12"/>
                <a:gd name="T4" fmla="*/ 0 w 19"/>
                <a:gd name="T5" fmla="*/ 1 h 12"/>
                <a:gd name="T6" fmla="*/ 0 w 19"/>
                <a:gd name="T7" fmla="*/ 1 h 12"/>
                <a:gd name="T8" fmla="*/ 0 w 19"/>
                <a:gd name="T9" fmla="*/ 1 h 12"/>
                <a:gd name="T10" fmla="*/ 0 w 19"/>
                <a:gd name="T11" fmla="*/ 1 h 12"/>
                <a:gd name="T12" fmla="*/ 0 w 1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12"/>
                <a:gd name="T23" fmla="*/ 19 w 19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12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9" y="6"/>
                  </a:lnTo>
                  <a:lnTo>
                    <a:pt x="13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3" name="Freeform 113"/>
            <p:cNvSpPr>
              <a:spLocks/>
            </p:cNvSpPr>
            <p:nvPr/>
          </p:nvSpPr>
          <p:spPr bwMode="auto">
            <a:xfrm>
              <a:off x="3494" y="2314"/>
              <a:ext cx="14" cy="14"/>
            </a:xfrm>
            <a:custGeom>
              <a:avLst/>
              <a:gdLst>
                <a:gd name="T0" fmla="*/ 0 w 29"/>
                <a:gd name="T1" fmla="*/ 0 h 30"/>
                <a:gd name="T2" fmla="*/ 0 w 29"/>
                <a:gd name="T3" fmla="*/ 0 h 30"/>
                <a:gd name="T4" fmla="*/ 0 w 29"/>
                <a:gd name="T5" fmla="*/ 0 h 30"/>
                <a:gd name="T6" fmla="*/ 0 w 29"/>
                <a:gd name="T7" fmla="*/ 0 h 30"/>
                <a:gd name="T8" fmla="*/ 0 w 29"/>
                <a:gd name="T9" fmla="*/ 0 h 30"/>
                <a:gd name="T10" fmla="*/ 0 w 29"/>
                <a:gd name="T11" fmla="*/ 0 h 30"/>
                <a:gd name="T12" fmla="*/ 0 w 29"/>
                <a:gd name="T13" fmla="*/ 0 h 30"/>
                <a:gd name="T14" fmla="*/ 0 w 29"/>
                <a:gd name="T15" fmla="*/ 0 h 30"/>
                <a:gd name="T16" fmla="*/ 0 w 29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0"/>
                <a:gd name="T29" fmla="*/ 29 w 29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0">
                  <a:moveTo>
                    <a:pt x="29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30"/>
                  </a:lnTo>
                  <a:lnTo>
                    <a:pt x="23" y="23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4" name="Freeform 114"/>
            <p:cNvSpPr>
              <a:spLocks/>
            </p:cNvSpPr>
            <p:nvPr/>
          </p:nvSpPr>
          <p:spPr bwMode="auto">
            <a:xfrm>
              <a:off x="3490" y="2311"/>
              <a:ext cx="24" cy="23"/>
            </a:xfrm>
            <a:custGeom>
              <a:avLst/>
              <a:gdLst>
                <a:gd name="T0" fmla="*/ 1 w 47"/>
                <a:gd name="T1" fmla="*/ 1 h 46"/>
                <a:gd name="T2" fmla="*/ 1 w 47"/>
                <a:gd name="T3" fmla="*/ 1 h 46"/>
                <a:gd name="T4" fmla="*/ 1 w 47"/>
                <a:gd name="T5" fmla="*/ 1 h 46"/>
                <a:gd name="T6" fmla="*/ 1 w 47"/>
                <a:gd name="T7" fmla="*/ 1 h 46"/>
                <a:gd name="T8" fmla="*/ 1 w 47"/>
                <a:gd name="T9" fmla="*/ 1 h 46"/>
                <a:gd name="T10" fmla="*/ 1 w 47"/>
                <a:gd name="T11" fmla="*/ 1 h 46"/>
                <a:gd name="T12" fmla="*/ 1 w 47"/>
                <a:gd name="T13" fmla="*/ 1 h 46"/>
                <a:gd name="T14" fmla="*/ 1 w 47"/>
                <a:gd name="T15" fmla="*/ 1 h 46"/>
                <a:gd name="T16" fmla="*/ 1 w 47"/>
                <a:gd name="T17" fmla="*/ 1 h 46"/>
                <a:gd name="T18" fmla="*/ 1 w 47"/>
                <a:gd name="T19" fmla="*/ 1 h 46"/>
                <a:gd name="T20" fmla="*/ 1 w 47"/>
                <a:gd name="T21" fmla="*/ 1 h 46"/>
                <a:gd name="T22" fmla="*/ 1 w 47"/>
                <a:gd name="T23" fmla="*/ 1 h 46"/>
                <a:gd name="T24" fmla="*/ 1 w 47"/>
                <a:gd name="T25" fmla="*/ 1 h 46"/>
                <a:gd name="T26" fmla="*/ 1 w 47"/>
                <a:gd name="T27" fmla="*/ 1 h 46"/>
                <a:gd name="T28" fmla="*/ 1 w 47"/>
                <a:gd name="T29" fmla="*/ 1 h 46"/>
                <a:gd name="T30" fmla="*/ 1 w 47"/>
                <a:gd name="T31" fmla="*/ 1 h 46"/>
                <a:gd name="T32" fmla="*/ 1 w 47"/>
                <a:gd name="T33" fmla="*/ 1 h 46"/>
                <a:gd name="T34" fmla="*/ 1 w 47"/>
                <a:gd name="T35" fmla="*/ 1 h 46"/>
                <a:gd name="T36" fmla="*/ 1 w 47"/>
                <a:gd name="T37" fmla="*/ 1 h 46"/>
                <a:gd name="T38" fmla="*/ 1 w 47"/>
                <a:gd name="T39" fmla="*/ 1 h 46"/>
                <a:gd name="T40" fmla="*/ 1 w 47"/>
                <a:gd name="T41" fmla="*/ 1 h 46"/>
                <a:gd name="T42" fmla="*/ 1 w 47"/>
                <a:gd name="T43" fmla="*/ 1 h 46"/>
                <a:gd name="T44" fmla="*/ 1 w 47"/>
                <a:gd name="T45" fmla="*/ 1 h 46"/>
                <a:gd name="T46" fmla="*/ 1 w 47"/>
                <a:gd name="T47" fmla="*/ 1 h 46"/>
                <a:gd name="T48" fmla="*/ 1 w 47"/>
                <a:gd name="T49" fmla="*/ 1 h 46"/>
                <a:gd name="T50" fmla="*/ 1 w 47"/>
                <a:gd name="T51" fmla="*/ 1 h 46"/>
                <a:gd name="T52" fmla="*/ 1 w 47"/>
                <a:gd name="T53" fmla="*/ 1 h 46"/>
                <a:gd name="T54" fmla="*/ 1 w 47"/>
                <a:gd name="T55" fmla="*/ 1 h 46"/>
                <a:gd name="T56" fmla="*/ 1 w 47"/>
                <a:gd name="T57" fmla="*/ 1 h 46"/>
                <a:gd name="T58" fmla="*/ 1 w 47"/>
                <a:gd name="T59" fmla="*/ 1 h 46"/>
                <a:gd name="T60" fmla="*/ 1 w 47"/>
                <a:gd name="T61" fmla="*/ 1 h 46"/>
                <a:gd name="T62" fmla="*/ 1 w 47"/>
                <a:gd name="T63" fmla="*/ 1 h 46"/>
                <a:gd name="T64" fmla="*/ 1 w 47"/>
                <a:gd name="T65" fmla="*/ 1 h 46"/>
                <a:gd name="T66" fmla="*/ 1 w 47"/>
                <a:gd name="T67" fmla="*/ 1 h 46"/>
                <a:gd name="T68" fmla="*/ 1 w 47"/>
                <a:gd name="T69" fmla="*/ 1 h 46"/>
                <a:gd name="T70" fmla="*/ 0 w 47"/>
                <a:gd name="T71" fmla="*/ 1 h 46"/>
                <a:gd name="T72" fmla="*/ 0 w 47"/>
                <a:gd name="T73" fmla="*/ 1 h 46"/>
                <a:gd name="T74" fmla="*/ 0 w 47"/>
                <a:gd name="T75" fmla="*/ 1 h 46"/>
                <a:gd name="T76" fmla="*/ 1 w 47"/>
                <a:gd name="T77" fmla="*/ 1 h 46"/>
                <a:gd name="T78" fmla="*/ 1 w 47"/>
                <a:gd name="T79" fmla="*/ 1 h 46"/>
                <a:gd name="T80" fmla="*/ 1 w 47"/>
                <a:gd name="T81" fmla="*/ 1 h 46"/>
                <a:gd name="T82" fmla="*/ 1 w 47"/>
                <a:gd name="T83" fmla="*/ 0 h 46"/>
                <a:gd name="T84" fmla="*/ 1 w 47"/>
                <a:gd name="T85" fmla="*/ 0 h 46"/>
                <a:gd name="T86" fmla="*/ 1 w 47"/>
                <a:gd name="T87" fmla="*/ 0 h 46"/>
                <a:gd name="T88" fmla="*/ 1 w 47"/>
                <a:gd name="T89" fmla="*/ 1 h 46"/>
                <a:gd name="T90" fmla="*/ 1 w 47"/>
                <a:gd name="T91" fmla="*/ 1 h 46"/>
                <a:gd name="T92" fmla="*/ 1 w 47"/>
                <a:gd name="T93" fmla="*/ 1 h 46"/>
                <a:gd name="T94" fmla="*/ 1 w 47"/>
                <a:gd name="T95" fmla="*/ 1 h 46"/>
                <a:gd name="T96" fmla="*/ 1 w 47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6"/>
                <a:gd name="T149" fmla="*/ 47 w 47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6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2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17"/>
                  </a:lnTo>
                  <a:lnTo>
                    <a:pt x="18" y="23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4" y="23"/>
                  </a:lnTo>
                  <a:lnTo>
                    <a:pt x="29" y="17"/>
                  </a:lnTo>
                  <a:lnTo>
                    <a:pt x="41" y="29"/>
                  </a:lnTo>
                  <a:lnTo>
                    <a:pt x="35" y="36"/>
                  </a:lnTo>
                  <a:lnTo>
                    <a:pt x="35" y="42"/>
                  </a:lnTo>
                  <a:lnTo>
                    <a:pt x="24" y="46"/>
                  </a:lnTo>
                  <a:lnTo>
                    <a:pt x="12" y="42"/>
                  </a:lnTo>
                  <a:lnTo>
                    <a:pt x="6" y="36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5" name="Freeform 115"/>
            <p:cNvSpPr>
              <a:spLocks/>
            </p:cNvSpPr>
            <p:nvPr/>
          </p:nvSpPr>
          <p:spPr bwMode="auto">
            <a:xfrm>
              <a:off x="3505" y="2319"/>
              <a:ext cx="9" cy="6"/>
            </a:xfrm>
            <a:custGeom>
              <a:avLst/>
              <a:gdLst>
                <a:gd name="T0" fmla="*/ 0 w 18"/>
                <a:gd name="T1" fmla="*/ 0 h 12"/>
                <a:gd name="T2" fmla="*/ 0 w 18"/>
                <a:gd name="T3" fmla="*/ 0 h 12"/>
                <a:gd name="T4" fmla="*/ 0 w 18"/>
                <a:gd name="T5" fmla="*/ 1 h 12"/>
                <a:gd name="T6" fmla="*/ 1 w 18"/>
                <a:gd name="T7" fmla="*/ 1 h 12"/>
                <a:gd name="T8" fmla="*/ 1 w 18"/>
                <a:gd name="T9" fmla="*/ 1 h 12"/>
                <a:gd name="T10" fmla="*/ 1 w 18"/>
                <a:gd name="T11" fmla="*/ 1 h 12"/>
                <a:gd name="T12" fmla="*/ 0 w 1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2"/>
                <a:gd name="T23" fmla="*/ 18 w 18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2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6" name="Freeform 116"/>
            <p:cNvSpPr>
              <a:spLocks/>
            </p:cNvSpPr>
            <p:nvPr/>
          </p:nvSpPr>
          <p:spPr bwMode="auto">
            <a:xfrm>
              <a:off x="3552" y="2314"/>
              <a:ext cx="14" cy="14"/>
            </a:xfrm>
            <a:custGeom>
              <a:avLst/>
              <a:gdLst>
                <a:gd name="T0" fmla="*/ 0 w 29"/>
                <a:gd name="T1" fmla="*/ 0 h 30"/>
                <a:gd name="T2" fmla="*/ 0 w 29"/>
                <a:gd name="T3" fmla="*/ 0 h 30"/>
                <a:gd name="T4" fmla="*/ 0 w 29"/>
                <a:gd name="T5" fmla="*/ 0 h 30"/>
                <a:gd name="T6" fmla="*/ 0 w 29"/>
                <a:gd name="T7" fmla="*/ 0 h 30"/>
                <a:gd name="T8" fmla="*/ 0 w 29"/>
                <a:gd name="T9" fmla="*/ 0 h 30"/>
                <a:gd name="T10" fmla="*/ 0 w 29"/>
                <a:gd name="T11" fmla="*/ 0 h 30"/>
                <a:gd name="T12" fmla="*/ 0 w 29"/>
                <a:gd name="T13" fmla="*/ 0 h 30"/>
                <a:gd name="T14" fmla="*/ 0 w 29"/>
                <a:gd name="T15" fmla="*/ 0 h 30"/>
                <a:gd name="T16" fmla="*/ 0 w 29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0"/>
                <a:gd name="T29" fmla="*/ 29 w 29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0">
                  <a:moveTo>
                    <a:pt x="29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30"/>
                  </a:lnTo>
                  <a:lnTo>
                    <a:pt x="23" y="23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7" name="Freeform 117"/>
            <p:cNvSpPr>
              <a:spLocks/>
            </p:cNvSpPr>
            <p:nvPr/>
          </p:nvSpPr>
          <p:spPr bwMode="auto">
            <a:xfrm>
              <a:off x="3549" y="2311"/>
              <a:ext cx="24" cy="23"/>
            </a:xfrm>
            <a:custGeom>
              <a:avLst/>
              <a:gdLst>
                <a:gd name="T0" fmla="*/ 1 w 47"/>
                <a:gd name="T1" fmla="*/ 1 h 46"/>
                <a:gd name="T2" fmla="*/ 1 w 47"/>
                <a:gd name="T3" fmla="*/ 1 h 46"/>
                <a:gd name="T4" fmla="*/ 1 w 47"/>
                <a:gd name="T5" fmla="*/ 1 h 46"/>
                <a:gd name="T6" fmla="*/ 1 w 47"/>
                <a:gd name="T7" fmla="*/ 1 h 46"/>
                <a:gd name="T8" fmla="*/ 1 w 47"/>
                <a:gd name="T9" fmla="*/ 1 h 46"/>
                <a:gd name="T10" fmla="*/ 1 w 47"/>
                <a:gd name="T11" fmla="*/ 1 h 46"/>
                <a:gd name="T12" fmla="*/ 1 w 47"/>
                <a:gd name="T13" fmla="*/ 1 h 46"/>
                <a:gd name="T14" fmla="*/ 1 w 47"/>
                <a:gd name="T15" fmla="*/ 1 h 46"/>
                <a:gd name="T16" fmla="*/ 1 w 47"/>
                <a:gd name="T17" fmla="*/ 1 h 46"/>
                <a:gd name="T18" fmla="*/ 1 w 47"/>
                <a:gd name="T19" fmla="*/ 1 h 46"/>
                <a:gd name="T20" fmla="*/ 1 w 47"/>
                <a:gd name="T21" fmla="*/ 1 h 46"/>
                <a:gd name="T22" fmla="*/ 1 w 47"/>
                <a:gd name="T23" fmla="*/ 1 h 46"/>
                <a:gd name="T24" fmla="*/ 1 w 47"/>
                <a:gd name="T25" fmla="*/ 1 h 46"/>
                <a:gd name="T26" fmla="*/ 1 w 47"/>
                <a:gd name="T27" fmla="*/ 1 h 46"/>
                <a:gd name="T28" fmla="*/ 1 w 47"/>
                <a:gd name="T29" fmla="*/ 1 h 46"/>
                <a:gd name="T30" fmla="*/ 1 w 47"/>
                <a:gd name="T31" fmla="*/ 1 h 46"/>
                <a:gd name="T32" fmla="*/ 1 w 47"/>
                <a:gd name="T33" fmla="*/ 1 h 46"/>
                <a:gd name="T34" fmla="*/ 1 w 47"/>
                <a:gd name="T35" fmla="*/ 1 h 46"/>
                <a:gd name="T36" fmla="*/ 1 w 47"/>
                <a:gd name="T37" fmla="*/ 1 h 46"/>
                <a:gd name="T38" fmla="*/ 1 w 47"/>
                <a:gd name="T39" fmla="*/ 1 h 46"/>
                <a:gd name="T40" fmla="*/ 1 w 47"/>
                <a:gd name="T41" fmla="*/ 1 h 46"/>
                <a:gd name="T42" fmla="*/ 1 w 47"/>
                <a:gd name="T43" fmla="*/ 1 h 46"/>
                <a:gd name="T44" fmla="*/ 1 w 47"/>
                <a:gd name="T45" fmla="*/ 1 h 46"/>
                <a:gd name="T46" fmla="*/ 1 w 47"/>
                <a:gd name="T47" fmla="*/ 1 h 46"/>
                <a:gd name="T48" fmla="*/ 1 w 47"/>
                <a:gd name="T49" fmla="*/ 1 h 46"/>
                <a:gd name="T50" fmla="*/ 1 w 47"/>
                <a:gd name="T51" fmla="*/ 1 h 46"/>
                <a:gd name="T52" fmla="*/ 1 w 47"/>
                <a:gd name="T53" fmla="*/ 1 h 46"/>
                <a:gd name="T54" fmla="*/ 1 w 47"/>
                <a:gd name="T55" fmla="*/ 1 h 46"/>
                <a:gd name="T56" fmla="*/ 1 w 47"/>
                <a:gd name="T57" fmla="*/ 1 h 46"/>
                <a:gd name="T58" fmla="*/ 1 w 47"/>
                <a:gd name="T59" fmla="*/ 1 h 46"/>
                <a:gd name="T60" fmla="*/ 1 w 47"/>
                <a:gd name="T61" fmla="*/ 1 h 46"/>
                <a:gd name="T62" fmla="*/ 1 w 47"/>
                <a:gd name="T63" fmla="*/ 1 h 46"/>
                <a:gd name="T64" fmla="*/ 1 w 47"/>
                <a:gd name="T65" fmla="*/ 1 h 46"/>
                <a:gd name="T66" fmla="*/ 1 w 47"/>
                <a:gd name="T67" fmla="*/ 1 h 46"/>
                <a:gd name="T68" fmla="*/ 1 w 47"/>
                <a:gd name="T69" fmla="*/ 1 h 46"/>
                <a:gd name="T70" fmla="*/ 0 w 47"/>
                <a:gd name="T71" fmla="*/ 1 h 46"/>
                <a:gd name="T72" fmla="*/ 0 w 47"/>
                <a:gd name="T73" fmla="*/ 1 h 46"/>
                <a:gd name="T74" fmla="*/ 0 w 47"/>
                <a:gd name="T75" fmla="*/ 1 h 46"/>
                <a:gd name="T76" fmla="*/ 1 w 47"/>
                <a:gd name="T77" fmla="*/ 1 h 46"/>
                <a:gd name="T78" fmla="*/ 1 w 47"/>
                <a:gd name="T79" fmla="*/ 1 h 46"/>
                <a:gd name="T80" fmla="*/ 1 w 47"/>
                <a:gd name="T81" fmla="*/ 1 h 46"/>
                <a:gd name="T82" fmla="*/ 1 w 47"/>
                <a:gd name="T83" fmla="*/ 0 h 46"/>
                <a:gd name="T84" fmla="*/ 1 w 47"/>
                <a:gd name="T85" fmla="*/ 0 h 46"/>
                <a:gd name="T86" fmla="*/ 1 w 47"/>
                <a:gd name="T87" fmla="*/ 0 h 46"/>
                <a:gd name="T88" fmla="*/ 1 w 47"/>
                <a:gd name="T89" fmla="*/ 1 h 46"/>
                <a:gd name="T90" fmla="*/ 1 w 47"/>
                <a:gd name="T91" fmla="*/ 1 h 46"/>
                <a:gd name="T92" fmla="*/ 1 w 47"/>
                <a:gd name="T93" fmla="*/ 1 h 46"/>
                <a:gd name="T94" fmla="*/ 1 w 47"/>
                <a:gd name="T95" fmla="*/ 1 h 46"/>
                <a:gd name="T96" fmla="*/ 1 w 47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6"/>
                <a:gd name="T149" fmla="*/ 47 w 47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6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2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17"/>
                  </a:lnTo>
                  <a:lnTo>
                    <a:pt x="18" y="23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4" y="23"/>
                  </a:lnTo>
                  <a:lnTo>
                    <a:pt x="29" y="17"/>
                  </a:lnTo>
                  <a:lnTo>
                    <a:pt x="41" y="29"/>
                  </a:lnTo>
                  <a:lnTo>
                    <a:pt x="35" y="36"/>
                  </a:lnTo>
                  <a:lnTo>
                    <a:pt x="35" y="42"/>
                  </a:lnTo>
                  <a:lnTo>
                    <a:pt x="24" y="46"/>
                  </a:lnTo>
                  <a:lnTo>
                    <a:pt x="12" y="42"/>
                  </a:lnTo>
                  <a:lnTo>
                    <a:pt x="6" y="36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8" name="Freeform 118"/>
            <p:cNvSpPr>
              <a:spLocks/>
            </p:cNvSpPr>
            <p:nvPr/>
          </p:nvSpPr>
          <p:spPr bwMode="auto">
            <a:xfrm>
              <a:off x="3563" y="2319"/>
              <a:ext cx="10" cy="6"/>
            </a:xfrm>
            <a:custGeom>
              <a:avLst/>
              <a:gdLst>
                <a:gd name="T0" fmla="*/ 0 w 18"/>
                <a:gd name="T1" fmla="*/ 0 h 12"/>
                <a:gd name="T2" fmla="*/ 0 w 18"/>
                <a:gd name="T3" fmla="*/ 0 h 12"/>
                <a:gd name="T4" fmla="*/ 0 w 18"/>
                <a:gd name="T5" fmla="*/ 1 h 12"/>
                <a:gd name="T6" fmla="*/ 1 w 18"/>
                <a:gd name="T7" fmla="*/ 1 h 12"/>
                <a:gd name="T8" fmla="*/ 1 w 18"/>
                <a:gd name="T9" fmla="*/ 1 h 12"/>
                <a:gd name="T10" fmla="*/ 1 w 18"/>
                <a:gd name="T11" fmla="*/ 1 h 12"/>
                <a:gd name="T12" fmla="*/ 0 w 1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2"/>
                <a:gd name="T23" fmla="*/ 18 w 18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2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89" name="Freeform 119"/>
            <p:cNvSpPr>
              <a:spLocks/>
            </p:cNvSpPr>
            <p:nvPr/>
          </p:nvSpPr>
          <p:spPr bwMode="auto">
            <a:xfrm>
              <a:off x="3435" y="2045"/>
              <a:ext cx="15" cy="15"/>
            </a:xfrm>
            <a:custGeom>
              <a:avLst/>
              <a:gdLst>
                <a:gd name="T0" fmla="*/ 1 w 30"/>
                <a:gd name="T1" fmla="*/ 1 h 29"/>
                <a:gd name="T2" fmla="*/ 1 w 30"/>
                <a:gd name="T3" fmla="*/ 1 h 29"/>
                <a:gd name="T4" fmla="*/ 1 w 30"/>
                <a:gd name="T5" fmla="*/ 0 h 29"/>
                <a:gd name="T6" fmla="*/ 1 w 30"/>
                <a:gd name="T7" fmla="*/ 1 h 29"/>
                <a:gd name="T8" fmla="*/ 0 w 30"/>
                <a:gd name="T9" fmla="*/ 1 h 29"/>
                <a:gd name="T10" fmla="*/ 1 w 30"/>
                <a:gd name="T11" fmla="*/ 1 h 29"/>
                <a:gd name="T12" fmla="*/ 1 w 30"/>
                <a:gd name="T13" fmla="*/ 1 h 29"/>
                <a:gd name="T14" fmla="*/ 1 w 30"/>
                <a:gd name="T15" fmla="*/ 1 h 29"/>
                <a:gd name="T16" fmla="*/ 1 w 30"/>
                <a:gd name="T17" fmla="*/ 1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9"/>
                <a:gd name="T29" fmla="*/ 30 w 30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9">
                  <a:moveTo>
                    <a:pt x="30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0" name="Freeform 120"/>
            <p:cNvSpPr>
              <a:spLocks/>
            </p:cNvSpPr>
            <p:nvPr/>
          </p:nvSpPr>
          <p:spPr bwMode="auto">
            <a:xfrm>
              <a:off x="3432" y="2042"/>
              <a:ext cx="24" cy="24"/>
            </a:xfrm>
            <a:custGeom>
              <a:avLst/>
              <a:gdLst>
                <a:gd name="T0" fmla="*/ 1 w 48"/>
                <a:gd name="T1" fmla="*/ 1 h 48"/>
                <a:gd name="T2" fmla="*/ 1 w 48"/>
                <a:gd name="T3" fmla="*/ 1 h 48"/>
                <a:gd name="T4" fmla="*/ 1 w 48"/>
                <a:gd name="T5" fmla="*/ 1 h 48"/>
                <a:gd name="T6" fmla="*/ 1 w 48"/>
                <a:gd name="T7" fmla="*/ 1 h 48"/>
                <a:gd name="T8" fmla="*/ 1 w 48"/>
                <a:gd name="T9" fmla="*/ 1 h 48"/>
                <a:gd name="T10" fmla="*/ 1 w 48"/>
                <a:gd name="T11" fmla="*/ 1 h 48"/>
                <a:gd name="T12" fmla="*/ 1 w 48"/>
                <a:gd name="T13" fmla="*/ 1 h 48"/>
                <a:gd name="T14" fmla="*/ 1 w 48"/>
                <a:gd name="T15" fmla="*/ 1 h 48"/>
                <a:gd name="T16" fmla="*/ 1 w 48"/>
                <a:gd name="T17" fmla="*/ 1 h 48"/>
                <a:gd name="T18" fmla="*/ 1 w 48"/>
                <a:gd name="T19" fmla="*/ 1 h 48"/>
                <a:gd name="T20" fmla="*/ 1 w 48"/>
                <a:gd name="T21" fmla="*/ 1 h 48"/>
                <a:gd name="T22" fmla="*/ 1 w 48"/>
                <a:gd name="T23" fmla="*/ 1 h 48"/>
                <a:gd name="T24" fmla="*/ 1 w 48"/>
                <a:gd name="T25" fmla="*/ 1 h 48"/>
                <a:gd name="T26" fmla="*/ 1 w 48"/>
                <a:gd name="T27" fmla="*/ 1 h 48"/>
                <a:gd name="T28" fmla="*/ 1 w 48"/>
                <a:gd name="T29" fmla="*/ 1 h 48"/>
                <a:gd name="T30" fmla="*/ 1 w 48"/>
                <a:gd name="T31" fmla="*/ 1 h 48"/>
                <a:gd name="T32" fmla="*/ 1 w 48"/>
                <a:gd name="T33" fmla="*/ 1 h 48"/>
                <a:gd name="T34" fmla="*/ 1 w 48"/>
                <a:gd name="T35" fmla="*/ 1 h 48"/>
                <a:gd name="T36" fmla="*/ 1 w 48"/>
                <a:gd name="T37" fmla="*/ 1 h 48"/>
                <a:gd name="T38" fmla="*/ 1 w 48"/>
                <a:gd name="T39" fmla="*/ 1 h 48"/>
                <a:gd name="T40" fmla="*/ 1 w 48"/>
                <a:gd name="T41" fmla="*/ 1 h 48"/>
                <a:gd name="T42" fmla="*/ 1 w 48"/>
                <a:gd name="T43" fmla="*/ 1 h 48"/>
                <a:gd name="T44" fmla="*/ 1 w 48"/>
                <a:gd name="T45" fmla="*/ 1 h 48"/>
                <a:gd name="T46" fmla="*/ 1 w 48"/>
                <a:gd name="T47" fmla="*/ 1 h 48"/>
                <a:gd name="T48" fmla="*/ 1 w 48"/>
                <a:gd name="T49" fmla="*/ 1 h 48"/>
                <a:gd name="T50" fmla="*/ 1 w 48"/>
                <a:gd name="T51" fmla="*/ 1 h 48"/>
                <a:gd name="T52" fmla="*/ 1 w 48"/>
                <a:gd name="T53" fmla="*/ 1 h 48"/>
                <a:gd name="T54" fmla="*/ 1 w 48"/>
                <a:gd name="T55" fmla="*/ 1 h 48"/>
                <a:gd name="T56" fmla="*/ 1 w 48"/>
                <a:gd name="T57" fmla="*/ 1 h 48"/>
                <a:gd name="T58" fmla="*/ 1 w 48"/>
                <a:gd name="T59" fmla="*/ 1 h 48"/>
                <a:gd name="T60" fmla="*/ 1 w 48"/>
                <a:gd name="T61" fmla="*/ 1 h 48"/>
                <a:gd name="T62" fmla="*/ 1 w 48"/>
                <a:gd name="T63" fmla="*/ 1 h 48"/>
                <a:gd name="T64" fmla="*/ 1 w 48"/>
                <a:gd name="T65" fmla="*/ 1 h 48"/>
                <a:gd name="T66" fmla="*/ 1 w 48"/>
                <a:gd name="T67" fmla="*/ 1 h 48"/>
                <a:gd name="T68" fmla="*/ 1 w 48"/>
                <a:gd name="T69" fmla="*/ 1 h 48"/>
                <a:gd name="T70" fmla="*/ 0 w 48"/>
                <a:gd name="T71" fmla="*/ 1 h 48"/>
                <a:gd name="T72" fmla="*/ 0 w 48"/>
                <a:gd name="T73" fmla="*/ 1 h 48"/>
                <a:gd name="T74" fmla="*/ 0 w 48"/>
                <a:gd name="T75" fmla="*/ 1 h 48"/>
                <a:gd name="T76" fmla="*/ 1 w 48"/>
                <a:gd name="T77" fmla="*/ 1 h 48"/>
                <a:gd name="T78" fmla="*/ 1 w 48"/>
                <a:gd name="T79" fmla="*/ 1 h 48"/>
                <a:gd name="T80" fmla="*/ 1 w 48"/>
                <a:gd name="T81" fmla="*/ 1 h 48"/>
                <a:gd name="T82" fmla="*/ 1 w 48"/>
                <a:gd name="T83" fmla="*/ 0 h 48"/>
                <a:gd name="T84" fmla="*/ 1 w 48"/>
                <a:gd name="T85" fmla="*/ 0 h 48"/>
                <a:gd name="T86" fmla="*/ 1 w 48"/>
                <a:gd name="T87" fmla="*/ 0 h 48"/>
                <a:gd name="T88" fmla="*/ 1 w 48"/>
                <a:gd name="T89" fmla="*/ 1 h 48"/>
                <a:gd name="T90" fmla="*/ 1 w 48"/>
                <a:gd name="T91" fmla="*/ 1 h 48"/>
                <a:gd name="T92" fmla="*/ 1 w 48"/>
                <a:gd name="T93" fmla="*/ 1 h 48"/>
                <a:gd name="T94" fmla="*/ 1 w 48"/>
                <a:gd name="T95" fmla="*/ 1 h 48"/>
                <a:gd name="T96" fmla="*/ 1 w 48"/>
                <a:gd name="T97" fmla="*/ 1 h 4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48"/>
                <a:gd name="T149" fmla="*/ 48 w 48"/>
                <a:gd name="T150" fmla="*/ 48 h 4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48">
                  <a:moveTo>
                    <a:pt x="29" y="29"/>
                  </a:moveTo>
                  <a:lnTo>
                    <a:pt x="25" y="18"/>
                  </a:lnTo>
                  <a:lnTo>
                    <a:pt x="29" y="24"/>
                  </a:lnTo>
                  <a:lnTo>
                    <a:pt x="18" y="18"/>
                  </a:lnTo>
                  <a:lnTo>
                    <a:pt x="25" y="12"/>
                  </a:lnTo>
                  <a:lnTo>
                    <a:pt x="18" y="18"/>
                  </a:lnTo>
                  <a:lnTo>
                    <a:pt x="25" y="18"/>
                  </a:lnTo>
                  <a:lnTo>
                    <a:pt x="18" y="29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25" y="29"/>
                  </a:lnTo>
                  <a:lnTo>
                    <a:pt x="18" y="29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9" y="18"/>
                  </a:lnTo>
                  <a:lnTo>
                    <a:pt x="42" y="29"/>
                  </a:lnTo>
                  <a:lnTo>
                    <a:pt x="36" y="35"/>
                  </a:lnTo>
                  <a:lnTo>
                    <a:pt x="36" y="41"/>
                  </a:lnTo>
                  <a:lnTo>
                    <a:pt x="25" y="48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4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8" y="24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1" name="Freeform 121"/>
            <p:cNvSpPr>
              <a:spLocks/>
            </p:cNvSpPr>
            <p:nvPr/>
          </p:nvSpPr>
          <p:spPr bwMode="auto">
            <a:xfrm>
              <a:off x="3447" y="2051"/>
              <a:ext cx="9" cy="6"/>
            </a:xfrm>
            <a:custGeom>
              <a:avLst/>
              <a:gdLst>
                <a:gd name="T0" fmla="*/ 0 w 19"/>
                <a:gd name="T1" fmla="*/ 0 h 11"/>
                <a:gd name="T2" fmla="*/ 0 w 19"/>
                <a:gd name="T3" fmla="*/ 0 h 11"/>
                <a:gd name="T4" fmla="*/ 0 w 19"/>
                <a:gd name="T5" fmla="*/ 1 h 11"/>
                <a:gd name="T6" fmla="*/ 0 w 19"/>
                <a:gd name="T7" fmla="*/ 1 h 11"/>
                <a:gd name="T8" fmla="*/ 0 w 19"/>
                <a:gd name="T9" fmla="*/ 1 h 11"/>
                <a:gd name="T10" fmla="*/ 0 w 19"/>
                <a:gd name="T11" fmla="*/ 1 h 11"/>
                <a:gd name="T12" fmla="*/ 0 w 19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11"/>
                <a:gd name="T23" fmla="*/ 19 w 19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19" y="6"/>
                  </a:lnTo>
                  <a:lnTo>
                    <a:pt x="13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2" name="Freeform 122"/>
            <p:cNvSpPr>
              <a:spLocks/>
            </p:cNvSpPr>
            <p:nvPr/>
          </p:nvSpPr>
          <p:spPr bwMode="auto">
            <a:xfrm>
              <a:off x="3494" y="2045"/>
              <a:ext cx="14" cy="15"/>
            </a:xfrm>
            <a:custGeom>
              <a:avLst/>
              <a:gdLst>
                <a:gd name="T0" fmla="*/ 0 w 29"/>
                <a:gd name="T1" fmla="*/ 1 h 29"/>
                <a:gd name="T2" fmla="*/ 0 w 29"/>
                <a:gd name="T3" fmla="*/ 1 h 29"/>
                <a:gd name="T4" fmla="*/ 0 w 29"/>
                <a:gd name="T5" fmla="*/ 0 h 29"/>
                <a:gd name="T6" fmla="*/ 0 w 29"/>
                <a:gd name="T7" fmla="*/ 1 h 29"/>
                <a:gd name="T8" fmla="*/ 0 w 29"/>
                <a:gd name="T9" fmla="*/ 1 h 29"/>
                <a:gd name="T10" fmla="*/ 0 w 29"/>
                <a:gd name="T11" fmla="*/ 1 h 29"/>
                <a:gd name="T12" fmla="*/ 0 w 29"/>
                <a:gd name="T13" fmla="*/ 1 h 29"/>
                <a:gd name="T14" fmla="*/ 0 w 29"/>
                <a:gd name="T15" fmla="*/ 1 h 29"/>
                <a:gd name="T16" fmla="*/ 0 w 29"/>
                <a:gd name="T17" fmla="*/ 1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29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3" name="Freeform 123"/>
            <p:cNvSpPr>
              <a:spLocks/>
            </p:cNvSpPr>
            <p:nvPr/>
          </p:nvSpPr>
          <p:spPr bwMode="auto">
            <a:xfrm>
              <a:off x="3490" y="2042"/>
              <a:ext cx="24" cy="24"/>
            </a:xfrm>
            <a:custGeom>
              <a:avLst/>
              <a:gdLst>
                <a:gd name="T0" fmla="*/ 1 w 47"/>
                <a:gd name="T1" fmla="*/ 1 h 48"/>
                <a:gd name="T2" fmla="*/ 1 w 47"/>
                <a:gd name="T3" fmla="*/ 1 h 48"/>
                <a:gd name="T4" fmla="*/ 1 w 47"/>
                <a:gd name="T5" fmla="*/ 1 h 48"/>
                <a:gd name="T6" fmla="*/ 1 w 47"/>
                <a:gd name="T7" fmla="*/ 1 h 48"/>
                <a:gd name="T8" fmla="*/ 1 w 47"/>
                <a:gd name="T9" fmla="*/ 1 h 48"/>
                <a:gd name="T10" fmla="*/ 1 w 47"/>
                <a:gd name="T11" fmla="*/ 1 h 48"/>
                <a:gd name="T12" fmla="*/ 1 w 47"/>
                <a:gd name="T13" fmla="*/ 1 h 48"/>
                <a:gd name="T14" fmla="*/ 1 w 47"/>
                <a:gd name="T15" fmla="*/ 1 h 48"/>
                <a:gd name="T16" fmla="*/ 1 w 47"/>
                <a:gd name="T17" fmla="*/ 1 h 48"/>
                <a:gd name="T18" fmla="*/ 1 w 47"/>
                <a:gd name="T19" fmla="*/ 1 h 48"/>
                <a:gd name="T20" fmla="*/ 1 w 47"/>
                <a:gd name="T21" fmla="*/ 1 h 48"/>
                <a:gd name="T22" fmla="*/ 1 w 47"/>
                <a:gd name="T23" fmla="*/ 1 h 48"/>
                <a:gd name="T24" fmla="*/ 1 w 47"/>
                <a:gd name="T25" fmla="*/ 1 h 48"/>
                <a:gd name="T26" fmla="*/ 1 w 47"/>
                <a:gd name="T27" fmla="*/ 1 h 48"/>
                <a:gd name="T28" fmla="*/ 1 w 47"/>
                <a:gd name="T29" fmla="*/ 1 h 48"/>
                <a:gd name="T30" fmla="*/ 1 w 47"/>
                <a:gd name="T31" fmla="*/ 1 h 48"/>
                <a:gd name="T32" fmla="*/ 1 w 47"/>
                <a:gd name="T33" fmla="*/ 1 h 48"/>
                <a:gd name="T34" fmla="*/ 1 w 47"/>
                <a:gd name="T35" fmla="*/ 1 h 48"/>
                <a:gd name="T36" fmla="*/ 1 w 47"/>
                <a:gd name="T37" fmla="*/ 1 h 48"/>
                <a:gd name="T38" fmla="*/ 1 w 47"/>
                <a:gd name="T39" fmla="*/ 1 h 48"/>
                <a:gd name="T40" fmla="*/ 1 w 47"/>
                <a:gd name="T41" fmla="*/ 1 h 48"/>
                <a:gd name="T42" fmla="*/ 1 w 47"/>
                <a:gd name="T43" fmla="*/ 1 h 48"/>
                <a:gd name="T44" fmla="*/ 1 w 47"/>
                <a:gd name="T45" fmla="*/ 1 h 48"/>
                <a:gd name="T46" fmla="*/ 1 w 47"/>
                <a:gd name="T47" fmla="*/ 1 h 48"/>
                <a:gd name="T48" fmla="*/ 1 w 47"/>
                <a:gd name="T49" fmla="*/ 1 h 48"/>
                <a:gd name="T50" fmla="*/ 1 w 47"/>
                <a:gd name="T51" fmla="*/ 1 h 48"/>
                <a:gd name="T52" fmla="*/ 1 w 47"/>
                <a:gd name="T53" fmla="*/ 1 h 48"/>
                <a:gd name="T54" fmla="*/ 1 w 47"/>
                <a:gd name="T55" fmla="*/ 1 h 48"/>
                <a:gd name="T56" fmla="*/ 1 w 47"/>
                <a:gd name="T57" fmla="*/ 1 h 48"/>
                <a:gd name="T58" fmla="*/ 1 w 47"/>
                <a:gd name="T59" fmla="*/ 1 h 48"/>
                <a:gd name="T60" fmla="*/ 1 w 47"/>
                <a:gd name="T61" fmla="*/ 1 h 48"/>
                <a:gd name="T62" fmla="*/ 1 w 47"/>
                <a:gd name="T63" fmla="*/ 1 h 48"/>
                <a:gd name="T64" fmla="*/ 1 w 47"/>
                <a:gd name="T65" fmla="*/ 1 h 48"/>
                <a:gd name="T66" fmla="*/ 1 w 47"/>
                <a:gd name="T67" fmla="*/ 1 h 48"/>
                <a:gd name="T68" fmla="*/ 1 w 47"/>
                <a:gd name="T69" fmla="*/ 1 h 48"/>
                <a:gd name="T70" fmla="*/ 0 w 47"/>
                <a:gd name="T71" fmla="*/ 1 h 48"/>
                <a:gd name="T72" fmla="*/ 0 w 47"/>
                <a:gd name="T73" fmla="*/ 1 h 48"/>
                <a:gd name="T74" fmla="*/ 0 w 47"/>
                <a:gd name="T75" fmla="*/ 1 h 48"/>
                <a:gd name="T76" fmla="*/ 1 w 47"/>
                <a:gd name="T77" fmla="*/ 1 h 48"/>
                <a:gd name="T78" fmla="*/ 1 w 47"/>
                <a:gd name="T79" fmla="*/ 1 h 48"/>
                <a:gd name="T80" fmla="*/ 1 w 47"/>
                <a:gd name="T81" fmla="*/ 1 h 48"/>
                <a:gd name="T82" fmla="*/ 1 w 47"/>
                <a:gd name="T83" fmla="*/ 0 h 48"/>
                <a:gd name="T84" fmla="*/ 1 w 47"/>
                <a:gd name="T85" fmla="*/ 0 h 48"/>
                <a:gd name="T86" fmla="*/ 1 w 47"/>
                <a:gd name="T87" fmla="*/ 0 h 48"/>
                <a:gd name="T88" fmla="*/ 1 w 47"/>
                <a:gd name="T89" fmla="*/ 1 h 48"/>
                <a:gd name="T90" fmla="*/ 1 w 47"/>
                <a:gd name="T91" fmla="*/ 1 h 48"/>
                <a:gd name="T92" fmla="*/ 1 w 47"/>
                <a:gd name="T93" fmla="*/ 1 h 48"/>
                <a:gd name="T94" fmla="*/ 1 w 47"/>
                <a:gd name="T95" fmla="*/ 1 h 48"/>
                <a:gd name="T96" fmla="*/ 1 w 47"/>
                <a:gd name="T97" fmla="*/ 1 h 4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8"/>
                <a:gd name="T149" fmla="*/ 47 w 47"/>
                <a:gd name="T150" fmla="*/ 48 h 4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8">
                  <a:moveTo>
                    <a:pt x="29" y="29"/>
                  </a:moveTo>
                  <a:lnTo>
                    <a:pt x="24" y="18"/>
                  </a:lnTo>
                  <a:lnTo>
                    <a:pt x="29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18" y="29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4"/>
                  </a:lnTo>
                  <a:lnTo>
                    <a:pt x="24" y="24"/>
                  </a:lnTo>
                  <a:lnTo>
                    <a:pt x="29" y="18"/>
                  </a:lnTo>
                  <a:lnTo>
                    <a:pt x="41" y="29"/>
                  </a:lnTo>
                  <a:lnTo>
                    <a:pt x="35" y="35"/>
                  </a:lnTo>
                  <a:lnTo>
                    <a:pt x="35" y="41"/>
                  </a:lnTo>
                  <a:lnTo>
                    <a:pt x="24" y="48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4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4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4" name="Freeform 124"/>
            <p:cNvSpPr>
              <a:spLocks/>
            </p:cNvSpPr>
            <p:nvPr/>
          </p:nvSpPr>
          <p:spPr bwMode="auto">
            <a:xfrm>
              <a:off x="3505" y="2051"/>
              <a:ext cx="9" cy="6"/>
            </a:xfrm>
            <a:custGeom>
              <a:avLst/>
              <a:gdLst>
                <a:gd name="T0" fmla="*/ 0 w 18"/>
                <a:gd name="T1" fmla="*/ 0 h 11"/>
                <a:gd name="T2" fmla="*/ 0 w 18"/>
                <a:gd name="T3" fmla="*/ 0 h 11"/>
                <a:gd name="T4" fmla="*/ 0 w 18"/>
                <a:gd name="T5" fmla="*/ 1 h 11"/>
                <a:gd name="T6" fmla="*/ 1 w 18"/>
                <a:gd name="T7" fmla="*/ 1 h 11"/>
                <a:gd name="T8" fmla="*/ 1 w 18"/>
                <a:gd name="T9" fmla="*/ 1 h 11"/>
                <a:gd name="T10" fmla="*/ 1 w 18"/>
                <a:gd name="T11" fmla="*/ 1 h 11"/>
                <a:gd name="T12" fmla="*/ 0 w 18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1"/>
                <a:gd name="T23" fmla="*/ 18 w 18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18" y="6"/>
                  </a:lnTo>
                  <a:lnTo>
                    <a:pt x="12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5" name="Freeform 125"/>
            <p:cNvSpPr>
              <a:spLocks/>
            </p:cNvSpPr>
            <p:nvPr/>
          </p:nvSpPr>
          <p:spPr bwMode="auto">
            <a:xfrm>
              <a:off x="3552" y="2045"/>
              <a:ext cx="14" cy="15"/>
            </a:xfrm>
            <a:custGeom>
              <a:avLst/>
              <a:gdLst>
                <a:gd name="T0" fmla="*/ 0 w 29"/>
                <a:gd name="T1" fmla="*/ 1 h 29"/>
                <a:gd name="T2" fmla="*/ 0 w 29"/>
                <a:gd name="T3" fmla="*/ 1 h 29"/>
                <a:gd name="T4" fmla="*/ 0 w 29"/>
                <a:gd name="T5" fmla="*/ 0 h 29"/>
                <a:gd name="T6" fmla="*/ 0 w 29"/>
                <a:gd name="T7" fmla="*/ 1 h 29"/>
                <a:gd name="T8" fmla="*/ 0 w 29"/>
                <a:gd name="T9" fmla="*/ 1 h 29"/>
                <a:gd name="T10" fmla="*/ 0 w 29"/>
                <a:gd name="T11" fmla="*/ 1 h 29"/>
                <a:gd name="T12" fmla="*/ 0 w 29"/>
                <a:gd name="T13" fmla="*/ 1 h 29"/>
                <a:gd name="T14" fmla="*/ 0 w 29"/>
                <a:gd name="T15" fmla="*/ 1 h 29"/>
                <a:gd name="T16" fmla="*/ 0 w 29"/>
                <a:gd name="T17" fmla="*/ 1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29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6" name="Freeform 126"/>
            <p:cNvSpPr>
              <a:spLocks/>
            </p:cNvSpPr>
            <p:nvPr/>
          </p:nvSpPr>
          <p:spPr bwMode="auto">
            <a:xfrm>
              <a:off x="3549" y="2042"/>
              <a:ext cx="24" cy="24"/>
            </a:xfrm>
            <a:custGeom>
              <a:avLst/>
              <a:gdLst>
                <a:gd name="T0" fmla="*/ 1 w 47"/>
                <a:gd name="T1" fmla="*/ 1 h 48"/>
                <a:gd name="T2" fmla="*/ 1 w 47"/>
                <a:gd name="T3" fmla="*/ 1 h 48"/>
                <a:gd name="T4" fmla="*/ 1 w 47"/>
                <a:gd name="T5" fmla="*/ 1 h 48"/>
                <a:gd name="T6" fmla="*/ 1 w 47"/>
                <a:gd name="T7" fmla="*/ 1 h 48"/>
                <a:gd name="T8" fmla="*/ 1 w 47"/>
                <a:gd name="T9" fmla="*/ 1 h 48"/>
                <a:gd name="T10" fmla="*/ 1 w 47"/>
                <a:gd name="T11" fmla="*/ 1 h 48"/>
                <a:gd name="T12" fmla="*/ 1 w 47"/>
                <a:gd name="T13" fmla="*/ 1 h 48"/>
                <a:gd name="T14" fmla="*/ 1 w 47"/>
                <a:gd name="T15" fmla="*/ 1 h 48"/>
                <a:gd name="T16" fmla="*/ 1 w 47"/>
                <a:gd name="T17" fmla="*/ 1 h 48"/>
                <a:gd name="T18" fmla="*/ 1 w 47"/>
                <a:gd name="T19" fmla="*/ 1 h 48"/>
                <a:gd name="T20" fmla="*/ 1 w 47"/>
                <a:gd name="T21" fmla="*/ 1 h 48"/>
                <a:gd name="T22" fmla="*/ 1 w 47"/>
                <a:gd name="T23" fmla="*/ 1 h 48"/>
                <a:gd name="T24" fmla="*/ 1 w 47"/>
                <a:gd name="T25" fmla="*/ 1 h 48"/>
                <a:gd name="T26" fmla="*/ 1 w 47"/>
                <a:gd name="T27" fmla="*/ 1 h 48"/>
                <a:gd name="T28" fmla="*/ 1 w 47"/>
                <a:gd name="T29" fmla="*/ 1 h 48"/>
                <a:gd name="T30" fmla="*/ 1 w 47"/>
                <a:gd name="T31" fmla="*/ 1 h 48"/>
                <a:gd name="T32" fmla="*/ 1 w 47"/>
                <a:gd name="T33" fmla="*/ 1 h 48"/>
                <a:gd name="T34" fmla="*/ 1 w 47"/>
                <a:gd name="T35" fmla="*/ 1 h 48"/>
                <a:gd name="T36" fmla="*/ 1 w 47"/>
                <a:gd name="T37" fmla="*/ 1 h 48"/>
                <a:gd name="T38" fmla="*/ 1 w 47"/>
                <a:gd name="T39" fmla="*/ 1 h 48"/>
                <a:gd name="T40" fmla="*/ 1 w 47"/>
                <a:gd name="T41" fmla="*/ 1 h 48"/>
                <a:gd name="T42" fmla="*/ 1 w 47"/>
                <a:gd name="T43" fmla="*/ 1 h 48"/>
                <a:gd name="T44" fmla="*/ 1 w 47"/>
                <a:gd name="T45" fmla="*/ 1 h 48"/>
                <a:gd name="T46" fmla="*/ 1 w 47"/>
                <a:gd name="T47" fmla="*/ 1 h 48"/>
                <a:gd name="T48" fmla="*/ 1 w 47"/>
                <a:gd name="T49" fmla="*/ 1 h 48"/>
                <a:gd name="T50" fmla="*/ 1 w 47"/>
                <a:gd name="T51" fmla="*/ 1 h 48"/>
                <a:gd name="T52" fmla="*/ 1 w 47"/>
                <a:gd name="T53" fmla="*/ 1 h 48"/>
                <a:gd name="T54" fmla="*/ 1 w 47"/>
                <a:gd name="T55" fmla="*/ 1 h 48"/>
                <a:gd name="T56" fmla="*/ 1 w 47"/>
                <a:gd name="T57" fmla="*/ 1 h 48"/>
                <a:gd name="T58" fmla="*/ 1 w 47"/>
                <a:gd name="T59" fmla="*/ 1 h 48"/>
                <a:gd name="T60" fmla="*/ 1 w 47"/>
                <a:gd name="T61" fmla="*/ 1 h 48"/>
                <a:gd name="T62" fmla="*/ 1 w 47"/>
                <a:gd name="T63" fmla="*/ 1 h 48"/>
                <a:gd name="T64" fmla="*/ 1 w 47"/>
                <a:gd name="T65" fmla="*/ 1 h 48"/>
                <a:gd name="T66" fmla="*/ 1 w 47"/>
                <a:gd name="T67" fmla="*/ 1 h 48"/>
                <a:gd name="T68" fmla="*/ 1 w 47"/>
                <a:gd name="T69" fmla="*/ 1 h 48"/>
                <a:gd name="T70" fmla="*/ 0 w 47"/>
                <a:gd name="T71" fmla="*/ 1 h 48"/>
                <a:gd name="T72" fmla="*/ 0 w 47"/>
                <a:gd name="T73" fmla="*/ 1 h 48"/>
                <a:gd name="T74" fmla="*/ 0 w 47"/>
                <a:gd name="T75" fmla="*/ 1 h 48"/>
                <a:gd name="T76" fmla="*/ 1 w 47"/>
                <a:gd name="T77" fmla="*/ 1 h 48"/>
                <a:gd name="T78" fmla="*/ 1 w 47"/>
                <a:gd name="T79" fmla="*/ 1 h 48"/>
                <a:gd name="T80" fmla="*/ 1 w 47"/>
                <a:gd name="T81" fmla="*/ 1 h 48"/>
                <a:gd name="T82" fmla="*/ 1 w 47"/>
                <a:gd name="T83" fmla="*/ 0 h 48"/>
                <a:gd name="T84" fmla="*/ 1 w 47"/>
                <a:gd name="T85" fmla="*/ 0 h 48"/>
                <a:gd name="T86" fmla="*/ 1 w 47"/>
                <a:gd name="T87" fmla="*/ 0 h 48"/>
                <a:gd name="T88" fmla="*/ 1 w 47"/>
                <a:gd name="T89" fmla="*/ 1 h 48"/>
                <a:gd name="T90" fmla="*/ 1 w 47"/>
                <a:gd name="T91" fmla="*/ 1 h 48"/>
                <a:gd name="T92" fmla="*/ 1 w 47"/>
                <a:gd name="T93" fmla="*/ 1 h 48"/>
                <a:gd name="T94" fmla="*/ 1 w 47"/>
                <a:gd name="T95" fmla="*/ 1 h 48"/>
                <a:gd name="T96" fmla="*/ 1 w 47"/>
                <a:gd name="T97" fmla="*/ 1 h 4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8"/>
                <a:gd name="T149" fmla="*/ 47 w 47"/>
                <a:gd name="T150" fmla="*/ 48 h 4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8">
                  <a:moveTo>
                    <a:pt x="29" y="29"/>
                  </a:moveTo>
                  <a:lnTo>
                    <a:pt x="24" y="18"/>
                  </a:lnTo>
                  <a:lnTo>
                    <a:pt x="29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18" y="29"/>
                  </a:lnTo>
                  <a:lnTo>
                    <a:pt x="12" y="18"/>
                  </a:lnTo>
                  <a:lnTo>
                    <a:pt x="18" y="24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4"/>
                  </a:lnTo>
                  <a:lnTo>
                    <a:pt x="24" y="24"/>
                  </a:lnTo>
                  <a:lnTo>
                    <a:pt x="29" y="18"/>
                  </a:lnTo>
                  <a:lnTo>
                    <a:pt x="41" y="29"/>
                  </a:lnTo>
                  <a:lnTo>
                    <a:pt x="35" y="35"/>
                  </a:lnTo>
                  <a:lnTo>
                    <a:pt x="35" y="41"/>
                  </a:lnTo>
                  <a:lnTo>
                    <a:pt x="24" y="48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4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4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7" name="Freeform 127"/>
            <p:cNvSpPr>
              <a:spLocks/>
            </p:cNvSpPr>
            <p:nvPr/>
          </p:nvSpPr>
          <p:spPr bwMode="auto">
            <a:xfrm>
              <a:off x="3563" y="2051"/>
              <a:ext cx="10" cy="6"/>
            </a:xfrm>
            <a:custGeom>
              <a:avLst/>
              <a:gdLst>
                <a:gd name="T0" fmla="*/ 0 w 18"/>
                <a:gd name="T1" fmla="*/ 0 h 11"/>
                <a:gd name="T2" fmla="*/ 0 w 18"/>
                <a:gd name="T3" fmla="*/ 0 h 11"/>
                <a:gd name="T4" fmla="*/ 0 w 18"/>
                <a:gd name="T5" fmla="*/ 1 h 11"/>
                <a:gd name="T6" fmla="*/ 1 w 18"/>
                <a:gd name="T7" fmla="*/ 1 h 11"/>
                <a:gd name="T8" fmla="*/ 1 w 18"/>
                <a:gd name="T9" fmla="*/ 1 h 11"/>
                <a:gd name="T10" fmla="*/ 1 w 18"/>
                <a:gd name="T11" fmla="*/ 1 h 11"/>
                <a:gd name="T12" fmla="*/ 0 w 18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1"/>
                <a:gd name="T23" fmla="*/ 18 w 18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18" y="6"/>
                  </a:lnTo>
                  <a:lnTo>
                    <a:pt x="12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8" name="Freeform 128"/>
            <p:cNvSpPr>
              <a:spLocks/>
            </p:cNvSpPr>
            <p:nvPr/>
          </p:nvSpPr>
          <p:spPr bwMode="auto">
            <a:xfrm>
              <a:off x="3435" y="1509"/>
              <a:ext cx="15" cy="14"/>
            </a:xfrm>
            <a:custGeom>
              <a:avLst/>
              <a:gdLst>
                <a:gd name="T0" fmla="*/ 1 w 30"/>
                <a:gd name="T1" fmla="*/ 0 h 29"/>
                <a:gd name="T2" fmla="*/ 1 w 30"/>
                <a:gd name="T3" fmla="*/ 0 h 29"/>
                <a:gd name="T4" fmla="*/ 1 w 30"/>
                <a:gd name="T5" fmla="*/ 0 h 29"/>
                <a:gd name="T6" fmla="*/ 1 w 30"/>
                <a:gd name="T7" fmla="*/ 0 h 29"/>
                <a:gd name="T8" fmla="*/ 0 w 30"/>
                <a:gd name="T9" fmla="*/ 0 h 29"/>
                <a:gd name="T10" fmla="*/ 1 w 30"/>
                <a:gd name="T11" fmla="*/ 0 h 29"/>
                <a:gd name="T12" fmla="*/ 1 w 30"/>
                <a:gd name="T13" fmla="*/ 0 h 29"/>
                <a:gd name="T14" fmla="*/ 1 w 30"/>
                <a:gd name="T15" fmla="*/ 0 h 29"/>
                <a:gd name="T16" fmla="*/ 1 w 30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9"/>
                <a:gd name="T29" fmla="*/ 30 w 30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9">
                  <a:moveTo>
                    <a:pt x="30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99" name="Freeform 129"/>
            <p:cNvSpPr>
              <a:spLocks/>
            </p:cNvSpPr>
            <p:nvPr/>
          </p:nvSpPr>
          <p:spPr bwMode="auto">
            <a:xfrm>
              <a:off x="3432" y="1505"/>
              <a:ext cx="24" cy="24"/>
            </a:xfrm>
            <a:custGeom>
              <a:avLst/>
              <a:gdLst>
                <a:gd name="T0" fmla="*/ 1 w 48"/>
                <a:gd name="T1" fmla="*/ 1 h 47"/>
                <a:gd name="T2" fmla="*/ 1 w 48"/>
                <a:gd name="T3" fmla="*/ 1 h 47"/>
                <a:gd name="T4" fmla="*/ 1 w 48"/>
                <a:gd name="T5" fmla="*/ 1 h 47"/>
                <a:gd name="T6" fmla="*/ 1 w 48"/>
                <a:gd name="T7" fmla="*/ 1 h 47"/>
                <a:gd name="T8" fmla="*/ 1 w 48"/>
                <a:gd name="T9" fmla="*/ 1 h 47"/>
                <a:gd name="T10" fmla="*/ 1 w 48"/>
                <a:gd name="T11" fmla="*/ 1 h 47"/>
                <a:gd name="T12" fmla="*/ 1 w 48"/>
                <a:gd name="T13" fmla="*/ 1 h 47"/>
                <a:gd name="T14" fmla="*/ 1 w 48"/>
                <a:gd name="T15" fmla="*/ 1 h 47"/>
                <a:gd name="T16" fmla="*/ 1 w 48"/>
                <a:gd name="T17" fmla="*/ 1 h 47"/>
                <a:gd name="T18" fmla="*/ 1 w 48"/>
                <a:gd name="T19" fmla="*/ 1 h 47"/>
                <a:gd name="T20" fmla="*/ 1 w 48"/>
                <a:gd name="T21" fmla="*/ 1 h 47"/>
                <a:gd name="T22" fmla="*/ 1 w 48"/>
                <a:gd name="T23" fmla="*/ 1 h 47"/>
                <a:gd name="T24" fmla="*/ 1 w 48"/>
                <a:gd name="T25" fmla="*/ 1 h 47"/>
                <a:gd name="T26" fmla="*/ 1 w 48"/>
                <a:gd name="T27" fmla="*/ 1 h 47"/>
                <a:gd name="T28" fmla="*/ 1 w 48"/>
                <a:gd name="T29" fmla="*/ 1 h 47"/>
                <a:gd name="T30" fmla="*/ 1 w 48"/>
                <a:gd name="T31" fmla="*/ 1 h 47"/>
                <a:gd name="T32" fmla="*/ 1 w 48"/>
                <a:gd name="T33" fmla="*/ 1 h 47"/>
                <a:gd name="T34" fmla="*/ 1 w 48"/>
                <a:gd name="T35" fmla="*/ 1 h 47"/>
                <a:gd name="T36" fmla="*/ 1 w 48"/>
                <a:gd name="T37" fmla="*/ 1 h 47"/>
                <a:gd name="T38" fmla="*/ 1 w 48"/>
                <a:gd name="T39" fmla="*/ 1 h 47"/>
                <a:gd name="T40" fmla="*/ 1 w 48"/>
                <a:gd name="T41" fmla="*/ 1 h 47"/>
                <a:gd name="T42" fmla="*/ 1 w 48"/>
                <a:gd name="T43" fmla="*/ 1 h 47"/>
                <a:gd name="T44" fmla="*/ 1 w 48"/>
                <a:gd name="T45" fmla="*/ 1 h 47"/>
                <a:gd name="T46" fmla="*/ 1 w 48"/>
                <a:gd name="T47" fmla="*/ 1 h 47"/>
                <a:gd name="T48" fmla="*/ 1 w 48"/>
                <a:gd name="T49" fmla="*/ 1 h 47"/>
                <a:gd name="T50" fmla="*/ 1 w 48"/>
                <a:gd name="T51" fmla="*/ 1 h 47"/>
                <a:gd name="T52" fmla="*/ 1 w 48"/>
                <a:gd name="T53" fmla="*/ 1 h 47"/>
                <a:gd name="T54" fmla="*/ 1 w 48"/>
                <a:gd name="T55" fmla="*/ 1 h 47"/>
                <a:gd name="T56" fmla="*/ 1 w 48"/>
                <a:gd name="T57" fmla="*/ 1 h 47"/>
                <a:gd name="T58" fmla="*/ 1 w 48"/>
                <a:gd name="T59" fmla="*/ 1 h 47"/>
                <a:gd name="T60" fmla="*/ 1 w 48"/>
                <a:gd name="T61" fmla="*/ 1 h 47"/>
                <a:gd name="T62" fmla="*/ 1 w 48"/>
                <a:gd name="T63" fmla="*/ 1 h 47"/>
                <a:gd name="T64" fmla="*/ 1 w 48"/>
                <a:gd name="T65" fmla="*/ 1 h 47"/>
                <a:gd name="T66" fmla="*/ 1 w 48"/>
                <a:gd name="T67" fmla="*/ 1 h 47"/>
                <a:gd name="T68" fmla="*/ 1 w 48"/>
                <a:gd name="T69" fmla="*/ 1 h 47"/>
                <a:gd name="T70" fmla="*/ 0 w 48"/>
                <a:gd name="T71" fmla="*/ 1 h 47"/>
                <a:gd name="T72" fmla="*/ 0 w 48"/>
                <a:gd name="T73" fmla="*/ 1 h 47"/>
                <a:gd name="T74" fmla="*/ 0 w 48"/>
                <a:gd name="T75" fmla="*/ 1 h 47"/>
                <a:gd name="T76" fmla="*/ 1 w 48"/>
                <a:gd name="T77" fmla="*/ 1 h 47"/>
                <a:gd name="T78" fmla="*/ 1 w 48"/>
                <a:gd name="T79" fmla="*/ 1 h 47"/>
                <a:gd name="T80" fmla="*/ 1 w 48"/>
                <a:gd name="T81" fmla="*/ 1 h 47"/>
                <a:gd name="T82" fmla="*/ 1 w 48"/>
                <a:gd name="T83" fmla="*/ 0 h 47"/>
                <a:gd name="T84" fmla="*/ 1 w 48"/>
                <a:gd name="T85" fmla="*/ 0 h 47"/>
                <a:gd name="T86" fmla="*/ 1 w 48"/>
                <a:gd name="T87" fmla="*/ 0 h 47"/>
                <a:gd name="T88" fmla="*/ 1 w 48"/>
                <a:gd name="T89" fmla="*/ 1 h 47"/>
                <a:gd name="T90" fmla="*/ 1 w 48"/>
                <a:gd name="T91" fmla="*/ 1 h 47"/>
                <a:gd name="T92" fmla="*/ 1 w 48"/>
                <a:gd name="T93" fmla="*/ 1 h 47"/>
                <a:gd name="T94" fmla="*/ 1 w 48"/>
                <a:gd name="T95" fmla="*/ 1 h 47"/>
                <a:gd name="T96" fmla="*/ 1 w 48"/>
                <a:gd name="T97" fmla="*/ 1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47"/>
                <a:gd name="T149" fmla="*/ 48 w 48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47">
                  <a:moveTo>
                    <a:pt x="29" y="29"/>
                  </a:moveTo>
                  <a:lnTo>
                    <a:pt x="25" y="18"/>
                  </a:lnTo>
                  <a:lnTo>
                    <a:pt x="29" y="23"/>
                  </a:lnTo>
                  <a:lnTo>
                    <a:pt x="18" y="18"/>
                  </a:lnTo>
                  <a:lnTo>
                    <a:pt x="25" y="12"/>
                  </a:lnTo>
                  <a:lnTo>
                    <a:pt x="18" y="18"/>
                  </a:lnTo>
                  <a:lnTo>
                    <a:pt x="25" y="18"/>
                  </a:lnTo>
                  <a:lnTo>
                    <a:pt x="18" y="29"/>
                  </a:lnTo>
                  <a:lnTo>
                    <a:pt x="12" y="18"/>
                  </a:lnTo>
                  <a:lnTo>
                    <a:pt x="18" y="23"/>
                  </a:lnTo>
                  <a:lnTo>
                    <a:pt x="25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5" y="23"/>
                  </a:lnTo>
                  <a:lnTo>
                    <a:pt x="29" y="18"/>
                  </a:lnTo>
                  <a:lnTo>
                    <a:pt x="42" y="29"/>
                  </a:lnTo>
                  <a:lnTo>
                    <a:pt x="36" y="35"/>
                  </a:lnTo>
                  <a:lnTo>
                    <a:pt x="36" y="41"/>
                  </a:lnTo>
                  <a:lnTo>
                    <a:pt x="25" y="47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8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0" name="Freeform 130"/>
            <p:cNvSpPr>
              <a:spLocks/>
            </p:cNvSpPr>
            <p:nvPr/>
          </p:nvSpPr>
          <p:spPr bwMode="auto">
            <a:xfrm>
              <a:off x="3447" y="1515"/>
              <a:ext cx="9" cy="5"/>
            </a:xfrm>
            <a:custGeom>
              <a:avLst/>
              <a:gdLst>
                <a:gd name="T0" fmla="*/ 0 w 19"/>
                <a:gd name="T1" fmla="*/ 0 h 11"/>
                <a:gd name="T2" fmla="*/ 0 w 19"/>
                <a:gd name="T3" fmla="*/ 0 h 11"/>
                <a:gd name="T4" fmla="*/ 0 w 19"/>
                <a:gd name="T5" fmla="*/ 0 h 11"/>
                <a:gd name="T6" fmla="*/ 0 w 19"/>
                <a:gd name="T7" fmla="*/ 0 h 11"/>
                <a:gd name="T8" fmla="*/ 0 w 19"/>
                <a:gd name="T9" fmla="*/ 0 h 11"/>
                <a:gd name="T10" fmla="*/ 0 w 19"/>
                <a:gd name="T11" fmla="*/ 0 h 11"/>
                <a:gd name="T12" fmla="*/ 0 w 19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11"/>
                <a:gd name="T23" fmla="*/ 19 w 19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19" y="5"/>
                  </a:lnTo>
                  <a:lnTo>
                    <a:pt x="13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1" name="Freeform 131"/>
            <p:cNvSpPr>
              <a:spLocks/>
            </p:cNvSpPr>
            <p:nvPr/>
          </p:nvSpPr>
          <p:spPr bwMode="auto">
            <a:xfrm>
              <a:off x="3494" y="1509"/>
              <a:ext cx="14" cy="14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0 w 29"/>
                <a:gd name="T9" fmla="*/ 0 h 29"/>
                <a:gd name="T10" fmla="*/ 0 w 29"/>
                <a:gd name="T11" fmla="*/ 0 h 29"/>
                <a:gd name="T12" fmla="*/ 0 w 29"/>
                <a:gd name="T13" fmla="*/ 0 h 29"/>
                <a:gd name="T14" fmla="*/ 0 w 29"/>
                <a:gd name="T15" fmla="*/ 0 h 29"/>
                <a:gd name="T16" fmla="*/ 0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29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2" name="Freeform 132"/>
            <p:cNvSpPr>
              <a:spLocks/>
            </p:cNvSpPr>
            <p:nvPr/>
          </p:nvSpPr>
          <p:spPr bwMode="auto">
            <a:xfrm>
              <a:off x="3490" y="1505"/>
              <a:ext cx="24" cy="24"/>
            </a:xfrm>
            <a:custGeom>
              <a:avLst/>
              <a:gdLst>
                <a:gd name="T0" fmla="*/ 1 w 47"/>
                <a:gd name="T1" fmla="*/ 1 h 47"/>
                <a:gd name="T2" fmla="*/ 1 w 47"/>
                <a:gd name="T3" fmla="*/ 1 h 47"/>
                <a:gd name="T4" fmla="*/ 1 w 47"/>
                <a:gd name="T5" fmla="*/ 1 h 47"/>
                <a:gd name="T6" fmla="*/ 1 w 47"/>
                <a:gd name="T7" fmla="*/ 1 h 47"/>
                <a:gd name="T8" fmla="*/ 1 w 47"/>
                <a:gd name="T9" fmla="*/ 1 h 47"/>
                <a:gd name="T10" fmla="*/ 1 w 47"/>
                <a:gd name="T11" fmla="*/ 1 h 47"/>
                <a:gd name="T12" fmla="*/ 1 w 47"/>
                <a:gd name="T13" fmla="*/ 1 h 47"/>
                <a:gd name="T14" fmla="*/ 1 w 47"/>
                <a:gd name="T15" fmla="*/ 1 h 47"/>
                <a:gd name="T16" fmla="*/ 1 w 47"/>
                <a:gd name="T17" fmla="*/ 1 h 47"/>
                <a:gd name="T18" fmla="*/ 1 w 47"/>
                <a:gd name="T19" fmla="*/ 1 h 47"/>
                <a:gd name="T20" fmla="*/ 1 w 47"/>
                <a:gd name="T21" fmla="*/ 1 h 47"/>
                <a:gd name="T22" fmla="*/ 1 w 47"/>
                <a:gd name="T23" fmla="*/ 1 h 47"/>
                <a:gd name="T24" fmla="*/ 1 w 47"/>
                <a:gd name="T25" fmla="*/ 1 h 47"/>
                <a:gd name="T26" fmla="*/ 1 w 47"/>
                <a:gd name="T27" fmla="*/ 1 h 47"/>
                <a:gd name="T28" fmla="*/ 1 w 47"/>
                <a:gd name="T29" fmla="*/ 1 h 47"/>
                <a:gd name="T30" fmla="*/ 1 w 47"/>
                <a:gd name="T31" fmla="*/ 1 h 47"/>
                <a:gd name="T32" fmla="*/ 1 w 47"/>
                <a:gd name="T33" fmla="*/ 1 h 47"/>
                <a:gd name="T34" fmla="*/ 1 w 47"/>
                <a:gd name="T35" fmla="*/ 1 h 47"/>
                <a:gd name="T36" fmla="*/ 1 w 47"/>
                <a:gd name="T37" fmla="*/ 1 h 47"/>
                <a:gd name="T38" fmla="*/ 1 w 47"/>
                <a:gd name="T39" fmla="*/ 1 h 47"/>
                <a:gd name="T40" fmla="*/ 1 w 47"/>
                <a:gd name="T41" fmla="*/ 1 h 47"/>
                <a:gd name="T42" fmla="*/ 1 w 47"/>
                <a:gd name="T43" fmla="*/ 1 h 47"/>
                <a:gd name="T44" fmla="*/ 1 w 47"/>
                <a:gd name="T45" fmla="*/ 1 h 47"/>
                <a:gd name="T46" fmla="*/ 1 w 47"/>
                <a:gd name="T47" fmla="*/ 1 h 47"/>
                <a:gd name="T48" fmla="*/ 1 w 47"/>
                <a:gd name="T49" fmla="*/ 1 h 47"/>
                <a:gd name="T50" fmla="*/ 1 w 47"/>
                <a:gd name="T51" fmla="*/ 1 h 47"/>
                <a:gd name="T52" fmla="*/ 1 w 47"/>
                <a:gd name="T53" fmla="*/ 1 h 47"/>
                <a:gd name="T54" fmla="*/ 1 w 47"/>
                <a:gd name="T55" fmla="*/ 1 h 47"/>
                <a:gd name="T56" fmla="*/ 1 w 47"/>
                <a:gd name="T57" fmla="*/ 1 h 47"/>
                <a:gd name="T58" fmla="*/ 1 w 47"/>
                <a:gd name="T59" fmla="*/ 1 h 47"/>
                <a:gd name="T60" fmla="*/ 1 w 47"/>
                <a:gd name="T61" fmla="*/ 1 h 47"/>
                <a:gd name="T62" fmla="*/ 1 w 47"/>
                <a:gd name="T63" fmla="*/ 1 h 47"/>
                <a:gd name="T64" fmla="*/ 1 w 47"/>
                <a:gd name="T65" fmla="*/ 1 h 47"/>
                <a:gd name="T66" fmla="*/ 1 w 47"/>
                <a:gd name="T67" fmla="*/ 1 h 47"/>
                <a:gd name="T68" fmla="*/ 1 w 47"/>
                <a:gd name="T69" fmla="*/ 1 h 47"/>
                <a:gd name="T70" fmla="*/ 0 w 47"/>
                <a:gd name="T71" fmla="*/ 1 h 47"/>
                <a:gd name="T72" fmla="*/ 0 w 47"/>
                <a:gd name="T73" fmla="*/ 1 h 47"/>
                <a:gd name="T74" fmla="*/ 0 w 47"/>
                <a:gd name="T75" fmla="*/ 1 h 47"/>
                <a:gd name="T76" fmla="*/ 1 w 47"/>
                <a:gd name="T77" fmla="*/ 1 h 47"/>
                <a:gd name="T78" fmla="*/ 1 w 47"/>
                <a:gd name="T79" fmla="*/ 1 h 47"/>
                <a:gd name="T80" fmla="*/ 1 w 47"/>
                <a:gd name="T81" fmla="*/ 1 h 47"/>
                <a:gd name="T82" fmla="*/ 1 w 47"/>
                <a:gd name="T83" fmla="*/ 0 h 47"/>
                <a:gd name="T84" fmla="*/ 1 w 47"/>
                <a:gd name="T85" fmla="*/ 0 h 47"/>
                <a:gd name="T86" fmla="*/ 1 w 47"/>
                <a:gd name="T87" fmla="*/ 0 h 47"/>
                <a:gd name="T88" fmla="*/ 1 w 47"/>
                <a:gd name="T89" fmla="*/ 1 h 47"/>
                <a:gd name="T90" fmla="*/ 1 w 47"/>
                <a:gd name="T91" fmla="*/ 1 h 47"/>
                <a:gd name="T92" fmla="*/ 1 w 47"/>
                <a:gd name="T93" fmla="*/ 1 h 47"/>
                <a:gd name="T94" fmla="*/ 1 w 47"/>
                <a:gd name="T95" fmla="*/ 1 h 47"/>
                <a:gd name="T96" fmla="*/ 1 w 47"/>
                <a:gd name="T97" fmla="*/ 1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7"/>
                <a:gd name="T149" fmla="*/ 47 w 47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7">
                  <a:moveTo>
                    <a:pt x="29" y="29"/>
                  </a:moveTo>
                  <a:lnTo>
                    <a:pt x="24" y="18"/>
                  </a:lnTo>
                  <a:lnTo>
                    <a:pt x="29" y="23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18" y="29"/>
                  </a:lnTo>
                  <a:lnTo>
                    <a:pt x="12" y="18"/>
                  </a:lnTo>
                  <a:lnTo>
                    <a:pt x="18" y="23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4" y="23"/>
                  </a:lnTo>
                  <a:lnTo>
                    <a:pt x="29" y="18"/>
                  </a:lnTo>
                  <a:lnTo>
                    <a:pt x="41" y="29"/>
                  </a:lnTo>
                  <a:lnTo>
                    <a:pt x="35" y="35"/>
                  </a:lnTo>
                  <a:lnTo>
                    <a:pt x="35" y="41"/>
                  </a:lnTo>
                  <a:lnTo>
                    <a:pt x="24" y="47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3" name="Freeform 133"/>
            <p:cNvSpPr>
              <a:spLocks/>
            </p:cNvSpPr>
            <p:nvPr/>
          </p:nvSpPr>
          <p:spPr bwMode="auto">
            <a:xfrm>
              <a:off x="3505" y="1515"/>
              <a:ext cx="9" cy="5"/>
            </a:xfrm>
            <a:custGeom>
              <a:avLst/>
              <a:gdLst>
                <a:gd name="T0" fmla="*/ 0 w 18"/>
                <a:gd name="T1" fmla="*/ 0 h 11"/>
                <a:gd name="T2" fmla="*/ 0 w 18"/>
                <a:gd name="T3" fmla="*/ 0 h 11"/>
                <a:gd name="T4" fmla="*/ 0 w 18"/>
                <a:gd name="T5" fmla="*/ 0 h 11"/>
                <a:gd name="T6" fmla="*/ 1 w 18"/>
                <a:gd name="T7" fmla="*/ 0 h 11"/>
                <a:gd name="T8" fmla="*/ 1 w 18"/>
                <a:gd name="T9" fmla="*/ 0 h 11"/>
                <a:gd name="T10" fmla="*/ 1 w 18"/>
                <a:gd name="T11" fmla="*/ 0 h 11"/>
                <a:gd name="T12" fmla="*/ 0 w 18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1"/>
                <a:gd name="T23" fmla="*/ 18 w 18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4" name="Freeform 134"/>
            <p:cNvSpPr>
              <a:spLocks/>
            </p:cNvSpPr>
            <p:nvPr/>
          </p:nvSpPr>
          <p:spPr bwMode="auto">
            <a:xfrm>
              <a:off x="3552" y="1509"/>
              <a:ext cx="14" cy="14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0 w 29"/>
                <a:gd name="T9" fmla="*/ 0 h 29"/>
                <a:gd name="T10" fmla="*/ 0 w 29"/>
                <a:gd name="T11" fmla="*/ 0 h 29"/>
                <a:gd name="T12" fmla="*/ 0 w 29"/>
                <a:gd name="T13" fmla="*/ 0 h 29"/>
                <a:gd name="T14" fmla="*/ 0 w 29"/>
                <a:gd name="T15" fmla="*/ 0 h 29"/>
                <a:gd name="T16" fmla="*/ 0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29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5" name="Freeform 135"/>
            <p:cNvSpPr>
              <a:spLocks/>
            </p:cNvSpPr>
            <p:nvPr/>
          </p:nvSpPr>
          <p:spPr bwMode="auto">
            <a:xfrm>
              <a:off x="3549" y="1505"/>
              <a:ext cx="24" cy="24"/>
            </a:xfrm>
            <a:custGeom>
              <a:avLst/>
              <a:gdLst>
                <a:gd name="T0" fmla="*/ 1 w 47"/>
                <a:gd name="T1" fmla="*/ 1 h 47"/>
                <a:gd name="T2" fmla="*/ 1 w 47"/>
                <a:gd name="T3" fmla="*/ 1 h 47"/>
                <a:gd name="T4" fmla="*/ 1 w 47"/>
                <a:gd name="T5" fmla="*/ 1 h 47"/>
                <a:gd name="T6" fmla="*/ 1 w 47"/>
                <a:gd name="T7" fmla="*/ 1 h 47"/>
                <a:gd name="T8" fmla="*/ 1 w 47"/>
                <a:gd name="T9" fmla="*/ 1 h 47"/>
                <a:gd name="T10" fmla="*/ 1 w 47"/>
                <a:gd name="T11" fmla="*/ 1 h 47"/>
                <a:gd name="T12" fmla="*/ 1 w 47"/>
                <a:gd name="T13" fmla="*/ 1 h 47"/>
                <a:gd name="T14" fmla="*/ 1 w 47"/>
                <a:gd name="T15" fmla="*/ 1 h 47"/>
                <a:gd name="T16" fmla="*/ 1 w 47"/>
                <a:gd name="T17" fmla="*/ 1 h 47"/>
                <a:gd name="T18" fmla="*/ 1 w 47"/>
                <a:gd name="T19" fmla="*/ 1 h 47"/>
                <a:gd name="T20" fmla="*/ 1 w 47"/>
                <a:gd name="T21" fmla="*/ 1 h 47"/>
                <a:gd name="T22" fmla="*/ 1 w 47"/>
                <a:gd name="T23" fmla="*/ 1 h 47"/>
                <a:gd name="T24" fmla="*/ 1 w 47"/>
                <a:gd name="T25" fmla="*/ 1 h 47"/>
                <a:gd name="T26" fmla="*/ 1 w 47"/>
                <a:gd name="T27" fmla="*/ 1 h 47"/>
                <a:gd name="T28" fmla="*/ 1 w 47"/>
                <a:gd name="T29" fmla="*/ 1 h 47"/>
                <a:gd name="T30" fmla="*/ 1 w 47"/>
                <a:gd name="T31" fmla="*/ 1 h 47"/>
                <a:gd name="T32" fmla="*/ 1 w 47"/>
                <a:gd name="T33" fmla="*/ 1 h 47"/>
                <a:gd name="T34" fmla="*/ 1 w 47"/>
                <a:gd name="T35" fmla="*/ 1 h 47"/>
                <a:gd name="T36" fmla="*/ 1 w 47"/>
                <a:gd name="T37" fmla="*/ 1 h 47"/>
                <a:gd name="T38" fmla="*/ 1 w 47"/>
                <a:gd name="T39" fmla="*/ 1 h 47"/>
                <a:gd name="T40" fmla="*/ 1 w 47"/>
                <a:gd name="T41" fmla="*/ 1 h 47"/>
                <a:gd name="T42" fmla="*/ 1 w 47"/>
                <a:gd name="T43" fmla="*/ 1 h 47"/>
                <a:gd name="T44" fmla="*/ 1 w 47"/>
                <a:gd name="T45" fmla="*/ 1 h 47"/>
                <a:gd name="T46" fmla="*/ 1 w 47"/>
                <a:gd name="T47" fmla="*/ 1 h 47"/>
                <a:gd name="T48" fmla="*/ 1 w 47"/>
                <a:gd name="T49" fmla="*/ 1 h 47"/>
                <a:gd name="T50" fmla="*/ 1 w 47"/>
                <a:gd name="T51" fmla="*/ 1 h 47"/>
                <a:gd name="T52" fmla="*/ 1 w 47"/>
                <a:gd name="T53" fmla="*/ 1 h 47"/>
                <a:gd name="T54" fmla="*/ 1 w 47"/>
                <a:gd name="T55" fmla="*/ 1 h 47"/>
                <a:gd name="T56" fmla="*/ 1 w 47"/>
                <a:gd name="T57" fmla="*/ 1 h 47"/>
                <a:gd name="T58" fmla="*/ 1 w 47"/>
                <a:gd name="T59" fmla="*/ 1 h 47"/>
                <a:gd name="T60" fmla="*/ 1 w 47"/>
                <a:gd name="T61" fmla="*/ 1 h 47"/>
                <a:gd name="T62" fmla="*/ 1 w 47"/>
                <a:gd name="T63" fmla="*/ 1 h 47"/>
                <a:gd name="T64" fmla="*/ 1 w 47"/>
                <a:gd name="T65" fmla="*/ 1 h 47"/>
                <a:gd name="T66" fmla="*/ 1 w 47"/>
                <a:gd name="T67" fmla="*/ 1 h 47"/>
                <a:gd name="T68" fmla="*/ 1 w 47"/>
                <a:gd name="T69" fmla="*/ 1 h 47"/>
                <a:gd name="T70" fmla="*/ 0 w 47"/>
                <a:gd name="T71" fmla="*/ 1 h 47"/>
                <a:gd name="T72" fmla="*/ 0 w 47"/>
                <a:gd name="T73" fmla="*/ 1 h 47"/>
                <a:gd name="T74" fmla="*/ 0 w 47"/>
                <a:gd name="T75" fmla="*/ 1 h 47"/>
                <a:gd name="T76" fmla="*/ 1 w 47"/>
                <a:gd name="T77" fmla="*/ 1 h 47"/>
                <a:gd name="T78" fmla="*/ 1 w 47"/>
                <a:gd name="T79" fmla="*/ 1 h 47"/>
                <a:gd name="T80" fmla="*/ 1 w 47"/>
                <a:gd name="T81" fmla="*/ 1 h 47"/>
                <a:gd name="T82" fmla="*/ 1 w 47"/>
                <a:gd name="T83" fmla="*/ 0 h 47"/>
                <a:gd name="T84" fmla="*/ 1 w 47"/>
                <a:gd name="T85" fmla="*/ 0 h 47"/>
                <a:gd name="T86" fmla="*/ 1 w 47"/>
                <a:gd name="T87" fmla="*/ 0 h 47"/>
                <a:gd name="T88" fmla="*/ 1 w 47"/>
                <a:gd name="T89" fmla="*/ 1 h 47"/>
                <a:gd name="T90" fmla="*/ 1 w 47"/>
                <a:gd name="T91" fmla="*/ 1 h 47"/>
                <a:gd name="T92" fmla="*/ 1 w 47"/>
                <a:gd name="T93" fmla="*/ 1 h 47"/>
                <a:gd name="T94" fmla="*/ 1 w 47"/>
                <a:gd name="T95" fmla="*/ 1 h 47"/>
                <a:gd name="T96" fmla="*/ 1 w 47"/>
                <a:gd name="T97" fmla="*/ 1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7"/>
                <a:gd name="T149" fmla="*/ 47 w 47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7">
                  <a:moveTo>
                    <a:pt x="29" y="29"/>
                  </a:moveTo>
                  <a:lnTo>
                    <a:pt x="24" y="18"/>
                  </a:lnTo>
                  <a:lnTo>
                    <a:pt x="29" y="23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18" y="29"/>
                  </a:lnTo>
                  <a:lnTo>
                    <a:pt x="12" y="18"/>
                  </a:lnTo>
                  <a:lnTo>
                    <a:pt x="18" y="23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4" y="23"/>
                  </a:lnTo>
                  <a:lnTo>
                    <a:pt x="29" y="18"/>
                  </a:lnTo>
                  <a:lnTo>
                    <a:pt x="41" y="29"/>
                  </a:lnTo>
                  <a:lnTo>
                    <a:pt x="35" y="35"/>
                  </a:lnTo>
                  <a:lnTo>
                    <a:pt x="35" y="41"/>
                  </a:lnTo>
                  <a:lnTo>
                    <a:pt x="24" y="47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6" name="Freeform 136"/>
            <p:cNvSpPr>
              <a:spLocks/>
            </p:cNvSpPr>
            <p:nvPr/>
          </p:nvSpPr>
          <p:spPr bwMode="auto">
            <a:xfrm>
              <a:off x="3563" y="1515"/>
              <a:ext cx="10" cy="5"/>
            </a:xfrm>
            <a:custGeom>
              <a:avLst/>
              <a:gdLst>
                <a:gd name="T0" fmla="*/ 0 w 18"/>
                <a:gd name="T1" fmla="*/ 0 h 11"/>
                <a:gd name="T2" fmla="*/ 0 w 18"/>
                <a:gd name="T3" fmla="*/ 0 h 11"/>
                <a:gd name="T4" fmla="*/ 0 w 18"/>
                <a:gd name="T5" fmla="*/ 0 h 11"/>
                <a:gd name="T6" fmla="*/ 1 w 18"/>
                <a:gd name="T7" fmla="*/ 0 h 11"/>
                <a:gd name="T8" fmla="*/ 1 w 18"/>
                <a:gd name="T9" fmla="*/ 0 h 11"/>
                <a:gd name="T10" fmla="*/ 1 w 18"/>
                <a:gd name="T11" fmla="*/ 0 h 11"/>
                <a:gd name="T12" fmla="*/ 0 w 18"/>
                <a:gd name="T13" fmla="*/ 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1"/>
                <a:gd name="T23" fmla="*/ 18 w 18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7" name="Freeform 147"/>
            <p:cNvSpPr>
              <a:spLocks/>
            </p:cNvSpPr>
            <p:nvPr/>
          </p:nvSpPr>
          <p:spPr bwMode="auto">
            <a:xfrm>
              <a:off x="3435" y="1777"/>
              <a:ext cx="15" cy="15"/>
            </a:xfrm>
            <a:custGeom>
              <a:avLst/>
              <a:gdLst>
                <a:gd name="T0" fmla="*/ 1 w 30"/>
                <a:gd name="T1" fmla="*/ 1 h 29"/>
                <a:gd name="T2" fmla="*/ 1 w 30"/>
                <a:gd name="T3" fmla="*/ 1 h 29"/>
                <a:gd name="T4" fmla="*/ 1 w 30"/>
                <a:gd name="T5" fmla="*/ 0 h 29"/>
                <a:gd name="T6" fmla="*/ 1 w 30"/>
                <a:gd name="T7" fmla="*/ 1 h 29"/>
                <a:gd name="T8" fmla="*/ 0 w 30"/>
                <a:gd name="T9" fmla="*/ 1 h 29"/>
                <a:gd name="T10" fmla="*/ 1 w 30"/>
                <a:gd name="T11" fmla="*/ 1 h 29"/>
                <a:gd name="T12" fmla="*/ 1 w 30"/>
                <a:gd name="T13" fmla="*/ 1 h 29"/>
                <a:gd name="T14" fmla="*/ 1 w 30"/>
                <a:gd name="T15" fmla="*/ 1 h 29"/>
                <a:gd name="T16" fmla="*/ 1 w 30"/>
                <a:gd name="T17" fmla="*/ 1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9"/>
                <a:gd name="T29" fmla="*/ 30 w 30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9">
                  <a:moveTo>
                    <a:pt x="30" y="17"/>
                  </a:moveTo>
                  <a:lnTo>
                    <a:pt x="23" y="5"/>
                  </a:lnTo>
                  <a:lnTo>
                    <a:pt x="12" y="0"/>
                  </a:lnTo>
                  <a:lnTo>
                    <a:pt x="6" y="5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8" name="Freeform 148"/>
            <p:cNvSpPr>
              <a:spLocks/>
            </p:cNvSpPr>
            <p:nvPr/>
          </p:nvSpPr>
          <p:spPr bwMode="auto">
            <a:xfrm>
              <a:off x="3432" y="1774"/>
              <a:ext cx="24" cy="23"/>
            </a:xfrm>
            <a:custGeom>
              <a:avLst/>
              <a:gdLst>
                <a:gd name="T0" fmla="*/ 1 w 48"/>
                <a:gd name="T1" fmla="*/ 1 h 46"/>
                <a:gd name="T2" fmla="*/ 1 w 48"/>
                <a:gd name="T3" fmla="*/ 1 h 46"/>
                <a:gd name="T4" fmla="*/ 1 w 48"/>
                <a:gd name="T5" fmla="*/ 1 h 46"/>
                <a:gd name="T6" fmla="*/ 1 w 48"/>
                <a:gd name="T7" fmla="*/ 1 h 46"/>
                <a:gd name="T8" fmla="*/ 1 w 48"/>
                <a:gd name="T9" fmla="*/ 1 h 46"/>
                <a:gd name="T10" fmla="*/ 1 w 48"/>
                <a:gd name="T11" fmla="*/ 1 h 46"/>
                <a:gd name="T12" fmla="*/ 1 w 48"/>
                <a:gd name="T13" fmla="*/ 1 h 46"/>
                <a:gd name="T14" fmla="*/ 1 w 48"/>
                <a:gd name="T15" fmla="*/ 1 h 46"/>
                <a:gd name="T16" fmla="*/ 1 w 48"/>
                <a:gd name="T17" fmla="*/ 1 h 46"/>
                <a:gd name="T18" fmla="*/ 1 w 48"/>
                <a:gd name="T19" fmla="*/ 1 h 46"/>
                <a:gd name="T20" fmla="*/ 1 w 48"/>
                <a:gd name="T21" fmla="*/ 1 h 46"/>
                <a:gd name="T22" fmla="*/ 1 w 48"/>
                <a:gd name="T23" fmla="*/ 1 h 46"/>
                <a:gd name="T24" fmla="*/ 1 w 48"/>
                <a:gd name="T25" fmla="*/ 1 h 46"/>
                <a:gd name="T26" fmla="*/ 1 w 48"/>
                <a:gd name="T27" fmla="*/ 1 h 46"/>
                <a:gd name="T28" fmla="*/ 1 w 48"/>
                <a:gd name="T29" fmla="*/ 1 h 46"/>
                <a:gd name="T30" fmla="*/ 1 w 48"/>
                <a:gd name="T31" fmla="*/ 1 h 46"/>
                <a:gd name="T32" fmla="*/ 1 w 48"/>
                <a:gd name="T33" fmla="*/ 1 h 46"/>
                <a:gd name="T34" fmla="*/ 1 w 48"/>
                <a:gd name="T35" fmla="*/ 1 h 46"/>
                <a:gd name="T36" fmla="*/ 1 w 48"/>
                <a:gd name="T37" fmla="*/ 1 h 46"/>
                <a:gd name="T38" fmla="*/ 1 w 48"/>
                <a:gd name="T39" fmla="*/ 1 h 46"/>
                <a:gd name="T40" fmla="*/ 1 w 48"/>
                <a:gd name="T41" fmla="*/ 1 h 46"/>
                <a:gd name="T42" fmla="*/ 1 w 48"/>
                <a:gd name="T43" fmla="*/ 1 h 46"/>
                <a:gd name="T44" fmla="*/ 1 w 48"/>
                <a:gd name="T45" fmla="*/ 1 h 46"/>
                <a:gd name="T46" fmla="*/ 1 w 48"/>
                <a:gd name="T47" fmla="*/ 1 h 46"/>
                <a:gd name="T48" fmla="*/ 1 w 48"/>
                <a:gd name="T49" fmla="*/ 1 h 46"/>
                <a:gd name="T50" fmla="*/ 1 w 48"/>
                <a:gd name="T51" fmla="*/ 1 h 46"/>
                <a:gd name="T52" fmla="*/ 1 w 48"/>
                <a:gd name="T53" fmla="*/ 1 h 46"/>
                <a:gd name="T54" fmla="*/ 1 w 48"/>
                <a:gd name="T55" fmla="*/ 1 h 46"/>
                <a:gd name="T56" fmla="*/ 1 w 48"/>
                <a:gd name="T57" fmla="*/ 1 h 46"/>
                <a:gd name="T58" fmla="*/ 1 w 48"/>
                <a:gd name="T59" fmla="*/ 1 h 46"/>
                <a:gd name="T60" fmla="*/ 1 w 48"/>
                <a:gd name="T61" fmla="*/ 1 h 46"/>
                <a:gd name="T62" fmla="*/ 1 w 48"/>
                <a:gd name="T63" fmla="*/ 1 h 46"/>
                <a:gd name="T64" fmla="*/ 1 w 48"/>
                <a:gd name="T65" fmla="*/ 1 h 46"/>
                <a:gd name="T66" fmla="*/ 1 w 48"/>
                <a:gd name="T67" fmla="*/ 1 h 46"/>
                <a:gd name="T68" fmla="*/ 1 w 48"/>
                <a:gd name="T69" fmla="*/ 1 h 46"/>
                <a:gd name="T70" fmla="*/ 0 w 48"/>
                <a:gd name="T71" fmla="*/ 1 h 46"/>
                <a:gd name="T72" fmla="*/ 0 w 48"/>
                <a:gd name="T73" fmla="*/ 1 h 46"/>
                <a:gd name="T74" fmla="*/ 0 w 48"/>
                <a:gd name="T75" fmla="*/ 1 h 46"/>
                <a:gd name="T76" fmla="*/ 1 w 48"/>
                <a:gd name="T77" fmla="*/ 1 h 46"/>
                <a:gd name="T78" fmla="*/ 1 w 48"/>
                <a:gd name="T79" fmla="*/ 1 h 46"/>
                <a:gd name="T80" fmla="*/ 1 w 48"/>
                <a:gd name="T81" fmla="*/ 1 h 46"/>
                <a:gd name="T82" fmla="*/ 1 w 48"/>
                <a:gd name="T83" fmla="*/ 0 h 46"/>
                <a:gd name="T84" fmla="*/ 1 w 48"/>
                <a:gd name="T85" fmla="*/ 0 h 46"/>
                <a:gd name="T86" fmla="*/ 1 w 48"/>
                <a:gd name="T87" fmla="*/ 0 h 46"/>
                <a:gd name="T88" fmla="*/ 1 w 48"/>
                <a:gd name="T89" fmla="*/ 1 h 46"/>
                <a:gd name="T90" fmla="*/ 1 w 48"/>
                <a:gd name="T91" fmla="*/ 1 h 46"/>
                <a:gd name="T92" fmla="*/ 1 w 48"/>
                <a:gd name="T93" fmla="*/ 1 h 46"/>
                <a:gd name="T94" fmla="*/ 1 w 48"/>
                <a:gd name="T95" fmla="*/ 1 h 46"/>
                <a:gd name="T96" fmla="*/ 1 w 48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46"/>
                <a:gd name="T149" fmla="*/ 48 w 48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46">
                  <a:moveTo>
                    <a:pt x="29" y="29"/>
                  </a:moveTo>
                  <a:lnTo>
                    <a:pt x="25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5" y="11"/>
                  </a:lnTo>
                  <a:lnTo>
                    <a:pt x="18" y="17"/>
                  </a:lnTo>
                  <a:lnTo>
                    <a:pt x="25" y="17"/>
                  </a:lnTo>
                  <a:lnTo>
                    <a:pt x="18" y="29"/>
                  </a:lnTo>
                  <a:lnTo>
                    <a:pt x="12" y="17"/>
                  </a:lnTo>
                  <a:lnTo>
                    <a:pt x="18" y="23"/>
                  </a:lnTo>
                  <a:lnTo>
                    <a:pt x="25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5" y="23"/>
                  </a:lnTo>
                  <a:lnTo>
                    <a:pt x="29" y="17"/>
                  </a:lnTo>
                  <a:lnTo>
                    <a:pt x="42" y="29"/>
                  </a:lnTo>
                  <a:lnTo>
                    <a:pt x="36" y="35"/>
                  </a:lnTo>
                  <a:lnTo>
                    <a:pt x="36" y="40"/>
                  </a:lnTo>
                  <a:lnTo>
                    <a:pt x="25" y="46"/>
                  </a:lnTo>
                  <a:lnTo>
                    <a:pt x="12" y="40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6"/>
                  </a:lnTo>
                  <a:lnTo>
                    <a:pt x="42" y="11"/>
                  </a:lnTo>
                  <a:lnTo>
                    <a:pt x="48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09" name="Freeform 149"/>
            <p:cNvSpPr>
              <a:spLocks/>
            </p:cNvSpPr>
            <p:nvPr/>
          </p:nvSpPr>
          <p:spPr bwMode="auto">
            <a:xfrm>
              <a:off x="3447" y="1783"/>
              <a:ext cx="9" cy="6"/>
            </a:xfrm>
            <a:custGeom>
              <a:avLst/>
              <a:gdLst>
                <a:gd name="T0" fmla="*/ 0 w 19"/>
                <a:gd name="T1" fmla="*/ 0 h 12"/>
                <a:gd name="T2" fmla="*/ 0 w 19"/>
                <a:gd name="T3" fmla="*/ 0 h 12"/>
                <a:gd name="T4" fmla="*/ 0 w 19"/>
                <a:gd name="T5" fmla="*/ 1 h 12"/>
                <a:gd name="T6" fmla="*/ 0 w 19"/>
                <a:gd name="T7" fmla="*/ 1 h 12"/>
                <a:gd name="T8" fmla="*/ 0 w 19"/>
                <a:gd name="T9" fmla="*/ 1 h 12"/>
                <a:gd name="T10" fmla="*/ 0 w 19"/>
                <a:gd name="T11" fmla="*/ 1 h 12"/>
                <a:gd name="T12" fmla="*/ 0 w 19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12"/>
                <a:gd name="T23" fmla="*/ 19 w 19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12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9" y="6"/>
                  </a:lnTo>
                  <a:lnTo>
                    <a:pt x="13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0" name="Freeform 150"/>
            <p:cNvSpPr>
              <a:spLocks/>
            </p:cNvSpPr>
            <p:nvPr/>
          </p:nvSpPr>
          <p:spPr bwMode="auto">
            <a:xfrm>
              <a:off x="3494" y="1777"/>
              <a:ext cx="14" cy="15"/>
            </a:xfrm>
            <a:custGeom>
              <a:avLst/>
              <a:gdLst>
                <a:gd name="T0" fmla="*/ 0 w 29"/>
                <a:gd name="T1" fmla="*/ 1 h 29"/>
                <a:gd name="T2" fmla="*/ 0 w 29"/>
                <a:gd name="T3" fmla="*/ 1 h 29"/>
                <a:gd name="T4" fmla="*/ 0 w 29"/>
                <a:gd name="T5" fmla="*/ 0 h 29"/>
                <a:gd name="T6" fmla="*/ 0 w 29"/>
                <a:gd name="T7" fmla="*/ 1 h 29"/>
                <a:gd name="T8" fmla="*/ 0 w 29"/>
                <a:gd name="T9" fmla="*/ 1 h 29"/>
                <a:gd name="T10" fmla="*/ 0 w 29"/>
                <a:gd name="T11" fmla="*/ 1 h 29"/>
                <a:gd name="T12" fmla="*/ 0 w 29"/>
                <a:gd name="T13" fmla="*/ 1 h 29"/>
                <a:gd name="T14" fmla="*/ 0 w 29"/>
                <a:gd name="T15" fmla="*/ 1 h 29"/>
                <a:gd name="T16" fmla="*/ 0 w 29"/>
                <a:gd name="T17" fmla="*/ 1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29" y="17"/>
                  </a:moveTo>
                  <a:lnTo>
                    <a:pt x="23" y="5"/>
                  </a:lnTo>
                  <a:lnTo>
                    <a:pt x="12" y="0"/>
                  </a:lnTo>
                  <a:lnTo>
                    <a:pt x="6" y="5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1" name="Freeform 151"/>
            <p:cNvSpPr>
              <a:spLocks/>
            </p:cNvSpPr>
            <p:nvPr/>
          </p:nvSpPr>
          <p:spPr bwMode="auto">
            <a:xfrm>
              <a:off x="3490" y="1774"/>
              <a:ext cx="24" cy="23"/>
            </a:xfrm>
            <a:custGeom>
              <a:avLst/>
              <a:gdLst>
                <a:gd name="T0" fmla="*/ 1 w 47"/>
                <a:gd name="T1" fmla="*/ 1 h 46"/>
                <a:gd name="T2" fmla="*/ 1 w 47"/>
                <a:gd name="T3" fmla="*/ 1 h 46"/>
                <a:gd name="T4" fmla="*/ 1 w 47"/>
                <a:gd name="T5" fmla="*/ 1 h 46"/>
                <a:gd name="T6" fmla="*/ 1 w 47"/>
                <a:gd name="T7" fmla="*/ 1 h 46"/>
                <a:gd name="T8" fmla="*/ 1 w 47"/>
                <a:gd name="T9" fmla="*/ 1 h 46"/>
                <a:gd name="T10" fmla="*/ 1 w 47"/>
                <a:gd name="T11" fmla="*/ 1 h 46"/>
                <a:gd name="T12" fmla="*/ 1 w 47"/>
                <a:gd name="T13" fmla="*/ 1 h 46"/>
                <a:gd name="T14" fmla="*/ 1 w 47"/>
                <a:gd name="T15" fmla="*/ 1 h 46"/>
                <a:gd name="T16" fmla="*/ 1 w 47"/>
                <a:gd name="T17" fmla="*/ 1 h 46"/>
                <a:gd name="T18" fmla="*/ 1 w 47"/>
                <a:gd name="T19" fmla="*/ 1 h 46"/>
                <a:gd name="T20" fmla="*/ 1 w 47"/>
                <a:gd name="T21" fmla="*/ 1 h 46"/>
                <a:gd name="T22" fmla="*/ 1 w 47"/>
                <a:gd name="T23" fmla="*/ 1 h 46"/>
                <a:gd name="T24" fmla="*/ 1 w 47"/>
                <a:gd name="T25" fmla="*/ 1 h 46"/>
                <a:gd name="T26" fmla="*/ 1 w 47"/>
                <a:gd name="T27" fmla="*/ 1 h 46"/>
                <a:gd name="T28" fmla="*/ 1 w 47"/>
                <a:gd name="T29" fmla="*/ 1 h 46"/>
                <a:gd name="T30" fmla="*/ 1 w 47"/>
                <a:gd name="T31" fmla="*/ 1 h 46"/>
                <a:gd name="T32" fmla="*/ 1 w 47"/>
                <a:gd name="T33" fmla="*/ 1 h 46"/>
                <a:gd name="T34" fmla="*/ 1 w 47"/>
                <a:gd name="T35" fmla="*/ 1 h 46"/>
                <a:gd name="T36" fmla="*/ 1 w 47"/>
                <a:gd name="T37" fmla="*/ 1 h 46"/>
                <a:gd name="T38" fmla="*/ 1 w 47"/>
                <a:gd name="T39" fmla="*/ 1 h 46"/>
                <a:gd name="T40" fmla="*/ 1 w 47"/>
                <a:gd name="T41" fmla="*/ 1 h 46"/>
                <a:gd name="T42" fmla="*/ 1 w 47"/>
                <a:gd name="T43" fmla="*/ 1 h 46"/>
                <a:gd name="T44" fmla="*/ 1 w 47"/>
                <a:gd name="T45" fmla="*/ 1 h 46"/>
                <a:gd name="T46" fmla="*/ 1 w 47"/>
                <a:gd name="T47" fmla="*/ 1 h 46"/>
                <a:gd name="T48" fmla="*/ 1 w 47"/>
                <a:gd name="T49" fmla="*/ 1 h 46"/>
                <a:gd name="T50" fmla="*/ 1 w 47"/>
                <a:gd name="T51" fmla="*/ 1 h 46"/>
                <a:gd name="T52" fmla="*/ 1 w 47"/>
                <a:gd name="T53" fmla="*/ 1 h 46"/>
                <a:gd name="T54" fmla="*/ 1 w 47"/>
                <a:gd name="T55" fmla="*/ 1 h 46"/>
                <a:gd name="T56" fmla="*/ 1 w 47"/>
                <a:gd name="T57" fmla="*/ 1 h 46"/>
                <a:gd name="T58" fmla="*/ 1 w 47"/>
                <a:gd name="T59" fmla="*/ 1 h 46"/>
                <a:gd name="T60" fmla="*/ 1 w 47"/>
                <a:gd name="T61" fmla="*/ 1 h 46"/>
                <a:gd name="T62" fmla="*/ 1 w 47"/>
                <a:gd name="T63" fmla="*/ 1 h 46"/>
                <a:gd name="T64" fmla="*/ 1 w 47"/>
                <a:gd name="T65" fmla="*/ 1 h 46"/>
                <a:gd name="T66" fmla="*/ 1 w 47"/>
                <a:gd name="T67" fmla="*/ 1 h 46"/>
                <a:gd name="T68" fmla="*/ 1 w 47"/>
                <a:gd name="T69" fmla="*/ 1 h 46"/>
                <a:gd name="T70" fmla="*/ 0 w 47"/>
                <a:gd name="T71" fmla="*/ 1 h 46"/>
                <a:gd name="T72" fmla="*/ 0 w 47"/>
                <a:gd name="T73" fmla="*/ 1 h 46"/>
                <a:gd name="T74" fmla="*/ 0 w 47"/>
                <a:gd name="T75" fmla="*/ 1 h 46"/>
                <a:gd name="T76" fmla="*/ 1 w 47"/>
                <a:gd name="T77" fmla="*/ 1 h 46"/>
                <a:gd name="T78" fmla="*/ 1 w 47"/>
                <a:gd name="T79" fmla="*/ 1 h 46"/>
                <a:gd name="T80" fmla="*/ 1 w 47"/>
                <a:gd name="T81" fmla="*/ 1 h 46"/>
                <a:gd name="T82" fmla="*/ 1 w 47"/>
                <a:gd name="T83" fmla="*/ 0 h 46"/>
                <a:gd name="T84" fmla="*/ 1 w 47"/>
                <a:gd name="T85" fmla="*/ 0 h 46"/>
                <a:gd name="T86" fmla="*/ 1 w 47"/>
                <a:gd name="T87" fmla="*/ 0 h 46"/>
                <a:gd name="T88" fmla="*/ 1 w 47"/>
                <a:gd name="T89" fmla="*/ 1 h 46"/>
                <a:gd name="T90" fmla="*/ 1 w 47"/>
                <a:gd name="T91" fmla="*/ 1 h 46"/>
                <a:gd name="T92" fmla="*/ 1 w 47"/>
                <a:gd name="T93" fmla="*/ 1 h 46"/>
                <a:gd name="T94" fmla="*/ 1 w 47"/>
                <a:gd name="T95" fmla="*/ 1 h 46"/>
                <a:gd name="T96" fmla="*/ 1 w 47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6"/>
                <a:gd name="T149" fmla="*/ 47 w 47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6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17"/>
                  </a:lnTo>
                  <a:lnTo>
                    <a:pt x="18" y="23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4" y="23"/>
                  </a:lnTo>
                  <a:lnTo>
                    <a:pt x="29" y="17"/>
                  </a:lnTo>
                  <a:lnTo>
                    <a:pt x="41" y="29"/>
                  </a:lnTo>
                  <a:lnTo>
                    <a:pt x="35" y="35"/>
                  </a:lnTo>
                  <a:lnTo>
                    <a:pt x="35" y="40"/>
                  </a:lnTo>
                  <a:lnTo>
                    <a:pt x="24" y="46"/>
                  </a:lnTo>
                  <a:lnTo>
                    <a:pt x="12" y="40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1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2" name="Freeform 152"/>
            <p:cNvSpPr>
              <a:spLocks/>
            </p:cNvSpPr>
            <p:nvPr/>
          </p:nvSpPr>
          <p:spPr bwMode="auto">
            <a:xfrm>
              <a:off x="3505" y="1783"/>
              <a:ext cx="9" cy="6"/>
            </a:xfrm>
            <a:custGeom>
              <a:avLst/>
              <a:gdLst>
                <a:gd name="T0" fmla="*/ 0 w 18"/>
                <a:gd name="T1" fmla="*/ 0 h 12"/>
                <a:gd name="T2" fmla="*/ 0 w 18"/>
                <a:gd name="T3" fmla="*/ 0 h 12"/>
                <a:gd name="T4" fmla="*/ 0 w 18"/>
                <a:gd name="T5" fmla="*/ 1 h 12"/>
                <a:gd name="T6" fmla="*/ 1 w 18"/>
                <a:gd name="T7" fmla="*/ 1 h 12"/>
                <a:gd name="T8" fmla="*/ 1 w 18"/>
                <a:gd name="T9" fmla="*/ 1 h 12"/>
                <a:gd name="T10" fmla="*/ 1 w 18"/>
                <a:gd name="T11" fmla="*/ 1 h 12"/>
                <a:gd name="T12" fmla="*/ 0 w 1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2"/>
                <a:gd name="T23" fmla="*/ 18 w 18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2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3" name="Freeform 153"/>
            <p:cNvSpPr>
              <a:spLocks/>
            </p:cNvSpPr>
            <p:nvPr/>
          </p:nvSpPr>
          <p:spPr bwMode="auto">
            <a:xfrm>
              <a:off x="3552" y="1777"/>
              <a:ext cx="14" cy="15"/>
            </a:xfrm>
            <a:custGeom>
              <a:avLst/>
              <a:gdLst>
                <a:gd name="T0" fmla="*/ 0 w 29"/>
                <a:gd name="T1" fmla="*/ 1 h 29"/>
                <a:gd name="T2" fmla="*/ 0 w 29"/>
                <a:gd name="T3" fmla="*/ 1 h 29"/>
                <a:gd name="T4" fmla="*/ 0 w 29"/>
                <a:gd name="T5" fmla="*/ 0 h 29"/>
                <a:gd name="T6" fmla="*/ 0 w 29"/>
                <a:gd name="T7" fmla="*/ 1 h 29"/>
                <a:gd name="T8" fmla="*/ 0 w 29"/>
                <a:gd name="T9" fmla="*/ 1 h 29"/>
                <a:gd name="T10" fmla="*/ 0 w 29"/>
                <a:gd name="T11" fmla="*/ 1 h 29"/>
                <a:gd name="T12" fmla="*/ 0 w 29"/>
                <a:gd name="T13" fmla="*/ 1 h 29"/>
                <a:gd name="T14" fmla="*/ 0 w 29"/>
                <a:gd name="T15" fmla="*/ 1 h 29"/>
                <a:gd name="T16" fmla="*/ 0 w 29"/>
                <a:gd name="T17" fmla="*/ 1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29" y="17"/>
                  </a:moveTo>
                  <a:lnTo>
                    <a:pt x="23" y="5"/>
                  </a:lnTo>
                  <a:lnTo>
                    <a:pt x="12" y="0"/>
                  </a:lnTo>
                  <a:lnTo>
                    <a:pt x="6" y="5"/>
                  </a:lnTo>
                  <a:lnTo>
                    <a:pt x="0" y="17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23" y="23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4" name="Freeform 154"/>
            <p:cNvSpPr>
              <a:spLocks/>
            </p:cNvSpPr>
            <p:nvPr/>
          </p:nvSpPr>
          <p:spPr bwMode="auto">
            <a:xfrm>
              <a:off x="3549" y="1774"/>
              <a:ext cx="24" cy="23"/>
            </a:xfrm>
            <a:custGeom>
              <a:avLst/>
              <a:gdLst>
                <a:gd name="T0" fmla="*/ 1 w 47"/>
                <a:gd name="T1" fmla="*/ 1 h 46"/>
                <a:gd name="T2" fmla="*/ 1 w 47"/>
                <a:gd name="T3" fmla="*/ 1 h 46"/>
                <a:gd name="T4" fmla="*/ 1 w 47"/>
                <a:gd name="T5" fmla="*/ 1 h 46"/>
                <a:gd name="T6" fmla="*/ 1 w 47"/>
                <a:gd name="T7" fmla="*/ 1 h 46"/>
                <a:gd name="T8" fmla="*/ 1 w 47"/>
                <a:gd name="T9" fmla="*/ 1 h 46"/>
                <a:gd name="T10" fmla="*/ 1 w 47"/>
                <a:gd name="T11" fmla="*/ 1 h 46"/>
                <a:gd name="T12" fmla="*/ 1 w 47"/>
                <a:gd name="T13" fmla="*/ 1 h 46"/>
                <a:gd name="T14" fmla="*/ 1 w 47"/>
                <a:gd name="T15" fmla="*/ 1 h 46"/>
                <a:gd name="T16" fmla="*/ 1 w 47"/>
                <a:gd name="T17" fmla="*/ 1 h 46"/>
                <a:gd name="T18" fmla="*/ 1 w 47"/>
                <a:gd name="T19" fmla="*/ 1 h 46"/>
                <a:gd name="T20" fmla="*/ 1 w 47"/>
                <a:gd name="T21" fmla="*/ 1 h 46"/>
                <a:gd name="T22" fmla="*/ 1 w 47"/>
                <a:gd name="T23" fmla="*/ 1 h 46"/>
                <a:gd name="T24" fmla="*/ 1 w 47"/>
                <a:gd name="T25" fmla="*/ 1 h 46"/>
                <a:gd name="T26" fmla="*/ 1 w 47"/>
                <a:gd name="T27" fmla="*/ 1 h 46"/>
                <a:gd name="T28" fmla="*/ 1 w 47"/>
                <a:gd name="T29" fmla="*/ 1 h 46"/>
                <a:gd name="T30" fmla="*/ 1 w 47"/>
                <a:gd name="T31" fmla="*/ 1 h 46"/>
                <a:gd name="T32" fmla="*/ 1 w 47"/>
                <a:gd name="T33" fmla="*/ 1 h 46"/>
                <a:gd name="T34" fmla="*/ 1 w 47"/>
                <a:gd name="T35" fmla="*/ 1 h 46"/>
                <a:gd name="T36" fmla="*/ 1 w 47"/>
                <a:gd name="T37" fmla="*/ 1 h 46"/>
                <a:gd name="T38" fmla="*/ 1 w 47"/>
                <a:gd name="T39" fmla="*/ 1 h 46"/>
                <a:gd name="T40" fmla="*/ 1 w 47"/>
                <a:gd name="T41" fmla="*/ 1 h 46"/>
                <a:gd name="T42" fmla="*/ 1 w 47"/>
                <a:gd name="T43" fmla="*/ 1 h 46"/>
                <a:gd name="T44" fmla="*/ 1 w 47"/>
                <a:gd name="T45" fmla="*/ 1 h 46"/>
                <a:gd name="T46" fmla="*/ 1 w 47"/>
                <a:gd name="T47" fmla="*/ 1 h 46"/>
                <a:gd name="T48" fmla="*/ 1 w 47"/>
                <a:gd name="T49" fmla="*/ 1 h 46"/>
                <a:gd name="T50" fmla="*/ 1 w 47"/>
                <a:gd name="T51" fmla="*/ 1 h 46"/>
                <a:gd name="T52" fmla="*/ 1 w 47"/>
                <a:gd name="T53" fmla="*/ 1 h 46"/>
                <a:gd name="T54" fmla="*/ 1 w 47"/>
                <a:gd name="T55" fmla="*/ 1 h 46"/>
                <a:gd name="T56" fmla="*/ 1 w 47"/>
                <a:gd name="T57" fmla="*/ 1 h 46"/>
                <a:gd name="T58" fmla="*/ 1 w 47"/>
                <a:gd name="T59" fmla="*/ 1 h 46"/>
                <a:gd name="T60" fmla="*/ 1 w 47"/>
                <a:gd name="T61" fmla="*/ 1 h 46"/>
                <a:gd name="T62" fmla="*/ 1 w 47"/>
                <a:gd name="T63" fmla="*/ 1 h 46"/>
                <a:gd name="T64" fmla="*/ 1 w 47"/>
                <a:gd name="T65" fmla="*/ 1 h 46"/>
                <a:gd name="T66" fmla="*/ 1 w 47"/>
                <a:gd name="T67" fmla="*/ 1 h 46"/>
                <a:gd name="T68" fmla="*/ 1 w 47"/>
                <a:gd name="T69" fmla="*/ 1 h 46"/>
                <a:gd name="T70" fmla="*/ 0 w 47"/>
                <a:gd name="T71" fmla="*/ 1 h 46"/>
                <a:gd name="T72" fmla="*/ 0 w 47"/>
                <a:gd name="T73" fmla="*/ 1 h 46"/>
                <a:gd name="T74" fmla="*/ 0 w 47"/>
                <a:gd name="T75" fmla="*/ 1 h 46"/>
                <a:gd name="T76" fmla="*/ 1 w 47"/>
                <a:gd name="T77" fmla="*/ 1 h 46"/>
                <a:gd name="T78" fmla="*/ 1 w 47"/>
                <a:gd name="T79" fmla="*/ 1 h 46"/>
                <a:gd name="T80" fmla="*/ 1 w 47"/>
                <a:gd name="T81" fmla="*/ 1 h 46"/>
                <a:gd name="T82" fmla="*/ 1 w 47"/>
                <a:gd name="T83" fmla="*/ 0 h 46"/>
                <a:gd name="T84" fmla="*/ 1 w 47"/>
                <a:gd name="T85" fmla="*/ 0 h 46"/>
                <a:gd name="T86" fmla="*/ 1 w 47"/>
                <a:gd name="T87" fmla="*/ 0 h 46"/>
                <a:gd name="T88" fmla="*/ 1 w 47"/>
                <a:gd name="T89" fmla="*/ 1 h 46"/>
                <a:gd name="T90" fmla="*/ 1 w 47"/>
                <a:gd name="T91" fmla="*/ 1 h 46"/>
                <a:gd name="T92" fmla="*/ 1 w 47"/>
                <a:gd name="T93" fmla="*/ 1 h 46"/>
                <a:gd name="T94" fmla="*/ 1 w 47"/>
                <a:gd name="T95" fmla="*/ 1 h 46"/>
                <a:gd name="T96" fmla="*/ 1 w 47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6"/>
                <a:gd name="T149" fmla="*/ 47 w 47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6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17"/>
                  </a:lnTo>
                  <a:lnTo>
                    <a:pt x="18" y="23"/>
                  </a:lnTo>
                  <a:lnTo>
                    <a:pt x="24" y="29"/>
                  </a:lnTo>
                  <a:lnTo>
                    <a:pt x="18" y="29"/>
                  </a:lnTo>
                  <a:lnTo>
                    <a:pt x="29" y="23"/>
                  </a:lnTo>
                  <a:lnTo>
                    <a:pt x="24" y="23"/>
                  </a:lnTo>
                  <a:lnTo>
                    <a:pt x="29" y="17"/>
                  </a:lnTo>
                  <a:lnTo>
                    <a:pt x="41" y="29"/>
                  </a:lnTo>
                  <a:lnTo>
                    <a:pt x="35" y="35"/>
                  </a:lnTo>
                  <a:lnTo>
                    <a:pt x="35" y="40"/>
                  </a:lnTo>
                  <a:lnTo>
                    <a:pt x="24" y="46"/>
                  </a:lnTo>
                  <a:lnTo>
                    <a:pt x="12" y="40"/>
                  </a:lnTo>
                  <a:lnTo>
                    <a:pt x="6" y="35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1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5" name="Freeform 155"/>
            <p:cNvSpPr>
              <a:spLocks/>
            </p:cNvSpPr>
            <p:nvPr/>
          </p:nvSpPr>
          <p:spPr bwMode="auto">
            <a:xfrm>
              <a:off x="3563" y="1783"/>
              <a:ext cx="10" cy="6"/>
            </a:xfrm>
            <a:custGeom>
              <a:avLst/>
              <a:gdLst>
                <a:gd name="T0" fmla="*/ 0 w 18"/>
                <a:gd name="T1" fmla="*/ 0 h 12"/>
                <a:gd name="T2" fmla="*/ 0 w 18"/>
                <a:gd name="T3" fmla="*/ 0 h 12"/>
                <a:gd name="T4" fmla="*/ 0 w 18"/>
                <a:gd name="T5" fmla="*/ 1 h 12"/>
                <a:gd name="T6" fmla="*/ 1 w 18"/>
                <a:gd name="T7" fmla="*/ 1 h 12"/>
                <a:gd name="T8" fmla="*/ 1 w 18"/>
                <a:gd name="T9" fmla="*/ 1 h 12"/>
                <a:gd name="T10" fmla="*/ 1 w 18"/>
                <a:gd name="T11" fmla="*/ 1 h 12"/>
                <a:gd name="T12" fmla="*/ 0 w 18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2"/>
                <a:gd name="T23" fmla="*/ 18 w 18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2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6" name="Freeform 156"/>
            <p:cNvSpPr>
              <a:spLocks/>
            </p:cNvSpPr>
            <p:nvPr/>
          </p:nvSpPr>
          <p:spPr bwMode="auto">
            <a:xfrm>
              <a:off x="3435" y="3603"/>
              <a:ext cx="15" cy="17"/>
            </a:xfrm>
            <a:custGeom>
              <a:avLst/>
              <a:gdLst>
                <a:gd name="T0" fmla="*/ 1 w 30"/>
                <a:gd name="T1" fmla="*/ 0 h 35"/>
                <a:gd name="T2" fmla="*/ 1 w 30"/>
                <a:gd name="T3" fmla="*/ 0 h 35"/>
                <a:gd name="T4" fmla="*/ 1 w 30"/>
                <a:gd name="T5" fmla="*/ 0 h 35"/>
                <a:gd name="T6" fmla="*/ 1 w 30"/>
                <a:gd name="T7" fmla="*/ 0 h 35"/>
                <a:gd name="T8" fmla="*/ 0 w 30"/>
                <a:gd name="T9" fmla="*/ 0 h 35"/>
                <a:gd name="T10" fmla="*/ 1 w 30"/>
                <a:gd name="T11" fmla="*/ 0 h 35"/>
                <a:gd name="T12" fmla="*/ 1 w 30"/>
                <a:gd name="T13" fmla="*/ 0 h 35"/>
                <a:gd name="T14" fmla="*/ 1 w 30"/>
                <a:gd name="T15" fmla="*/ 0 h 35"/>
                <a:gd name="T16" fmla="*/ 1 w 30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5"/>
                <a:gd name="T29" fmla="*/ 30 w 30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5">
                  <a:moveTo>
                    <a:pt x="30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7" name="Freeform 157"/>
            <p:cNvSpPr>
              <a:spLocks/>
            </p:cNvSpPr>
            <p:nvPr/>
          </p:nvSpPr>
          <p:spPr bwMode="auto">
            <a:xfrm>
              <a:off x="3432" y="3600"/>
              <a:ext cx="24" cy="26"/>
            </a:xfrm>
            <a:custGeom>
              <a:avLst/>
              <a:gdLst>
                <a:gd name="T0" fmla="*/ 1 w 48"/>
                <a:gd name="T1" fmla="*/ 0 h 53"/>
                <a:gd name="T2" fmla="*/ 1 w 48"/>
                <a:gd name="T3" fmla="*/ 0 h 53"/>
                <a:gd name="T4" fmla="*/ 1 w 48"/>
                <a:gd name="T5" fmla="*/ 0 h 53"/>
                <a:gd name="T6" fmla="*/ 1 w 48"/>
                <a:gd name="T7" fmla="*/ 0 h 53"/>
                <a:gd name="T8" fmla="*/ 1 w 48"/>
                <a:gd name="T9" fmla="*/ 0 h 53"/>
                <a:gd name="T10" fmla="*/ 1 w 48"/>
                <a:gd name="T11" fmla="*/ 0 h 53"/>
                <a:gd name="T12" fmla="*/ 1 w 48"/>
                <a:gd name="T13" fmla="*/ 0 h 53"/>
                <a:gd name="T14" fmla="*/ 1 w 48"/>
                <a:gd name="T15" fmla="*/ 0 h 53"/>
                <a:gd name="T16" fmla="*/ 1 w 48"/>
                <a:gd name="T17" fmla="*/ 0 h 53"/>
                <a:gd name="T18" fmla="*/ 1 w 48"/>
                <a:gd name="T19" fmla="*/ 0 h 53"/>
                <a:gd name="T20" fmla="*/ 1 w 48"/>
                <a:gd name="T21" fmla="*/ 0 h 53"/>
                <a:gd name="T22" fmla="*/ 1 w 48"/>
                <a:gd name="T23" fmla="*/ 0 h 53"/>
                <a:gd name="T24" fmla="*/ 1 w 48"/>
                <a:gd name="T25" fmla="*/ 0 h 53"/>
                <a:gd name="T26" fmla="*/ 1 w 48"/>
                <a:gd name="T27" fmla="*/ 0 h 53"/>
                <a:gd name="T28" fmla="*/ 1 w 48"/>
                <a:gd name="T29" fmla="*/ 0 h 53"/>
                <a:gd name="T30" fmla="*/ 1 w 48"/>
                <a:gd name="T31" fmla="*/ 0 h 53"/>
                <a:gd name="T32" fmla="*/ 1 w 48"/>
                <a:gd name="T33" fmla="*/ 0 h 53"/>
                <a:gd name="T34" fmla="*/ 1 w 48"/>
                <a:gd name="T35" fmla="*/ 0 h 53"/>
                <a:gd name="T36" fmla="*/ 1 w 48"/>
                <a:gd name="T37" fmla="*/ 0 h 53"/>
                <a:gd name="T38" fmla="*/ 1 w 48"/>
                <a:gd name="T39" fmla="*/ 0 h 53"/>
                <a:gd name="T40" fmla="*/ 1 w 48"/>
                <a:gd name="T41" fmla="*/ 0 h 53"/>
                <a:gd name="T42" fmla="*/ 1 w 48"/>
                <a:gd name="T43" fmla="*/ 0 h 53"/>
                <a:gd name="T44" fmla="*/ 1 w 48"/>
                <a:gd name="T45" fmla="*/ 0 h 53"/>
                <a:gd name="T46" fmla="*/ 1 w 48"/>
                <a:gd name="T47" fmla="*/ 0 h 53"/>
                <a:gd name="T48" fmla="*/ 1 w 48"/>
                <a:gd name="T49" fmla="*/ 0 h 53"/>
                <a:gd name="T50" fmla="*/ 1 w 48"/>
                <a:gd name="T51" fmla="*/ 0 h 53"/>
                <a:gd name="T52" fmla="*/ 1 w 48"/>
                <a:gd name="T53" fmla="*/ 0 h 53"/>
                <a:gd name="T54" fmla="*/ 1 w 48"/>
                <a:gd name="T55" fmla="*/ 0 h 53"/>
                <a:gd name="T56" fmla="*/ 1 w 48"/>
                <a:gd name="T57" fmla="*/ 0 h 53"/>
                <a:gd name="T58" fmla="*/ 1 w 48"/>
                <a:gd name="T59" fmla="*/ 0 h 53"/>
                <a:gd name="T60" fmla="*/ 1 w 48"/>
                <a:gd name="T61" fmla="*/ 0 h 53"/>
                <a:gd name="T62" fmla="*/ 1 w 48"/>
                <a:gd name="T63" fmla="*/ 0 h 53"/>
                <a:gd name="T64" fmla="*/ 1 w 48"/>
                <a:gd name="T65" fmla="*/ 0 h 53"/>
                <a:gd name="T66" fmla="*/ 1 w 48"/>
                <a:gd name="T67" fmla="*/ 0 h 53"/>
                <a:gd name="T68" fmla="*/ 1 w 48"/>
                <a:gd name="T69" fmla="*/ 0 h 53"/>
                <a:gd name="T70" fmla="*/ 0 w 48"/>
                <a:gd name="T71" fmla="*/ 0 h 53"/>
                <a:gd name="T72" fmla="*/ 0 w 48"/>
                <a:gd name="T73" fmla="*/ 0 h 53"/>
                <a:gd name="T74" fmla="*/ 0 w 48"/>
                <a:gd name="T75" fmla="*/ 0 h 53"/>
                <a:gd name="T76" fmla="*/ 1 w 48"/>
                <a:gd name="T77" fmla="*/ 0 h 53"/>
                <a:gd name="T78" fmla="*/ 1 w 48"/>
                <a:gd name="T79" fmla="*/ 0 h 53"/>
                <a:gd name="T80" fmla="*/ 1 w 48"/>
                <a:gd name="T81" fmla="*/ 0 h 53"/>
                <a:gd name="T82" fmla="*/ 1 w 48"/>
                <a:gd name="T83" fmla="*/ 0 h 53"/>
                <a:gd name="T84" fmla="*/ 1 w 48"/>
                <a:gd name="T85" fmla="*/ 0 h 53"/>
                <a:gd name="T86" fmla="*/ 1 w 48"/>
                <a:gd name="T87" fmla="*/ 0 h 53"/>
                <a:gd name="T88" fmla="*/ 1 w 48"/>
                <a:gd name="T89" fmla="*/ 0 h 53"/>
                <a:gd name="T90" fmla="*/ 1 w 48"/>
                <a:gd name="T91" fmla="*/ 0 h 53"/>
                <a:gd name="T92" fmla="*/ 1 w 48"/>
                <a:gd name="T93" fmla="*/ 0 h 53"/>
                <a:gd name="T94" fmla="*/ 1 w 48"/>
                <a:gd name="T95" fmla="*/ 0 h 53"/>
                <a:gd name="T96" fmla="*/ 1 w 48"/>
                <a:gd name="T97" fmla="*/ 0 h 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53"/>
                <a:gd name="T149" fmla="*/ 48 w 48"/>
                <a:gd name="T150" fmla="*/ 53 h 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53">
                  <a:moveTo>
                    <a:pt x="29" y="29"/>
                  </a:moveTo>
                  <a:lnTo>
                    <a:pt x="25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5" y="11"/>
                  </a:lnTo>
                  <a:lnTo>
                    <a:pt x="18" y="17"/>
                  </a:lnTo>
                  <a:lnTo>
                    <a:pt x="25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5" y="34"/>
                  </a:lnTo>
                  <a:lnTo>
                    <a:pt x="18" y="29"/>
                  </a:lnTo>
                  <a:lnTo>
                    <a:pt x="25" y="34"/>
                  </a:lnTo>
                  <a:lnTo>
                    <a:pt x="18" y="34"/>
                  </a:lnTo>
                  <a:lnTo>
                    <a:pt x="29" y="29"/>
                  </a:lnTo>
                  <a:lnTo>
                    <a:pt x="25" y="34"/>
                  </a:lnTo>
                  <a:lnTo>
                    <a:pt x="29" y="23"/>
                  </a:lnTo>
                  <a:lnTo>
                    <a:pt x="48" y="29"/>
                  </a:lnTo>
                  <a:lnTo>
                    <a:pt x="42" y="40"/>
                  </a:lnTo>
                  <a:lnTo>
                    <a:pt x="36" y="46"/>
                  </a:lnTo>
                  <a:lnTo>
                    <a:pt x="25" y="53"/>
                  </a:lnTo>
                  <a:lnTo>
                    <a:pt x="12" y="46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5"/>
                  </a:lnTo>
                  <a:lnTo>
                    <a:pt x="42" y="11"/>
                  </a:lnTo>
                  <a:lnTo>
                    <a:pt x="48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8" name="Freeform 158"/>
            <p:cNvSpPr>
              <a:spLocks/>
            </p:cNvSpPr>
            <p:nvPr/>
          </p:nvSpPr>
          <p:spPr bwMode="auto">
            <a:xfrm>
              <a:off x="3447" y="3612"/>
              <a:ext cx="9" cy="3"/>
            </a:xfrm>
            <a:custGeom>
              <a:avLst/>
              <a:gdLst>
                <a:gd name="T0" fmla="*/ 0 w 19"/>
                <a:gd name="T1" fmla="*/ 0 h 6"/>
                <a:gd name="T2" fmla="*/ 0 w 19"/>
                <a:gd name="T3" fmla="*/ 0 h 6"/>
                <a:gd name="T4" fmla="*/ 0 w 19"/>
                <a:gd name="T5" fmla="*/ 1 h 6"/>
                <a:gd name="T6" fmla="*/ 0 w 19"/>
                <a:gd name="T7" fmla="*/ 0 h 6"/>
                <a:gd name="T8" fmla="*/ 0 w 19"/>
                <a:gd name="T9" fmla="*/ 1 h 6"/>
                <a:gd name="T10" fmla="*/ 0 w 19"/>
                <a:gd name="T11" fmla="*/ 1 h 6"/>
                <a:gd name="T12" fmla="*/ 0 w 19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6"/>
                <a:gd name="T23" fmla="*/ 19 w 19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9" y="0"/>
                  </a:lnTo>
                  <a:lnTo>
                    <a:pt x="19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19" name="Freeform 159"/>
            <p:cNvSpPr>
              <a:spLocks/>
            </p:cNvSpPr>
            <p:nvPr/>
          </p:nvSpPr>
          <p:spPr bwMode="auto">
            <a:xfrm>
              <a:off x="3494" y="3603"/>
              <a:ext cx="14" cy="17"/>
            </a:xfrm>
            <a:custGeom>
              <a:avLst/>
              <a:gdLst>
                <a:gd name="T0" fmla="*/ 0 w 29"/>
                <a:gd name="T1" fmla="*/ 0 h 35"/>
                <a:gd name="T2" fmla="*/ 0 w 29"/>
                <a:gd name="T3" fmla="*/ 0 h 35"/>
                <a:gd name="T4" fmla="*/ 0 w 29"/>
                <a:gd name="T5" fmla="*/ 0 h 35"/>
                <a:gd name="T6" fmla="*/ 0 w 29"/>
                <a:gd name="T7" fmla="*/ 0 h 35"/>
                <a:gd name="T8" fmla="*/ 0 w 29"/>
                <a:gd name="T9" fmla="*/ 0 h 35"/>
                <a:gd name="T10" fmla="*/ 0 w 29"/>
                <a:gd name="T11" fmla="*/ 0 h 35"/>
                <a:gd name="T12" fmla="*/ 0 w 29"/>
                <a:gd name="T13" fmla="*/ 0 h 35"/>
                <a:gd name="T14" fmla="*/ 0 w 29"/>
                <a:gd name="T15" fmla="*/ 0 h 35"/>
                <a:gd name="T16" fmla="*/ 0 w 29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5"/>
                <a:gd name="T29" fmla="*/ 29 w 29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5">
                  <a:moveTo>
                    <a:pt x="29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20" name="Freeform 160"/>
            <p:cNvSpPr>
              <a:spLocks/>
            </p:cNvSpPr>
            <p:nvPr/>
          </p:nvSpPr>
          <p:spPr bwMode="auto">
            <a:xfrm>
              <a:off x="3490" y="3600"/>
              <a:ext cx="24" cy="26"/>
            </a:xfrm>
            <a:custGeom>
              <a:avLst/>
              <a:gdLst>
                <a:gd name="T0" fmla="*/ 1 w 47"/>
                <a:gd name="T1" fmla="*/ 0 h 53"/>
                <a:gd name="T2" fmla="*/ 1 w 47"/>
                <a:gd name="T3" fmla="*/ 0 h 53"/>
                <a:gd name="T4" fmla="*/ 1 w 47"/>
                <a:gd name="T5" fmla="*/ 0 h 53"/>
                <a:gd name="T6" fmla="*/ 1 w 47"/>
                <a:gd name="T7" fmla="*/ 0 h 53"/>
                <a:gd name="T8" fmla="*/ 1 w 47"/>
                <a:gd name="T9" fmla="*/ 0 h 53"/>
                <a:gd name="T10" fmla="*/ 1 w 47"/>
                <a:gd name="T11" fmla="*/ 0 h 53"/>
                <a:gd name="T12" fmla="*/ 1 w 47"/>
                <a:gd name="T13" fmla="*/ 0 h 53"/>
                <a:gd name="T14" fmla="*/ 1 w 47"/>
                <a:gd name="T15" fmla="*/ 0 h 53"/>
                <a:gd name="T16" fmla="*/ 1 w 47"/>
                <a:gd name="T17" fmla="*/ 0 h 53"/>
                <a:gd name="T18" fmla="*/ 1 w 47"/>
                <a:gd name="T19" fmla="*/ 0 h 53"/>
                <a:gd name="T20" fmla="*/ 1 w 47"/>
                <a:gd name="T21" fmla="*/ 0 h 53"/>
                <a:gd name="T22" fmla="*/ 1 w 47"/>
                <a:gd name="T23" fmla="*/ 0 h 53"/>
                <a:gd name="T24" fmla="*/ 1 w 47"/>
                <a:gd name="T25" fmla="*/ 0 h 53"/>
                <a:gd name="T26" fmla="*/ 1 w 47"/>
                <a:gd name="T27" fmla="*/ 0 h 53"/>
                <a:gd name="T28" fmla="*/ 1 w 47"/>
                <a:gd name="T29" fmla="*/ 0 h 53"/>
                <a:gd name="T30" fmla="*/ 1 w 47"/>
                <a:gd name="T31" fmla="*/ 0 h 53"/>
                <a:gd name="T32" fmla="*/ 1 w 47"/>
                <a:gd name="T33" fmla="*/ 0 h 53"/>
                <a:gd name="T34" fmla="*/ 1 w 47"/>
                <a:gd name="T35" fmla="*/ 0 h 53"/>
                <a:gd name="T36" fmla="*/ 1 w 47"/>
                <a:gd name="T37" fmla="*/ 0 h 53"/>
                <a:gd name="T38" fmla="*/ 1 w 47"/>
                <a:gd name="T39" fmla="*/ 0 h 53"/>
                <a:gd name="T40" fmla="*/ 1 w 47"/>
                <a:gd name="T41" fmla="*/ 0 h 53"/>
                <a:gd name="T42" fmla="*/ 1 w 47"/>
                <a:gd name="T43" fmla="*/ 0 h 53"/>
                <a:gd name="T44" fmla="*/ 1 w 47"/>
                <a:gd name="T45" fmla="*/ 0 h 53"/>
                <a:gd name="T46" fmla="*/ 1 w 47"/>
                <a:gd name="T47" fmla="*/ 0 h 53"/>
                <a:gd name="T48" fmla="*/ 1 w 47"/>
                <a:gd name="T49" fmla="*/ 0 h 53"/>
                <a:gd name="T50" fmla="*/ 1 w 47"/>
                <a:gd name="T51" fmla="*/ 0 h 53"/>
                <a:gd name="T52" fmla="*/ 1 w 47"/>
                <a:gd name="T53" fmla="*/ 0 h 53"/>
                <a:gd name="T54" fmla="*/ 1 w 47"/>
                <a:gd name="T55" fmla="*/ 0 h 53"/>
                <a:gd name="T56" fmla="*/ 1 w 47"/>
                <a:gd name="T57" fmla="*/ 0 h 53"/>
                <a:gd name="T58" fmla="*/ 1 w 47"/>
                <a:gd name="T59" fmla="*/ 0 h 53"/>
                <a:gd name="T60" fmla="*/ 1 w 47"/>
                <a:gd name="T61" fmla="*/ 0 h 53"/>
                <a:gd name="T62" fmla="*/ 1 w 47"/>
                <a:gd name="T63" fmla="*/ 0 h 53"/>
                <a:gd name="T64" fmla="*/ 1 w 47"/>
                <a:gd name="T65" fmla="*/ 0 h 53"/>
                <a:gd name="T66" fmla="*/ 1 w 47"/>
                <a:gd name="T67" fmla="*/ 0 h 53"/>
                <a:gd name="T68" fmla="*/ 1 w 47"/>
                <a:gd name="T69" fmla="*/ 0 h 53"/>
                <a:gd name="T70" fmla="*/ 0 w 47"/>
                <a:gd name="T71" fmla="*/ 0 h 53"/>
                <a:gd name="T72" fmla="*/ 0 w 47"/>
                <a:gd name="T73" fmla="*/ 0 h 53"/>
                <a:gd name="T74" fmla="*/ 0 w 47"/>
                <a:gd name="T75" fmla="*/ 0 h 53"/>
                <a:gd name="T76" fmla="*/ 1 w 47"/>
                <a:gd name="T77" fmla="*/ 0 h 53"/>
                <a:gd name="T78" fmla="*/ 1 w 47"/>
                <a:gd name="T79" fmla="*/ 0 h 53"/>
                <a:gd name="T80" fmla="*/ 1 w 47"/>
                <a:gd name="T81" fmla="*/ 0 h 53"/>
                <a:gd name="T82" fmla="*/ 1 w 47"/>
                <a:gd name="T83" fmla="*/ 0 h 53"/>
                <a:gd name="T84" fmla="*/ 1 w 47"/>
                <a:gd name="T85" fmla="*/ 0 h 53"/>
                <a:gd name="T86" fmla="*/ 1 w 47"/>
                <a:gd name="T87" fmla="*/ 0 h 53"/>
                <a:gd name="T88" fmla="*/ 1 w 47"/>
                <a:gd name="T89" fmla="*/ 0 h 53"/>
                <a:gd name="T90" fmla="*/ 1 w 47"/>
                <a:gd name="T91" fmla="*/ 0 h 53"/>
                <a:gd name="T92" fmla="*/ 1 w 47"/>
                <a:gd name="T93" fmla="*/ 0 h 53"/>
                <a:gd name="T94" fmla="*/ 1 w 47"/>
                <a:gd name="T95" fmla="*/ 0 h 53"/>
                <a:gd name="T96" fmla="*/ 1 w 47"/>
                <a:gd name="T97" fmla="*/ 0 h 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53"/>
                <a:gd name="T149" fmla="*/ 47 w 47"/>
                <a:gd name="T150" fmla="*/ 53 h 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53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4" y="34"/>
                  </a:lnTo>
                  <a:lnTo>
                    <a:pt x="18" y="29"/>
                  </a:lnTo>
                  <a:lnTo>
                    <a:pt x="24" y="34"/>
                  </a:lnTo>
                  <a:lnTo>
                    <a:pt x="18" y="34"/>
                  </a:lnTo>
                  <a:lnTo>
                    <a:pt x="29" y="29"/>
                  </a:lnTo>
                  <a:lnTo>
                    <a:pt x="24" y="34"/>
                  </a:lnTo>
                  <a:lnTo>
                    <a:pt x="29" y="23"/>
                  </a:lnTo>
                  <a:lnTo>
                    <a:pt x="47" y="29"/>
                  </a:lnTo>
                  <a:lnTo>
                    <a:pt x="41" y="40"/>
                  </a:lnTo>
                  <a:lnTo>
                    <a:pt x="35" y="46"/>
                  </a:lnTo>
                  <a:lnTo>
                    <a:pt x="24" y="53"/>
                  </a:lnTo>
                  <a:lnTo>
                    <a:pt x="12" y="46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5"/>
                  </a:lnTo>
                  <a:lnTo>
                    <a:pt x="41" y="11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21" name="Freeform 161"/>
            <p:cNvSpPr>
              <a:spLocks/>
            </p:cNvSpPr>
            <p:nvPr/>
          </p:nvSpPr>
          <p:spPr bwMode="auto">
            <a:xfrm>
              <a:off x="3505" y="3612"/>
              <a:ext cx="9" cy="3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0 h 6"/>
                <a:gd name="T4" fmla="*/ 0 w 18"/>
                <a:gd name="T5" fmla="*/ 1 h 6"/>
                <a:gd name="T6" fmla="*/ 1 w 18"/>
                <a:gd name="T7" fmla="*/ 0 h 6"/>
                <a:gd name="T8" fmla="*/ 1 w 18"/>
                <a:gd name="T9" fmla="*/ 1 h 6"/>
                <a:gd name="T10" fmla="*/ 1 w 18"/>
                <a:gd name="T11" fmla="*/ 1 h 6"/>
                <a:gd name="T12" fmla="*/ 0 w 18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6"/>
                <a:gd name="T23" fmla="*/ 18 w 18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22" name="Freeform 162"/>
            <p:cNvSpPr>
              <a:spLocks/>
            </p:cNvSpPr>
            <p:nvPr/>
          </p:nvSpPr>
          <p:spPr bwMode="auto">
            <a:xfrm>
              <a:off x="3552" y="3603"/>
              <a:ext cx="14" cy="17"/>
            </a:xfrm>
            <a:custGeom>
              <a:avLst/>
              <a:gdLst>
                <a:gd name="T0" fmla="*/ 0 w 29"/>
                <a:gd name="T1" fmla="*/ 0 h 35"/>
                <a:gd name="T2" fmla="*/ 0 w 29"/>
                <a:gd name="T3" fmla="*/ 0 h 35"/>
                <a:gd name="T4" fmla="*/ 0 w 29"/>
                <a:gd name="T5" fmla="*/ 0 h 35"/>
                <a:gd name="T6" fmla="*/ 0 w 29"/>
                <a:gd name="T7" fmla="*/ 0 h 35"/>
                <a:gd name="T8" fmla="*/ 0 w 29"/>
                <a:gd name="T9" fmla="*/ 0 h 35"/>
                <a:gd name="T10" fmla="*/ 0 w 29"/>
                <a:gd name="T11" fmla="*/ 0 h 35"/>
                <a:gd name="T12" fmla="*/ 0 w 29"/>
                <a:gd name="T13" fmla="*/ 0 h 35"/>
                <a:gd name="T14" fmla="*/ 0 w 29"/>
                <a:gd name="T15" fmla="*/ 0 h 35"/>
                <a:gd name="T16" fmla="*/ 0 w 29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5"/>
                <a:gd name="T29" fmla="*/ 29 w 29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5">
                  <a:moveTo>
                    <a:pt x="29" y="18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23" name="Freeform 163"/>
            <p:cNvSpPr>
              <a:spLocks/>
            </p:cNvSpPr>
            <p:nvPr/>
          </p:nvSpPr>
          <p:spPr bwMode="auto">
            <a:xfrm>
              <a:off x="3549" y="3600"/>
              <a:ext cx="24" cy="26"/>
            </a:xfrm>
            <a:custGeom>
              <a:avLst/>
              <a:gdLst>
                <a:gd name="T0" fmla="*/ 1 w 47"/>
                <a:gd name="T1" fmla="*/ 0 h 53"/>
                <a:gd name="T2" fmla="*/ 1 w 47"/>
                <a:gd name="T3" fmla="*/ 0 h 53"/>
                <a:gd name="T4" fmla="*/ 1 w 47"/>
                <a:gd name="T5" fmla="*/ 0 h 53"/>
                <a:gd name="T6" fmla="*/ 1 w 47"/>
                <a:gd name="T7" fmla="*/ 0 h 53"/>
                <a:gd name="T8" fmla="*/ 1 w 47"/>
                <a:gd name="T9" fmla="*/ 0 h 53"/>
                <a:gd name="T10" fmla="*/ 1 w 47"/>
                <a:gd name="T11" fmla="*/ 0 h 53"/>
                <a:gd name="T12" fmla="*/ 1 w 47"/>
                <a:gd name="T13" fmla="*/ 0 h 53"/>
                <a:gd name="T14" fmla="*/ 1 w 47"/>
                <a:gd name="T15" fmla="*/ 0 h 53"/>
                <a:gd name="T16" fmla="*/ 1 w 47"/>
                <a:gd name="T17" fmla="*/ 0 h 53"/>
                <a:gd name="T18" fmla="*/ 1 w 47"/>
                <a:gd name="T19" fmla="*/ 0 h 53"/>
                <a:gd name="T20" fmla="*/ 1 w 47"/>
                <a:gd name="T21" fmla="*/ 0 h 53"/>
                <a:gd name="T22" fmla="*/ 1 w 47"/>
                <a:gd name="T23" fmla="*/ 0 h 53"/>
                <a:gd name="T24" fmla="*/ 1 w 47"/>
                <a:gd name="T25" fmla="*/ 0 h 53"/>
                <a:gd name="T26" fmla="*/ 1 w 47"/>
                <a:gd name="T27" fmla="*/ 0 h 53"/>
                <a:gd name="T28" fmla="*/ 1 w 47"/>
                <a:gd name="T29" fmla="*/ 0 h 53"/>
                <a:gd name="T30" fmla="*/ 1 w 47"/>
                <a:gd name="T31" fmla="*/ 0 h 53"/>
                <a:gd name="T32" fmla="*/ 1 w 47"/>
                <a:gd name="T33" fmla="*/ 0 h 53"/>
                <a:gd name="T34" fmla="*/ 1 w 47"/>
                <a:gd name="T35" fmla="*/ 0 h 53"/>
                <a:gd name="T36" fmla="*/ 1 w 47"/>
                <a:gd name="T37" fmla="*/ 0 h 53"/>
                <a:gd name="T38" fmla="*/ 1 w 47"/>
                <a:gd name="T39" fmla="*/ 0 h 53"/>
                <a:gd name="T40" fmla="*/ 1 w 47"/>
                <a:gd name="T41" fmla="*/ 0 h 53"/>
                <a:gd name="T42" fmla="*/ 1 w 47"/>
                <a:gd name="T43" fmla="*/ 0 h 53"/>
                <a:gd name="T44" fmla="*/ 1 w 47"/>
                <a:gd name="T45" fmla="*/ 0 h 53"/>
                <a:gd name="T46" fmla="*/ 1 w 47"/>
                <a:gd name="T47" fmla="*/ 0 h 53"/>
                <a:gd name="T48" fmla="*/ 1 w 47"/>
                <a:gd name="T49" fmla="*/ 0 h 53"/>
                <a:gd name="T50" fmla="*/ 1 w 47"/>
                <a:gd name="T51" fmla="*/ 0 h 53"/>
                <a:gd name="T52" fmla="*/ 1 w 47"/>
                <a:gd name="T53" fmla="*/ 0 h 53"/>
                <a:gd name="T54" fmla="*/ 1 w 47"/>
                <a:gd name="T55" fmla="*/ 0 h 53"/>
                <a:gd name="T56" fmla="*/ 1 w 47"/>
                <a:gd name="T57" fmla="*/ 0 h 53"/>
                <a:gd name="T58" fmla="*/ 1 w 47"/>
                <a:gd name="T59" fmla="*/ 0 h 53"/>
                <a:gd name="T60" fmla="*/ 1 w 47"/>
                <a:gd name="T61" fmla="*/ 0 h 53"/>
                <a:gd name="T62" fmla="*/ 1 w 47"/>
                <a:gd name="T63" fmla="*/ 0 h 53"/>
                <a:gd name="T64" fmla="*/ 1 w 47"/>
                <a:gd name="T65" fmla="*/ 0 h 53"/>
                <a:gd name="T66" fmla="*/ 1 w 47"/>
                <a:gd name="T67" fmla="*/ 0 h 53"/>
                <a:gd name="T68" fmla="*/ 1 w 47"/>
                <a:gd name="T69" fmla="*/ 0 h 53"/>
                <a:gd name="T70" fmla="*/ 0 w 47"/>
                <a:gd name="T71" fmla="*/ 0 h 53"/>
                <a:gd name="T72" fmla="*/ 0 w 47"/>
                <a:gd name="T73" fmla="*/ 0 h 53"/>
                <a:gd name="T74" fmla="*/ 0 w 47"/>
                <a:gd name="T75" fmla="*/ 0 h 53"/>
                <a:gd name="T76" fmla="*/ 1 w 47"/>
                <a:gd name="T77" fmla="*/ 0 h 53"/>
                <a:gd name="T78" fmla="*/ 1 w 47"/>
                <a:gd name="T79" fmla="*/ 0 h 53"/>
                <a:gd name="T80" fmla="*/ 1 w 47"/>
                <a:gd name="T81" fmla="*/ 0 h 53"/>
                <a:gd name="T82" fmla="*/ 1 w 47"/>
                <a:gd name="T83" fmla="*/ 0 h 53"/>
                <a:gd name="T84" fmla="*/ 1 w 47"/>
                <a:gd name="T85" fmla="*/ 0 h 53"/>
                <a:gd name="T86" fmla="*/ 1 w 47"/>
                <a:gd name="T87" fmla="*/ 0 h 53"/>
                <a:gd name="T88" fmla="*/ 1 w 47"/>
                <a:gd name="T89" fmla="*/ 0 h 53"/>
                <a:gd name="T90" fmla="*/ 1 w 47"/>
                <a:gd name="T91" fmla="*/ 0 h 53"/>
                <a:gd name="T92" fmla="*/ 1 w 47"/>
                <a:gd name="T93" fmla="*/ 0 h 53"/>
                <a:gd name="T94" fmla="*/ 1 w 47"/>
                <a:gd name="T95" fmla="*/ 0 h 53"/>
                <a:gd name="T96" fmla="*/ 1 w 47"/>
                <a:gd name="T97" fmla="*/ 0 h 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53"/>
                <a:gd name="T149" fmla="*/ 47 w 47"/>
                <a:gd name="T150" fmla="*/ 53 h 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53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1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4" y="34"/>
                  </a:lnTo>
                  <a:lnTo>
                    <a:pt x="18" y="29"/>
                  </a:lnTo>
                  <a:lnTo>
                    <a:pt x="24" y="34"/>
                  </a:lnTo>
                  <a:lnTo>
                    <a:pt x="18" y="34"/>
                  </a:lnTo>
                  <a:lnTo>
                    <a:pt x="29" y="29"/>
                  </a:lnTo>
                  <a:lnTo>
                    <a:pt x="24" y="34"/>
                  </a:lnTo>
                  <a:lnTo>
                    <a:pt x="29" y="23"/>
                  </a:lnTo>
                  <a:lnTo>
                    <a:pt x="47" y="29"/>
                  </a:lnTo>
                  <a:lnTo>
                    <a:pt x="41" y="40"/>
                  </a:lnTo>
                  <a:lnTo>
                    <a:pt x="35" y="46"/>
                  </a:lnTo>
                  <a:lnTo>
                    <a:pt x="24" y="53"/>
                  </a:lnTo>
                  <a:lnTo>
                    <a:pt x="12" y="46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5"/>
                  </a:lnTo>
                  <a:lnTo>
                    <a:pt x="41" y="11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24" name="Freeform 164"/>
            <p:cNvSpPr>
              <a:spLocks/>
            </p:cNvSpPr>
            <p:nvPr/>
          </p:nvSpPr>
          <p:spPr bwMode="auto">
            <a:xfrm>
              <a:off x="3563" y="3612"/>
              <a:ext cx="10" cy="3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0 h 6"/>
                <a:gd name="T4" fmla="*/ 0 w 18"/>
                <a:gd name="T5" fmla="*/ 1 h 6"/>
                <a:gd name="T6" fmla="*/ 1 w 18"/>
                <a:gd name="T7" fmla="*/ 0 h 6"/>
                <a:gd name="T8" fmla="*/ 1 w 18"/>
                <a:gd name="T9" fmla="*/ 1 h 6"/>
                <a:gd name="T10" fmla="*/ 1 w 18"/>
                <a:gd name="T11" fmla="*/ 1 h 6"/>
                <a:gd name="T12" fmla="*/ 0 w 18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6"/>
                <a:gd name="T23" fmla="*/ 18 w 18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25" name="Rectangle 173"/>
            <p:cNvSpPr>
              <a:spLocks noChangeArrowheads="1"/>
            </p:cNvSpPr>
            <p:nvPr/>
          </p:nvSpPr>
          <p:spPr bwMode="auto">
            <a:xfrm>
              <a:off x="1991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26" name="Rectangle 174"/>
            <p:cNvSpPr>
              <a:spLocks noChangeArrowheads="1"/>
            </p:cNvSpPr>
            <p:nvPr/>
          </p:nvSpPr>
          <p:spPr bwMode="auto">
            <a:xfrm>
              <a:off x="1991" y="187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27" name="Rectangle 175"/>
            <p:cNvSpPr>
              <a:spLocks noChangeArrowheads="1"/>
            </p:cNvSpPr>
            <p:nvPr/>
          </p:nvSpPr>
          <p:spPr bwMode="auto">
            <a:xfrm>
              <a:off x="1994" y="2007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28" name="Rectangle 176"/>
            <p:cNvSpPr>
              <a:spLocks noChangeArrowheads="1"/>
            </p:cNvSpPr>
            <p:nvPr/>
          </p:nvSpPr>
          <p:spPr bwMode="auto">
            <a:xfrm>
              <a:off x="2248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29" name="Rectangle 177"/>
            <p:cNvSpPr>
              <a:spLocks noChangeArrowheads="1"/>
            </p:cNvSpPr>
            <p:nvPr/>
          </p:nvSpPr>
          <p:spPr bwMode="auto">
            <a:xfrm>
              <a:off x="2248" y="1879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0" name="Rectangle 178"/>
            <p:cNvSpPr>
              <a:spLocks noChangeArrowheads="1"/>
            </p:cNvSpPr>
            <p:nvPr/>
          </p:nvSpPr>
          <p:spPr bwMode="auto">
            <a:xfrm>
              <a:off x="2076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1" name="Rectangle 179"/>
            <p:cNvSpPr>
              <a:spLocks noChangeArrowheads="1"/>
            </p:cNvSpPr>
            <p:nvPr/>
          </p:nvSpPr>
          <p:spPr bwMode="auto">
            <a:xfrm>
              <a:off x="2076" y="187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2" name="Rectangle 180"/>
            <p:cNvSpPr>
              <a:spLocks noChangeArrowheads="1"/>
            </p:cNvSpPr>
            <p:nvPr/>
          </p:nvSpPr>
          <p:spPr bwMode="auto">
            <a:xfrm>
              <a:off x="2079" y="2007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3" name="Rectangle 181"/>
            <p:cNvSpPr>
              <a:spLocks noChangeArrowheads="1"/>
            </p:cNvSpPr>
            <p:nvPr/>
          </p:nvSpPr>
          <p:spPr bwMode="auto">
            <a:xfrm>
              <a:off x="2336" y="1876"/>
              <a:ext cx="8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4" name="Rectangle 182"/>
            <p:cNvSpPr>
              <a:spLocks noChangeArrowheads="1"/>
            </p:cNvSpPr>
            <p:nvPr/>
          </p:nvSpPr>
          <p:spPr bwMode="auto">
            <a:xfrm>
              <a:off x="2336" y="1879"/>
              <a:ext cx="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5" name="Rectangle 183"/>
            <p:cNvSpPr>
              <a:spLocks noChangeArrowheads="1"/>
            </p:cNvSpPr>
            <p:nvPr/>
          </p:nvSpPr>
          <p:spPr bwMode="auto">
            <a:xfrm>
              <a:off x="2336" y="1876"/>
              <a:ext cx="8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6" name="Rectangle 184"/>
            <p:cNvSpPr>
              <a:spLocks noChangeArrowheads="1"/>
            </p:cNvSpPr>
            <p:nvPr/>
          </p:nvSpPr>
          <p:spPr bwMode="auto">
            <a:xfrm>
              <a:off x="2336" y="1879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7" name="Rectangle 185"/>
            <p:cNvSpPr>
              <a:spLocks noChangeArrowheads="1"/>
            </p:cNvSpPr>
            <p:nvPr/>
          </p:nvSpPr>
          <p:spPr bwMode="auto">
            <a:xfrm>
              <a:off x="2338" y="2007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8" name="Rectangle 186"/>
            <p:cNvSpPr>
              <a:spLocks noChangeArrowheads="1"/>
            </p:cNvSpPr>
            <p:nvPr/>
          </p:nvSpPr>
          <p:spPr bwMode="auto">
            <a:xfrm>
              <a:off x="2592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39" name="Rectangle 187"/>
            <p:cNvSpPr>
              <a:spLocks noChangeArrowheads="1"/>
            </p:cNvSpPr>
            <p:nvPr/>
          </p:nvSpPr>
          <p:spPr bwMode="auto">
            <a:xfrm>
              <a:off x="2592" y="1879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0" name="Rectangle 188"/>
            <p:cNvSpPr>
              <a:spLocks noChangeArrowheads="1"/>
            </p:cNvSpPr>
            <p:nvPr/>
          </p:nvSpPr>
          <p:spPr bwMode="auto">
            <a:xfrm>
              <a:off x="2248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1" name="Rectangle 189"/>
            <p:cNvSpPr>
              <a:spLocks noChangeArrowheads="1"/>
            </p:cNvSpPr>
            <p:nvPr/>
          </p:nvSpPr>
          <p:spPr bwMode="auto">
            <a:xfrm>
              <a:off x="2248" y="187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2" name="Rectangle 190"/>
            <p:cNvSpPr>
              <a:spLocks noChangeArrowheads="1"/>
            </p:cNvSpPr>
            <p:nvPr/>
          </p:nvSpPr>
          <p:spPr bwMode="auto">
            <a:xfrm>
              <a:off x="2251" y="2007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3" name="Rectangle 192"/>
            <p:cNvSpPr>
              <a:spLocks noChangeArrowheads="1"/>
            </p:cNvSpPr>
            <p:nvPr/>
          </p:nvSpPr>
          <p:spPr bwMode="auto">
            <a:xfrm>
              <a:off x="2508" y="1879"/>
              <a:ext cx="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4" name="Rectangle 193"/>
            <p:cNvSpPr>
              <a:spLocks noChangeArrowheads="1"/>
            </p:cNvSpPr>
            <p:nvPr/>
          </p:nvSpPr>
          <p:spPr bwMode="auto">
            <a:xfrm>
              <a:off x="2764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5" name="Rectangle 194"/>
            <p:cNvSpPr>
              <a:spLocks noChangeArrowheads="1"/>
            </p:cNvSpPr>
            <p:nvPr/>
          </p:nvSpPr>
          <p:spPr bwMode="auto">
            <a:xfrm>
              <a:off x="2764" y="187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6" name="Rectangle 195"/>
            <p:cNvSpPr>
              <a:spLocks noChangeArrowheads="1"/>
            </p:cNvSpPr>
            <p:nvPr/>
          </p:nvSpPr>
          <p:spPr bwMode="auto">
            <a:xfrm>
              <a:off x="2767" y="2007"/>
              <a:ext cx="26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7" name="Rectangle 196"/>
            <p:cNvSpPr>
              <a:spLocks noChangeArrowheads="1"/>
            </p:cNvSpPr>
            <p:nvPr/>
          </p:nvSpPr>
          <p:spPr bwMode="auto">
            <a:xfrm>
              <a:off x="3024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8" name="Rectangle 197"/>
            <p:cNvSpPr>
              <a:spLocks noChangeArrowheads="1"/>
            </p:cNvSpPr>
            <p:nvPr/>
          </p:nvSpPr>
          <p:spPr bwMode="auto">
            <a:xfrm>
              <a:off x="3024" y="1879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49" name="Rectangle 198"/>
            <p:cNvSpPr>
              <a:spLocks noChangeArrowheads="1"/>
            </p:cNvSpPr>
            <p:nvPr/>
          </p:nvSpPr>
          <p:spPr bwMode="auto">
            <a:xfrm>
              <a:off x="2852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0" name="Rectangle 199"/>
            <p:cNvSpPr>
              <a:spLocks noChangeArrowheads="1"/>
            </p:cNvSpPr>
            <p:nvPr/>
          </p:nvSpPr>
          <p:spPr bwMode="auto">
            <a:xfrm>
              <a:off x="2852" y="187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1" name="Rectangle 200"/>
            <p:cNvSpPr>
              <a:spLocks noChangeArrowheads="1"/>
            </p:cNvSpPr>
            <p:nvPr/>
          </p:nvSpPr>
          <p:spPr bwMode="auto">
            <a:xfrm>
              <a:off x="2855" y="2007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2" name="Rectangle 201"/>
            <p:cNvSpPr>
              <a:spLocks noChangeArrowheads="1"/>
            </p:cNvSpPr>
            <p:nvPr/>
          </p:nvSpPr>
          <p:spPr bwMode="auto">
            <a:xfrm>
              <a:off x="3111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3" name="Rectangle 202"/>
            <p:cNvSpPr>
              <a:spLocks noChangeArrowheads="1"/>
            </p:cNvSpPr>
            <p:nvPr/>
          </p:nvSpPr>
          <p:spPr bwMode="auto">
            <a:xfrm>
              <a:off x="3111" y="1879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4" name="Rectangle 203"/>
            <p:cNvSpPr>
              <a:spLocks noChangeArrowheads="1"/>
            </p:cNvSpPr>
            <p:nvPr/>
          </p:nvSpPr>
          <p:spPr bwMode="auto">
            <a:xfrm>
              <a:off x="2467" y="1690"/>
              <a:ext cx="181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5" name="Rectangle 204"/>
            <p:cNvSpPr>
              <a:spLocks noChangeArrowheads="1"/>
            </p:cNvSpPr>
            <p:nvPr/>
          </p:nvSpPr>
          <p:spPr bwMode="auto">
            <a:xfrm>
              <a:off x="2630" y="1698"/>
              <a:ext cx="18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6" name="Rectangle 205"/>
            <p:cNvSpPr>
              <a:spLocks noChangeArrowheads="1"/>
            </p:cNvSpPr>
            <p:nvPr/>
          </p:nvSpPr>
          <p:spPr bwMode="auto">
            <a:xfrm>
              <a:off x="2458" y="1862"/>
              <a:ext cx="181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7" name="Rectangle 206"/>
            <p:cNvSpPr>
              <a:spLocks noChangeArrowheads="1"/>
            </p:cNvSpPr>
            <p:nvPr/>
          </p:nvSpPr>
          <p:spPr bwMode="auto">
            <a:xfrm>
              <a:off x="2458" y="1690"/>
              <a:ext cx="18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8" name="Rectangle 207"/>
            <p:cNvSpPr>
              <a:spLocks noChangeArrowheads="1"/>
            </p:cNvSpPr>
            <p:nvPr/>
          </p:nvSpPr>
          <p:spPr bwMode="auto">
            <a:xfrm>
              <a:off x="3171" y="1755"/>
              <a:ext cx="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59" name="Rectangle 208"/>
            <p:cNvSpPr>
              <a:spLocks noChangeArrowheads="1"/>
            </p:cNvSpPr>
            <p:nvPr/>
          </p:nvSpPr>
          <p:spPr bwMode="auto">
            <a:xfrm>
              <a:off x="3155" y="1739"/>
              <a:ext cx="17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0" name="Rectangle 209"/>
            <p:cNvSpPr>
              <a:spLocks noChangeArrowheads="1"/>
            </p:cNvSpPr>
            <p:nvPr/>
          </p:nvSpPr>
          <p:spPr bwMode="auto">
            <a:xfrm>
              <a:off x="3171" y="1839"/>
              <a:ext cx="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1" name="Rectangle 210"/>
            <p:cNvSpPr>
              <a:spLocks noChangeArrowheads="1"/>
            </p:cNvSpPr>
            <p:nvPr/>
          </p:nvSpPr>
          <p:spPr bwMode="auto">
            <a:xfrm>
              <a:off x="3155" y="1823"/>
              <a:ext cx="17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2" name="Rectangle 211"/>
            <p:cNvSpPr>
              <a:spLocks noChangeArrowheads="1"/>
            </p:cNvSpPr>
            <p:nvPr/>
          </p:nvSpPr>
          <p:spPr bwMode="auto">
            <a:xfrm>
              <a:off x="2983" y="1690"/>
              <a:ext cx="181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3" name="Rectangle 212"/>
            <p:cNvSpPr>
              <a:spLocks noChangeArrowheads="1"/>
            </p:cNvSpPr>
            <p:nvPr/>
          </p:nvSpPr>
          <p:spPr bwMode="auto">
            <a:xfrm>
              <a:off x="3147" y="1698"/>
              <a:ext cx="17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4" name="Rectangle 213"/>
            <p:cNvSpPr>
              <a:spLocks noChangeArrowheads="1"/>
            </p:cNvSpPr>
            <p:nvPr/>
          </p:nvSpPr>
          <p:spPr bwMode="auto">
            <a:xfrm>
              <a:off x="2975" y="1862"/>
              <a:ext cx="180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5" name="Rectangle 214"/>
            <p:cNvSpPr>
              <a:spLocks noChangeArrowheads="1"/>
            </p:cNvSpPr>
            <p:nvPr/>
          </p:nvSpPr>
          <p:spPr bwMode="auto">
            <a:xfrm>
              <a:off x="2975" y="1690"/>
              <a:ext cx="17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6" name="Rectangle 215"/>
            <p:cNvSpPr>
              <a:spLocks noChangeArrowheads="1"/>
            </p:cNvSpPr>
            <p:nvPr/>
          </p:nvSpPr>
          <p:spPr bwMode="auto">
            <a:xfrm>
              <a:off x="2266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7" name="Rectangle 216"/>
            <p:cNvSpPr>
              <a:spLocks noChangeArrowheads="1"/>
            </p:cNvSpPr>
            <p:nvPr/>
          </p:nvSpPr>
          <p:spPr bwMode="auto">
            <a:xfrm>
              <a:off x="2248" y="2092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8" name="Rectangle 217"/>
            <p:cNvSpPr>
              <a:spLocks noChangeArrowheads="1"/>
            </p:cNvSpPr>
            <p:nvPr/>
          </p:nvSpPr>
          <p:spPr bwMode="auto">
            <a:xfrm>
              <a:off x="2251" y="2092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69" name="Rectangle 218"/>
            <p:cNvSpPr>
              <a:spLocks noChangeArrowheads="1"/>
            </p:cNvSpPr>
            <p:nvPr/>
          </p:nvSpPr>
          <p:spPr bwMode="auto">
            <a:xfrm>
              <a:off x="2526" y="2069"/>
              <a:ext cx="8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0" name="Rectangle 219"/>
            <p:cNvSpPr>
              <a:spLocks noChangeArrowheads="1"/>
            </p:cNvSpPr>
            <p:nvPr/>
          </p:nvSpPr>
          <p:spPr bwMode="auto">
            <a:xfrm>
              <a:off x="2508" y="2095"/>
              <a:ext cx="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1" name="Rectangle 220"/>
            <p:cNvSpPr>
              <a:spLocks noChangeArrowheads="1"/>
            </p:cNvSpPr>
            <p:nvPr/>
          </p:nvSpPr>
          <p:spPr bwMode="auto">
            <a:xfrm>
              <a:off x="2120" y="2275"/>
              <a:ext cx="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2" name="Rectangle 221"/>
            <p:cNvSpPr>
              <a:spLocks noChangeArrowheads="1"/>
            </p:cNvSpPr>
            <p:nvPr/>
          </p:nvSpPr>
          <p:spPr bwMode="auto">
            <a:xfrm>
              <a:off x="2123" y="2275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3" name="Rectangle 222"/>
            <p:cNvSpPr>
              <a:spLocks noChangeArrowheads="1"/>
            </p:cNvSpPr>
            <p:nvPr/>
          </p:nvSpPr>
          <p:spPr bwMode="auto">
            <a:xfrm>
              <a:off x="2248" y="2092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4" name="Rectangle 223"/>
            <p:cNvSpPr>
              <a:spLocks noChangeArrowheads="1"/>
            </p:cNvSpPr>
            <p:nvPr/>
          </p:nvSpPr>
          <p:spPr bwMode="auto">
            <a:xfrm>
              <a:off x="2120" y="2092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5" name="Rectangle 224"/>
            <p:cNvSpPr>
              <a:spLocks noChangeArrowheads="1"/>
            </p:cNvSpPr>
            <p:nvPr/>
          </p:nvSpPr>
          <p:spPr bwMode="auto">
            <a:xfrm>
              <a:off x="2123" y="2092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6" name="Rectangle 225"/>
            <p:cNvSpPr>
              <a:spLocks noChangeArrowheads="1"/>
            </p:cNvSpPr>
            <p:nvPr/>
          </p:nvSpPr>
          <p:spPr bwMode="auto">
            <a:xfrm>
              <a:off x="2336" y="2275"/>
              <a:ext cx="131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7" name="Rectangle 226"/>
            <p:cNvSpPr>
              <a:spLocks noChangeArrowheads="1"/>
            </p:cNvSpPr>
            <p:nvPr/>
          </p:nvSpPr>
          <p:spPr bwMode="auto">
            <a:xfrm>
              <a:off x="2336" y="2092"/>
              <a:ext cx="8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8" name="Rectangle 227"/>
            <p:cNvSpPr>
              <a:spLocks noChangeArrowheads="1"/>
            </p:cNvSpPr>
            <p:nvPr/>
          </p:nvSpPr>
          <p:spPr bwMode="auto">
            <a:xfrm>
              <a:off x="2338" y="2092"/>
              <a:ext cx="12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79" name="Rectangle 228"/>
            <p:cNvSpPr>
              <a:spLocks noChangeArrowheads="1"/>
            </p:cNvSpPr>
            <p:nvPr/>
          </p:nvSpPr>
          <p:spPr bwMode="auto">
            <a:xfrm>
              <a:off x="2654" y="2291"/>
              <a:ext cx="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0" name="Rectangle 229"/>
            <p:cNvSpPr>
              <a:spLocks noChangeArrowheads="1"/>
            </p:cNvSpPr>
            <p:nvPr/>
          </p:nvSpPr>
          <p:spPr bwMode="auto">
            <a:xfrm>
              <a:off x="2639" y="2275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1" name="Rectangle 230"/>
            <p:cNvSpPr>
              <a:spLocks noChangeArrowheads="1"/>
            </p:cNvSpPr>
            <p:nvPr/>
          </p:nvSpPr>
          <p:spPr bwMode="auto">
            <a:xfrm>
              <a:off x="2764" y="2092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2" name="Rectangle 231"/>
            <p:cNvSpPr>
              <a:spLocks noChangeArrowheads="1"/>
            </p:cNvSpPr>
            <p:nvPr/>
          </p:nvSpPr>
          <p:spPr bwMode="auto">
            <a:xfrm>
              <a:off x="2654" y="2108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3" name="Rectangle 232"/>
            <p:cNvSpPr>
              <a:spLocks noChangeArrowheads="1"/>
            </p:cNvSpPr>
            <p:nvPr/>
          </p:nvSpPr>
          <p:spPr bwMode="auto">
            <a:xfrm>
              <a:off x="2639" y="2092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4" name="Rectangle 233"/>
            <p:cNvSpPr>
              <a:spLocks noChangeArrowheads="1"/>
            </p:cNvSpPr>
            <p:nvPr/>
          </p:nvSpPr>
          <p:spPr bwMode="auto">
            <a:xfrm>
              <a:off x="2852" y="2275"/>
              <a:ext cx="131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5" name="Rectangle 234"/>
            <p:cNvSpPr>
              <a:spLocks noChangeArrowheads="1"/>
            </p:cNvSpPr>
            <p:nvPr/>
          </p:nvSpPr>
          <p:spPr bwMode="auto">
            <a:xfrm>
              <a:off x="2852" y="2092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6" name="Rectangle 235"/>
            <p:cNvSpPr>
              <a:spLocks noChangeArrowheads="1"/>
            </p:cNvSpPr>
            <p:nvPr/>
          </p:nvSpPr>
          <p:spPr bwMode="auto">
            <a:xfrm>
              <a:off x="2855" y="2092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7" name="Rectangle 237"/>
            <p:cNvSpPr>
              <a:spLocks noChangeArrowheads="1"/>
            </p:cNvSpPr>
            <p:nvPr/>
          </p:nvSpPr>
          <p:spPr bwMode="auto">
            <a:xfrm>
              <a:off x="2657" y="2108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8" name="Rectangle 238"/>
            <p:cNvSpPr>
              <a:spLocks noChangeArrowheads="1"/>
            </p:cNvSpPr>
            <p:nvPr/>
          </p:nvSpPr>
          <p:spPr bwMode="auto">
            <a:xfrm>
              <a:off x="2467" y="2092"/>
              <a:ext cx="172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89" name="Rectangle 239"/>
            <p:cNvSpPr>
              <a:spLocks noChangeArrowheads="1"/>
            </p:cNvSpPr>
            <p:nvPr/>
          </p:nvSpPr>
          <p:spPr bwMode="auto">
            <a:xfrm>
              <a:off x="2009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0" name="Rectangle 240"/>
            <p:cNvSpPr>
              <a:spLocks noChangeArrowheads="1"/>
            </p:cNvSpPr>
            <p:nvPr/>
          </p:nvSpPr>
          <p:spPr bwMode="auto">
            <a:xfrm>
              <a:off x="1991" y="2092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1" name="Rectangle 241"/>
            <p:cNvSpPr>
              <a:spLocks noChangeArrowheads="1"/>
            </p:cNvSpPr>
            <p:nvPr/>
          </p:nvSpPr>
          <p:spPr bwMode="auto">
            <a:xfrm>
              <a:off x="1994" y="2092"/>
              <a:ext cx="26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2" name="Rectangle 242"/>
            <p:cNvSpPr>
              <a:spLocks noChangeArrowheads="1"/>
            </p:cNvSpPr>
            <p:nvPr/>
          </p:nvSpPr>
          <p:spPr bwMode="auto">
            <a:xfrm>
              <a:off x="2266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3" name="Rectangle 243"/>
            <p:cNvSpPr>
              <a:spLocks noChangeArrowheads="1"/>
            </p:cNvSpPr>
            <p:nvPr/>
          </p:nvSpPr>
          <p:spPr bwMode="auto">
            <a:xfrm>
              <a:off x="2248" y="2095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4" name="Rectangle 244"/>
            <p:cNvSpPr>
              <a:spLocks noChangeArrowheads="1"/>
            </p:cNvSpPr>
            <p:nvPr/>
          </p:nvSpPr>
          <p:spPr bwMode="auto">
            <a:xfrm>
              <a:off x="2094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5" name="Rectangle 245"/>
            <p:cNvSpPr>
              <a:spLocks noChangeArrowheads="1"/>
            </p:cNvSpPr>
            <p:nvPr/>
          </p:nvSpPr>
          <p:spPr bwMode="auto">
            <a:xfrm>
              <a:off x="2076" y="2092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6" name="Rectangle 246"/>
            <p:cNvSpPr>
              <a:spLocks noChangeArrowheads="1"/>
            </p:cNvSpPr>
            <p:nvPr/>
          </p:nvSpPr>
          <p:spPr bwMode="auto">
            <a:xfrm>
              <a:off x="2079" y="2092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7" name="Rectangle 247"/>
            <p:cNvSpPr>
              <a:spLocks noChangeArrowheads="1"/>
            </p:cNvSpPr>
            <p:nvPr/>
          </p:nvSpPr>
          <p:spPr bwMode="auto">
            <a:xfrm>
              <a:off x="2336" y="2095"/>
              <a:ext cx="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8" name="Rectangle 248"/>
            <p:cNvSpPr>
              <a:spLocks noChangeArrowheads="1"/>
            </p:cNvSpPr>
            <p:nvPr/>
          </p:nvSpPr>
          <p:spPr bwMode="auto">
            <a:xfrm>
              <a:off x="2336" y="2092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899" name="Rectangle 249"/>
            <p:cNvSpPr>
              <a:spLocks noChangeArrowheads="1"/>
            </p:cNvSpPr>
            <p:nvPr/>
          </p:nvSpPr>
          <p:spPr bwMode="auto">
            <a:xfrm>
              <a:off x="2338" y="2092"/>
              <a:ext cx="26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0" name="Rectangle 250"/>
            <p:cNvSpPr>
              <a:spLocks noChangeArrowheads="1"/>
            </p:cNvSpPr>
            <p:nvPr/>
          </p:nvSpPr>
          <p:spPr bwMode="auto">
            <a:xfrm>
              <a:off x="2610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1" name="Rectangle 251"/>
            <p:cNvSpPr>
              <a:spLocks noChangeArrowheads="1"/>
            </p:cNvSpPr>
            <p:nvPr/>
          </p:nvSpPr>
          <p:spPr bwMode="auto">
            <a:xfrm>
              <a:off x="2592" y="2095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2" name="Rectangle 252"/>
            <p:cNvSpPr>
              <a:spLocks noChangeArrowheads="1"/>
            </p:cNvSpPr>
            <p:nvPr/>
          </p:nvSpPr>
          <p:spPr bwMode="auto">
            <a:xfrm>
              <a:off x="2782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3" name="Rectangle 253"/>
            <p:cNvSpPr>
              <a:spLocks noChangeArrowheads="1"/>
            </p:cNvSpPr>
            <p:nvPr/>
          </p:nvSpPr>
          <p:spPr bwMode="auto">
            <a:xfrm>
              <a:off x="2764" y="2092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4" name="Rectangle 254"/>
            <p:cNvSpPr>
              <a:spLocks noChangeArrowheads="1"/>
            </p:cNvSpPr>
            <p:nvPr/>
          </p:nvSpPr>
          <p:spPr bwMode="auto">
            <a:xfrm>
              <a:off x="2767" y="2092"/>
              <a:ext cx="26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5" name="Rectangle 255"/>
            <p:cNvSpPr>
              <a:spLocks noChangeArrowheads="1"/>
            </p:cNvSpPr>
            <p:nvPr/>
          </p:nvSpPr>
          <p:spPr bwMode="auto">
            <a:xfrm>
              <a:off x="3042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6" name="Rectangle 256"/>
            <p:cNvSpPr>
              <a:spLocks noChangeArrowheads="1"/>
            </p:cNvSpPr>
            <p:nvPr/>
          </p:nvSpPr>
          <p:spPr bwMode="auto">
            <a:xfrm>
              <a:off x="3024" y="2095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7" name="Rectangle 257"/>
            <p:cNvSpPr>
              <a:spLocks noChangeArrowheads="1"/>
            </p:cNvSpPr>
            <p:nvPr/>
          </p:nvSpPr>
          <p:spPr bwMode="auto">
            <a:xfrm>
              <a:off x="2870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8" name="Rectangle 258"/>
            <p:cNvSpPr>
              <a:spLocks noChangeArrowheads="1"/>
            </p:cNvSpPr>
            <p:nvPr/>
          </p:nvSpPr>
          <p:spPr bwMode="auto">
            <a:xfrm>
              <a:off x="2852" y="2092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09" name="Rectangle 259"/>
            <p:cNvSpPr>
              <a:spLocks noChangeArrowheads="1"/>
            </p:cNvSpPr>
            <p:nvPr/>
          </p:nvSpPr>
          <p:spPr bwMode="auto">
            <a:xfrm>
              <a:off x="2855" y="2092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0" name="Rectangle 260"/>
            <p:cNvSpPr>
              <a:spLocks noChangeArrowheads="1"/>
            </p:cNvSpPr>
            <p:nvPr/>
          </p:nvSpPr>
          <p:spPr bwMode="auto">
            <a:xfrm>
              <a:off x="3129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1" name="Rectangle 261"/>
            <p:cNvSpPr>
              <a:spLocks noChangeArrowheads="1"/>
            </p:cNvSpPr>
            <p:nvPr/>
          </p:nvSpPr>
          <p:spPr bwMode="auto">
            <a:xfrm>
              <a:off x="3111" y="2095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2" name="Rectangle 262"/>
            <p:cNvSpPr>
              <a:spLocks noChangeArrowheads="1"/>
            </p:cNvSpPr>
            <p:nvPr/>
          </p:nvSpPr>
          <p:spPr bwMode="auto">
            <a:xfrm>
              <a:off x="2120" y="236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3" name="Rectangle 263"/>
            <p:cNvSpPr>
              <a:spLocks noChangeArrowheads="1"/>
            </p:cNvSpPr>
            <p:nvPr/>
          </p:nvSpPr>
          <p:spPr bwMode="auto">
            <a:xfrm>
              <a:off x="2123" y="2360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4" name="Rectangle 264"/>
            <p:cNvSpPr>
              <a:spLocks noChangeArrowheads="1"/>
            </p:cNvSpPr>
            <p:nvPr/>
          </p:nvSpPr>
          <p:spPr bwMode="auto">
            <a:xfrm>
              <a:off x="2248" y="2363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5" name="Rectangle 265"/>
            <p:cNvSpPr>
              <a:spLocks noChangeArrowheads="1"/>
            </p:cNvSpPr>
            <p:nvPr/>
          </p:nvSpPr>
          <p:spPr bwMode="auto">
            <a:xfrm>
              <a:off x="2120" y="2544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6" name="Rectangle 266"/>
            <p:cNvSpPr>
              <a:spLocks noChangeArrowheads="1"/>
            </p:cNvSpPr>
            <p:nvPr/>
          </p:nvSpPr>
          <p:spPr bwMode="auto">
            <a:xfrm>
              <a:off x="2123" y="2544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7" name="Rectangle 267"/>
            <p:cNvSpPr>
              <a:spLocks noChangeArrowheads="1"/>
            </p:cNvSpPr>
            <p:nvPr/>
          </p:nvSpPr>
          <p:spPr bwMode="auto">
            <a:xfrm>
              <a:off x="2336" y="2360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8" name="Rectangle 268"/>
            <p:cNvSpPr>
              <a:spLocks noChangeArrowheads="1"/>
            </p:cNvSpPr>
            <p:nvPr/>
          </p:nvSpPr>
          <p:spPr bwMode="auto">
            <a:xfrm>
              <a:off x="2336" y="2363"/>
              <a:ext cx="8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19" name="Rectangle 269"/>
            <p:cNvSpPr>
              <a:spLocks noChangeArrowheads="1"/>
            </p:cNvSpPr>
            <p:nvPr/>
          </p:nvSpPr>
          <p:spPr bwMode="auto">
            <a:xfrm>
              <a:off x="2338" y="2544"/>
              <a:ext cx="12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0" name="Rectangle 270"/>
            <p:cNvSpPr>
              <a:spLocks noChangeArrowheads="1"/>
            </p:cNvSpPr>
            <p:nvPr/>
          </p:nvSpPr>
          <p:spPr bwMode="auto">
            <a:xfrm>
              <a:off x="2654" y="2376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1" name="Rectangle 271"/>
            <p:cNvSpPr>
              <a:spLocks noChangeArrowheads="1"/>
            </p:cNvSpPr>
            <p:nvPr/>
          </p:nvSpPr>
          <p:spPr bwMode="auto">
            <a:xfrm>
              <a:off x="2639" y="2360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2" name="Rectangle 272"/>
            <p:cNvSpPr>
              <a:spLocks noChangeArrowheads="1"/>
            </p:cNvSpPr>
            <p:nvPr/>
          </p:nvSpPr>
          <p:spPr bwMode="auto">
            <a:xfrm>
              <a:off x="2764" y="2363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3" name="Rectangle 273"/>
            <p:cNvSpPr>
              <a:spLocks noChangeArrowheads="1"/>
            </p:cNvSpPr>
            <p:nvPr/>
          </p:nvSpPr>
          <p:spPr bwMode="auto">
            <a:xfrm>
              <a:off x="2654" y="256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4" name="Rectangle 274"/>
            <p:cNvSpPr>
              <a:spLocks noChangeArrowheads="1"/>
            </p:cNvSpPr>
            <p:nvPr/>
          </p:nvSpPr>
          <p:spPr bwMode="auto">
            <a:xfrm>
              <a:off x="2639" y="2544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5" name="Rectangle 275"/>
            <p:cNvSpPr>
              <a:spLocks noChangeArrowheads="1"/>
            </p:cNvSpPr>
            <p:nvPr/>
          </p:nvSpPr>
          <p:spPr bwMode="auto">
            <a:xfrm>
              <a:off x="2852" y="2360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6" name="Rectangle 276"/>
            <p:cNvSpPr>
              <a:spLocks noChangeArrowheads="1"/>
            </p:cNvSpPr>
            <p:nvPr/>
          </p:nvSpPr>
          <p:spPr bwMode="auto">
            <a:xfrm>
              <a:off x="2852" y="2363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7" name="Rectangle 277"/>
            <p:cNvSpPr>
              <a:spLocks noChangeArrowheads="1"/>
            </p:cNvSpPr>
            <p:nvPr/>
          </p:nvSpPr>
          <p:spPr bwMode="auto">
            <a:xfrm>
              <a:off x="2855" y="2544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8" name="Rectangle 278"/>
            <p:cNvSpPr>
              <a:spLocks noChangeArrowheads="1"/>
            </p:cNvSpPr>
            <p:nvPr/>
          </p:nvSpPr>
          <p:spPr bwMode="auto">
            <a:xfrm>
              <a:off x="2219" y="2544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29" name="Rectangle 279"/>
            <p:cNvSpPr>
              <a:spLocks noChangeArrowheads="1"/>
            </p:cNvSpPr>
            <p:nvPr/>
          </p:nvSpPr>
          <p:spPr bwMode="auto">
            <a:xfrm>
              <a:off x="1822" y="2544"/>
              <a:ext cx="39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0" name="Rectangle 281"/>
            <p:cNvSpPr>
              <a:spLocks noChangeArrowheads="1"/>
            </p:cNvSpPr>
            <p:nvPr/>
          </p:nvSpPr>
          <p:spPr bwMode="auto">
            <a:xfrm>
              <a:off x="2657" y="256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1" name="Rectangle 282"/>
            <p:cNvSpPr>
              <a:spLocks noChangeArrowheads="1"/>
            </p:cNvSpPr>
            <p:nvPr/>
          </p:nvSpPr>
          <p:spPr bwMode="auto">
            <a:xfrm>
              <a:off x="2467" y="2544"/>
              <a:ext cx="17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2" name="Rectangle 283"/>
            <p:cNvSpPr>
              <a:spLocks noChangeArrowheads="1"/>
            </p:cNvSpPr>
            <p:nvPr/>
          </p:nvSpPr>
          <p:spPr bwMode="auto">
            <a:xfrm>
              <a:off x="2980" y="2544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3" name="Rectangle 284"/>
            <p:cNvSpPr>
              <a:spLocks noChangeArrowheads="1"/>
            </p:cNvSpPr>
            <p:nvPr/>
          </p:nvSpPr>
          <p:spPr bwMode="auto">
            <a:xfrm>
              <a:off x="2983" y="2544"/>
              <a:ext cx="34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4" name="Rectangle 285"/>
            <p:cNvSpPr>
              <a:spLocks noChangeArrowheads="1"/>
            </p:cNvSpPr>
            <p:nvPr/>
          </p:nvSpPr>
          <p:spPr bwMode="auto">
            <a:xfrm>
              <a:off x="1822" y="2628"/>
              <a:ext cx="1506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5" name="Rectangle 286"/>
            <p:cNvSpPr>
              <a:spLocks noChangeArrowheads="1"/>
            </p:cNvSpPr>
            <p:nvPr/>
          </p:nvSpPr>
          <p:spPr bwMode="auto">
            <a:xfrm>
              <a:off x="2747" y="2255"/>
              <a:ext cx="128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6" name="Rectangle 287"/>
            <p:cNvSpPr>
              <a:spLocks noChangeArrowheads="1"/>
            </p:cNvSpPr>
            <p:nvPr/>
          </p:nvSpPr>
          <p:spPr bwMode="auto">
            <a:xfrm>
              <a:off x="2747" y="2252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7" name="Rectangle 288"/>
            <p:cNvSpPr>
              <a:spLocks noChangeArrowheads="1"/>
            </p:cNvSpPr>
            <p:nvPr/>
          </p:nvSpPr>
          <p:spPr bwMode="auto">
            <a:xfrm>
              <a:off x="2875" y="2255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8" name="Rectangle 289"/>
            <p:cNvSpPr>
              <a:spLocks noChangeArrowheads="1"/>
            </p:cNvSpPr>
            <p:nvPr/>
          </p:nvSpPr>
          <p:spPr bwMode="auto">
            <a:xfrm>
              <a:off x="2744" y="2384"/>
              <a:ext cx="134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39" name="Rectangle 290"/>
            <p:cNvSpPr>
              <a:spLocks noChangeArrowheads="1"/>
            </p:cNvSpPr>
            <p:nvPr/>
          </p:nvSpPr>
          <p:spPr bwMode="auto">
            <a:xfrm>
              <a:off x="2744" y="2252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0" name="Rectangle 291"/>
            <p:cNvSpPr>
              <a:spLocks noChangeArrowheads="1"/>
            </p:cNvSpPr>
            <p:nvPr/>
          </p:nvSpPr>
          <p:spPr bwMode="auto">
            <a:xfrm>
              <a:off x="2228" y="2255"/>
              <a:ext cx="131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1" name="Rectangle 292"/>
            <p:cNvSpPr>
              <a:spLocks noChangeArrowheads="1"/>
            </p:cNvSpPr>
            <p:nvPr/>
          </p:nvSpPr>
          <p:spPr bwMode="auto">
            <a:xfrm>
              <a:off x="2228" y="2252"/>
              <a:ext cx="13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2" name="Rectangle 293"/>
            <p:cNvSpPr>
              <a:spLocks noChangeArrowheads="1"/>
            </p:cNvSpPr>
            <p:nvPr/>
          </p:nvSpPr>
          <p:spPr bwMode="auto">
            <a:xfrm>
              <a:off x="2359" y="2255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3" name="Rectangle 294"/>
            <p:cNvSpPr>
              <a:spLocks noChangeArrowheads="1"/>
            </p:cNvSpPr>
            <p:nvPr/>
          </p:nvSpPr>
          <p:spPr bwMode="auto">
            <a:xfrm>
              <a:off x="2225" y="2384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4" name="Rectangle 295"/>
            <p:cNvSpPr>
              <a:spLocks noChangeArrowheads="1"/>
            </p:cNvSpPr>
            <p:nvPr/>
          </p:nvSpPr>
          <p:spPr bwMode="auto">
            <a:xfrm>
              <a:off x="2225" y="2252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5" name="Rectangle 296"/>
            <p:cNvSpPr>
              <a:spLocks noChangeArrowheads="1"/>
            </p:cNvSpPr>
            <p:nvPr/>
          </p:nvSpPr>
          <p:spPr bwMode="auto">
            <a:xfrm>
              <a:off x="1991" y="2416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6" name="Rectangle 297"/>
            <p:cNvSpPr>
              <a:spLocks noChangeArrowheads="1"/>
            </p:cNvSpPr>
            <p:nvPr/>
          </p:nvSpPr>
          <p:spPr bwMode="auto">
            <a:xfrm>
              <a:off x="1994" y="2544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7" name="Rectangle 298"/>
            <p:cNvSpPr>
              <a:spLocks noChangeArrowheads="1"/>
            </p:cNvSpPr>
            <p:nvPr/>
          </p:nvSpPr>
          <p:spPr bwMode="auto">
            <a:xfrm>
              <a:off x="2248" y="2416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8" name="Rectangle 299"/>
            <p:cNvSpPr>
              <a:spLocks noChangeArrowheads="1"/>
            </p:cNvSpPr>
            <p:nvPr/>
          </p:nvSpPr>
          <p:spPr bwMode="auto">
            <a:xfrm>
              <a:off x="2076" y="2416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49" name="Rectangle 300"/>
            <p:cNvSpPr>
              <a:spLocks noChangeArrowheads="1"/>
            </p:cNvSpPr>
            <p:nvPr/>
          </p:nvSpPr>
          <p:spPr bwMode="auto">
            <a:xfrm>
              <a:off x="2079" y="2544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0" name="Rectangle 301"/>
            <p:cNvSpPr>
              <a:spLocks noChangeArrowheads="1"/>
            </p:cNvSpPr>
            <p:nvPr/>
          </p:nvSpPr>
          <p:spPr bwMode="auto">
            <a:xfrm>
              <a:off x="2336" y="2416"/>
              <a:ext cx="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1" name="Rectangle 302"/>
            <p:cNvSpPr>
              <a:spLocks noChangeArrowheads="1"/>
            </p:cNvSpPr>
            <p:nvPr/>
          </p:nvSpPr>
          <p:spPr bwMode="auto">
            <a:xfrm>
              <a:off x="2336" y="2416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2" name="Rectangle 303"/>
            <p:cNvSpPr>
              <a:spLocks noChangeArrowheads="1"/>
            </p:cNvSpPr>
            <p:nvPr/>
          </p:nvSpPr>
          <p:spPr bwMode="auto">
            <a:xfrm>
              <a:off x="2338" y="2544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3" name="Rectangle 304"/>
            <p:cNvSpPr>
              <a:spLocks noChangeArrowheads="1"/>
            </p:cNvSpPr>
            <p:nvPr/>
          </p:nvSpPr>
          <p:spPr bwMode="auto">
            <a:xfrm>
              <a:off x="2592" y="2416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4" name="Rectangle 305"/>
            <p:cNvSpPr>
              <a:spLocks noChangeArrowheads="1"/>
            </p:cNvSpPr>
            <p:nvPr/>
          </p:nvSpPr>
          <p:spPr bwMode="auto">
            <a:xfrm>
              <a:off x="2248" y="2416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5" name="Rectangle 306"/>
            <p:cNvSpPr>
              <a:spLocks noChangeArrowheads="1"/>
            </p:cNvSpPr>
            <p:nvPr/>
          </p:nvSpPr>
          <p:spPr bwMode="auto">
            <a:xfrm>
              <a:off x="2251" y="2544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6" name="Rectangle 307"/>
            <p:cNvSpPr>
              <a:spLocks noChangeArrowheads="1"/>
            </p:cNvSpPr>
            <p:nvPr/>
          </p:nvSpPr>
          <p:spPr bwMode="auto">
            <a:xfrm>
              <a:off x="2508" y="2416"/>
              <a:ext cx="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7" name="Rectangle 308"/>
            <p:cNvSpPr>
              <a:spLocks noChangeArrowheads="1"/>
            </p:cNvSpPr>
            <p:nvPr/>
          </p:nvSpPr>
          <p:spPr bwMode="auto">
            <a:xfrm>
              <a:off x="2764" y="2416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8" name="Rectangle 309"/>
            <p:cNvSpPr>
              <a:spLocks noChangeArrowheads="1"/>
            </p:cNvSpPr>
            <p:nvPr/>
          </p:nvSpPr>
          <p:spPr bwMode="auto">
            <a:xfrm>
              <a:off x="2767" y="2544"/>
              <a:ext cx="26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59" name="Rectangle 310"/>
            <p:cNvSpPr>
              <a:spLocks noChangeArrowheads="1"/>
            </p:cNvSpPr>
            <p:nvPr/>
          </p:nvSpPr>
          <p:spPr bwMode="auto">
            <a:xfrm>
              <a:off x="3024" y="2416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0" name="Rectangle 311"/>
            <p:cNvSpPr>
              <a:spLocks noChangeArrowheads="1"/>
            </p:cNvSpPr>
            <p:nvPr/>
          </p:nvSpPr>
          <p:spPr bwMode="auto">
            <a:xfrm>
              <a:off x="2852" y="2416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1" name="Rectangle 312"/>
            <p:cNvSpPr>
              <a:spLocks noChangeArrowheads="1"/>
            </p:cNvSpPr>
            <p:nvPr/>
          </p:nvSpPr>
          <p:spPr bwMode="auto">
            <a:xfrm>
              <a:off x="2855" y="2544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2" name="Rectangle 313"/>
            <p:cNvSpPr>
              <a:spLocks noChangeArrowheads="1"/>
            </p:cNvSpPr>
            <p:nvPr/>
          </p:nvSpPr>
          <p:spPr bwMode="auto">
            <a:xfrm>
              <a:off x="3111" y="2416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3" name="Rectangle 314"/>
            <p:cNvSpPr>
              <a:spLocks noChangeArrowheads="1"/>
            </p:cNvSpPr>
            <p:nvPr/>
          </p:nvSpPr>
          <p:spPr bwMode="auto">
            <a:xfrm>
              <a:off x="2228" y="2523"/>
              <a:ext cx="131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4" name="Rectangle 315"/>
            <p:cNvSpPr>
              <a:spLocks noChangeArrowheads="1"/>
            </p:cNvSpPr>
            <p:nvPr/>
          </p:nvSpPr>
          <p:spPr bwMode="auto">
            <a:xfrm>
              <a:off x="2228" y="2521"/>
              <a:ext cx="13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5" name="Rectangle 316"/>
            <p:cNvSpPr>
              <a:spLocks noChangeArrowheads="1"/>
            </p:cNvSpPr>
            <p:nvPr/>
          </p:nvSpPr>
          <p:spPr bwMode="auto">
            <a:xfrm>
              <a:off x="2359" y="2523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6" name="Rectangle 317"/>
            <p:cNvSpPr>
              <a:spLocks noChangeArrowheads="1"/>
            </p:cNvSpPr>
            <p:nvPr/>
          </p:nvSpPr>
          <p:spPr bwMode="auto">
            <a:xfrm>
              <a:off x="2225" y="2652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7" name="Rectangle 318"/>
            <p:cNvSpPr>
              <a:spLocks noChangeArrowheads="1"/>
            </p:cNvSpPr>
            <p:nvPr/>
          </p:nvSpPr>
          <p:spPr bwMode="auto">
            <a:xfrm>
              <a:off x="2225" y="2521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8" name="Rectangle 319"/>
            <p:cNvSpPr>
              <a:spLocks noChangeArrowheads="1"/>
            </p:cNvSpPr>
            <p:nvPr/>
          </p:nvSpPr>
          <p:spPr bwMode="auto">
            <a:xfrm>
              <a:off x="2747" y="2523"/>
              <a:ext cx="128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69" name="Rectangle 320"/>
            <p:cNvSpPr>
              <a:spLocks noChangeArrowheads="1"/>
            </p:cNvSpPr>
            <p:nvPr/>
          </p:nvSpPr>
          <p:spPr bwMode="auto">
            <a:xfrm>
              <a:off x="2747" y="2521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0" name="Rectangle 321"/>
            <p:cNvSpPr>
              <a:spLocks noChangeArrowheads="1"/>
            </p:cNvSpPr>
            <p:nvPr/>
          </p:nvSpPr>
          <p:spPr bwMode="auto">
            <a:xfrm>
              <a:off x="2875" y="2523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1" name="Rectangle 322"/>
            <p:cNvSpPr>
              <a:spLocks noChangeArrowheads="1"/>
            </p:cNvSpPr>
            <p:nvPr/>
          </p:nvSpPr>
          <p:spPr bwMode="auto">
            <a:xfrm>
              <a:off x="2744" y="2652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2" name="Rectangle 323"/>
            <p:cNvSpPr>
              <a:spLocks noChangeArrowheads="1"/>
            </p:cNvSpPr>
            <p:nvPr/>
          </p:nvSpPr>
          <p:spPr bwMode="auto">
            <a:xfrm>
              <a:off x="2744" y="2521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3" name="Rectangle 324"/>
            <p:cNvSpPr>
              <a:spLocks noChangeArrowheads="1"/>
            </p:cNvSpPr>
            <p:nvPr/>
          </p:nvSpPr>
          <p:spPr bwMode="auto">
            <a:xfrm>
              <a:off x="2487" y="2523"/>
              <a:ext cx="128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4" name="Rectangle 325"/>
            <p:cNvSpPr>
              <a:spLocks noChangeArrowheads="1"/>
            </p:cNvSpPr>
            <p:nvPr/>
          </p:nvSpPr>
          <p:spPr bwMode="auto">
            <a:xfrm>
              <a:off x="2487" y="2521"/>
              <a:ext cx="13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5" name="Rectangle 326"/>
            <p:cNvSpPr>
              <a:spLocks noChangeArrowheads="1"/>
            </p:cNvSpPr>
            <p:nvPr/>
          </p:nvSpPr>
          <p:spPr bwMode="auto">
            <a:xfrm>
              <a:off x="2615" y="2523"/>
              <a:ext cx="10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6" name="Rectangle 327"/>
            <p:cNvSpPr>
              <a:spLocks noChangeArrowheads="1"/>
            </p:cNvSpPr>
            <p:nvPr/>
          </p:nvSpPr>
          <p:spPr bwMode="auto">
            <a:xfrm>
              <a:off x="2484" y="2652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7" name="Rectangle 328"/>
            <p:cNvSpPr>
              <a:spLocks noChangeArrowheads="1"/>
            </p:cNvSpPr>
            <p:nvPr/>
          </p:nvSpPr>
          <p:spPr bwMode="auto">
            <a:xfrm>
              <a:off x="2484" y="2521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8" name="Rectangle 329"/>
            <p:cNvSpPr>
              <a:spLocks noChangeArrowheads="1"/>
            </p:cNvSpPr>
            <p:nvPr/>
          </p:nvSpPr>
          <p:spPr bwMode="auto">
            <a:xfrm>
              <a:off x="3004" y="2523"/>
              <a:ext cx="131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79" name="Rectangle 330"/>
            <p:cNvSpPr>
              <a:spLocks noChangeArrowheads="1"/>
            </p:cNvSpPr>
            <p:nvPr/>
          </p:nvSpPr>
          <p:spPr bwMode="auto">
            <a:xfrm>
              <a:off x="3004" y="2521"/>
              <a:ext cx="13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0" name="Rectangle 331"/>
            <p:cNvSpPr>
              <a:spLocks noChangeArrowheads="1"/>
            </p:cNvSpPr>
            <p:nvPr/>
          </p:nvSpPr>
          <p:spPr bwMode="auto">
            <a:xfrm>
              <a:off x="3135" y="2523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1" name="Rectangle 332"/>
            <p:cNvSpPr>
              <a:spLocks noChangeArrowheads="1"/>
            </p:cNvSpPr>
            <p:nvPr/>
          </p:nvSpPr>
          <p:spPr bwMode="auto">
            <a:xfrm>
              <a:off x="3001" y="2652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2" name="Rectangle 333"/>
            <p:cNvSpPr>
              <a:spLocks noChangeArrowheads="1"/>
            </p:cNvSpPr>
            <p:nvPr/>
          </p:nvSpPr>
          <p:spPr bwMode="auto">
            <a:xfrm>
              <a:off x="3001" y="2521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3" name="Rectangle 334"/>
            <p:cNvSpPr>
              <a:spLocks noChangeArrowheads="1"/>
            </p:cNvSpPr>
            <p:nvPr/>
          </p:nvSpPr>
          <p:spPr bwMode="auto">
            <a:xfrm>
              <a:off x="2467" y="2226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4" name="Rectangle 335"/>
            <p:cNvSpPr>
              <a:spLocks noChangeArrowheads="1"/>
            </p:cNvSpPr>
            <p:nvPr/>
          </p:nvSpPr>
          <p:spPr bwMode="auto">
            <a:xfrm>
              <a:off x="2630" y="2235"/>
              <a:ext cx="18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5" name="Rectangle 336"/>
            <p:cNvSpPr>
              <a:spLocks noChangeArrowheads="1"/>
            </p:cNvSpPr>
            <p:nvPr/>
          </p:nvSpPr>
          <p:spPr bwMode="auto">
            <a:xfrm>
              <a:off x="2458" y="2398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6" name="Rectangle 337"/>
            <p:cNvSpPr>
              <a:spLocks noChangeArrowheads="1"/>
            </p:cNvSpPr>
            <p:nvPr/>
          </p:nvSpPr>
          <p:spPr bwMode="auto">
            <a:xfrm>
              <a:off x="2458" y="2226"/>
              <a:ext cx="18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7" name="Rectangle 338"/>
            <p:cNvSpPr>
              <a:spLocks noChangeArrowheads="1"/>
            </p:cNvSpPr>
            <p:nvPr/>
          </p:nvSpPr>
          <p:spPr bwMode="auto">
            <a:xfrm>
              <a:off x="3171" y="2291"/>
              <a:ext cx="2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8" name="Rectangle 339"/>
            <p:cNvSpPr>
              <a:spLocks noChangeArrowheads="1"/>
            </p:cNvSpPr>
            <p:nvPr/>
          </p:nvSpPr>
          <p:spPr bwMode="auto">
            <a:xfrm>
              <a:off x="3155" y="2275"/>
              <a:ext cx="17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89" name="Rectangle 340"/>
            <p:cNvSpPr>
              <a:spLocks noChangeArrowheads="1"/>
            </p:cNvSpPr>
            <p:nvPr/>
          </p:nvSpPr>
          <p:spPr bwMode="auto">
            <a:xfrm>
              <a:off x="3171" y="2376"/>
              <a:ext cx="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0" name="Rectangle 341"/>
            <p:cNvSpPr>
              <a:spLocks noChangeArrowheads="1"/>
            </p:cNvSpPr>
            <p:nvPr/>
          </p:nvSpPr>
          <p:spPr bwMode="auto">
            <a:xfrm>
              <a:off x="3155" y="2360"/>
              <a:ext cx="17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1" name="Rectangle 342"/>
            <p:cNvSpPr>
              <a:spLocks noChangeArrowheads="1"/>
            </p:cNvSpPr>
            <p:nvPr/>
          </p:nvSpPr>
          <p:spPr bwMode="auto">
            <a:xfrm>
              <a:off x="2983" y="2226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2" name="Rectangle 343"/>
            <p:cNvSpPr>
              <a:spLocks noChangeArrowheads="1"/>
            </p:cNvSpPr>
            <p:nvPr/>
          </p:nvSpPr>
          <p:spPr bwMode="auto">
            <a:xfrm>
              <a:off x="3147" y="2235"/>
              <a:ext cx="17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3" name="Rectangle 344"/>
            <p:cNvSpPr>
              <a:spLocks noChangeArrowheads="1"/>
            </p:cNvSpPr>
            <p:nvPr/>
          </p:nvSpPr>
          <p:spPr bwMode="auto">
            <a:xfrm>
              <a:off x="2975" y="2398"/>
              <a:ext cx="180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4" name="Rectangle 345"/>
            <p:cNvSpPr>
              <a:spLocks noChangeArrowheads="1"/>
            </p:cNvSpPr>
            <p:nvPr/>
          </p:nvSpPr>
          <p:spPr bwMode="auto">
            <a:xfrm>
              <a:off x="2975" y="2226"/>
              <a:ext cx="17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5" name="Rectangle 346"/>
            <p:cNvSpPr>
              <a:spLocks noChangeArrowheads="1"/>
            </p:cNvSpPr>
            <p:nvPr/>
          </p:nvSpPr>
          <p:spPr bwMode="auto">
            <a:xfrm>
              <a:off x="2228" y="1987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6" name="Rectangle 347"/>
            <p:cNvSpPr>
              <a:spLocks noChangeArrowheads="1"/>
            </p:cNvSpPr>
            <p:nvPr/>
          </p:nvSpPr>
          <p:spPr bwMode="auto">
            <a:xfrm>
              <a:off x="2228" y="1984"/>
              <a:ext cx="13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7" name="Rectangle 348"/>
            <p:cNvSpPr>
              <a:spLocks noChangeArrowheads="1"/>
            </p:cNvSpPr>
            <p:nvPr/>
          </p:nvSpPr>
          <p:spPr bwMode="auto">
            <a:xfrm>
              <a:off x="2359" y="1987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8" name="Rectangle 349"/>
            <p:cNvSpPr>
              <a:spLocks noChangeArrowheads="1"/>
            </p:cNvSpPr>
            <p:nvPr/>
          </p:nvSpPr>
          <p:spPr bwMode="auto">
            <a:xfrm>
              <a:off x="2225" y="2115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3999" name="Rectangle 350"/>
            <p:cNvSpPr>
              <a:spLocks noChangeArrowheads="1"/>
            </p:cNvSpPr>
            <p:nvPr/>
          </p:nvSpPr>
          <p:spPr bwMode="auto">
            <a:xfrm>
              <a:off x="2225" y="1984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0" name="Rectangle 351"/>
            <p:cNvSpPr>
              <a:spLocks noChangeArrowheads="1"/>
            </p:cNvSpPr>
            <p:nvPr/>
          </p:nvSpPr>
          <p:spPr bwMode="auto">
            <a:xfrm>
              <a:off x="2747" y="1987"/>
              <a:ext cx="12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1" name="Rectangle 352"/>
            <p:cNvSpPr>
              <a:spLocks noChangeArrowheads="1"/>
            </p:cNvSpPr>
            <p:nvPr/>
          </p:nvSpPr>
          <p:spPr bwMode="auto">
            <a:xfrm>
              <a:off x="2747" y="1984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2" name="Rectangle 353"/>
            <p:cNvSpPr>
              <a:spLocks noChangeArrowheads="1"/>
            </p:cNvSpPr>
            <p:nvPr/>
          </p:nvSpPr>
          <p:spPr bwMode="auto">
            <a:xfrm>
              <a:off x="2875" y="1987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3" name="Rectangle 354"/>
            <p:cNvSpPr>
              <a:spLocks noChangeArrowheads="1"/>
            </p:cNvSpPr>
            <p:nvPr/>
          </p:nvSpPr>
          <p:spPr bwMode="auto">
            <a:xfrm>
              <a:off x="2744" y="2115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4" name="Rectangle 355"/>
            <p:cNvSpPr>
              <a:spLocks noChangeArrowheads="1"/>
            </p:cNvSpPr>
            <p:nvPr/>
          </p:nvSpPr>
          <p:spPr bwMode="auto">
            <a:xfrm>
              <a:off x="2744" y="1984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5" name="Rectangle 356"/>
            <p:cNvSpPr>
              <a:spLocks noChangeArrowheads="1"/>
            </p:cNvSpPr>
            <p:nvPr/>
          </p:nvSpPr>
          <p:spPr bwMode="auto">
            <a:xfrm>
              <a:off x="2487" y="1987"/>
              <a:ext cx="12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6" name="Rectangle 357"/>
            <p:cNvSpPr>
              <a:spLocks noChangeArrowheads="1"/>
            </p:cNvSpPr>
            <p:nvPr/>
          </p:nvSpPr>
          <p:spPr bwMode="auto">
            <a:xfrm>
              <a:off x="2487" y="1984"/>
              <a:ext cx="13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7" name="Rectangle 358"/>
            <p:cNvSpPr>
              <a:spLocks noChangeArrowheads="1"/>
            </p:cNvSpPr>
            <p:nvPr/>
          </p:nvSpPr>
          <p:spPr bwMode="auto">
            <a:xfrm>
              <a:off x="2615" y="1987"/>
              <a:ext cx="10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8" name="Rectangle 359"/>
            <p:cNvSpPr>
              <a:spLocks noChangeArrowheads="1"/>
            </p:cNvSpPr>
            <p:nvPr/>
          </p:nvSpPr>
          <p:spPr bwMode="auto">
            <a:xfrm>
              <a:off x="2484" y="2115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09" name="Rectangle 360"/>
            <p:cNvSpPr>
              <a:spLocks noChangeArrowheads="1"/>
            </p:cNvSpPr>
            <p:nvPr/>
          </p:nvSpPr>
          <p:spPr bwMode="auto">
            <a:xfrm>
              <a:off x="2484" y="1984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0" name="Rectangle 361"/>
            <p:cNvSpPr>
              <a:spLocks noChangeArrowheads="1"/>
            </p:cNvSpPr>
            <p:nvPr/>
          </p:nvSpPr>
          <p:spPr bwMode="auto">
            <a:xfrm>
              <a:off x="3153" y="2108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1" name="Rectangle 362"/>
            <p:cNvSpPr>
              <a:spLocks noChangeArrowheads="1"/>
            </p:cNvSpPr>
            <p:nvPr/>
          </p:nvSpPr>
          <p:spPr bwMode="auto">
            <a:xfrm>
              <a:off x="3138" y="2092"/>
              <a:ext cx="190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2" name="Rectangle 363"/>
            <p:cNvSpPr>
              <a:spLocks noChangeArrowheads="1"/>
            </p:cNvSpPr>
            <p:nvPr/>
          </p:nvSpPr>
          <p:spPr bwMode="auto">
            <a:xfrm>
              <a:off x="3004" y="1987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3" name="Rectangle 364"/>
            <p:cNvSpPr>
              <a:spLocks noChangeArrowheads="1"/>
            </p:cNvSpPr>
            <p:nvPr/>
          </p:nvSpPr>
          <p:spPr bwMode="auto">
            <a:xfrm>
              <a:off x="3004" y="1984"/>
              <a:ext cx="13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4" name="Rectangle 365"/>
            <p:cNvSpPr>
              <a:spLocks noChangeArrowheads="1"/>
            </p:cNvSpPr>
            <p:nvPr/>
          </p:nvSpPr>
          <p:spPr bwMode="auto">
            <a:xfrm>
              <a:off x="3135" y="1987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5" name="Rectangle 366"/>
            <p:cNvSpPr>
              <a:spLocks noChangeArrowheads="1"/>
            </p:cNvSpPr>
            <p:nvPr/>
          </p:nvSpPr>
          <p:spPr bwMode="auto">
            <a:xfrm>
              <a:off x="3001" y="2115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6" name="Rectangle 367"/>
            <p:cNvSpPr>
              <a:spLocks noChangeArrowheads="1"/>
            </p:cNvSpPr>
            <p:nvPr/>
          </p:nvSpPr>
          <p:spPr bwMode="auto">
            <a:xfrm>
              <a:off x="3001" y="1984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17" name="Freeform 368"/>
            <p:cNvSpPr>
              <a:spLocks/>
            </p:cNvSpPr>
            <p:nvPr/>
          </p:nvSpPr>
          <p:spPr bwMode="auto">
            <a:xfrm>
              <a:off x="2030" y="3019"/>
              <a:ext cx="14" cy="15"/>
            </a:xfrm>
            <a:custGeom>
              <a:avLst/>
              <a:gdLst>
                <a:gd name="T0" fmla="*/ 0 w 29"/>
                <a:gd name="T1" fmla="*/ 0 h 30"/>
                <a:gd name="T2" fmla="*/ 0 w 29"/>
                <a:gd name="T3" fmla="*/ 1 h 30"/>
                <a:gd name="T4" fmla="*/ 0 w 29"/>
                <a:gd name="T5" fmla="*/ 1 h 30"/>
                <a:gd name="T6" fmla="*/ 0 w 29"/>
                <a:gd name="T7" fmla="*/ 1 h 30"/>
                <a:gd name="T8" fmla="*/ 0 w 29"/>
                <a:gd name="T9" fmla="*/ 1 h 30"/>
                <a:gd name="T10" fmla="*/ 0 w 29"/>
                <a:gd name="T11" fmla="*/ 1 h 30"/>
                <a:gd name="T12" fmla="*/ 0 w 29"/>
                <a:gd name="T13" fmla="*/ 1 h 30"/>
                <a:gd name="T14" fmla="*/ 0 w 29"/>
                <a:gd name="T15" fmla="*/ 1 h 30"/>
                <a:gd name="T16" fmla="*/ 0 w 29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0"/>
                <a:gd name="T29" fmla="*/ 29 w 29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0">
                  <a:moveTo>
                    <a:pt x="11" y="0"/>
                  </a:moveTo>
                  <a:lnTo>
                    <a:pt x="5" y="6"/>
                  </a:lnTo>
                  <a:lnTo>
                    <a:pt x="0" y="19"/>
                  </a:lnTo>
                  <a:lnTo>
                    <a:pt x="5" y="25"/>
                  </a:lnTo>
                  <a:lnTo>
                    <a:pt x="11" y="30"/>
                  </a:lnTo>
                  <a:lnTo>
                    <a:pt x="23" y="25"/>
                  </a:lnTo>
                  <a:lnTo>
                    <a:pt x="29" y="19"/>
                  </a:lnTo>
                  <a:lnTo>
                    <a:pt x="23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18" name="Freeform 369"/>
            <p:cNvSpPr>
              <a:spLocks/>
            </p:cNvSpPr>
            <p:nvPr/>
          </p:nvSpPr>
          <p:spPr bwMode="auto">
            <a:xfrm>
              <a:off x="2027" y="3014"/>
              <a:ext cx="23" cy="23"/>
            </a:xfrm>
            <a:custGeom>
              <a:avLst/>
              <a:gdLst>
                <a:gd name="T0" fmla="*/ 1 w 46"/>
                <a:gd name="T1" fmla="*/ 0 h 47"/>
                <a:gd name="T2" fmla="*/ 1 w 46"/>
                <a:gd name="T3" fmla="*/ 0 h 47"/>
                <a:gd name="T4" fmla="*/ 1 w 46"/>
                <a:gd name="T5" fmla="*/ 0 h 47"/>
                <a:gd name="T6" fmla="*/ 1 w 46"/>
                <a:gd name="T7" fmla="*/ 0 h 47"/>
                <a:gd name="T8" fmla="*/ 1 w 46"/>
                <a:gd name="T9" fmla="*/ 0 h 47"/>
                <a:gd name="T10" fmla="*/ 1 w 46"/>
                <a:gd name="T11" fmla="*/ 0 h 47"/>
                <a:gd name="T12" fmla="*/ 1 w 46"/>
                <a:gd name="T13" fmla="*/ 0 h 47"/>
                <a:gd name="T14" fmla="*/ 1 w 46"/>
                <a:gd name="T15" fmla="*/ 0 h 47"/>
                <a:gd name="T16" fmla="*/ 1 w 46"/>
                <a:gd name="T17" fmla="*/ 0 h 47"/>
                <a:gd name="T18" fmla="*/ 1 w 46"/>
                <a:gd name="T19" fmla="*/ 0 h 47"/>
                <a:gd name="T20" fmla="*/ 1 w 46"/>
                <a:gd name="T21" fmla="*/ 0 h 47"/>
                <a:gd name="T22" fmla="*/ 1 w 46"/>
                <a:gd name="T23" fmla="*/ 0 h 47"/>
                <a:gd name="T24" fmla="*/ 1 w 46"/>
                <a:gd name="T25" fmla="*/ 0 h 47"/>
                <a:gd name="T26" fmla="*/ 1 w 46"/>
                <a:gd name="T27" fmla="*/ 0 h 47"/>
                <a:gd name="T28" fmla="*/ 1 w 46"/>
                <a:gd name="T29" fmla="*/ 0 h 47"/>
                <a:gd name="T30" fmla="*/ 1 w 46"/>
                <a:gd name="T31" fmla="*/ 0 h 47"/>
                <a:gd name="T32" fmla="*/ 1 w 46"/>
                <a:gd name="T33" fmla="*/ 0 h 47"/>
                <a:gd name="T34" fmla="*/ 1 w 46"/>
                <a:gd name="T35" fmla="*/ 0 h 47"/>
                <a:gd name="T36" fmla="*/ 1 w 46"/>
                <a:gd name="T37" fmla="*/ 0 h 47"/>
                <a:gd name="T38" fmla="*/ 1 w 46"/>
                <a:gd name="T39" fmla="*/ 0 h 47"/>
                <a:gd name="T40" fmla="*/ 1 w 46"/>
                <a:gd name="T41" fmla="*/ 0 h 47"/>
                <a:gd name="T42" fmla="*/ 1 w 46"/>
                <a:gd name="T43" fmla="*/ 0 h 47"/>
                <a:gd name="T44" fmla="*/ 1 w 46"/>
                <a:gd name="T45" fmla="*/ 0 h 47"/>
                <a:gd name="T46" fmla="*/ 1 w 46"/>
                <a:gd name="T47" fmla="*/ 0 h 47"/>
                <a:gd name="T48" fmla="*/ 1 w 46"/>
                <a:gd name="T49" fmla="*/ 0 h 47"/>
                <a:gd name="T50" fmla="*/ 1 w 46"/>
                <a:gd name="T51" fmla="*/ 0 h 47"/>
                <a:gd name="T52" fmla="*/ 1 w 46"/>
                <a:gd name="T53" fmla="*/ 0 h 47"/>
                <a:gd name="T54" fmla="*/ 1 w 46"/>
                <a:gd name="T55" fmla="*/ 0 h 47"/>
                <a:gd name="T56" fmla="*/ 1 w 46"/>
                <a:gd name="T57" fmla="*/ 0 h 47"/>
                <a:gd name="T58" fmla="*/ 1 w 46"/>
                <a:gd name="T59" fmla="*/ 0 h 47"/>
                <a:gd name="T60" fmla="*/ 1 w 46"/>
                <a:gd name="T61" fmla="*/ 0 h 47"/>
                <a:gd name="T62" fmla="*/ 1 w 46"/>
                <a:gd name="T63" fmla="*/ 0 h 47"/>
                <a:gd name="T64" fmla="*/ 1 w 46"/>
                <a:gd name="T65" fmla="*/ 0 h 47"/>
                <a:gd name="T66" fmla="*/ 1 w 46"/>
                <a:gd name="T67" fmla="*/ 0 h 47"/>
                <a:gd name="T68" fmla="*/ 1 w 46"/>
                <a:gd name="T69" fmla="*/ 0 h 47"/>
                <a:gd name="T70" fmla="*/ 1 w 46"/>
                <a:gd name="T71" fmla="*/ 0 h 47"/>
                <a:gd name="T72" fmla="*/ 1 w 46"/>
                <a:gd name="T73" fmla="*/ 0 h 47"/>
                <a:gd name="T74" fmla="*/ 1 w 46"/>
                <a:gd name="T75" fmla="*/ 0 h 47"/>
                <a:gd name="T76" fmla="*/ 1 w 46"/>
                <a:gd name="T77" fmla="*/ 0 h 47"/>
                <a:gd name="T78" fmla="*/ 1 w 46"/>
                <a:gd name="T79" fmla="*/ 0 h 47"/>
                <a:gd name="T80" fmla="*/ 1 w 46"/>
                <a:gd name="T81" fmla="*/ 0 h 47"/>
                <a:gd name="T82" fmla="*/ 0 w 46"/>
                <a:gd name="T83" fmla="*/ 0 h 47"/>
                <a:gd name="T84" fmla="*/ 0 w 46"/>
                <a:gd name="T85" fmla="*/ 0 h 47"/>
                <a:gd name="T86" fmla="*/ 0 w 46"/>
                <a:gd name="T87" fmla="*/ 0 h 47"/>
                <a:gd name="T88" fmla="*/ 1 w 46"/>
                <a:gd name="T89" fmla="*/ 0 h 47"/>
                <a:gd name="T90" fmla="*/ 1 w 46"/>
                <a:gd name="T91" fmla="*/ 0 h 47"/>
                <a:gd name="T92" fmla="*/ 1 w 46"/>
                <a:gd name="T93" fmla="*/ 0 h 47"/>
                <a:gd name="T94" fmla="*/ 1 w 46"/>
                <a:gd name="T95" fmla="*/ 0 h 47"/>
                <a:gd name="T96" fmla="*/ 1 w 46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7"/>
                <a:gd name="T149" fmla="*/ 46 w 46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7">
                  <a:moveTo>
                    <a:pt x="23" y="17"/>
                  </a:moveTo>
                  <a:lnTo>
                    <a:pt x="17" y="24"/>
                  </a:lnTo>
                  <a:lnTo>
                    <a:pt x="23" y="17"/>
                  </a:lnTo>
                  <a:lnTo>
                    <a:pt x="17" y="30"/>
                  </a:lnTo>
                  <a:lnTo>
                    <a:pt x="11" y="24"/>
                  </a:lnTo>
                  <a:lnTo>
                    <a:pt x="17" y="30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29" y="24"/>
                  </a:lnTo>
                  <a:lnTo>
                    <a:pt x="23" y="30"/>
                  </a:lnTo>
                  <a:lnTo>
                    <a:pt x="29" y="24"/>
                  </a:lnTo>
                  <a:lnTo>
                    <a:pt x="29" y="30"/>
                  </a:lnTo>
                  <a:lnTo>
                    <a:pt x="23" y="17"/>
                  </a:lnTo>
                  <a:lnTo>
                    <a:pt x="29" y="24"/>
                  </a:lnTo>
                  <a:lnTo>
                    <a:pt x="17" y="17"/>
                  </a:lnTo>
                  <a:lnTo>
                    <a:pt x="23" y="0"/>
                  </a:lnTo>
                  <a:lnTo>
                    <a:pt x="35" y="7"/>
                  </a:lnTo>
                  <a:lnTo>
                    <a:pt x="40" y="11"/>
                  </a:lnTo>
                  <a:lnTo>
                    <a:pt x="46" y="24"/>
                  </a:lnTo>
                  <a:lnTo>
                    <a:pt x="40" y="36"/>
                  </a:lnTo>
                  <a:lnTo>
                    <a:pt x="35" y="41"/>
                  </a:lnTo>
                  <a:lnTo>
                    <a:pt x="23" y="47"/>
                  </a:lnTo>
                  <a:lnTo>
                    <a:pt x="11" y="47"/>
                  </a:lnTo>
                  <a:lnTo>
                    <a:pt x="6" y="41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6" y="11"/>
                  </a:lnTo>
                  <a:lnTo>
                    <a:pt x="11" y="7"/>
                  </a:lnTo>
                  <a:lnTo>
                    <a:pt x="23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19" name="Freeform 370"/>
            <p:cNvSpPr>
              <a:spLocks/>
            </p:cNvSpPr>
            <p:nvPr/>
          </p:nvSpPr>
          <p:spPr bwMode="auto">
            <a:xfrm>
              <a:off x="2032" y="3014"/>
              <a:ext cx="6" cy="8"/>
            </a:xfrm>
            <a:custGeom>
              <a:avLst/>
              <a:gdLst>
                <a:gd name="T0" fmla="*/ 1 w 12"/>
                <a:gd name="T1" fmla="*/ 0 h 17"/>
                <a:gd name="T2" fmla="*/ 1 w 12"/>
                <a:gd name="T3" fmla="*/ 0 h 17"/>
                <a:gd name="T4" fmla="*/ 1 w 12"/>
                <a:gd name="T5" fmla="*/ 0 h 17"/>
                <a:gd name="T6" fmla="*/ 0 w 12"/>
                <a:gd name="T7" fmla="*/ 0 h 17"/>
                <a:gd name="T8" fmla="*/ 1 w 12"/>
                <a:gd name="T9" fmla="*/ 0 h 17"/>
                <a:gd name="T10" fmla="*/ 1 w 12"/>
                <a:gd name="T11" fmla="*/ 0 h 17"/>
                <a:gd name="T12" fmla="*/ 1 w 12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17"/>
                <a:gd name="T23" fmla="*/ 12 w 12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17">
                  <a:moveTo>
                    <a:pt x="6" y="17"/>
                  </a:moveTo>
                  <a:lnTo>
                    <a:pt x="6" y="17"/>
                  </a:lnTo>
                  <a:lnTo>
                    <a:pt x="12" y="17"/>
                  </a:lnTo>
                  <a:lnTo>
                    <a:pt x="0" y="7"/>
                  </a:lnTo>
                  <a:lnTo>
                    <a:pt x="12" y="0"/>
                  </a:lnTo>
                  <a:lnTo>
                    <a:pt x="6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20" name="Freeform 371"/>
            <p:cNvSpPr>
              <a:spLocks/>
            </p:cNvSpPr>
            <p:nvPr/>
          </p:nvSpPr>
          <p:spPr bwMode="auto">
            <a:xfrm>
              <a:off x="2030" y="2961"/>
              <a:ext cx="14" cy="14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0 w 29"/>
                <a:gd name="T9" fmla="*/ 0 h 29"/>
                <a:gd name="T10" fmla="*/ 0 w 29"/>
                <a:gd name="T11" fmla="*/ 0 h 29"/>
                <a:gd name="T12" fmla="*/ 0 w 29"/>
                <a:gd name="T13" fmla="*/ 0 h 29"/>
                <a:gd name="T14" fmla="*/ 0 w 29"/>
                <a:gd name="T15" fmla="*/ 0 h 29"/>
                <a:gd name="T16" fmla="*/ 0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11" y="0"/>
                  </a:moveTo>
                  <a:lnTo>
                    <a:pt x="5" y="6"/>
                  </a:lnTo>
                  <a:lnTo>
                    <a:pt x="0" y="18"/>
                  </a:lnTo>
                  <a:lnTo>
                    <a:pt x="5" y="24"/>
                  </a:lnTo>
                  <a:lnTo>
                    <a:pt x="11" y="29"/>
                  </a:lnTo>
                  <a:lnTo>
                    <a:pt x="23" y="24"/>
                  </a:lnTo>
                  <a:lnTo>
                    <a:pt x="29" y="18"/>
                  </a:lnTo>
                  <a:lnTo>
                    <a:pt x="23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21" name="Freeform 372"/>
            <p:cNvSpPr>
              <a:spLocks/>
            </p:cNvSpPr>
            <p:nvPr/>
          </p:nvSpPr>
          <p:spPr bwMode="auto">
            <a:xfrm>
              <a:off x="2027" y="2955"/>
              <a:ext cx="23" cy="23"/>
            </a:xfrm>
            <a:custGeom>
              <a:avLst/>
              <a:gdLst>
                <a:gd name="T0" fmla="*/ 1 w 46"/>
                <a:gd name="T1" fmla="*/ 1 h 46"/>
                <a:gd name="T2" fmla="*/ 1 w 46"/>
                <a:gd name="T3" fmla="*/ 1 h 46"/>
                <a:gd name="T4" fmla="*/ 1 w 46"/>
                <a:gd name="T5" fmla="*/ 1 h 46"/>
                <a:gd name="T6" fmla="*/ 1 w 46"/>
                <a:gd name="T7" fmla="*/ 1 h 46"/>
                <a:gd name="T8" fmla="*/ 1 w 46"/>
                <a:gd name="T9" fmla="*/ 1 h 46"/>
                <a:gd name="T10" fmla="*/ 1 w 46"/>
                <a:gd name="T11" fmla="*/ 1 h 46"/>
                <a:gd name="T12" fmla="*/ 1 w 46"/>
                <a:gd name="T13" fmla="*/ 1 h 46"/>
                <a:gd name="T14" fmla="*/ 1 w 46"/>
                <a:gd name="T15" fmla="*/ 1 h 46"/>
                <a:gd name="T16" fmla="*/ 1 w 46"/>
                <a:gd name="T17" fmla="*/ 1 h 46"/>
                <a:gd name="T18" fmla="*/ 1 w 46"/>
                <a:gd name="T19" fmla="*/ 1 h 46"/>
                <a:gd name="T20" fmla="*/ 1 w 46"/>
                <a:gd name="T21" fmla="*/ 1 h 46"/>
                <a:gd name="T22" fmla="*/ 1 w 46"/>
                <a:gd name="T23" fmla="*/ 1 h 46"/>
                <a:gd name="T24" fmla="*/ 1 w 46"/>
                <a:gd name="T25" fmla="*/ 1 h 46"/>
                <a:gd name="T26" fmla="*/ 1 w 46"/>
                <a:gd name="T27" fmla="*/ 1 h 46"/>
                <a:gd name="T28" fmla="*/ 1 w 46"/>
                <a:gd name="T29" fmla="*/ 1 h 46"/>
                <a:gd name="T30" fmla="*/ 1 w 46"/>
                <a:gd name="T31" fmla="*/ 1 h 46"/>
                <a:gd name="T32" fmla="*/ 1 w 46"/>
                <a:gd name="T33" fmla="*/ 1 h 46"/>
                <a:gd name="T34" fmla="*/ 1 w 46"/>
                <a:gd name="T35" fmla="*/ 1 h 46"/>
                <a:gd name="T36" fmla="*/ 1 w 46"/>
                <a:gd name="T37" fmla="*/ 1 h 46"/>
                <a:gd name="T38" fmla="*/ 1 w 46"/>
                <a:gd name="T39" fmla="*/ 1 h 46"/>
                <a:gd name="T40" fmla="*/ 1 w 46"/>
                <a:gd name="T41" fmla="*/ 1 h 46"/>
                <a:gd name="T42" fmla="*/ 1 w 46"/>
                <a:gd name="T43" fmla="*/ 1 h 46"/>
                <a:gd name="T44" fmla="*/ 1 w 46"/>
                <a:gd name="T45" fmla="*/ 1 h 46"/>
                <a:gd name="T46" fmla="*/ 1 w 46"/>
                <a:gd name="T47" fmla="*/ 1 h 46"/>
                <a:gd name="T48" fmla="*/ 1 w 46"/>
                <a:gd name="T49" fmla="*/ 0 h 46"/>
                <a:gd name="T50" fmla="*/ 1 w 46"/>
                <a:gd name="T51" fmla="*/ 0 h 46"/>
                <a:gd name="T52" fmla="*/ 1 w 46"/>
                <a:gd name="T53" fmla="*/ 1 h 46"/>
                <a:gd name="T54" fmla="*/ 1 w 46"/>
                <a:gd name="T55" fmla="*/ 1 h 46"/>
                <a:gd name="T56" fmla="*/ 1 w 46"/>
                <a:gd name="T57" fmla="*/ 1 h 46"/>
                <a:gd name="T58" fmla="*/ 1 w 46"/>
                <a:gd name="T59" fmla="*/ 1 h 46"/>
                <a:gd name="T60" fmla="*/ 1 w 46"/>
                <a:gd name="T61" fmla="*/ 1 h 46"/>
                <a:gd name="T62" fmla="*/ 1 w 46"/>
                <a:gd name="T63" fmla="*/ 1 h 46"/>
                <a:gd name="T64" fmla="*/ 1 w 46"/>
                <a:gd name="T65" fmla="*/ 1 h 46"/>
                <a:gd name="T66" fmla="*/ 1 w 46"/>
                <a:gd name="T67" fmla="*/ 1 h 46"/>
                <a:gd name="T68" fmla="*/ 1 w 46"/>
                <a:gd name="T69" fmla="*/ 1 h 46"/>
                <a:gd name="T70" fmla="*/ 1 w 46"/>
                <a:gd name="T71" fmla="*/ 1 h 46"/>
                <a:gd name="T72" fmla="*/ 1 w 46"/>
                <a:gd name="T73" fmla="*/ 1 h 46"/>
                <a:gd name="T74" fmla="*/ 1 w 46"/>
                <a:gd name="T75" fmla="*/ 1 h 46"/>
                <a:gd name="T76" fmla="*/ 1 w 46"/>
                <a:gd name="T77" fmla="*/ 1 h 46"/>
                <a:gd name="T78" fmla="*/ 1 w 46"/>
                <a:gd name="T79" fmla="*/ 1 h 46"/>
                <a:gd name="T80" fmla="*/ 1 w 46"/>
                <a:gd name="T81" fmla="*/ 1 h 46"/>
                <a:gd name="T82" fmla="*/ 0 w 46"/>
                <a:gd name="T83" fmla="*/ 1 h 46"/>
                <a:gd name="T84" fmla="*/ 0 w 46"/>
                <a:gd name="T85" fmla="*/ 1 h 46"/>
                <a:gd name="T86" fmla="*/ 0 w 46"/>
                <a:gd name="T87" fmla="*/ 1 h 46"/>
                <a:gd name="T88" fmla="*/ 1 w 46"/>
                <a:gd name="T89" fmla="*/ 1 h 46"/>
                <a:gd name="T90" fmla="*/ 1 w 46"/>
                <a:gd name="T91" fmla="*/ 1 h 46"/>
                <a:gd name="T92" fmla="*/ 1 w 46"/>
                <a:gd name="T93" fmla="*/ 1 h 46"/>
                <a:gd name="T94" fmla="*/ 1 w 46"/>
                <a:gd name="T95" fmla="*/ 1 h 46"/>
                <a:gd name="T96" fmla="*/ 1 w 46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6"/>
                <a:gd name="T149" fmla="*/ 46 w 46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6">
                  <a:moveTo>
                    <a:pt x="23" y="17"/>
                  </a:moveTo>
                  <a:lnTo>
                    <a:pt x="17" y="23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1" y="23"/>
                  </a:lnTo>
                  <a:lnTo>
                    <a:pt x="17" y="29"/>
                  </a:lnTo>
                  <a:lnTo>
                    <a:pt x="23" y="35"/>
                  </a:lnTo>
                  <a:lnTo>
                    <a:pt x="17" y="29"/>
                  </a:lnTo>
                  <a:lnTo>
                    <a:pt x="29" y="23"/>
                  </a:lnTo>
                  <a:lnTo>
                    <a:pt x="23" y="29"/>
                  </a:lnTo>
                  <a:lnTo>
                    <a:pt x="29" y="23"/>
                  </a:lnTo>
                  <a:lnTo>
                    <a:pt x="29" y="29"/>
                  </a:lnTo>
                  <a:lnTo>
                    <a:pt x="23" y="17"/>
                  </a:lnTo>
                  <a:lnTo>
                    <a:pt x="29" y="23"/>
                  </a:lnTo>
                  <a:lnTo>
                    <a:pt x="17" y="17"/>
                  </a:lnTo>
                  <a:lnTo>
                    <a:pt x="23" y="0"/>
                  </a:lnTo>
                  <a:lnTo>
                    <a:pt x="35" y="6"/>
                  </a:lnTo>
                  <a:lnTo>
                    <a:pt x="40" y="11"/>
                  </a:lnTo>
                  <a:lnTo>
                    <a:pt x="46" y="23"/>
                  </a:lnTo>
                  <a:lnTo>
                    <a:pt x="40" y="35"/>
                  </a:lnTo>
                  <a:lnTo>
                    <a:pt x="35" y="40"/>
                  </a:lnTo>
                  <a:lnTo>
                    <a:pt x="23" y="46"/>
                  </a:lnTo>
                  <a:lnTo>
                    <a:pt x="11" y="46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1" y="6"/>
                  </a:lnTo>
                  <a:lnTo>
                    <a:pt x="23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22" name="Freeform 373"/>
            <p:cNvSpPr>
              <a:spLocks/>
            </p:cNvSpPr>
            <p:nvPr/>
          </p:nvSpPr>
          <p:spPr bwMode="auto">
            <a:xfrm>
              <a:off x="2032" y="2955"/>
              <a:ext cx="6" cy="9"/>
            </a:xfrm>
            <a:custGeom>
              <a:avLst/>
              <a:gdLst>
                <a:gd name="T0" fmla="*/ 1 w 12"/>
                <a:gd name="T1" fmla="*/ 1 h 17"/>
                <a:gd name="T2" fmla="*/ 1 w 12"/>
                <a:gd name="T3" fmla="*/ 1 h 17"/>
                <a:gd name="T4" fmla="*/ 1 w 12"/>
                <a:gd name="T5" fmla="*/ 1 h 17"/>
                <a:gd name="T6" fmla="*/ 0 w 12"/>
                <a:gd name="T7" fmla="*/ 1 h 17"/>
                <a:gd name="T8" fmla="*/ 1 w 12"/>
                <a:gd name="T9" fmla="*/ 0 h 17"/>
                <a:gd name="T10" fmla="*/ 1 w 12"/>
                <a:gd name="T11" fmla="*/ 0 h 17"/>
                <a:gd name="T12" fmla="*/ 1 w 12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17"/>
                <a:gd name="T23" fmla="*/ 12 w 12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17">
                  <a:moveTo>
                    <a:pt x="6" y="17"/>
                  </a:moveTo>
                  <a:lnTo>
                    <a:pt x="6" y="17"/>
                  </a:lnTo>
                  <a:lnTo>
                    <a:pt x="12" y="17"/>
                  </a:lnTo>
                  <a:lnTo>
                    <a:pt x="0" y="6"/>
                  </a:lnTo>
                  <a:lnTo>
                    <a:pt x="12" y="0"/>
                  </a:lnTo>
                  <a:lnTo>
                    <a:pt x="6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23" name="Freeform 374"/>
            <p:cNvSpPr>
              <a:spLocks/>
            </p:cNvSpPr>
            <p:nvPr/>
          </p:nvSpPr>
          <p:spPr bwMode="auto">
            <a:xfrm>
              <a:off x="2030" y="2903"/>
              <a:ext cx="14" cy="14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0 w 29"/>
                <a:gd name="T9" fmla="*/ 0 h 29"/>
                <a:gd name="T10" fmla="*/ 0 w 29"/>
                <a:gd name="T11" fmla="*/ 0 h 29"/>
                <a:gd name="T12" fmla="*/ 0 w 29"/>
                <a:gd name="T13" fmla="*/ 0 h 29"/>
                <a:gd name="T14" fmla="*/ 0 w 29"/>
                <a:gd name="T15" fmla="*/ 0 h 29"/>
                <a:gd name="T16" fmla="*/ 0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11" y="0"/>
                  </a:moveTo>
                  <a:lnTo>
                    <a:pt x="5" y="6"/>
                  </a:lnTo>
                  <a:lnTo>
                    <a:pt x="0" y="18"/>
                  </a:lnTo>
                  <a:lnTo>
                    <a:pt x="5" y="24"/>
                  </a:lnTo>
                  <a:lnTo>
                    <a:pt x="11" y="29"/>
                  </a:lnTo>
                  <a:lnTo>
                    <a:pt x="23" y="24"/>
                  </a:lnTo>
                  <a:lnTo>
                    <a:pt x="29" y="18"/>
                  </a:lnTo>
                  <a:lnTo>
                    <a:pt x="23" y="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24" name="Freeform 375"/>
            <p:cNvSpPr>
              <a:spLocks/>
            </p:cNvSpPr>
            <p:nvPr/>
          </p:nvSpPr>
          <p:spPr bwMode="auto">
            <a:xfrm>
              <a:off x="2027" y="2897"/>
              <a:ext cx="23" cy="23"/>
            </a:xfrm>
            <a:custGeom>
              <a:avLst/>
              <a:gdLst>
                <a:gd name="T0" fmla="*/ 1 w 46"/>
                <a:gd name="T1" fmla="*/ 1 h 46"/>
                <a:gd name="T2" fmla="*/ 1 w 46"/>
                <a:gd name="T3" fmla="*/ 1 h 46"/>
                <a:gd name="T4" fmla="*/ 1 w 46"/>
                <a:gd name="T5" fmla="*/ 1 h 46"/>
                <a:gd name="T6" fmla="*/ 1 w 46"/>
                <a:gd name="T7" fmla="*/ 1 h 46"/>
                <a:gd name="T8" fmla="*/ 1 w 46"/>
                <a:gd name="T9" fmla="*/ 1 h 46"/>
                <a:gd name="T10" fmla="*/ 1 w 46"/>
                <a:gd name="T11" fmla="*/ 1 h 46"/>
                <a:gd name="T12" fmla="*/ 1 w 46"/>
                <a:gd name="T13" fmla="*/ 1 h 46"/>
                <a:gd name="T14" fmla="*/ 1 w 46"/>
                <a:gd name="T15" fmla="*/ 1 h 46"/>
                <a:gd name="T16" fmla="*/ 1 w 46"/>
                <a:gd name="T17" fmla="*/ 1 h 46"/>
                <a:gd name="T18" fmla="*/ 1 w 46"/>
                <a:gd name="T19" fmla="*/ 1 h 46"/>
                <a:gd name="T20" fmla="*/ 1 w 46"/>
                <a:gd name="T21" fmla="*/ 1 h 46"/>
                <a:gd name="T22" fmla="*/ 1 w 46"/>
                <a:gd name="T23" fmla="*/ 1 h 46"/>
                <a:gd name="T24" fmla="*/ 1 w 46"/>
                <a:gd name="T25" fmla="*/ 1 h 46"/>
                <a:gd name="T26" fmla="*/ 1 w 46"/>
                <a:gd name="T27" fmla="*/ 1 h 46"/>
                <a:gd name="T28" fmla="*/ 1 w 46"/>
                <a:gd name="T29" fmla="*/ 1 h 46"/>
                <a:gd name="T30" fmla="*/ 1 w 46"/>
                <a:gd name="T31" fmla="*/ 1 h 46"/>
                <a:gd name="T32" fmla="*/ 1 w 46"/>
                <a:gd name="T33" fmla="*/ 1 h 46"/>
                <a:gd name="T34" fmla="*/ 1 w 46"/>
                <a:gd name="T35" fmla="*/ 1 h 46"/>
                <a:gd name="T36" fmla="*/ 1 w 46"/>
                <a:gd name="T37" fmla="*/ 1 h 46"/>
                <a:gd name="T38" fmla="*/ 1 w 46"/>
                <a:gd name="T39" fmla="*/ 1 h 46"/>
                <a:gd name="T40" fmla="*/ 1 w 46"/>
                <a:gd name="T41" fmla="*/ 1 h 46"/>
                <a:gd name="T42" fmla="*/ 1 w 46"/>
                <a:gd name="T43" fmla="*/ 1 h 46"/>
                <a:gd name="T44" fmla="*/ 1 w 46"/>
                <a:gd name="T45" fmla="*/ 1 h 46"/>
                <a:gd name="T46" fmla="*/ 1 w 46"/>
                <a:gd name="T47" fmla="*/ 1 h 46"/>
                <a:gd name="T48" fmla="*/ 1 w 46"/>
                <a:gd name="T49" fmla="*/ 0 h 46"/>
                <a:gd name="T50" fmla="*/ 1 w 46"/>
                <a:gd name="T51" fmla="*/ 0 h 46"/>
                <a:gd name="T52" fmla="*/ 1 w 46"/>
                <a:gd name="T53" fmla="*/ 1 h 46"/>
                <a:gd name="T54" fmla="*/ 1 w 46"/>
                <a:gd name="T55" fmla="*/ 1 h 46"/>
                <a:gd name="T56" fmla="*/ 1 w 46"/>
                <a:gd name="T57" fmla="*/ 1 h 46"/>
                <a:gd name="T58" fmla="*/ 1 w 46"/>
                <a:gd name="T59" fmla="*/ 1 h 46"/>
                <a:gd name="T60" fmla="*/ 1 w 46"/>
                <a:gd name="T61" fmla="*/ 1 h 46"/>
                <a:gd name="T62" fmla="*/ 1 w 46"/>
                <a:gd name="T63" fmla="*/ 1 h 46"/>
                <a:gd name="T64" fmla="*/ 1 w 46"/>
                <a:gd name="T65" fmla="*/ 1 h 46"/>
                <a:gd name="T66" fmla="*/ 1 w 46"/>
                <a:gd name="T67" fmla="*/ 1 h 46"/>
                <a:gd name="T68" fmla="*/ 1 w 46"/>
                <a:gd name="T69" fmla="*/ 1 h 46"/>
                <a:gd name="T70" fmla="*/ 1 w 46"/>
                <a:gd name="T71" fmla="*/ 1 h 46"/>
                <a:gd name="T72" fmla="*/ 1 w 46"/>
                <a:gd name="T73" fmla="*/ 1 h 46"/>
                <a:gd name="T74" fmla="*/ 1 w 46"/>
                <a:gd name="T75" fmla="*/ 1 h 46"/>
                <a:gd name="T76" fmla="*/ 1 w 46"/>
                <a:gd name="T77" fmla="*/ 1 h 46"/>
                <a:gd name="T78" fmla="*/ 1 w 46"/>
                <a:gd name="T79" fmla="*/ 1 h 46"/>
                <a:gd name="T80" fmla="*/ 1 w 46"/>
                <a:gd name="T81" fmla="*/ 1 h 46"/>
                <a:gd name="T82" fmla="*/ 0 w 46"/>
                <a:gd name="T83" fmla="*/ 1 h 46"/>
                <a:gd name="T84" fmla="*/ 0 w 46"/>
                <a:gd name="T85" fmla="*/ 1 h 46"/>
                <a:gd name="T86" fmla="*/ 0 w 46"/>
                <a:gd name="T87" fmla="*/ 1 h 46"/>
                <a:gd name="T88" fmla="*/ 1 w 46"/>
                <a:gd name="T89" fmla="*/ 1 h 46"/>
                <a:gd name="T90" fmla="*/ 1 w 46"/>
                <a:gd name="T91" fmla="*/ 1 h 46"/>
                <a:gd name="T92" fmla="*/ 1 w 46"/>
                <a:gd name="T93" fmla="*/ 1 h 46"/>
                <a:gd name="T94" fmla="*/ 1 w 46"/>
                <a:gd name="T95" fmla="*/ 1 h 46"/>
                <a:gd name="T96" fmla="*/ 1 w 46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6"/>
                <a:gd name="T149" fmla="*/ 46 w 46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6">
                  <a:moveTo>
                    <a:pt x="23" y="17"/>
                  </a:moveTo>
                  <a:lnTo>
                    <a:pt x="17" y="23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1" y="23"/>
                  </a:lnTo>
                  <a:lnTo>
                    <a:pt x="17" y="29"/>
                  </a:lnTo>
                  <a:lnTo>
                    <a:pt x="23" y="35"/>
                  </a:lnTo>
                  <a:lnTo>
                    <a:pt x="17" y="29"/>
                  </a:lnTo>
                  <a:lnTo>
                    <a:pt x="29" y="23"/>
                  </a:lnTo>
                  <a:lnTo>
                    <a:pt x="23" y="29"/>
                  </a:lnTo>
                  <a:lnTo>
                    <a:pt x="29" y="23"/>
                  </a:lnTo>
                  <a:lnTo>
                    <a:pt x="29" y="29"/>
                  </a:lnTo>
                  <a:lnTo>
                    <a:pt x="23" y="17"/>
                  </a:lnTo>
                  <a:lnTo>
                    <a:pt x="29" y="23"/>
                  </a:lnTo>
                  <a:lnTo>
                    <a:pt x="17" y="17"/>
                  </a:lnTo>
                  <a:lnTo>
                    <a:pt x="23" y="0"/>
                  </a:lnTo>
                  <a:lnTo>
                    <a:pt x="35" y="6"/>
                  </a:lnTo>
                  <a:lnTo>
                    <a:pt x="40" y="11"/>
                  </a:lnTo>
                  <a:lnTo>
                    <a:pt x="46" y="23"/>
                  </a:lnTo>
                  <a:lnTo>
                    <a:pt x="40" y="35"/>
                  </a:lnTo>
                  <a:lnTo>
                    <a:pt x="35" y="40"/>
                  </a:lnTo>
                  <a:lnTo>
                    <a:pt x="23" y="46"/>
                  </a:lnTo>
                  <a:lnTo>
                    <a:pt x="11" y="46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1" y="6"/>
                  </a:lnTo>
                  <a:lnTo>
                    <a:pt x="23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25" name="Freeform 376"/>
            <p:cNvSpPr>
              <a:spLocks/>
            </p:cNvSpPr>
            <p:nvPr/>
          </p:nvSpPr>
          <p:spPr bwMode="auto">
            <a:xfrm>
              <a:off x="2032" y="2897"/>
              <a:ext cx="6" cy="9"/>
            </a:xfrm>
            <a:custGeom>
              <a:avLst/>
              <a:gdLst>
                <a:gd name="T0" fmla="*/ 1 w 12"/>
                <a:gd name="T1" fmla="*/ 1 h 17"/>
                <a:gd name="T2" fmla="*/ 1 w 12"/>
                <a:gd name="T3" fmla="*/ 1 h 17"/>
                <a:gd name="T4" fmla="*/ 1 w 12"/>
                <a:gd name="T5" fmla="*/ 1 h 17"/>
                <a:gd name="T6" fmla="*/ 0 w 12"/>
                <a:gd name="T7" fmla="*/ 1 h 17"/>
                <a:gd name="T8" fmla="*/ 1 w 12"/>
                <a:gd name="T9" fmla="*/ 0 h 17"/>
                <a:gd name="T10" fmla="*/ 1 w 12"/>
                <a:gd name="T11" fmla="*/ 0 h 17"/>
                <a:gd name="T12" fmla="*/ 1 w 12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17"/>
                <a:gd name="T23" fmla="*/ 12 w 12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17">
                  <a:moveTo>
                    <a:pt x="6" y="17"/>
                  </a:moveTo>
                  <a:lnTo>
                    <a:pt x="6" y="17"/>
                  </a:lnTo>
                  <a:lnTo>
                    <a:pt x="12" y="17"/>
                  </a:lnTo>
                  <a:lnTo>
                    <a:pt x="0" y="6"/>
                  </a:lnTo>
                  <a:lnTo>
                    <a:pt x="12" y="0"/>
                  </a:lnTo>
                  <a:lnTo>
                    <a:pt x="6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26" name="Rectangle 379"/>
            <p:cNvSpPr>
              <a:spLocks noChangeArrowheads="1"/>
            </p:cNvSpPr>
            <p:nvPr/>
          </p:nvSpPr>
          <p:spPr bwMode="auto">
            <a:xfrm>
              <a:off x="2248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27" name="Rectangle 381"/>
            <p:cNvSpPr>
              <a:spLocks noChangeArrowheads="1"/>
            </p:cNvSpPr>
            <p:nvPr/>
          </p:nvSpPr>
          <p:spPr bwMode="auto">
            <a:xfrm>
              <a:off x="2336" y="2655"/>
              <a:ext cx="8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28" name="Rectangle 384"/>
            <p:cNvSpPr>
              <a:spLocks noChangeArrowheads="1"/>
            </p:cNvSpPr>
            <p:nvPr/>
          </p:nvSpPr>
          <p:spPr bwMode="auto">
            <a:xfrm>
              <a:off x="2076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29" name="Rectangle 387"/>
            <p:cNvSpPr>
              <a:spLocks noChangeArrowheads="1"/>
            </p:cNvSpPr>
            <p:nvPr/>
          </p:nvSpPr>
          <p:spPr bwMode="auto">
            <a:xfrm>
              <a:off x="2508" y="2655"/>
              <a:ext cx="8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30" name="Rectangle 390"/>
            <p:cNvSpPr>
              <a:spLocks noChangeArrowheads="1"/>
            </p:cNvSpPr>
            <p:nvPr/>
          </p:nvSpPr>
          <p:spPr bwMode="auto">
            <a:xfrm>
              <a:off x="2592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31" name="Rectangle 393"/>
            <p:cNvSpPr>
              <a:spLocks noChangeArrowheads="1"/>
            </p:cNvSpPr>
            <p:nvPr/>
          </p:nvSpPr>
          <p:spPr bwMode="auto">
            <a:xfrm>
              <a:off x="2764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32" name="Rectangle 396"/>
            <p:cNvSpPr>
              <a:spLocks noChangeArrowheads="1"/>
            </p:cNvSpPr>
            <p:nvPr/>
          </p:nvSpPr>
          <p:spPr bwMode="auto">
            <a:xfrm>
              <a:off x="2852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33" name="Rectangle 399"/>
            <p:cNvSpPr>
              <a:spLocks noChangeArrowheads="1"/>
            </p:cNvSpPr>
            <p:nvPr/>
          </p:nvSpPr>
          <p:spPr bwMode="auto">
            <a:xfrm>
              <a:off x="3024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34" name="Rectangle 402"/>
            <p:cNvSpPr>
              <a:spLocks noChangeArrowheads="1"/>
            </p:cNvSpPr>
            <p:nvPr/>
          </p:nvSpPr>
          <p:spPr bwMode="auto">
            <a:xfrm>
              <a:off x="3111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35" name="Freeform 403"/>
            <p:cNvSpPr>
              <a:spLocks/>
            </p:cNvSpPr>
            <p:nvPr/>
          </p:nvSpPr>
          <p:spPr bwMode="auto">
            <a:xfrm>
              <a:off x="2286" y="3019"/>
              <a:ext cx="18" cy="15"/>
            </a:xfrm>
            <a:custGeom>
              <a:avLst/>
              <a:gdLst>
                <a:gd name="T0" fmla="*/ 1 w 35"/>
                <a:gd name="T1" fmla="*/ 0 h 30"/>
                <a:gd name="T2" fmla="*/ 1 w 35"/>
                <a:gd name="T3" fmla="*/ 1 h 30"/>
                <a:gd name="T4" fmla="*/ 0 w 35"/>
                <a:gd name="T5" fmla="*/ 1 h 30"/>
                <a:gd name="T6" fmla="*/ 1 w 35"/>
                <a:gd name="T7" fmla="*/ 1 h 30"/>
                <a:gd name="T8" fmla="*/ 1 w 35"/>
                <a:gd name="T9" fmla="*/ 1 h 30"/>
                <a:gd name="T10" fmla="*/ 1 w 35"/>
                <a:gd name="T11" fmla="*/ 1 h 30"/>
                <a:gd name="T12" fmla="*/ 1 w 35"/>
                <a:gd name="T13" fmla="*/ 1 h 30"/>
                <a:gd name="T14" fmla="*/ 1 w 35"/>
                <a:gd name="T15" fmla="*/ 1 h 30"/>
                <a:gd name="T16" fmla="*/ 1 w 35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30"/>
                <a:gd name="T29" fmla="*/ 35 w 35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30">
                  <a:moveTo>
                    <a:pt x="17" y="0"/>
                  </a:moveTo>
                  <a:lnTo>
                    <a:pt x="6" y="6"/>
                  </a:lnTo>
                  <a:lnTo>
                    <a:pt x="0" y="19"/>
                  </a:lnTo>
                  <a:lnTo>
                    <a:pt x="6" y="25"/>
                  </a:lnTo>
                  <a:lnTo>
                    <a:pt x="17" y="30"/>
                  </a:lnTo>
                  <a:lnTo>
                    <a:pt x="29" y="25"/>
                  </a:lnTo>
                  <a:lnTo>
                    <a:pt x="35" y="19"/>
                  </a:lnTo>
                  <a:lnTo>
                    <a:pt x="29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36" name="Freeform 404"/>
            <p:cNvSpPr>
              <a:spLocks/>
            </p:cNvSpPr>
            <p:nvPr/>
          </p:nvSpPr>
          <p:spPr bwMode="auto">
            <a:xfrm>
              <a:off x="2283" y="3014"/>
              <a:ext cx="26" cy="23"/>
            </a:xfrm>
            <a:custGeom>
              <a:avLst/>
              <a:gdLst>
                <a:gd name="T0" fmla="*/ 1 w 52"/>
                <a:gd name="T1" fmla="*/ 0 h 47"/>
                <a:gd name="T2" fmla="*/ 1 w 52"/>
                <a:gd name="T3" fmla="*/ 0 h 47"/>
                <a:gd name="T4" fmla="*/ 1 w 52"/>
                <a:gd name="T5" fmla="*/ 0 h 47"/>
                <a:gd name="T6" fmla="*/ 1 w 52"/>
                <a:gd name="T7" fmla="*/ 0 h 47"/>
                <a:gd name="T8" fmla="*/ 1 w 52"/>
                <a:gd name="T9" fmla="*/ 0 h 47"/>
                <a:gd name="T10" fmla="*/ 1 w 52"/>
                <a:gd name="T11" fmla="*/ 0 h 47"/>
                <a:gd name="T12" fmla="*/ 1 w 52"/>
                <a:gd name="T13" fmla="*/ 0 h 47"/>
                <a:gd name="T14" fmla="*/ 1 w 52"/>
                <a:gd name="T15" fmla="*/ 0 h 47"/>
                <a:gd name="T16" fmla="*/ 1 w 52"/>
                <a:gd name="T17" fmla="*/ 0 h 47"/>
                <a:gd name="T18" fmla="*/ 1 w 52"/>
                <a:gd name="T19" fmla="*/ 0 h 47"/>
                <a:gd name="T20" fmla="*/ 1 w 52"/>
                <a:gd name="T21" fmla="*/ 0 h 47"/>
                <a:gd name="T22" fmla="*/ 1 w 52"/>
                <a:gd name="T23" fmla="*/ 0 h 47"/>
                <a:gd name="T24" fmla="*/ 1 w 52"/>
                <a:gd name="T25" fmla="*/ 0 h 47"/>
                <a:gd name="T26" fmla="*/ 1 w 52"/>
                <a:gd name="T27" fmla="*/ 0 h 47"/>
                <a:gd name="T28" fmla="*/ 1 w 52"/>
                <a:gd name="T29" fmla="*/ 0 h 47"/>
                <a:gd name="T30" fmla="*/ 1 w 52"/>
                <a:gd name="T31" fmla="*/ 0 h 47"/>
                <a:gd name="T32" fmla="*/ 1 w 52"/>
                <a:gd name="T33" fmla="*/ 0 h 47"/>
                <a:gd name="T34" fmla="*/ 1 w 52"/>
                <a:gd name="T35" fmla="*/ 0 h 47"/>
                <a:gd name="T36" fmla="*/ 1 w 52"/>
                <a:gd name="T37" fmla="*/ 0 h 47"/>
                <a:gd name="T38" fmla="*/ 1 w 52"/>
                <a:gd name="T39" fmla="*/ 0 h 47"/>
                <a:gd name="T40" fmla="*/ 1 w 52"/>
                <a:gd name="T41" fmla="*/ 0 h 47"/>
                <a:gd name="T42" fmla="*/ 1 w 52"/>
                <a:gd name="T43" fmla="*/ 0 h 47"/>
                <a:gd name="T44" fmla="*/ 1 w 52"/>
                <a:gd name="T45" fmla="*/ 0 h 47"/>
                <a:gd name="T46" fmla="*/ 1 w 52"/>
                <a:gd name="T47" fmla="*/ 0 h 47"/>
                <a:gd name="T48" fmla="*/ 1 w 52"/>
                <a:gd name="T49" fmla="*/ 0 h 47"/>
                <a:gd name="T50" fmla="*/ 1 w 52"/>
                <a:gd name="T51" fmla="*/ 0 h 47"/>
                <a:gd name="T52" fmla="*/ 1 w 52"/>
                <a:gd name="T53" fmla="*/ 0 h 47"/>
                <a:gd name="T54" fmla="*/ 1 w 52"/>
                <a:gd name="T55" fmla="*/ 0 h 47"/>
                <a:gd name="T56" fmla="*/ 1 w 52"/>
                <a:gd name="T57" fmla="*/ 0 h 47"/>
                <a:gd name="T58" fmla="*/ 1 w 52"/>
                <a:gd name="T59" fmla="*/ 0 h 47"/>
                <a:gd name="T60" fmla="*/ 1 w 52"/>
                <a:gd name="T61" fmla="*/ 0 h 47"/>
                <a:gd name="T62" fmla="*/ 1 w 52"/>
                <a:gd name="T63" fmla="*/ 0 h 47"/>
                <a:gd name="T64" fmla="*/ 1 w 52"/>
                <a:gd name="T65" fmla="*/ 0 h 47"/>
                <a:gd name="T66" fmla="*/ 1 w 52"/>
                <a:gd name="T67" fmla="*/ 0 h 47"/>
                <a:gd name="T68" fmla="*/ 1 w 52"/>
                <a:gd name="T69" fmla="*/ 0 h 47"/>
                <a:gd name="T70" fmla="*/ 1 w 52"/>
                <a:gd name="T71" fmla="*/ 0 h 47"/>
                <a:gd name="T72" fmla="*/ 1 w 52"/>
                <a:gd name="T73" fmla="*/ 0 h 47"/>
                <a:gd name="T74" fmla="*/ 1 w 52"/>
                <a:gd name="T75" fmla="*/ 0 h 47"/>
                <a:gd name="T76" fmla="*/ 1 w 52"/>
                <a:gd name="T77" fmla="*/ 0 h 47"/>
                <a:gd name="T78" fmla="*/ 1 w 52"/>
                <a:gd name="T79" fmla="*/ 0 h 47"/>
                <a:gd name="T80" fmla="*/ 1 w 52"/>
                <a:gd name="T81" fmla="*/ 0 h 47"/>
                <a:gd name="T82" fmla="*/ 0 w 52"/>
                <a:gd name="T83" fmla="*/ 0 h 47"/>
                <a:gd name="T84" fmla="*/ 0 w 52"/>
                <a:gd name="T85" fmla="*/ 0 h 47"/>
                <a:gd name="T86" fmla="*/ 0 w 52"/>
                <a:gd name="T87" fmla="*/ 0 h 47"/>
                <a:gd name="T88" fmla="*/ 1 w 52"/>
                <a:gd name="T89" fmla="*/ 0 h 47"/>
                <a:gd name="T90" fmla="*/ 1 w 52"/>
                <a:gd name="T91" fmla="*/ 0 h 47"/>
                <a:gd name="T92" fmla="*/ 1 w 52"/>
                <a:gd name="T93" fmla="*/ 0 h 47"/>
                <a:gd name="T94" fmla="*/ 1 w 52"/>
                <a:gd name="T95" fmla="*/ 0 h 47"/>
                <a:gd name="T96" fmla="*/ 1 w 52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7"/>
                <a:gd name="T149" fmla="*/ 52 w 52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7">
                  <a:moveTo>
                    <a:pt x="29" y="17"/>
                  </a:moveTo>
                  <a:lnTo>
                    <a:pt x="18" y="24"/>
                  </a:lnTo>
                  <a:lnTo>
                    <a:pt x="23" y="17"/>
                  </a:lnTo>
                  <a:lnTo>
                    <a:pt x="18" y="30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29" y="30"/>
                  </a:lnTo>
                  <a:lnTo>
                    <a:pt x="23" y="30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35" y="24"/>
                  </a:lnTo>
                  <a:lnTo>
                    <a:pt x="35" y="30"/>
                  </a:lnTo>
                  <a:lnTo>
                    <a:pt x="29" y="17"/>
                  </a:lnTo>
                  <a:lnTo>
                    <a:pt x="35" y="24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1" y="7"/>
                  </a:lnTo>
                  <a:lnTo>
                    <a:pt x="47" y="11"/>
                  </a:lnTo>
                  <a:lnTo>
                    <a:pt x="52" y="24"/>
                  </a:lnTo>
                  <a:lnTo>
                    <a:pt x="47" y="36"/>
                  </a:lnTo>
                  <a:lnTo>
                    <a:pt x="41" y="41"/>
                  </a:lnTo>
                  <a:lnTo>
                    <a:pt x="29" y="47"/>
                  </a:lnTo>
                  <a:lnTo>
                    <a:pt x="23" y="47"/>
                  </a:lnTo>
                  <a:lnTo>
                    <a:pt x="12" y="41"/>
                  </a:lnTo>
                  <a:lnTo>
                    <a:pt x="6" y="41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6" y="11"/>
                  </a:lnTo>
                  <a:lnTo>
                    <a:pt x="12" y="7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37" name="Freeform 405"/>
            <p:cNvSpPr>
              <a:spLocks/>
            </p:cNvSpPr>
            <p:nvPr/>
          </p:nvSpPr>
          <p:spPr bwMode="auto">
            <a:xfrm>
              <a:off x="2295" y="3014"/>
              <a:ext cx="3" cy="8"/>
            </a:xfrm>
            <a:custGeom>
              <a:avLst/>
              <a:gdLst>
                <a:gd name="T0" fmla="*/ 0 w 6"/>
                <a:gd name="T1" fmla="*/ 0 h 17"/>
                <a:gd name="T2" fmla="*/ 0 w 6"/>
                <a:gd name="T3" fmla="*/ 0 h 17"/>
                <a:gd name="T4" fmla="*/ 1 w 6"/>
                <a:gd name="T5" fmla="*/ 0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38" name="Freeform 406"/>
            <p:cNvSpPr>
              <a:spLocks/>
            </p:cNvSpPr>
            <p:nvPr/>
          </p:nvSpPr>
          <p:spPr bwMode="auto">
            <a:xfrm>
              <a:off x="2286" y="2961"/>
              <a:ext cx="18" cy="14"/>
            </a:xfrm>
            <a:custGeom>
              <a:avLst/>
              <a:gdLst>
                <a:gd name="T0" fmla="*/ 1 w 35"/>
                <a:gd name="T1" fmla="*/ 0 h 29"/>
                <a:gd name="T2" fmla="*/ 1 w 35"/>
                <a:gd name="T3" fmla="*/ 0 h 29"/>
                <a:gd name="T4" fmla="*/ 0 w 35"/>
                <a:gd name="T5" fmla="*/ 0 h 29"/>
                <a:gd name="T6" fmla="*/ 1 w 35"/>
                <a:gd name="T7" fmla="*/ 0 h 29"/>
                <a:gd name="T8" fmla="*/ 1 w 35"/>
                <a:gd name="T9" fmla="*/ 0 h 29"/>
                <a:gd name="T10" fmla="*/ 1 w 35"/>
                <a:gd name="T11" fmla="*/ 0 h 29"/>
                <a:gd name="T12" fmla="*/ 1 w 35"/>
                <a:gd name="T13" fmla="*/ 0 h 29"/>
                <a:gd name="T14" fmla="*/ 1 w 35"/>
                <a:gd name="T15" fmla="*/ 0 h 29"/>
                <a:gd name="T16" fmla="*/ 1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7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7" y="29"/>
                  </a:ln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39" name="Freeform 407"/>
            <p:cNvSpPr>
              <a:spLocks/>
            </p:cNvSpPr>
            <p:nvPr/>
          </p:nvSpPr>
          <p:spPr bwMode="auto">
            <a:xfrm>
              <a:off x="2283" y="2955"/>
              <a:ext cx="26" cy="23"/>
            </a:xfrm>
            <a:custGeom>
              <a:avLst/>
              <a:gdLst>
                <a:gd name="T0" fmla="*/ 1 w 52"/>
                <a:gd name="T1" fmla="*/ 1 h 46"/>
                <a:gd name="T2" fmla="*/ 1 w 52"/>
                <a:gd name="T3" fmla="*/ 1 h 46"/>
                <a:gd name="T4" fmla="*/ 1 w 52"/>
                <a:gd name="T5" fmla="*/ 1 h 46"/>
                <a:gd name="T6" fmla="*/ 1 w 52"/>
                <a:gd name="T7" fmla="*/ 1 h 46"/>
                <a:gd name="T8" fmla="*/ 1 w 52"/>
                <a:gd name="T9" fmla="*/ 1 h 46"/>
                <a:gd name="T10" fmla="*/ 1 w 52"/>
                <a:gd name="T11" fmla="*/ 1 h 46"/>
                <a:gd name="T12" fmla="*/ 1 w 52"/>
                <a:gd name="T13" fmla="*/ 1 h 46"/>
                <a:gd name="T14" fmla="*/ 1 w 52"/>
                <a:gd name="T15" fmla="*/ 1 h 46"/>
                <a:gd name="T16" fmla="*/ 1 w 52"/>
                <a:gd name="T17" fmla="*/ 1 h 46"/>
                <a:gd name="T18" fmla="*/ 1 w 52"/>
                <a:gd name="T19" fmla="*/ 1 h 46"/>
                <a:gd name="T20" fmla="*/ 1 w 52"/>
                <a:gd name="T21" fmla="*/ 1 h 46"/>
                <a:gd name="T22" fmla="*/ 1 w 52"/>
                <a:gd name="T23" fmla="*/ 1 h 46"/>
                <a:gd name="T24" fmla="*/ 1 w 52"/>
                <a:gd name="T25" fmla="*/ 1 h 46"/>
                <a:gd name="T26" fmla="*/ 1 w 52"/>
                <a:gd name="T27" fmla="*/ 1 h 46"/>
                <a:gd name="T28" fmla="*/ 1 w 52"/>
                <a:gd name="T29" fmla="*/ 1 h 46"/>
                <a:gd name="T30" fmla="*/ 1 w 52"/>
                <a:gd name="T31" fmla="*/ 1 h 46"/>
                <a:gd name="T32" fmla="*/ 1 w 52"/>
                <a:gd name="T33" fmla="*/ 1 h 46"/>
                <a:gd name="T34" fmla="*/ 1 w 52"/>
                <a:gd name="T35" fmla="*/ 1 h 46"/>
                <a:gd name="T36" fmla="*/ 1 w 52"/>
                <a:gd name="T37" fmla="*/ 1 h 46"/>
                <a:gd name="T38" fmla="*/ 1 w 52"/>
                <a:gd name="T39" fmla="*/ 1 h 46"/>
                <a:gd name="T40" fmla="*/ 1 w 52"/>
                <a:gd name="T41" fmla="*/ 1 h 46"/>
                <a:gd name="T42" fmla="*/ 1 w 52"/>
                <a:gd name="T43" fmla="*/ 1 h 46"/>
                <a:gd name="T44" fmla="*/ 1 w 52"/>
                <a:gd name="T45" fmla="*/ 1 h 46"/>
                <a:gd name="T46" fmla="*/ 1 w 52"/>
                <a:gd name="T47" fmla="*/ 1 h 46"/>
                <a:gd name="T48" fmla="*/ 1 w 52"/>
                <a:gd name="T49" fmla="*/ 0 h 46"/>
                <a:gd name="T50" fmla="*/ 1 w 52"/>
                <a:gd name="T51" fmla="*/ 0 h 46"/>
                <a:gd name="T52" fmla="*/ 1 w 52"/>
                <a:gd name="T53" fmla="*/ 1 h 46"/>
                <a:gd name="T54" fmla="*/ 1 w 52"/>
                <a:gd name="T55" fmla="*/ 1 h 46"/>
                <a:gd name="T56" fmla="*/ 1 w 52"/>
                <a:gd name="T57" fmla="*/ 1 h 46"/>
                <a:gd name="T58" fmla="*/ 1 w 52"/>
                <a:gd name="T59" fmla="*/ 1 h 46"/>
                <a:gd name="T60" fmla="*/ 1 w 52"/>
                <a:gd name="T61" fmla="*/ 1 h 46"/>
                <a:gd name="T62" fmla="*/ 1 w 52"/>
                <a:gd name="T63" fmla="*/ 1 h 46"/>
                <a:gd name="T64" fmla="*/ 1 w 52"/>
                <a:gd name="T65" fmla="*/ 1 h 46"/>
                <a:gd name="T66" fmla="*/ 1 w 52"/>
                <a:gd name="T67" fmla="*/ 1 h 46"/>
                <a:gd name="T68" fmla="*/ 1 w 52"/>
                <a:gd name="T69" fmla="*/ 1 h 46"/>
                <a:gd name="T70" fmla="*/ 1 w 52"/>
                <a:gd name="T71" fmla="*/ 1 h 46"/>
                <a:gd name="T72" fmla="*/ 1 w 52"/>
                <a:gd name="T73" fmla="*/ 1 h 46"/>
                <a:gd name="T74" fmla="*/ 1 w 52"/>
                <a:gd name="T75" fmla="*/ 1 h 46"/>
                <a:gd name="T76" fmla="*/ 1 w 52"/>
                <a:gd name="T77" fmla="*/ 1 h 46"/>
                <a:gd name="T78" fmla="*/ 1 w 52"/>
                <a:gd name="T79" fmla="*/ 1 h 46"/>
                <a:gd name="T80" fmla="*/ 1 w 52"/>
                <a:gd name="T81" fmla="*/ 1 h 46"/>
                <a:gd name="T82" fmla="*/ 0 w 52"/>
                <a:gd name="T83" fmla="*/ 1 h 46"/>
                <a:gd name="T84" fmla="*/ 0 w 52"/>
                <a:gd name="T85" fmla="*/ 1 h 46"/>
                <a:gd name="T86" fmla="*/ 0 w 52"/>
                <a:gd name="T87" fmla="*/ 1 h 46"/>
                <a:gd name="T88" fmla="*/ 1 w 52"/>
                <a:gd name="T89" fmla="*/ 1 h 46"/>
                <a:gd name="T90" fmla="*/ 1 w 52"/>
                <a:gd name="T91" fmla="*/ 1 h 46"/>
                <a:gd name="T92" fmla="*/ 1 w 52"/>
                <a:gd name="T93" fmla="*/ 1 h 46"/>
                <a:gd name="T94" fmla="*/ 1 w 52"/>
                <a:gd name="T95" fmla="*/ 0 h 46"/>
                <a:gd name="T96" fmla="*/ 1 w 52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6"/>
                <a:gd name="T149" fmla="*/ 52 w 52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6">
                  <a:moveTo>
                    <a:pt x="29" y="17"/>
                  </a:moveTo>
                  <a:lnTo>
                    <a:pt x="18" y="23"/>
                  </a:lnTo>
                  <a:lnTo>
                    <a:pt x="23" y="17"/>
                  </a:lnTo>
                  <a:lnTo>
                    <a:pt x="18" y="29"/>
                  </a:lnTo>
                  <a:lnTo>
                    <a:pt x="12" y="23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9" y="29"/>
                  </a:lnTo>
                  <a:lnTo>
                    <a:pt x="23" y="29"/>
                  </a:lnTo>
                  <a:lnTo>
                    <a:pt x="35" y="23"/>
                  </a:lnTo>
                  <a:lnTo>
                    <a:pt x="29" y="29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9" y="17"/>
                  </a:lnTo>
                  <a:lnTo>
                    <a:pt x="35" y="23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1" y="6"/>
                  </a:lnTo>
                  <a:lnTo>
                    <a:pt x="47" y="11"/>
                  </a:lnTo>
                  <a:lnTo>
                    <a:pt x="52" y="23"/>
                  </a:lnTo>
                  <a:lnTo>
                    <a:pt x="47" y="35"/>
                  </a:lnTo>
                  <a:lnTo>
                    <a:pt x="41" y="40"/>
                  </a:lnTo>
                  <a:lnTo>
                    <a:pt x="29" y="46"/>
                  </a:lnTo>
                  <a:lnTo>
                    <a:pt x="23" y="46"/>
                  </a:lnTo>
                  <a:lnTo>
                    <a:pt x="12" y="40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2" y="6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0" name="Freeform 408"/>
            <p:cNvSpPr>
              <a:spLocks/>
            </p:cNvSpPr>
            <p:nvPr/>
          </p:nvSpPr>
          <p:spPr bwMode="auto">
            <a:xfrm>
              <a:off x="2295" y="2955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1" name="Freeform 409"/>
            <p:cNvSpPr>
              <a:spLocks/>
            </p:cNvSpPr>
            <p:nvPr/>
          </p:nvSpPr>
          <p:spPr bwMode="auto">
            <a:xfrm>
              <a:off x="2286" y="2903"/>
              <a:ext cx="18" cy="14"/>
            </a:xfrm>
            <a:custGeom>
              <a:avLst/>
              <a:gdLst>
                <a:gd name="T0" fmla="*/ 1 w 35"/>
                <a:gd name="T1" fmla="*/ 0 h 29"/>
                <a:gd name="T2" fmla="*/ 1 w 35"/>
                <a:gd name="T3" fmla="*/ 0 h 29"/>
                <a:gd name="T4" fmla="*/ 0 w 35"/>
                <a:gd name="T5" fmla="*/ 0 h 29"/>
                <a:gd name="T6" fmla="*/ 1 w 35"/>
                <a:gd name="T7" fmla="*/ 0 h 29"/>
                <a:gd name="T8" fmla="*/ 1 w 35"/>
                <a:gd name="T9" fmla="*/ 0 h 29"/>
                <a:gd name="T10" fmla="*/ 1 w 35"/>
                <a:gd name="T11" fmla="*/ 0 h 29"/>
                <a:gd name="T12" fmla="*/ 1 w 35"/>
                <a:gd name="T13" fmla="*/ 0 h 29"/>
                <a:gd name="T14" fmla="*/ 1 w 35"/>
                <a:gd name="T15" fmla="*/ 0 h 29"/>
                <a:gd name="T16" fmla="*/ 1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7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7" y="29"/>
                  </a:ln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2" name="Freeform 410"/>
            <p:cNvSpPr>
              <a:spLocks/>
            </p:cNvSpPr>
            <p:nvPr/>
          </p:nvSpPr>
          <p:spPr bwMode="auto">
            <a:xfrm>
              <a:off x="2283" y="2897"/>
              <a:ext cx="26" cy="23"/>
            </a:xfrm>
            <a:custGeom>
              <a:avLst/>
              <a:gdLst>
                <a:gd name="T0" fmla="*/ 1 w 52"/>
                <a:gd name="T1" fmla="*/ 1 h 46"/>
                <a:gd name="T2" fmla="*/ 1 w 52"/>
                <a:gd name="T3" fmla="*/ 1 h 46"/>
                <a:gd name="T4" fmla="*/ 1 w 52"/>
                <a:gd name="T5" fmla="*/ 1 h 46"/>
                <a:gd name="T6" fmla="*/ 1 w 52"/>
                <a:gd name="T7" fmla="*/ 1 h 46"/>
                <a:gd name="T8" fmla="*/ 1 w 52"/>
                <a:gd name="T9" fmla="*/ 1 h 46"/>
                <a:gd name="T10" fmla="*/ 1 w 52"/>
                <a:gd name="T11" fmla="*/ 1 h 46"/>
                <a:gd name="T12" fmla="*/ 1 w 52"/>
                <a:gd name="T13" fmla="*/ 1 h 46"/>
                <a:gd name="T14" fmla="*/ 1 w 52"/>
                <a:gd name="T15" fmla="*/ 1 h 46"/>
                <a:gd name="T16" fmla="*/ 1 w 52"/>
                <a:gd name="T17" fmla="*/ 1 h 46"/>
                <a:gd name="T18" fmla="*/ 1 w 52"/>
                <a:gd name="T19" fmla="*/ 1 h 46"/>
                <a:gd name="T20" fmla="*/ 1 w 52"/>
                <a:gd name="T21" fmla="*/ 1 h 46"/>
                <a:gd name="T22" fmla="*/ 1 w 52"/>
                <a:gd name="T23" fmla="*/ 1 h 46"/>
                <a:gd name="T24" fmla="*/ 1 w 52"/>
                <a:gd name="T25" fmla="*/ 1 h 46"/>
                <a:gd name="T26" fmla="*/ 1 w 52"/>
                <a:gd name="T27" fmla="*/ 1 h 46"/>
                <a:gd name="T28" fmla="*/ 1 w 52"/>
                <a:gd name="T29" fmla="*/ 1 h 46"/>
                <a:gd name="T30" fmla="*/ 1 w 52"/>
                <a:gd name="T31" fmla="*/ 1 h 46"/>
                <a:gd name="T32" fmla="*/ 1 w 52"/>
                <a:gd name="T33" fmla="*/ 1 h 46"/>
                <a:gd name="T34" fmla="*/ 1 w 52"/>
                <a:gd name="T35" fmla="*/ 1 h 46"/>
                <a:gd name="T36" fmla="*/ 1 w 52"/>
                <a:gd name="T37" fmla="*/ 1 h 46"/>
                <a:gd name="T38" fmla="*/ 1 w 52"/>
                <a:gd name="T39" fmla="*/ 1 h 46"/>
                <a:gd name="T40" fmla="*/ 1 w 52"/>
                <a:gd name="T41" fmla="*/ 1 h 46"/>
                <a:gd name="T42" fmla="*/ 1 w 52"/>
                <a:gd name="T43" fmla="*/ 1 h 46"/>
                <a:gd name="T44" fmla="*/ 1 w 52"/>
                <a:gd name="T45" fmla="*/ 1 h 46"/>
                <a:gd name="T46" fmla="*/ 1 w 52"/>
                <a:gd name="T47" fmla="*/ 1 h 46"/>
                <a:gd name="T48" fmla="*/ 1 w 52"/>
                <a:gd name="T49" fmla="*/ 0 h 46"/>
                <a:gd name="T50" fmla="*/ 1 w 52"/>
                <a:gd name="T51" fmla="*/ 0 h 46"/>
                <a:gd name="T52" fmla="*/ 1 w 52"/>
                <a:gd name="T53" fmla="*/ 1 h 46"/>
                <a:gd name="T54" fmla="*/ 1 w 52"/>
                <a:gd name="T55" fmla="*/ 1 h 46"/>
                <a:gd name="T56" fmla="*/ 1 w 52"/>
                <a:gd name="T57" fmla="*/ 1 h 46"/>
                <a:gd name="T58" fmla="*/ 1 w 52"/>
                <a:gd name="T59" fmla="*/ 1 h 46"/>
                <a:gd name="T60" fmla="*/ 1 w 52"/>
                <a:gd name="T61" fmla="*/ 1 h 46"/>
                <a:gd name="T62" fmla="*/ 1 w 52"/>
                <a:gd name="T63" fmla="*/ 1 h 46"/>
                <a:gd name="T64" fmla="*/ 1 w 52"/>
                <a:gd name="T65" fmla="*/ 1 h 46"/>
                <a:gd name="T66" fmla="*/ 1 w 52"/>
                <a:gd name="T67" fmla="*/ 1 h 46"/>
                <a:gd name="T68" fmla="*/ 1 w 52"/>
                <a:gd name="T69" fmla="*/ 1 h 46"/>
                <a:gd name="T70" fmla="*/ 1 w 52"/>
                <a:gd name="T71" fmla="*/ 1 h 46"/>
                <a:gd name="T72" fmla="*/ 1 w 52"/>
                <a:gd name="T73" fmla="*/ 1 h 46"/>
                <a:gd name="T74" fmla="*/ 1 w 52"/>
                <a:gd name="T75" fmla="*/ 1 h 46"/>
                <a:gd name="T76" fmla="*/ 1 w 52"/>
                <a:gd name="T77" fmla="*/ 1 h 46"/>
                <a:gd name="T78" fmla="*/ 1 w 52"/>
                <a:gd name="T79" fmla="*/ 1 h 46"/>
                <a:gd name="T80" fmla="*/ 1 w 52"/>
                <a:gd name="T81" fmla="*/ 1 h 46"/>
                <a:gd name="T82" fmla="*/ 0 w 52"/>
                <a:gd name="T83" fmla="*/ 1 h 46"/>
                <a:gd name="T84" fmla="*/ 0 w 52"/>
                <a:gd name="T85" fmla="*/ 1 h 46"/>
                <a:gd name="T86" fmla="*/ 0 w 52"/>
                <a:gd name="T87" fmla="*/ 1 h 46"/>
                <a:gd name="T88" fmla="*/ 1 w 52"/>
                <a:gd name="T89" fmla="*/ 1 h 46"/>
                <a:gd name="T90" fmla="*/ 1 w 52"/>
                <a:gd name="T91" fmla="*/ 1 h 46"/>
                <a:gd name="T92" fmla="*/ 1 w 52"/>
                <a:gd name="T93" fmla="*/ 1 h 46"/>
                <a:gd name="T94" fmla="*/ 1 w 52"/>
                <a:gd name="T95" fmla="*/ 0 h 46"/>
                <a:gd name="T96" fmla="*/ 1 w 52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6"/>
                <a:gd name="T149" fmla="*/ 52 w 52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6">
                  <a:moveTo>
                    <a:pt x="29" y="17"/>
                  </a:moveTo>
                  <a:lnTo>
                    <a:pt x="18" y="23"/>
                  </a:lnTo>
                  <a:lnTo>
                    <a:pt x="23" y="17"/>
                  </a:lnTo>
                  <a:lnTo>
                    <a:pt x="18" y="29"/>
                  </a:lnTo>
                  <a:lnTo>
                    <a:pt x="12" y="23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9" y="29"/>
                  </a:lnTo>
                  <a:lnTo>
                    <a:pt x="23" y="29"/>
                  </a:lnTo>
                  <a:lnTo>
                    <a:pt x="35" y="23"/>
                  </a:lnTo>
                  <a:lnTo>
                    <a:pt x="29" y="29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9" y="17"/>
                  </a:lnTo>
                  <a:lnTo>
                    <a:pt x="35" y="23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1" y="6"/>
                  </a:lnTo>
                  <a:lnTo>
                    <a:pt x="47" y="11"/>
                  </a:lnTo>
                  <a:lnTo>
                    <a:pt x="52" y="23"/>
                  </a:lnTo>
                  <a:lnTo>
                    <a:pt x="47" y="35"/>
                  </a:lnTo>
                  <a:lnTo>
                    <a:pt x="41" y="40"/>
                  </a:lnTo>
                  <a:lnTo>
                    <a:pt x="29" y="46"/>
                  </a:lnTo>
                  <a:lnTo>
                    <a:pt x="23" y="46"/>
                  </a:lnTo>
                  <a:lnTo>
                    <a:pt x="12" y="40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2" y="6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3" name="Freeform 411"/>
            <p:cNvSpPr>
              <a:spLocks/>
            </p:cNvSpPr>
            <p:nvPr/>
          </p:nvSpPr>
          <p:spPr bwMode="auto">
            <a:xfrm>
              <a:off x="2295" y="2897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4" name="Freeform 412"/>
            <p:cNvSpPr>
              <a:spLocks/>
            </p:cNvSpPr>
            <p:nvPr/>
          </p:nvSpPr>
          <p:spPr bwMode="auto">
            <a:xfrm>
              <a:off x="2546" y="3019"/>
              <a:ext cx="14" cy="15"/>
            </a:xfrm>
            <a:custGeom>
              <a:avLst/>
              <a:gdLst>
                <a:gd name="T0" fmla="*/ 0 w 29"/>
                <a:gd name="T1" fmla="*/ 0 h 30"/>
                <a:gd name="T2" fmla="*/ 0 w 29"/>
                <a:gd name="T3" fmla="*/ 1 h 30"/>
                <a:gd name="T4" fmla="*/ 0 w 29"/>
                <a:gd name="T5" fmla="*/ 1 h 30"/>
                <a:gd name="T6" fmla="*/ 0 w 29"/>
                <a:gd name="T7" fmla="*/ 1 h 30"/>
                <a:gd name="T8" fmla="*/ 0 w 29"/>
                <a:gd name="T9" fmla="*/ 1 h 30"/>
                <a:gd name="T10" fmla="*/ 0 w 29"/>
                <a:gd name="T11" fmla="*/ 1 h 30"/>
                <a:gd name="T12" fmla="*/ 0 w 29"/>
                <a:gd name="T13" fmla="*/ 1 h 30"/>
                <a:gd name="T14" fmla="*/ 0 w 29"/>
                <a:gd name="T15" fmla="*/ 1 h 30"/>
                <a:gd name="T16" fmla="*/ 0 w 29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0"/>
                <a:gd name="T29" fmla="*/ 29 w 29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0">
                  <a:moveTo>
                    <a:pt x="18" y="0"/>
                  </a:moveTo>
                  <a:lnTo>
                    <a:pt x="6" y="6"/>
                  </a:lnTo>
                  <a:lnTo>
                    <a:pt x="0" y="19"/>
                  </a:lnTo>
                  <a:lnTo>
                    <a:pt x="6" y="25"/>
                  </a:lnTo>
                  <a:lnTo>
                    <a:pt x="18" y="30"/>
                  </a:lnTo>
                  <a:lnTo>
                    <a:pt x="29" y="25"/>
                  </a:lnTo>
                  <a:lnTo>
                    <a:pt x="29" y="19"/>
                  </a:lnTo>
                  <a:lnTo>
                    <a:pt x="29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5" name="Freeform 413"/>
            <p:cNvSpPr>
              <a:spLocks/>
            </p:cNvSpPr>
            <p:nvPr/>
          </p:nvSpPr>
          <p:spPr bwMode="auto">
            <a:xfrm>
              <a:off x="2542" y="3014"/>
              <a:ext cx="24" cy="23"/>
            </a:xfrm>
            <a:custGeom>
              <a:avLst/>
              <a:gdLst>
                <a:gd name="T0" fmla="*/ 1 w 47"/>
                <a:gd name="T1" fmla="*/ 0 h 47"/>
                <a:gd name="T2" fmla="*/ 1 w 47"/>
                <a:gd name="T3" fmla="*/ 0 h 47"/>
                <a:gd name="T4" fmla="*/ 1 w 47"/>
                <a:gd name="T5" fmla="*/ 0 h 47"/>
                <a:gd name="T6" fmla="*/ 1 w 47"/>
                <a:gd name="T7" fmla="*/ 0 h 47"/>
                <a:gd name="T8" fmla="*/ 1 w 47"/>
                <a:gd name="T9" fmla="*/ 0 h 47"/>
                <a:gd name="T10" fmla="*/ 1 w 47"/>
                <a:gd name="T11" fmla="*/ 0 h 47"/>
                <a:gd name="T12" fmla="*/ 1 w 47"/>
                <a:gd name="T13" fmla="*/ 0 h 47"/>
                <a:gd name="T14" fmla="*/ 1 w 47"/>
                <a:gd name="T15" fmla="*/ 0 h 47"/>
                <a:gd name="T16" fmla="*/ 1 w 47"/>
                <a:gd name="T17" fmla="*/ 0 h 47"/>
                <a:gd name="T18" fmla="*/ 1 w 47"/>
                <a:gd name="T19" fmla="*/ 0 h 47"/>
                <a:gd name="T20" fmla="*/ 1 w 47"/>
                <a:gd name="T21" fmla="*/ 0 h 47"/>
                <a:gd name="T22" fmla="*/ 1 w 47"/>
                <a:gd name="T23" fmla="*/ 0 h 47"/>
                <a:gd name="T24" fmla="*/ 1 w 47"/>
                <a:gd name="T25" fmla="*/ 0 h 47"/>
                <a:gd name="T26" fmla="*/ 1 w 47"/>
                <a:gd name="T27" fmla="*/ 0 h 47"/>
                <a:gd name="T28" fmla="*/ 1 w 47"/>
                <a:gd name="T29" fmla="*/ 0 h 47"/>
                <a:gd name="T30" fmla="*/ 1 w 47"/>
                <a:gd name="T31" fmla="*/ 0 h 47"/>
                <a:gd name="T32" fmla="*/ 1 w 47"/>
                <a:gd name="T33" fmla="*/ 0 h 47"/>
                <a:gd name="T34" fmla="*/ 1 w 47"/>
                <a:gd name="T35" fmla="*/ 0 h 47"/>
                <a:gd name="T36" fmla="*/ 1 w 47"/>
                <a:gd name="T37" fmla="*/ 0 h 47"/>
                <a:gd name="T38" fmla="*/ 1 w 47"/>
                <a:gd name="T39" fmla="*/ 0 h 47"/>
                <a:gd name="T40" fmla="*/ 1 w 47"/>
                <a:gd name="T41" fmla="*/ 0 h 47"/>
                <a:gd name="T42" fmla="*/ 1 w 47"/>
                <a:gd name="T43" fmla="*/ 0 h 47"/>
                <a:gd name="T44" fmla="*/ 1 w 47"/>
                <a:gd name="T45" fmla="*/ 0 h 47"/>
                <a:gd name="T46" fmla="*/ 1 w 47"/>
                <a:gd name="T47" fmla="*/ 0 h 47"/>
                <a:gd name="T48" fmla="*/ 1 w 47"/>
                <a:gd name="T49" fmla="*/ 0 h 47"/>
                <a:gd name="T50" fmla="*/ 1 w 47"/>
                <a:gd name="T51" fmla="*/ 0 h 47"/>
                <a:gd name="T52" fmla="*/ 1 w 47"/>
                <a:gd name="T53" fmla="*/ 0 h 47"/>
                <a:gd name="T54" fmla="*/ 1 w 47"/>
                <a:gd name="T55" fmla="*/ 0 h 47"/>
                <a:gd name="T56" fmla="*/ 1 w 47"/>
                <a:gd name="T57" fmla="*/ 0 h 47"/>
                <a:gd name="T58" fmla="*/ 1 w 47"/>
                <a:gd name="T59" fmla="*/ 0 h 47"/>
                <a:gd name="T60" fmla="*/ 1 w 47"/>
                <a:gd name="T61" fmla="*/ 0 h 47"/>
                <a:gd name="T62" fmla="*/ 1 w 47"/>
                <a:gd name="T63" fmla="*/ 0 h 47"/>
                <a:gd name="T64" fmla="*/ 1 w 47"/>
                <a:gd name="T65" fmla="*/ 0 h 47"/>
                <a:gd name="T66" fmla="*/ 1 w 47"/>
                <a:gd name="T67" fmla="*/ 0 h 47"/>
                <a:gd name="T68" fmla="*/ 1 w 47"/>
                <a:gd name="T69" fmla="*/ 0 h 47"/>
                <a:gd name="T70" fmla="*/ 1 w 47"/>
                <a:gd name="T71" fmla="*/ 0 h 47"/>
                <a:gd name="T72" fmla="*/ 1 w 47"/>
                <a:gd name="T73" fmla="*/ 0 h 47"/>
                <a:gd name="T74" fmla="*/ 1 w 47"/>
                <a:gd name="T75" fmla="*/ 0 h 47"/>
                <a:gd name="T76" fmla="*/ 1 w 47"/>
                <a:gd name="T77" fmla="*/ 0 h 47"/>
                <a:gd name="T78" fmla="*/ 1 w 47"/>
                <a:gd name="T79" fmla="*/ 0 h 47"/>
                <a:gd name="T80" fmla="*/ 1 w 47"/>
                <a:gd name="T81" fmla="*/ 0 h 47"/>
                <a:gd name="T82" fmla="*/ 0 w 47"/>
                <a:gd name="T83" fmla="*/ 0 h 47"/>
                <a:gd name="T84" fmla="*/ 0 w 47"/>
                <a:gd name="T85" fmla="*/ 0 h 47"/>
                <a:gd name="T86" fmla="*/ 0 w 47"/>
                <a:gd name="T87" fmla="*/ 0 h 47"/>
                <a:gd name="T88" fmla="*/ 1 w 47"/>
                <a:gd name="T89" fmla="*/ 0 h 47"/>
                <a:gd name="T90" fmla="*/ 1 w 47"/>
                <a:gd name="T91" fmla="*/ 0 h 47"/>
                <a:gd name="T92" fmla="*/ 1 w 47"/>
                <a:gd name="T93" fmla="*/ 0 h 47"/>
                <a:gd name="T94" fmla="*/ 1 w 47"/>
                <a:gd name="T95" fmla="*/ 0 h 47"/>
                <a:gd name="T96" fmla="*/ 1 w 47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7"/>
                <a:gd name="T149" fmla="*/ 47 w 47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7">
                  <a:moveTo>
                    <a:pt x="29" y="17"/>
                  </a:moveTo>
                  <a:lnTo>
                    <a:pt x="18" y="24"/>
                  </a:lnTo>
                  <a:lnTo>
                    <a:pt x="24" y="17"/>
                  </a:lnTo>
                  <a:lnTo>
                    <a:pt x="18" y="30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29" y="30"/>
                  </a:lnTo>
                  <a:lnTo>
                    <a:pt x="24" y="30"/>
                  </a:lnTo>
                  <a:lnTo>
                    <a:pt x="35" y="24"/>
                  </a:lnTo>
                  <a:lnTo>
                    <a:pt x="29" y="36"/>
                  </a:lnTo>
                  <a:lnTo>
                    <a:pt x="29" y="30"/>
                  </a:lnTo>
                  <a:lnTo>
                    <a:pt x="29" y="17"/>
                  </a:lnTo>
                  <a:lnTo>
                    <a:pt x="35" y="24"/>
                  </a:lnTo>
                  <a:lnTo>
                    <a:pt x="24" y="17"/>
                  </a:lnTo>
                  <a:lnTo>
                    <a:pt x="29" y="0"/>
                  </a:lnTo>
                  <a:lnTo>
                    <a:pt x="41" y="7"/>
                  </a:lnTo>
                  <a:lnTo>
                    <a:pt x="47" y="17"/>
                  </a:lnTo>
                  <a:lnTo>
                    <a:pt x="47" y="30"/>
                  </a:lnTo>
                  <a:lnTo>
                    <a:pt x="47" y="36"/>
                  </a:lnTo>
                  <a:lnTo>
                    <a:pt x="41" y="41"/>
                  </a:lnTo>
                  <a:lnTo>
                    <a:pt x="29" y="47"/>
                  </a:lnTo>
                  <a:lnTo>
                    <a:pt x="24" y="47"/>
                  </a:lnTo>
                  <a:lnTo>
                    <a:pt x="12" y="41"/>
                  </a:lnTo>
                  <a:lnTo>
                    <a:pt x="6" y="41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6" y="11"/>
                  </a:lnTo>
                  <a:lnTo>
                    <a:pt x="12" y="7"/>
                  </a:lnTo>
                  <a:lnTo>
                    <a:pt x="24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6" name="Freeform 414"/>
            <p:cNvSpPr>
              <a:spLocks/>
            </p:cNvSpPr>
            <p:nvPr/>
          </p:nvSpPr>
          <p:spPr bwMode="auto">
            <a:xfrm>
              <a:off x="2555" y="3014"/>
              <a:ext cx="2" cy="8"/>
            </a:xfrm>
            <a:custGeom>
              <a:avLst/>
              <a:gdLst>
                <a:gd name="T0" fmla="*/ 0 w 5"/>
                <a:gd name="T1" fmla="*/ 0 h 17"/>
                <a:gd name="T2" fmla="*/ 0 w 5"/>
                <a:gd name="T3" fmla="*/ 0 h 17"/>
                <a:gd name="T4" fmla="*/ 0 w 5"/>
                <a:gd name="T5" fmla="*/ 0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"/>
                <a:gd name="T22" fmla="*/ 0 h 17"/>
                <a:gd name="T23" fmla="*/ 5 w 5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5" y="17"/>
                  </a:lnTo>
                  <a:lnTo>
                    <a:pt x="0" y="0"/>
                  </a:lnTo>
                  <a:lnTo>
                    <a:pt x="5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7" name="Freeform 415"/>
            <p:cNvSpPr>
              <a:spLocks/>
            </p:cNvSpPr>
            <p:nvPr/>
          </p:nvSpPr>
          <p:spPr bwMode="auto">
            <a:xfrm>
              <a:off x="2546" y="2961"/>
              <a:ext cx="14" cy="14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0 w 29"/>
                <a:gd name="T9" fmla="*/ 0 h 29"/>
                <a:gd name="T10" fmla="*/ 0 w 29"/>
                <a:gd name="T11" fmla="*/ 0 h 29"/>
                <a:gd name="T12" fmla="*/ 0 w 29"/>
                <a:gd name="T13" fmla="*/ 0 h 29"/>
                <a:gd name="T14" fmla="*/ 0 w 29"/>
                <a:gd name="T15" fmla="*/ 0 h 29"/>
                <a:gd name="T16" fmla="*/ 0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18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8" y="29"/>
                  </a:lnTo>
                  <a:lnTo>
                    <a:pt x="29" y="24"/>
                  </a:lnTo>
                  <a:lnTo>
                    <a:pt x="29" y="18"/>
                  </a:lnTo>
                  <a:lnTo>
                    <a:pt x="29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8" name="Freeform 416"/>
            <p:cNvSpPr>
              <a:spLocks/>
            </p:cNvSpPr>
            <p:nvPr/>
          </p:nvSpPr>
          <p:spPr bwMode="auto">
            <a:xfrm>
              <a:off x="2542" y="2955"/>
              <a:ext cx="24" cy="23"/>
            </a:xfrm>
            <a:custGeom>
              <a:avLst/>
              <a:gdLst>
                <a:gd name="T0" fmla="*/ 1 w 47"/>
                <a:gd name="T1" fmla="*/ 1 h 46"/>
                <a:gd name="T2" fmla="*/ 1 w 47"/>
                <a:gd name="T3" fmla="*/ 1 h 46"/>
                <a:gd name="T4" fmla="*/ 1 w 47"/>
                <a:gd name="T5" fmla="*/ 1 h 46"/>
                <a:gd name="T6" fmla="*/ 1 w 47"/>
                <a:gd name="T7" fmla="*/ 1 h 46"/>
                <a:gd name="T8" fmla="*/ 1 w 47"/>
                <a:gd name="T9" fmla="*/ 1 h 46"/>
                <a:gd name="T10" fmla="*/ 1 w 47"/>
                <a:gd name="T11" fmla="*/ 1 h 46"/>
                <a:gd name="T12" fmla="*/ 1 w 47"/>
                <a:gd name="T13" fmla="*/ 1 h 46"/>
                <a:gd name="T14" fmla="*/ 1 w 47"/>
                <a:gd name="T15" fmla="*/ 1 h 46"/>
                <a:gd name="T16" fmla="*/ 1 w 47"/>
                <a:gd name="T17" fmla="*/ 1 h 46"/>
                <a:gd name="T18" fmla="*/ 1 w 47"/>
                <a:gd name="T19" fmla="*/ 1 h 46"/>
                <a:gd name="T20" fmla="*/ 1 w 47"/>
                <a:gd name="T21" fmla="*/ 1 h 46"/>
                <a:gd name="T22" fmla="*/ 1 w 47"/>
                <a:gd name="T23" fmla="*/ 1 h 46"/>
                <a:gd name="T24" fmla="*/ 1 w 47"/>
                <a:gd name="T25" fmla="*/ 1 h 46"/>
                <a:gd name="T26" fmla="*/ 1 w 47"/>
                <a:gd name="T27" fmla="*/ 1 h 46"/>
                <a:gd name="T28" fmla="*/ 1 w 47"/>
                <a:gd name="T29" fmla="*/ 1 h 46"/>
                <a:gd name="T30" fmla="*/ 1 w 47"/>
                <a:gd name="T31" fmla="*/ 1 h 46"/>
                <a:gd name="T32" fmla="*/ 1 w 47"/>
                <a:gd name="T33" fmla="*/ 1 h 46"/>
                <a:gd name="T34" fmla="*/ 1 w 47"/>
                <a:gd name="T35" fmla="*/ 1 h 46"/>
                <a:gd name="T36" fmla="*/ 1 w 47"/>
                <a:gd name="T37" fmla="*/ 1 h 46"/>
                <a:gd name="T38" fmla="*/ 1 w 47"/>
                <a:gd name="T39" fmla="*/ 1 h 46"/>
                <a:gd name="T40" fmla="*/ 1 w 47"/>
                <a:gd name="T41" fmla="*/ 1 h 46"/>
                <a:gd name="T42" fmla="*/ 1 w 47"/>
                <a:gd name="T43" fmla="*/ 1 h 46"/>
                <a:gd name="T44" fmla="*/ 1 w 47"/>
                <a:gd name="T45" fmla="*/ 1 h 46"/>
                <a:gd name="T46" fmla="*/ 1 w 47"/>
                <a:gd name="T47" fmla="*/ 1 h 46"/>
                <a:gd name="T48" fmla="*/ 1 w 47"/>
                <a:gd name="T49" fmla="*/ 0 h 46"/>
                <a:gd name="T50" fmla="*/ 1 w 47"/>
                <a:gd name="T51" fmla="*/ 0 h 46"/>
                <a:gd name="T52" fmla="*/ 1 w 47"/>
                <a:gd name="T53" fmla="*/ 1 h 46"/>
                <a:gd name="T54" fmla="*/ 1 w 47"/>
                <a:gd name="T55" fmla="*/ 1 h 46"/>
                <a:gd name="T56" fmla="*/ 1 w 47"/>
                <a:gd name="T57" fmla="*/ 1 h 46"/>
                <a:gd name="T58" fmla="*/ 1 w 47"/>
                <a:gd name="T59" fmla="*/ 1 h 46"/>
                <a:gd name="T60" fmla="*/ 1 w 47"/>
                <a:gd name="T61" fmla="*/ 1 h 46"/>
                <a:gd name="T62" fmla="*/ 1 w 47"/>
                <a:gd name="T63" fmla="*/ 1 h 46"/>
                <a:gd name="T64" fmla="*/ 1 w 47"/>
                <a:gd name="T65" fmla="*/ 1 h 46"/>
                <a:gd name="T66" fmla="*/ 1 w 47"/>
                <a:gd name="T67" fmla="*/ 1 h 46"/>
                <a:gd name="T68" fmla="*/ 1 w 47"/>
                <a:gd name="T69" fmla="*/ 1 h 46"/>
                <a:gd name="T70" fmla="*/ 1 w 47"/>
                <a:gd name="T71" fmla="*/ 1 h 46"/>
                <a:gd name="T72" fmla="*/ 1 w 47"/>
                <a:gd name="T73" fmla="*/ 1 h 46"/>
                <a:gd name="T74" fmla="*/ 1 w 47"/>
                <a:gd name="T75" fmla="*/ 1 h 46"/>
                <a:gd name="T76" fmla="*/ 1 w 47"/>
                <a:gd name="T77" fmla="*/ 1 h 46"/>
                <a:gd name="T78" fmla="*/ 1 w 47"/>
                <a:gd name="T79" fmla="*/ 1 h 46"/>
                <a:gd name="T80" fmla="*/ 1 w 47"/>
                <a:gd name="T81" fmla="*/ 1 h 46"/>
                <a:gd name="T82" fmla="*/ 0 w 47"/>
                <a:gd name="T83" fmla="*/ 1 h 46"/>
                <a:gd name="T84" fmla="*/ 0 w 47"/>
                <a:gd name="T85" fmla="*/ 1 h 46"/>
                <a:gd name="T86" fmla="*/ 0 w 47"/>
                <a:gd name="T87" fmla="*/ 1 h 46"/>
                <a:gd name="T88" fmla="*/ 1 w 47"/>
                <a:gd name="T89" fmla="*/ 1 h 46"/>
                <a:gd name="T90" fmla="*/ 1 w 47"/>
                <a:gd name="T91" fmla="*/ 1 h 46"/>
                <a:gd name="T92" fmla="*/ 1 w 47"/>
                <a:gd name="T93" fmla="*/ 1 h 46"/>
                <a:gd name="T94" fmla="*/ 1 w 47"/>
                <a:gd name="T95" fmla="*/ 0 h 46"/>
                <a:gd name="T96" fmla="*/ 1 w 47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6"/>
                <a:gd name="T149" fmla="*/ 47 w 47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6">
                  <a:moveTo>
                    <a:pt x="29" y="17"/>
                  </a:moveTo>
                  <a:lnTo>
                    <a:pt x="18" y="23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23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9" y="29"/>
                  </a:lnTo>
                  <a:lnTo>
                    <a:pt x="24" y="29"/>
                  </a:lnTo>
                  <a:lnTo>
                    <a:pt x="35" y="23"/>
                  </a:lnTo>
                  <a:lnTo>
                    <a:pt x="29" y="35"/>
                  </a:lnTo>
                  <a:lnTo>
                    <a:pt x="29" y="29"/>
                  </a:lnTo>
                  <a:lnTo>
                    <a:pt x="29" y="17"/>
                  </a:lnTo>
                  <a:lnTo>
                    <a:pt x="35" y="23"/>
                  </a:lnTo>
                  <a:lnTo>
                    <a:pt x="24" y="17"/>
                  </a:lnTo>
                  <a:lnTo>
                    <a:pt x="29" y="0"/>
                  </a:lnTo>
                  <a:lnTo>
                    <a:pt x="41" y="6"/>
                  </a:lnTo>
                  <a:lnTo>
                    <a:pt x="47" y="17"/>
                  </a:lnTo>
                  <a:lnTo>
                    <a:pt x="47" y="29"/>
                  </a:lnTo>
                  <a:lnTo>
                    <a:pt x="47" y="35"/>
                  </a:lnTo>
                  <a:lnTo>
                    <a:pt x="41" y="40"/>
                  </a:lnTo>
                  <a:lnTo>
                    <a:pt x="29" y="46"/>
                  </a:lnTo>
                  <a:lnTo>
                    <a:pt x="24" y="46"/>
                  </a:lnTo>
                  <a:lnTo>
                    <a:pt x="12" y="40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2" y="6"/>
                  </a:lnTo>
                  <a:lnTo>
                    <a:pt x="24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49" name="Freeform 417"/>
            <p:cNvSpPr>
              <a:spLocks/>
            </p:cNvSpPr>
            <p:nvPr/>
          </p:nvSpPr>
          <p:spPr bwMode="auto">
            <a:xfrm>
              <a:off x="2555" y="2955"/>
              <a:ext cx="2" cy="9"/>
            </a:xfrm>
            <a:custGeom>
              <a:avLst/>
              <a:gdLst>
                <a:gd name="T0" fmla="*/ 0 w 5"/>
                <a:gd name="T1" fmla="*/ 1 h 17"/>
                <a:gd name="T2" fmla="*/ 0 w 5"/>
                <a:gd name="T3" fmla="*/ 1 h 17"/>
                <a:gd name="T4" fmla="*/ 0 w 5"/>
                <a:gd name="T5" fmla="*/ 1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"/>
                <a:gd name="T22" fmla="*/ 0 h 17"/>
                <a:gd name="T23" fmla="*/ 5 w 5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5" y="17"/>
                  </a:lnTo>
                  <a:lnTo>
                    <a:pt x="0" y="0"/>
                  </a:lnTo>
                  <a:lnTo>
                    <a:pt x="5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0" name="Freeform 418"/>
            <p:cNvSpPr>
              <a:spLocks/>
            </p:cNvSpPr>
            <p:nvPr/>
          </p:nvSpPr>
          <p:spPr bwMode="auto">
            <a:xfrm>
              <a:off x="2546" y="2903"/>
              <a:ext cx="14" cy="14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0 w 29"/>
                <a:gd name="T9" fmla="*/ 0 h 29"/>
                <a:gd name="T10" fmla="*/ 0 w 29"/>
                <a:gd name="T11" fmla="*/ 0 h 29"/>
                <a:gd name="T12" fmla="*/ 0 w 29"/>
                <a:gd name="T13" fmla="*/ 0 h 29"/>
                <a:gd name="T14" fmla="*/ 0 w 29"/>
                <a:gd name="T15" fmla="*/ 0 h 29"/>
                <a:gd name="T16" fmla="*/ 0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18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8" y="29"/>
                  </a:lnTo>
                  <a:lnTo>
                    <a:pt x="29" y="24"/>
                  </a:lnTo>
                  <a:lnTo>
                    <a:pt x="29" y="18"/>
                  </a:lnTo>
                  <a:lnTo>
                    <a:pt x="29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1" name="Freeform 419"/>
            <p:cNvSpPr>
              <a:spLocks/>
            </p:cNvSpPr>
            <p:nvPr/>
          </p:nvSpPr>
          <p:spPr bwMode="auto">
            <a:xfrm>
              <a:off x="2542" y="2897"/>
              <a:ext cx="24" cy="23"/>
            </a:xfrm>
            <a:custGeom>
              <a:avLst/>
              <a:gdLst>
                <a:gd name="T0" fmla="*/ 1 w 47"/>
                <a:gd name="T1" fmla="*/ 1 h 46"/>
                <a:gd name="T2" fmla="*/ 1 w 47"/>
                <a:gd name="T3" fmla="*/ 1 h 46"/>
                <a:gd name="T4" fmla="*/ 1 w 47"/>
                <a:gd name="T5" fmla="*/ 1 h 46"/>
                <a:gd name="T6" fmla="*/ 1 w 47"/>
                <a:gd name="T7" fmla="*/ 1 h 46"/>
                <a:gd name="T8" fmla="*/ 1 w 47"/>
                <a:gd name="T9" fmla="*/ 1 h 46"/>
                <a:gd name="T10" fmla="*/ 1 w 47"/>
                <a:gd name="T11" fmla="*/ 1 h 46"/>
                <a:gd name="T12" fmla="*/ 1 w 47"/>
                <a:gd name="T13" fmla="*/ 1 h 46"/>
                <a:gd name="T14" fmla="*/ 1 w 47"/>
                <a:gd name="T15" fmla="*/ 1 h 46"/>
                <a:gd name="T16" fmla="*/ 1 w 47"/>
                <a:gd name="T17" fmla="*/ 1 h 46"/>
                <a:gd name="T18" fmla="*/ 1 w 47"/>
                <a:gd name="T19" fmla="*/ 1 h 46"/>
                <a:gd name="T20" fmla="*/ 1 w 47"/>
                <a:gd name="T21" fmla="*/ 1 h 46"/>
                <a:gd name="T22" fmla="*/ 1 w 47"/>
                <a:gd name="T23" fmla="*/ 1 h 46"/>
                <a:gd name="T24" fmla="*/ 1 w 47"/>
                <a:gd name="T25" fmla="*/ 1 h 46"/>
                <a:gd name="T26" fmla="*/ 1 w 47"/>
                <a:gd name="T27" fmla="*/ 1 h 46"/>
                <a:gd name="T28" fmla="*/ 1 w 47"/>
                <a:gd name="T29" fmla="*/ 1 h 46"/>
                <a:gd name="T30" fmla="*/ 1 w 47"/>
                <a:gd name="T31" fmla="*/ 1 h 46"/>
                <a:gd name="T32" fmla="*/ 1 w 47"/>
                <a:gd name="T33" fmla="*/ 1 h 46"/>
                <a:gd name="T34" fmla="*/ 1 w 47"/>
                <a:gd name="T35" fmla="*/ 1 h 46"/>
                <a:gd name="T36" fmla="*/ 1 w 47"/>
                <a:gd name="T37" fmla="*/ 1 h 46"/>
                <a:gd name="T38" fmla="*/ 1 w 47"/>
                <a:gd name="T39" fmla="*/ 1 h 46"/>
                <a:gd name="T40" fmla="*/ 1 w 47"/>
                <a:gd name="T41" fmla="*/ 1 h 46"/>
                <a:gd name="T42" fmla="*/ 1 w 47"/>
                <a:gd name="T43" fmla="*/ 1 h 46"/>
                <a:gd name="T44" fmla="*/ 1 w 47"/>
                <a:gd name="T45" fmla="*/ 1 h 46"/>
                <a:gd name="T46" fmla="*/ 1 w 47"/>
                <a:gd name="T47" fmla="*/ 1 h 46"/>
                <a:gd name="T48" fmla="*/ 1 w 47"/>
                <a:gd name="T49" fmla="*/ 0 h 46"/>
                <a:gd name="T50" fmla="*/ 1 w 47"/>
                <a:gd name="T51" fmla="*/ 0 h 46"/>
                <a:gd name="T52" fmla="*/ 1 w 47"/>
                <a:gd name="T53" fmla="*/ 1 h 46"/>
                <a:gd name="T54" fmla="*/ 1 w 47"/>
                <a:gd name="T55" fmla="*/ 1 h 46"/>
                <a:gd name="T56" fmla="*/ 1 w 47"/>
                <a:gd name="T57" fmla="*/ 1 h 46"/>
                <a:gd name="T58" fmla="*/ 1 w 47"/>
                <a:gd name="T59" fmla="*/ 1 h 46"/>
                <a:gd name="T60" fmla="*/ 1 w 47"/>
                <a:gd name="T61" fmla="*/ 1 h 46"/>
                <a:gd name="T62" fmla="*/ 1 w 47"/>
                <a:gd name="T63" fmla="*/ 1 h 46"/>
                <a:gd name="T64" fmla="*/ 1 w 47"/>
                <a:gd name="T65" fmla="*/ 1 h 46"/>
                <a:gd name="T66" fmla="*/ 1 w 47"/>
                <a:gd name="T67" fmla="*/ 1 h 46"/>
                <a:gd name="T68" fmla="*/ 1 w 47"/>
                <a:gd name="T69" fmla="*/ 1 h 46"/>
                <a:gd name="T70" fmla="*/ 1 w 47"/>
                <a:gd name="T71" fmla="*/ 1 h 46"/>
                <a:gd name="T72" fmla="*/ 1 w 47"/>
                <a:gd name="T73" fmla="*/ 1 h 46"/>
                <a:gd name="T74" fmla="*/ 1 w 47"/>
                <a:gd name="T75" fmla="*/ 1 h 46"/>
                <a:gd name="T76" fmla="*/ 1 w 47"/>
                <a:gd name="T77" fmla="*/ 1 h 46"/>
                <a:gd name="T78" fmla="*/ 1 w 47"/>
                <a:gd name="T79" fmla="*/ 1 h 46"/>
                <a:gd name="T80" fmla="*/ 1 w 47"/>
                <a:gd name="T81" fmla="*/ 1 h 46"/>
                <a:gd name="T82" fmla="*/ 0 w 47"/>
                <a:gd name="T83" fmla="*/ 1 h 46"/>
                <a:gd name="T84" fmla="*/ 0 w 47"/>
                <a:gd name="T85" fmla="*/ 1 h 46"/>
                <a:gd name="T86" fmla="*/ 0 w 47"/>
                <a:gd name="T87" fmla="*/ 1 h 46"/>
                <a:gd name="T88" fmla="*/ 1 w 47"/>
                <a:gd name="T89" fmla="*/ 1 h 46"/>
                <a:gd name="T90" fmla="*/ 1 w 47"/>
                <a:gd name="T91" fmla="*/ 1 h 46"/>
                <a:gd name="T92" fmla="*/ 1 w 47"/>
                <a:gd name="T93" fmla="*/ 1 h 46"/>
                <a:gd name="T94" fmla="*/ 1 w 47"/>
                <a:gd name="T95" fmla="*/ 0 h 46"/>
                <a:gd name="T96" fmla="*/ 1 w 47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6"/>
                <a:gd name="T149" fmla="*/ 47 w 47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6">
                  <a:moveTo>
                    <a:pt x="29" y="17"/>
                  </a:moveTo>
                  <a:lnTo>
                    <a:pt x="18" y="23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2" y="23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9" y="29"/>
                  </a:lnTo>
                  <a:lnTo>
                    <a:pt x="24" y="29"/>
                  </a:lnTo>
                  <a:lnTo>
                    <a:pt x="35" y="23"/>
                  </a:lnTo>
                  <a:lnTo>
                    <a:pt x="29" y="35"/>
                  </a:lnTo>
                  <a:lnTo>
                    <a:pt x="29" y="29"/>
                  </a:lnTo>
                  <a:lnTo>
                    <a:pt x="29" y="17"/>
                  </a:lnTo>
                  <a:lnTo>
                    <a:pt x="35" y="23"/>
                  </a:lnTo>
                  <a:lnTo>
                    <a:pt x="24" y="17"/>
                  </a:lnTo>
                  <a:lnTo>
                    <a:pt x="29" y="0"/>
                  </a:lnTo>
                  <a:lnTo>
                    <a:pt x="41" y="6"/>
                  </a:lnTo>
                  <a:lnTo>
                    <a:pt x="47" y="17"/>
                  </a:lnTo>
                  <a:lnTo>
                    <a:pt x="47" y="29"/>
                  </a:lnTo>
                  <a:lnTo>
                    <a:pt x="47" y="35"/>
                  </a:lnTo>
                  <a:lnTo>
                    <a:pt x="41" y="40"/>
                  </a:lnTo>
                  <a:lnTo>
                    <a:pt x="29" y="46"/>
                  </a:lnTo>
                  <a:lnTo>
                    <a:pt x="24" y="46"/>
                  </a:lnTo>
                  <a:lnTo>
                    <a:pt x="12" y="40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2" y="6"/>
                  </a:lnTo>
                  <a:lnTo>
                    <a:pt x="24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2" name="Freeform 420"/>
            <p:cNvSpPr>
              <a:spLocks/>
            </p:cNvSpPr>
            <p:nvPr/>
          </p:nvSpPr>
          <p:spPr bwMode="auto">
            <a:xfrm>
              <a:off x="2555" y="2897"/>
              <a:ext cx="2" cy="9"/>
            </a:xfrm>
            <a:custGeom>
              <a:avLst/>
              <a:gdLst>
                <a:gd name="T0" fmla="*/ 0 w 5"/>
                <a:gd name="T1" fmla="*/ 1 h 17"/>
                <a:gd name="T2" fmla="*/ 0 w 5"/>
                <a:gd name="T3" fmla="*/ 1 h 17"/>
                <a:gd name="T4" fmla="*/ 0 w 5"/>
                <a:gd name="T5" fmla="*/ 1 h 17"/>
                <a:gd name="T6" fmla="*/ 0 w 5"/>
                <a:gd name="T7" fmla="*/ 0 h 17"/>
                <a:gd name="T8" fmla="*/ 0 w 5"/>
                <a:gd name="T9" fmla="*/ 0 h 17"/>
                <a:gd name="T10" fmla="*/ 0 w 5"/>
                <a:gd name="T11" fmla="*/ 0 h 17"/>
                <a:gd name="T12" fmla="*/ 0 w 5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"/>
                <a:gd name="T22" fmla="*/ 0 h 17"/>
                <a:gd name="T23" fmla="*/ 5 w 5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" h="17">
                  <a:moveTo>
                    <a:pt x="0" y="17"/>
                  </a:moveTo>
                  <a:lnTo>
                    <a:pt x="0" y="17"/>
                  </a:lnTo>
                  <a:lnTo>
                    <a:pt x="5" y="17"/>
                  </a:lnTo>
                  <a:lnTo>
                    <a:pt x="0" y="0"/>
                  </a:lnTo>
                  <a:lnTo>
                    <a:pt x="5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3" name="Freeform 421"/>
            <p:cNvSpPr>
              <a:spLocks/>
            </p:cNvSpPr>
            <p:nvPr/>
          </p:nvSpPr>
          <p:spPr bwMode="auto">
            <a:xfrm>
              <a:off x="2805" y="3019"/>
              <a:ext cx="15" cy="15"/>
            </a:xfrm>
            <a:custGeom>
              <a:avLst/>
              <a:gdLst>
                <a:gd name="T0" fmla="*/ 1 w 29"/>
                <a:gd name="T1" fmla="*/ 0 h 30"/>
                <a:gd name="T2" fmla="*/ 0 w 29"/>
                <a:gd name="T3" fmla="*/ 1 h 30"/>
                <a:gd name="T4" fmla="*/ 0 w 29"/>
                <a:gd name="T5" fmla="*/ 1 h 30"/>
                <a:gd name="T6" fmla="*/ 0 w 29"/>
                <a:gd name="T7" fmla="*/ 1 h 30"/>
                <a:gd name="T8" fmla="*/ 1 w 29"/>
                <a:gd name="T9" fmla="*/ 1 h 30"/>
                <a:gd name="T10" fmla="*/ 1 w 29"/>
                <a:gd name="T11" fmla="*/ 1 h 30"/>
                <a:gd name="T12" fmla="*/ 1 w 29"/>
                <a:gd name="T13" fmla="*/ 1 h 30"/>
                <a:gd name="T14" fmla="*/ 1 w 29"/>
                <a:gd name="T15" fmla="*/ 1 h 30"/>
                <a:gd name="T16" fmla="*/ 1 w 29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0"/>
                <a:gd name="T29" fmla="*/ 29 w 29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0">
                  <a:moveTo>
                    <a:pt x="12" y="0"/>
                  </a:moveTo>
                  <a:lnTo>
                    <a:pt x="0" y="6"/>
                  </a:lnTo>
                  <a:lnTo>
                    <a:pt x="0" y="19"/>
                  </a:lnTo>
                  <a:lnTo>
                    <a:pt x="0" y="25"/>
                  </a:lnTo>
                  <a:lnTo>
                    <a:pt x="12" y="30"/>
                  </a:lnTo>
                  <a:lnTo>
                    <a:pt x="24" y="25"/>
                  </a:lnTo>
                  <a:lnTo>
                    <a:pt x="29" y="19"/>
                  </a:lnTo>
                  <a:lnTo>
                    <a:pt x="24" y="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4" name="Freeform 422"/>
            <p:cNvSpPr>
              <a:spLocks/>
            </p:cNvSpPr>
            <p:nvPr/>
          </p:nvSpPr>
          <p:spPr bwMode="auto">
            <a:xfrm>
              <a:off x="2803" y="3014"/>
              <a:ext cx="23" cy="23"/>
            </a:xfrm>
            <a:custGeom>
              <a:avLst/>
              <a:gdLst>
                <a:gd name="T0" fmla="*/ 1 w 46"/>
                <a:gd name="T1" fmla="*/ 0 h 47"/>
                <a:gd name="T2" fmla="*/ 1 w 46"/>
                <a:gd name="T3" fmla="*/ 0 h 47"/>
                <a:gd name="T4" fmla="*/ 1 w 46"/>
                <a:gd name="T5" fmla="*/ 0 h 47"/>
                <a:gd name="T6" fmla="*/ 1 w 46"/>
                <a:gd name="T7" fmla="*/ 0 h 47"/>
                <a:gd name="T8" fmla="*/ 1 w 46"/>
                <a:gd name="T9" fmla="*/ 0 h 47"/>
                <a:gd name="T10" fmla="*/ 1 w 46"/>
                <a:gd name="T11" fmla="*/ 0 h 47"/>
                <a:gd name="T12" fmla="*/ 1 w 46"/>
                <a:gd name="T13" fmla="*/ 0 h 47"/>
                <a:gd name="T14" fmla="*/ 1 w 46"/>
                <a:gd name="T15" fmla="*/ 0 h 47"/>
                <a:gd name="T16" fmla="*/ 1 w 46"/>
                <a:gd name="T17" fmla="*/ 0 h 47"/>
                <a:gd name="T18" fmla="*/ 1 w 46"/>
                <a:gd name="T19" fmla="*/ 0 h 47"/>
                <a:gd name="T20" fmla="*/ 1 w 46"/>
                <a:gd name="T21" fmla="*/ 0 h 47"/>
                <a:gd name="T22" fmla="*/ 1 w 46"/>
                <a:gd name="T23" fmla="*/ 0 h 47"/>
                <a:gd name="T24" fmla="*/ 1 w 46"/>
                <a:gd name="T25" fmla="*/ 0 h 47"/>
                <a:gd name="T26" fmla="*/ 1 w 46"/>
                <a:gd name="T27" fmla="*/ 0 h 47"/>
                <a:gd name="T28" fmla="*/ 1 w 46"/>
                <a:gd name="T29" fmla="*/ 0 h 47"/>
                <a:gd name="T30" fmla="*/ 1 w 46"/>
                <a:gd name="T31" fmla="*/ 0 h 47"/>
                <a:gd name="T32" fmla="*/ 1 w 46"/>
                <a:gd name="T33" fmla="*/ 0 h 47"/>
                <a:gd name="T34" fmla="*/ 1 w 46"/>
                <a:gd name="T35" fmla="*/ 0 h 47"/>
                <a:gd name="T36" fmla="*/ 1 w 46"/>
                <a:gd name="T37" fmla="*/ 0 h 47"/>
                <a:gd name="T38" fmla="*/ 1 w 46"/>
                <a:gd name="T39" fmla="*/ 0 h 47"/>
                <a:gd name="T40" fmla="*/ 1 w 46"/>
                <a:gd name="T41" fmla="*/ 0 h 47"/>
                <a:gd name="T42" fmla="*/ 1 w 46"/>
                <a:gd name="T43" fmla="*/ 0 h 47"/>
                <a:gd name="T44" fmla="*/ 1 w 46"/>
                <a:gd name="T45" fmla="*/ 0 h 47"/>
                <a:gd name="T46" fmla="*/ 1 w 46"/>
                <a:gd name="T47" fmla="*/ 0 h 47"/>
                <a:gd name="T48" fmla="*/ 1 w 46"/>
                <a:gd name="T49" fmla="*/ 0 h 47"/>
                <a:gd name="T50" fmla="*/ 1 w 46"/>
                <a:gd name="T51" fmla="*/ 0 h 47"/>
                <a:gd name="T52" fmla="*/ 1 w 46"/>
                <a:gd name="T53" fmla="*/ 0 h 47"/>
                <a:gd name="T54" fmla="*/ 1 w 46"/>
                <a:gd name="T55" fmla="*/ 0 h 47"/>
                <a:gd name="T56" fmla="*/ 1 w 46"/>
                <a:gd name="T57" fmla="*/ 0 h 47"/>
                <a:gd name="T58" fmla="*/ 1 w 46"/>
                <a:gd name="T59" fmla="*/ 0 h 47"/>
                <a:gd name="T60" fmla="*/ 1 w 46"/>
                <a:gd name="T61" fmla="*/ 0 h 47"/>
                <a:gd name="T62" fmla="*/ 1 w 46"/>
                <a:gd name="T63" fmla="*/ 0 h 47"/>
                <a:gd name="T64" fmla="*/ 1 w 46"/>
                <a:gd name="T65" fmla="*/ 0 h 47"/>
                <a:gd name="T66" fmla="*/ 1 w 46"/>
                <a:gd name="T67" fmla="*/ 0 h 47"/>
                <a:gd name="T68" fmla="*/ 1 w 46"/>
                <a:gd name="T69" fmla="*/ 0 h 47"/>
                <a:gd name="T70" fmla="*/ 1 w 46"/>
                <a:gd name="T71" fmla="*/ 0 h 47"/>
                <a:gd name="T72" fmla="*/ 1 w 46"/>
                <a:gd name="T73" fmla="*/ 0 h 47"/>
                <a:gd name="T74" fmla="*/ 1 w 46"/>
                <a:gd name="T75" fmla="*/ 0 h 47"/>
                <a:gd name="T76" fmla="*/ 1 w 46"/>
                <a:gd name="T77" fmla="*/ 0 h 47"/>
                <a:gd name="T78" fmla="*/ 1 w 46"/>
                <a:gd name="T79" fmla="*/ 0 h 47"/>
                <a:gd name="T80" fmla="*/ 0 w 46"/>
                <a:gd name="T81" fmla="*/ 0 h 47"/>
                <a:gd name="T82" fmla="*/ 0 w 46"/>
                <a:gd name="T83" fmla="*/ 0 h 47"/>
                <a:gd name="T84" fmla="*/ 0 w 46"/>
                <a:gd name="T85" fmla="*/ 0 h 47"/>
                <a:gd name="T86" fmla="*/ 0 w 46"/>
                <a:gd name="T87" fmla="*/ 0 h 47"/>
                <a:gd name="T88" fmla="*/ 0 w 46"/>
                <a:gd name="T89" fmla="*/ 0 h 47"/>
                <a:gd name="T90" fmla="*/ 0 w 46"/>
                <a:gd name="T91" fmla="*/ 0 h 47"/>
                <a:gd name="T92" fmla="*/ 1 w 46"/>
                <a:gd name="T93" fmla="*/ 0 h 47"/>
                <a:gd name="T94" fmla="*/ 1 w 46"/>
                <a:gd name="T95" fmla="*/ 0 h 47"/>
                <a:gd name="T96" fmla="*/ 1 w 46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7"/>
                <a:gd name="T149" fmla="*/ 46 w 46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7">
                  <a:moveTo>
                    <a:pt x="23" y="17"/>
                  </a:moveTo>
                  <a:lnTo>
                    <a:pt x="11" y="24"/>
                  </a:lnTo>
                  <a:lnTo>
                    <a:pt x="17" y="17"/>
                  </a:lnTo>
                  <a:lnTo>
                    <a:pt x="17" y="30"/>
                  </a:lnTo>
                  <a:lnTo>
                    <a:pt x="17" y="36"/>
                  </a:lnTo>
                  <a:lnTo>
                    <a:pt x="11" y="24"/>
                  </a:lnTo>
                  <a:lnTo>
                    <a:pt x="23" y="30"/>
                  </a:lnTo>
                  <a:lnTo>
                    <a:pt x="17" y="30"/>
                  </a:lnTo>
                  <a:lnTo>
                    <a:pt x="29" y="24"/>
                  </a:lnTo>
                  <a:lnTo>
                    <a:pt x="23" y="30"/>
                  </a:lnTo>
                  <a:lnTo>
                    <a:pt x="29" y="24"/>
                  </a:lnTo>
                  <a:lnTo>
                    <a:pt x="29" y="30"/>
                  </a:lnTo>
                  <a:lnTo>
                    <a:pt x="23" y="17"/>
                  </a:lnTo>
                  <a:lnTo>
                    <a:pt x="29" y="24"/>
                  </a:lnTo>
                  <a:lnTo>
                    <a:pt x="17" y="17"/>
                  </a:lnTo>
                  <a:lnTo>
                    <a:pt x="23" y="0"/>
                  </a:lnTo>
                  <a:lnTo>
                    <a:pt x="34" y="7"/>
                  </a:lnTo>
                  <a:lnTo>
                    <a:pt x="40" y="11"/>
                  </a:lnTo>
                  <a:lnTo>
                    <a:pt x="46" y="24"/>
                  </a:lnTo>
                  <a:lnTo>
                    <a:pt x="40" y="36"/>
                  </a:lnTo>
                  <a:lnTo>
                    <a:pt x="34" y="41"/>
                  </a:lnTo>
                  <a:lnTo>
                    <a:pt x="23" y="47"/>
                  </a:lnTo>
                  <a:lnTo>
                    <a:pt x="17" y="47"/>
                  </a:lnTo>
                  <a:lnTo>
                    <a:pt x="5" y="41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0" y="17"/>
                  </a:lnTo>
                  <a:lnTo>
                    <a:pt x="5" y="7"/>
                  </a:lnTo>
                  <a:lnTo>
                    <a:pt x="17" y="0"/>
                  </a:lnTo>
                  <a:lnTo>
                    <a:pt x="23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5" name="Freeform 423"/>
            <p:cNvSpPr>
              <a:spLocks/>
            </p:cNvSpPr>
            <p:nvPr/>
          </p:nvSpPr>
          <p:spPr bwMode="auto">
            <a:xfrm>
              <a:off x="2811" y="3014"/>
              <a:ext cx="3" cy="8"/>
            </a:xfrm>
            <a:custGeom>
              <a:avLst/>
              <a:gdLst>
                <a:gd name="T0" fmla="*/ 0 w 6"/>
                <a:gd name="T1" fmla="*/ 0 h 17"/>
                <a:gd name="T2" fmla="*/ 0 w 6"/>
                <a:gd name="T3" fmla="*/ 0 h 17"/>
                <a:gd name="T4" fmla="*/ 1 w 6"/>
                <a:gd name="T5" fmla="*/ 0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6" name="Freeform 424"/>
            <p:cNvSpPr>
              <a:spLocks/>
            </p:cNvSpPr>
            <p:nvPr/>
          </p:nvSpPr>
          <p:spPr bwMode="auto">
            <a:xfrm>
              <a:off x="2805" y="2961"/>
              <a:ext cx="15" cy="14"/>
            </a:xfrm>
            <a:custGeom>
              <a:avLst/>
              <a:gdLst>
                <a:gd name="T0" fmla="*/ 1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1 w 29"/>
                <a:gd name="T9" fmla="*/ 0 h 29"/>
                <a:gd name="T10" fmla="*/ 1 w 29"/>
                <a:gd name="T11" fmla="*/ 0 h 29"/>
                <a:gd name="T12" fmla="*/ 1 w 29"/>
                <a:gd name="T13" fmla="*/ 0 h 29"/>
                <a:gd name="T14" fmla="*/ 1 w 29"/>
                <a:gd name="T15" fmla="*/ 0 h 29"/>
                <a:gd name="T16" fmla="*/ 1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12" y="0"/>
                  </a:moveTo>
                  <a:lnTo>
                    <a:pt x="0" y="6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12" y="29"/>
                  </a:lnTo>
                  <a:lnTo>
                    <a:pt x="24" y="24"/>
                  </a:lnTo>
                  <a:lnTo>
                    <a:pt x="29" y="18"/>
                  </a:lnTo>
                  <a:lnTo>
                    <a:pt x="24" y="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7" name="Freeform 425"/>
            <p:cNvSpPr>
              <a:spLocks/>
            </p:cNvSpPr>
            <p:nvPr/>
          </p:nvSpPr>
          <p:spPr bwMode="auto">
            <a:xfrm>
              <a:off x="2803" y="2955"/>
              <a:ext cx="23" cy="23"/>
            </a:xfrm>
            <a:custGeom>
              <a:avLst/>
              <a:gdLst>
                <a:gd name="T0" fmla="*/ 1 w 46"/>
                <a:gd name="T1" fmla="*/ 1 h 46"/>
                <a:gd name="T2" fmla="*/ 1 w 46"/>
                <a:gd name="T3" fmla="*/ 1 h 46"/>
                <a:gd name="T4" fmla="*/ 1 w 46"/>
                <a:gd name="T5" fmla="*/ 1 h 46"/>
                <a:gd name="T6" fmla="*/ 1 w 46"/>
                <a:gd name="T7" fmla="*/ 1 h 46"/>
                <a:gd name="T8" fmla="*/ 1 w 46"/>
                <a:gd name="T9" fmla="*/ 1 h 46"/>
                <a:gd name="T10" fmla="*/ 1 w 46"/>
                <a:gd name="T11" fmla="*/ 1 h 46"/>
                <a:gd name="T12" fmla="*/ 1 w 46"/>
                <a:gd name="T13" fmla="*/ 1 h 46"/>
                <a:gd name="T14" fmla="*/ 1 w 46"/>
                <a:gd name="T15" fmla="*/ 1 h 46"/>
                <a:gd name="T16" fmla="*/ 1 w 46"/>
                <a:gd name="T17" fmla="*/ 1 h 46"/>
                <a:gd name="T18" fmla="*/ 1 w 46"/>
                <a:gd name="T19" fmla="*/ 1 h 46"/>
                <a:gd name="T20" fmla="*/ 1 w 46"/>
                <a:gd name="T21" fmla="*/ 1 h 46"/>
                <a:gd name="T22" fmla="*/ 1 w 46"/>
                <a:gd name="T23" fmla="*/ 1 h 46"/>
                <a:gd name="T24" fmla="*/ 1 w 46"/>
                <a:gd name="T25" fmla="*/ 1 h 46"/>
                <a:gd name="T26" fmla="*/ 1 w 46"/>
                <a:gd name="T27" fmla="*/ 1 h 46"/>
                <a:gd name="T28" fmla="*/ 1 w 46"/>
                <a:gd name="T29" fmla="*/ 1 h 46"/>
                <a:gd name="T30" fmla="*/ 1 w 46"/>
                <a:gd name="T31" fmla="*/ 1 h 46"/>
                <a:gd name="T32" fmla="*/ 1 w 46"/>
                <a:gd name="T33" fmla="*/ 1 h 46"/>
                <a:gd name="T34" fmla="*/ 1 w 46"/>
                <a:gd name="T35" fmla="*/ 1 h 46"/>
                <a:gd name="T36" fmla="*/ 1 w 46"/>
                <a:gd name="T37" fmla="*/ 1 h 46"/>
                <a:gd name="T38" fmla="*/ 1 w 46"/>
                <a:gd name="T39" fmla="*/ 1 h 46"/>
                <a:gd name="T40" fmla="*/ 1 w 46"/>
                <a:gd name="T41" fmla="*/ 1 h 46"/>
                <a:gd name="T42" fmla="*/ 1 w 46"/>
                <a:gd name="T43" fmla="*/ 1 h 46"/>
                <a:gd name="T44" fmla="*/ 1 w 46"/>
                <a:gd name="T45" fmla="*/ 1 h 46"/>
                <a:gd name="T46" fmla="*/ 1 w 46"/>
                <a:gd name="T47" fmla="*/ 1 h 46"/>
                <a:gd name="T48" fmla="*/ 1 w 46"/>
                <a:gd name="T49" fmla="*/ 0 h 46"/>
                <a:gd name="T50" fmla="*/ 1 w 46"/>
                <a:gd name="T51" fmla="*/ 0 h 46"/>
                <a:gd name="T52" fmla="*/ 1 w 46"/>
                <a:gd name="T53" fmla="*/ 1 h 46"/>
                <a:gd name="T54" fmla="*/ 1 w 46"/>
                <a:gd name="T55" fmla="*/ 1 h 46"/>
                <a:gd name="T56" fmla="*/ 1 w 46"/>
                <a:gd name="T57" fmla="*/ 1 h 46"/>
                <a:gd name="T58" fmla="*/ 1 w 46"/>
                <a:gd name="T59" fmla="*/ 1 h 46"/>
                <a:gd name="T60" fmla="*/ 1 w 46"/>
                <a:gd name="T61" fmla="*/ 1 h 46"/>
                <a:gd name="T62" fmla="*/ 1 w 46"/>
                <a:gd name="T63" fmla="*/ 1 h 46"/>
                <a:gd name="T64" fmla="*/ 1 w 46"/>
                <a:gd name="T65" fmla="*/ 1 h 46"/>
                <a:gd name="T66" fmla="*/ 1 w 46"/>
                <a:gd name="T67" fmla="*/ 1 h 46"/>
                <a:gd name="T68" fmla="*/ 1 w 46"/>
                <a:gd name="T69" fmla="*/ 1 h 46"/>
                <a:gd name="T70" fmla="*/ 1 w 46"/>
                <a:gd name="T71" fmla="*/ 1 h 46"/>
                <a:gd name="T72" fmla="*/ 1 w 46"/>
                <a:gd name="T73" fmla="*/ 1 h 46"/>
                <a:gd name="T74" fmla="*/ 1 w 46"/>
                <a:gd name="T75" fmla="*/ 1 h 46"/>
                <a:gd name="T76" fmla="*/ 1 w 46"/>
                <a:gd name="T77" fmla="*/ 1 h 46"/>
                <a:gd name="T78" fmla="*/ 1 w 46"/>
                <a:gd name="T79" fmla="*/ 1 h 46"/>
                <a:gd name="T80" fmla="*/ 0 w 46"/>
                <a:gd name="T81" fmla="*/ 1 h 46"/>
                <a:gd name="T82" fmla="*/ 0 w 46"/>
                <a:gd name="T83" fmla="*/ 1 h 46"/>
                <a:gd name="T84" fmla="*/ 0 w 46"/>
                <a:gd name="T85" fmla="*/ 1 h 46"/>
                <a:gd name="T86" fmla="*/ 0 w 46"/>
                <a:gd name="T87" fmla="*/ 1 h 46"/>
                <a:gd name="T88" fmla="*/ 0 w 46"/>
                <a:gd name="T89" fmla="*/ 1 h 46"/>
                <a:gd name="T90" fmla="*/ 0 w 46"/>
                <a:gd name="T91" fmla="*/ 1 h 46"/>
                <a:gd name="T92" fmla="*/ 1 w 46"/>
                <a:gd name="T93" fmla="*/ 1 h 46"/>
                <a:gd name="T94" fmla="*/ 1 w 46"/>
                <a:gd name="T95" fmla="*/ 0 h 46"/>
                <a:gd name="T96" fmla="*/ 1 w 46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6"/>
                <a:gd name="T149" fmla="*/ 46 w 46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6">
                  <a:moveTo>
                    <a:pt x="23" y="17"/>
                  </a:moveTo>
                  <a:lnTo>
                    <a:pt x="11" y="23"/>
                  </a:lnTo>
                  <a:lnTo>
                    <a:pt x="17" y="17"/>
                  </a:lnTo>
                  <a:lnTo>
                    <a:pt x="17" y="29"/>
                  </a:lnTo>
                  <a:lnTo>
                    <a:pt x="17" y="35"/>
                  </a:lnTo>
                  <a:lnTo>
                    <a:pt x="11" y="23"/>
                  </a:lnTo>
                  <a:lnTo>
                    <a:pt x="23" y="29"/>
                  </a:lnTo>
                  <a:lnTo>
                    <a:pt x="17" y="29"/>
                  </a:lnTo>
                  <a:lnTo>
                    <a:pt x="29" y="23"/>
                  </a:lnTo>
                  <a:lnTo>
                    <a:pt x="23" y="29"/>
                  </a:lnTo>
                  <a:lnTo>
                    <a:pt x="29" y="23"/>
                  </a:lnTo>
                  <a:lnTo>
                    <a:pt x="29" y="29"/>
                  </a:lnTo>
                  <a:lnTo>
                    <a:pt x="23" y="17"/>
                  </a:lnTo>
                  <a:lnTo>
                    <a:pt x="29" y="23"/>
                  </a:lnTo>
                  <a:lnTo>
                    <a:pt x="17" y="17"/>
                  </a:lnTo>
                  <a:lnTo>
                    <a:pt x="23" y="0"/>
                  </a:lnTo>
                  <a:lnTo>
                    <a:pt x="34" y="6"/>
                  </a:lnTo>
                  <a:lnTo>
                    <a:pt x="40" y="11"/>
                  </a:lnTo>
                  <a:lnTo>
                    <a:pt x="46" y="23"/>
                  </a:lnTo>
                  <a:lnTo>
                    <a:pt x="40" y="35"/>
                  </a:lnTo>
                  <a:lnTo>
                    <a:pt x="34" y="40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5" y="40"/>
                  </a:lnTo>
                  <a:lnTo>
                    <a:pt x="0" y="35"/>
                  </a:lnTo>
                  <a:lnTo>
                    <a:pt x="0" y="29"/>
                  </a:lnTo>
                  <a:lnTo>
                    <a:pt x="0" y="17"/>
                  </a:lnTo>
                  <a:lnTo>
                    <a:pt x="5" y="6"/>
                  </a:lnTo>
                  <a:lnTo>
                    <a:pt x="17" y="0"/>
                  </a:lnTo>
                  <a:lnTo>
                    <a:pt x="23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8" name="Freeform 426"/>
            <p:cNvSpPr>
              <a:spLocks/>
            </p:cNvSpPr>
            <p:nvPr/>
          </p:nvSpPr>
          <p:spPr bwMode="auto">
            <a:xfrm>
              <a:off x="2811" y="2955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59" name="Freeform 427"/>
            <p:cNvSpPr>
              <a:spLocks/>
            </p:cNvSpPr>
            <p:nvPr/>
          </p:nvSpPr>
          <p:spPr bwMode="auto">
            <a:xfrm>
              <a:off x="2805" y="2903"/>
              <a:ext cx="15" cy="14"/>
            </a:xfrm>
            <a:custGeom>
              <a:avLst/>
              <a:gdLst>
                <a:gd name="T0" fmla="*/ 1 w 29"/>
                <a:gd name="T1" fmla="*/ 0 h 29"/>
                <a:gd name="T2" fmla="*/ 0 w 29"/>
                <a:gd name="T3" fmla="*/ 0 h 29"/>
                <a:gd name="T4" fmla="*/ 0 w 29"/>
                <a:gd name="T5" fmla="*/ 0 h 29"/>
                <a:gd name="T6" fmla="*/ 0 w 29"/>
                <a:gd name="T7" fmla="*/ 0 h 29"/>
                <a:gd name="T8" fmla="*/ 1 w 29"/>
                <a:gd name="T9" fmla="*/ 0 h 29"/>
                <a:gd name="T10" fmla="*/ 1 w 29"/>
                <a:gd name="T11" fmla="*/ 0 h 29"/>
                <a:gd name="T12" fmla="*/ 1 w 29"/>
                <a:gd name="T13" fmla="*/ 0 h 29"/>
                <a:gd name="T14" fmla="*/ 1 w 29"/>
                <a:gd name="T15" fmla="*/ 0 h 29"/>
                <a:gd name="T16" fmla="*/ 1 w 29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29"/>
                <a:gd name="T29" fmla="*/ 29 w 29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29">
                  <a:moveTo>
                    <a:pt x="12" y="0"/>
                  </a:moveTo>
                  <a:lnTo>
                    <a:pt x="0" y="6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12" y="29"/>
                  </a:lnTo>
                  <a:lnTo>
                    <a:pt x="24" y="24"/>
                  </a:lnTo>
                  <a:lnTo>
                    <a:pt x="29" y="18"/>
                  </a:lnTo>
                  <a:lnTo>
                    <a:pt x="24" y="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0" name="Freeform 428"/>
            <p:cNvSpPr>
              <a:spLocks/>
            </p:cNvSpPr>
            <p:nvPr/>
          </p:nvSpPr>
          <p:spPr bwMode="auto">
            <a:xfrm>
              <a:off x="2803" y="2897"/>
              <a:ext cx="23" cy="23"/>
            </a:xfrm>
            <a:custGeom>
              <a:avLst/>
              <a:gdLst>
                <a:gd name="T0" fmla="*/ 1 w 46"/>
                <a:gd name="T1" fmla="*/ 1 h 46"/>
                <a:gd name="T2" fmla="*/ 1 w 46"/>
                <a:gd name="T3" fmla="*/ 1 h 46"/>
                <a:gd name="T4" fmla="*/ 1 w 46"/>
                <a:gd name="T5" fmla="*/ 1 h 46"/>
                <a:gd name="T6" fmla="*/ 1 w 46"/>
                <a:gd name="T7" fmla="*/ 1 h 46"/>
                <a:gd name="T8" fmla="*/ 1 w 46"/>
                <a:gd name="T9" fmla="*/ 1 h 46"/>
                <a:gd name="T10" fmla="*/ 1 w 46"/>
                <a:gd name="T11" fmla="*/ 1 h 46"/>
                <a:gd name="T12" fmla="*/ 1 w 46"/>
                <a:gd name="T13" fmla="*/ 1 h 46"/>
                <a:gd name="T14" fmla="*/ 1 w 46"/>
                <a:gd name="T15" fmla="*/ 1 h 46"/>
                <a:gd name="T16" fmla="*/ 1 w 46"/>
                <a:gd name="T17" fmla="*/ 1 h 46"/>
                <a:gd name="T18" fmla="*/ 1 w 46"/>
                <a:gd name="T19" fmla="*/ 1 h 46"/>
                <a:gd name="T20" fmla="*/ 1 w 46"/>
                <a:gd name="T21" fmla="*/ 1 h 46"/>
                <a:gd name="T22" fmla="*/ 1 w 46"/>
                <a:gd name="T23" fmla="*/ 1 h 46"/>
                <a:gd name="T24" fmla="*/ 1 w 46"/>
                <a:gd name="T25" fmla="*/ 1 h 46"/>
                <a:gd name="T26" fmla="*/ 1 w 46"/>
                <a:gd name="T27" fmla="*/ 1 h 46"/>
                <a:gd name="T28" fmla="*/ 1 w 46"/>
                <a:gd name="T29" fmla="*/ 1 h 46"/>
                <a:gd name="T30" fmla="*/ 1 w 46"/>
                <a:gd name="T31" fmla="*/ 1 h 46"/>
                <a:gd name="T32" fmla="*/ 1 w 46"/>
                <a:gd name="T33" fmla="*/ 1 h 46"/>
                <a:gd name="T34" fmla="*/ 1 w 46"/>
                <a:gd name="T35" fmla="*/ 1 h 46"/>
                <a:gd name="T36" fmla="*/ 1 w 46"/>
                <a:gd name="T37" fmla="*/ 1 h 46"/>
                <a:gd name="T38" fmla="*/ 1 w 46"/>
                <a:gd name="T39" fmla="*/ 1 h 46"/>
                <a:gd name="T40" fmla="*/ 1 w 46"/>
                <a:gd name="T41" fmla="*/ 1 h 46"/>
                <a:gd name="T42" fmla="*/ 1 w 46"/>
                <a:gd name="T43" fmla="*/ 1 h 46"/>
                <a:gd name="T44" fmla="*/ 1 w 46"/>
                <a:gd name="T45" fmla="*/ 1 h 46"/>
                <a:gd name="T46" fmla="*/ 1 w 46"/>
                <a:gd name="T47" fmla="*/ 1 h 46"/>
                <a:gd name="T48" fmla="*/ 1 w 46"/>
                <a:gd name="T49" fmla="*/ 0 h 46"/>
                <a:gd name="T50" fmla="*/ 1 w 46"/>
                <a:gd name="T51" fmla="*/ 0 h 46"/>
                <a:gd name="T52" fmla="*/ 1 w 46"/>
                <a:gd name="T53" fmla="*/ 1 h 46"/>
                <a:gd name="T54" fmla="*/ 1 w 46"/>
                <a:gd name="T55" fmla="*/ 1 h 46"/>
                <a:gd name="T56" fmla="*/ 1 w 46"/>
                <a:gd name="T57" fmla="*/ 1 h 46"/>
                <a:gd name="T58" fmla="*/ 1 w 46"/>
                <a:gd name="T59" fmla="*/ 1 h 46"/>
                <a:gd name="T60" fmla="*/ 1 w 46"/>
                <a:gd name="T61" fmla="*/ 1 h 46"/>
                <a:gd name="T62" fmla="*/ 1 w 46"/>
                <a:gd name="T63" fmla="*/ 1 h 46"/>
                <a:gd name="T64" fmla="*/ 1 w 46"/>
                <a:gd name="T65" fmla="*/ 1 h 46"/>
                <a:gd name="T66" fmla="*/ 1 w 46"/>
                <a:gd name="T67" fmla="*/ 1 h 46"/>
                <a:gd name="T68" fmla="*/ 1 w 46"/>
                <a:gd name="T69" fmla="*/ 1 h 46"/>
                <a:gd name="T70" fmla="*/ 1 w 46"/>
                <a:gd name="T71" fmla="*/ 1 h 46"/>
                <a:gd name="T72" fmla="*/ 1 w 46"/>
                <a:gd name="T73" fmla="*/ 1 h 46"/>
                <a:gd name="T74" fmla="*/ 1 w 46"/>
                <a:gd name="T75" fmla="*/ 1 h 46"/>
                <a:gd name="T76" fmla="*/ 1 w 46"/>
                <a:gd name="T77" fmla="*/ 1 h 46"/>
                <a:gd name="T78" fmla="*/ 1 w 46"/>
                <a:gd name="T79" fmla="*/ 1 h 46"/>
                <a:gd name="T80" fmla="*/ 0 w 46"/>
                <a:gd name="T81" fmla="*/ 1 h 46"/>
                <a:gd name="T82" fmla="*/ 0 w 46"/>
                <a:gd name="T83" fmla="*/ 1 h 46"/>
                <a:gd name="T84" fmla="*/ 0 w 46"/>
                <a:gd name="T85" fmla="*/ 1 h 46"/>
                <a:gd name="T86" fmla="*/ 0 w 46"/>
                <a:gd name="T87" fmla="*/ 1 h 46"/>
                <a:gd name="T88" fmla="*/ 0 w 46"/>
                <a:gd name="T89" fmla="*/ 1 h 46"/>
                <a:gd name="T90" fmla="*/ 0 w 46"/>
                <a:gd name="T91" fmla="*/ 1 h 46"/>
                <a:gd name="T92" fmla="*/ 1 w 46"/>
                <a:gd name="T93" fmla="*/ 1 h 46"/>
                <a:gd name="T94" fmla="*/ 1 w 46"/>
                <a:gd name="T95" fmla="*/ 0 h 46"/>
                <a:gd name="T96" fmla="*/ 1 w 46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6"/>
                <a:gd name="T149" fmla="*/ 46 w 46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6">
                  <a:moveTo>
                    <a:pt x="23" y="17"/>
                  </a:moveTo>
                  <a:lnTo>
                    <a:pt x="11" y="23"/>
                  </a:lnTo>
                  <a:lnTo>
                    <a:pt x="17" y="17"/>
                  </a:lnTo>
                  <a:lnTo>
                    <a:pt x="17" y="29"/>
                  </a:lnTo>
                  <a:lnTo>
                    <a:pt x="17" y="35"/>
                  </a:lnTo>
                  <a:lnTo>
                    <a:pt x="11" y="23"/>
                  </a:lnTo>
                  <a:lnTo>
                    <a:pt x="23" y="29"/>
                  </a:lnTo>
                  <a:lnTo>
                    <a:pt x="17" y="29"/>
                  </a:lnTo>
                  <a:lnTo>
                    <a:pt x="29" y="23"/>
                  </a:lnTo>
                  <a:lnTo>
                    <a:pt x="23" y="29"/>
                  </a:lnTo>
                  <a:lnTo>
                    <a:pt x="29" y="23"/>
                  </a:lnTo>
                  <a:lnTo>
                    <a:pt x="29" y="29"/>
                  </a:lnTo>
                  <a:lnTo>
                    <a:pt x="23" y="17"/>
                  </a:lnTo>
                  <a:lnTo>
                    <a:pt x="29" y="23"/>
                  </a:lnTo>
                  <a:lnTo>
                    <a:pt x="17" y="17"/>
                  </a:lnTo>
                  <a:lnTo>
                    <a:pt x="23" y="0"/>
                  </a:lnTo>
                  <a:lnTo>
                    <a:pt x="34" y="6"/>
                  </a:lnTo>
                  <a:lnTo>
                    <a:pt x="40" y="11"/>
                  </a:lnTo>
                  <a:lnTo>
                    <a:pt x="46" y="23"/>
                  </a:lnTo>
                  <a:lnTo>
                    <a:pt x="40" y="35"/>
                  </a:lnTo>
                  <a:lnTo>
                    <a:pt x="34" y="40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5" y="40"/>
                  </a:lnTo>
                  <a:lnTo>
                    <a:pt x="0" y="35"/>
                  </a:lnTo>
                  <a:lnTo>
                    <a:pt x="0" y="29"/>
                  </a:lnTo>
                  <a:lnTo>
                    <a:pt x="0" y="17"/>
                  </a:lnTo>
                  <a:lnTo>
                    <a:pt x="5" y="6"/>
                  </a:lnTo>
                  <a:lnTo>
                    <a:pt x="17" y="0"/>
                  </a:lnTo>
                  <a:lnTo>
                    <a:pt x="23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1" name="Freeform 429"/>
            <p:cNvSpPr>
              <a:spLocks/>
            </p:cNvSpPr>
            <p:nvPr/>
          </p:nvSpPr>
          <p:spPr bwMode="auto">
            <a:xfrm>
              <a:off x="2811" y="2897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2" name="Freeform 430"/>
            <p:cNvSpPr>
              <a:spLocks/>
            </p:cNvSpPr>
            <p:nvPr/>
          </p:nvSpPr>
          <p:spPr bwMode="auto">
            <a:xfrm>
              <a:off x="3062" y="3019"/>
              <a:ext cx="18" cy="15"/>
            </a:xfrm>
            <a:custGeom>
              <a:avLst/>
              <a:gdLst>
                <a:gd name="T0" fmla="*/ 1 w 35"/>
                <a:gd name="T1" fmla="*/ 0 h 30"/>
                <a:gd name="T2" fmla="*/ 1 w 35"/>
                <a:gd name="T3" fmla="*/ 1 h 30"/>
                <a:gd name="T4" fmla="*/ 0 w 35"/>
                <a:gd name="T5" fmla="*/ 1 h 30"/>
                <a:gd name="T6" fmla="*/ 1 w 35"/>
                <a:gd name="T7" fmla="*/ 1 h 30"/>
                <a:gd name="T8" fmla="*/ 1 w 35"/>
                <a:gd name="T9" fmla="*/ 1 h 30"/>
                <a:gd name="T10" fmla="*/ 1 w 35"/>
                <a:gd name="T11" fmla="*/ 1 h 30"/>
                <a:gd name="T12" fmla="*/ 1 w 35"/>
                <a:gd name="T13" fmla="*/ 1 h 30"/>
                <a:gd name="T14" fmla="*/ 1 w 35"/>
                <a:gd name="T15" fmla="*/ 1 h 30"/>
                <a:gd name="T16" fmla="*/ 1 w 35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30"/>
                <a:gd name="T29" fmla="*/ 35 w 35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30">
                  <a:moveTo>
                    <a:pt x="17" y="0"/>
                  </a:moveTo>
                  <a:lnTo>
                    <a:pt x="6" y="6"/>
                  </a:lnTo>
                  <a:lnTo>
                    <a:pt x="0" y="19"/>
                  </a:lnTo>
                  <a:lnTo>
                    <a:pt x="6" y="25"/>
                  </a:lnTo>
                  <a:lnTo>
                    <a:pt x="17" y="30"/>
                  </a:lnTo>
                  <a:lnTo>
                    <a:pt x="29" y="25"/>
                  </a:lnTo>
                  <a:lnTo>
                    <a:pt x="35" y="19"/>
                  </a:lnTo>
                  <a:lnTo>
                    <a:pt x="29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3" name="Freeform 431"/>
            <p:cNvSpPr>
              <a:spLocks/>
            </p:cNvSpPr>
            <p:nvPr/>
          </p:nvSpPr>
          <p:spPr bwMode="auto">
            <a:xfrm>
              <a:off x="3059" y="3014"/>
              <a:ext cx="26" cy="23"/>
            </a:xfrm>
            <a:custGeom>
              <a:avLst/>
              <a:gdLst>
                <a:gd name="T0" fmla="*/ 1 w 52"/>
                <a:gd name="T1" fmla="*/ 0 h 47"/>
                <a:gd name="T2" fmla="*/ 1 w 52"/>
                <a:gd name="T3" fmla="*/ 0 h 47"/>
                <a:gd name="T4" fmla="*/ 1 w 52"/>
                <a:gd name="T5" fmla="*/ 0 h 47"/>
                <a:gd name="T6" fmla="*/ 1 w 52"/>
                <a:gd name="T7" fmla="*/ 0 h 47"/>
                <a:gd name="T8" fmla="*/ 1 w 52"/>
                <a:gd name="T9" fmla="*/ 0 h 47"/>
                <a:gd name="T10" fmla="*/ 1 w 52"/>
                <a:gd name="T11" fmla="*/ 0 h 47"/>
                <a:gd name="T12" fmla="*/ 1 w 52"/>
                <a:gd name="T13" fmla="*/ 0 h 47"/>
                <a:gd name="T14" fmla="*/ 1 w 52"/>
                <a:gd name="T15" fmla="*/ 0 h 47"/>
                <a:gd name="T16" fmla="*/ 1 w 52"/>
                <a:gd name="T17" fmla="*/ 0 h 47"/>
                <a:gd name="T18" fmla="*/ 1 w 52"/>
                <a:gd name="T19" fmla="*/ 0 h 47"/>
                <a:gd name="T20" fmla="*/ 1 w 52"/>
                <a:gd name="T21" fmla="*/ 0 h 47"/>
                <a:gd name="T22" fmla="*/ 1 w 52"/>
                <a:gd name="T23" fmla="*/ 0 h 47"/>
                <a:gd name="T24" fmla="*/ 1 w 52"/>
                <a:gd name="T25" fmla="*/ 0 h 47"/>
                <a:gd name="T26" fmla="*/ 1 w 52"/>
                <a:gd name="T27" fmla="*/ 0 h 47"/>
                <a:gd name="T28" fmla="*/ 1 w 52"/>
                <a:gd name="T29" fmla="*/ 0 h 47"/>
                <a:gd name="T30" fmla="*/ 1 w 52"/>
                <a:gd name="T31" fmla="*/ 0 h 47"/>
                <a:gd name="T32" fmla="*/ 1 w 52"/>
                <a:gd name="T33" fmla="*/ 0 h 47"/>
                <a:gd name="T34" fmla="*/ 1 w 52"/>
                <a:gd name="T35" fmla="*/ 0 h 47"/>
                <a:gd name="T36" fmla="*/ 1 w 52"/>
                <a:gd name="T37" fmla="*/ 0 h 47"/>
                <a:gd name="T38" fmla="*/ 1 w 52"/>
                <a:gd name="T39" fmla="*/ 0 h 47"/>
                <a:gd name="T40" fmla="*/ 1 w 52"/>
                <a:gd name="T41" fmla="*/ 0 h 47"/>
                <a:gd name="T42" fmla="*/ 1 w 52"/>
                <a:gd name="T43" fmla="*/ 0 h 47"/>
                <a:gd name="T44" fmla="*/ 1 w 52"/>
                <a:gd name="T45" fmla="*/ 0 h 47"/>
                <a:gd name="T46" fmla="*/ 1 w 52"/>
                <a:gd name="T47" fmla="*/ 0 h 47"/>
                <a:gd name="T48" fmla="*/ 1 w 52"/>
                <a:gd name="T49" fmla="*/ 0 h 47"/>
                <a:gd name="T50" fmla="*/ 1 w 52"/>
                <a:gd name="T51" fmla="*/ 0 h 47"/>
                <a:gd name="T52" fmla="*/ 1 w 52"/>
                <a:gd name="T53" fmla="*/ 0 h 47"/>
                <a:gd name="T54" fmla="*/ 1 w 52"/>
                <a:gd name="T55" fmla="*/ 0 h 47"/>
                <a:gd name="T56" fmla="*/ 1 w 52"/>
                <a:gd name="T57" fmla="*/ 0 h 47"/>
                <a:gd name="T58" fmla="*/ 1 w 52"/>
                <a:gd name="T59" fmla="*/ 0 h 47"/>
                <a:gd name="T60" fmla="*/ 1 w 52"/>
                <a:gd name="T61" fmla="*/ 0 h 47"/>
                <a:gd name="T62" fmla="*/ 1 w 52"/>
                <a:gd name="T63" fmla="*/ 0 h 47"/>
                <a:gd name="T64" fmla="*/ 1 w 52"/>
                <a:gd name="T65" fmla="*/ 0 h 47"/>
                <a:gd name="T66" fmla="*/ 1 w 52"/>
                <a:gd name="T67" fmla="*/ 0 h 47"/>
                <a:gd name="T68" fmla="*/ 1 w 52"/>
                <a:gd name="T69" fmla="*/ 0 h 47"/>
                <a:gd name="T70" fmla="*/ 1 w 52"/>
                <a:gd name="T71" fmla="*/ 0 h 47"/>
                <a:gd name="T72" fmla="*/ 1 w 52"/>
                <a:gd name="T73" fmla="*/ 0 h 47"/>
                <a:gd name="T74" fmla="*/ 1 w 52"/>
                <a:gd name="T75" fmla="*/ 0 h 47"/>
                <a:gd name="T76" fmla="*/ 1 w 52"/>
                <a:gd name="T77" fmla="*/ 0 h 47"/>
                <a:gd name="T78" fmla="*/ 1 w 52"/>
                <a:gd name="T79" fmla="*/ 0 h 47"/>
                <a:gd name="T80" fmla="*/ 1 w 52"/>
                <a:gd name="T81" fmla="*/ 0 h 47"/>
                <a:gd name="T82" fmla="*/ 0 w 52"/>
                <a:gd name="T83" fmla="*/ 0 h 47"/>
                <a:gd name="T84" fmla="*/ 0 w 52"/>
                <a:gd name="T85" fmla="*/ 0 h 47"/>
                <a:gd name="T86" fmla="*/ 0 w 52"/>
                <a:gd name="T87" fmla="*/ 0 h 47"/>
                <a:gd name="T88" fmla="*/ 1 w 52"/>
                <a:gd name="T89" fmla="*/ 0 h 47"/>
                <a:gd name="T90" fmla="*/ 1 w 52"/>
                <a:gd name="T91" fmla="*/ 0 h 47"/>
                <a:gd name="T92" fmla="*/ 1 w 52"/>
                <a:gd name="T93" fmla="*/ 0 h 47"/>
                <a:gd name="T94" fmla="*/ 1 w 52"/>
                <a:gd name="T95" fmla="*/ 0 h 47"/>
                <a:gd name="T96" fmla="*/ 1 w 52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7"/>
                <a:gd name="T149" fmla="*/ 52 w 52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7">
                  <a:moveTo>
                    <a:pt x="29" y="17"/>
                  </a:moveTo>
                  <a:lnTo>
                    <a:pt x="17" y="24"/>
                  </a:lnTo>
                  <a:lnTo>
                    <a:pt x="23" y="17"/>
                  </a:lnTo>
                  <a:lnTo>
                    <a:pt x="17" y="30"/>
                  </a:lnTo>
                  <a:lnTo>
                    <a:pt x="12" y="24"/>
                  </a:lnTo>
                  <a:lnTo>
                    <a:pt x="17" y="30"/>
                  </a:lnTo>
                  <a:lnTo>
                    <a:pt x="17" y="24"/>
                  </a:lnTo>
                  <a:lnTo>
                    <a:pt x="29" y="30"/>
                  </a:lnTo>
                  <a:lnTo>
                    <a:pt x="23" y="30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35" y="24"/>
                  </a:lnTo>
                  <a:lnTo>
                    <a:pt x="35" y="30"/>
                  </a:lnTo>
                  <a:lnTo>
                    <a:pt x="29" y="17"/>
                  </a:lnTo>
                  <a:lnTo>
                    <a:pt x="35" y="24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1" y="7"/>
                  </a:lnTo>
                  <a:lnTo>
                    <a:pt x="46" y="11"/>
                  </a:lnTo>
                  <a:lnTo>
                    <a:pt x="52" y="24"/>
                  </a:lnTo>
                  <a:lnTo>
                    <a:pt x="46" y="36"/>
                  </a:lnTo>
                  <a:lnTo>
                    <a:pt x="41" y="41"/>
                  </a:lnTo>
                  <a:lnTo>
                    <a:pt x="29" y="47"/>
                  </a:lnTo>
                  <a:lnTo>
                    <a:pt x="23" y="47"/>
                  </a:lnTo>
                  <a:lnTo>
                    <a:pt x="12" y="41"/>
                  </a:lnTo>
                  <a:lnTo>
                    <a:pt x="6" y="41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6" y="11"/>
                  </a:lnTo>
                  <a:lnTo>
                    <a:pt x="12" y="7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4" name="Freeform 432"/>
            <p:cNvSpPr>
              <a:spLocks/>
            </p:cNvSpPr>
            <p:nvPr/>
          </p:nvSpPr>
          <p:spPr bwMode="auto">
            <a:xfrm>
              <a:off x="3071" y="3014"/>
              <a:ext cx="3" cy="8"/>
            </a:xfrm>
            <a:custGeom>
              <a:avLst/>
              <a:gdLst>
                <a:gd name="T0" fmla="*/ 0 w 6"/>
                <a:gd name="T1" fmla="*/ 0 h 17"/>
                <a:gd name="T2" fmla="*/ 0 w 6"/>
                <a:gd name="T3" fmla="*/ 0 h 17"/>
                <a:gd name="T4" fmla="*/ 1 w 6"/>
                <a:gd name="T5" fmla="*/ 0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5" name="Freeform 433"/>
            <p:cNvSpPr>
              <a:spLocks/>
            </p:cNvSpPr>
            <p:nvPr/>
          </p:nvSpPr>
          <p:spPr bwMode="auto">
            <a:xfrm>
              <a:off x="3062" y="2961"/>
              <a:ext cx="18" cy="14"/>
            </a:xfrm>
            <a:custGeom>
              <a:avLst/>
              <a:gdLst>
                <a:gd name="T0" fmla="*/ 1 w 35"/>
                <a:gd name="T1" fmla="*/ 0 h 29"/>
                <a:gd name="T2" fmla="*/ 1 w 35"/>
                <a:gd name="T3" fmla="*/ 0 h 29"/>
                <a:gd name="T4" fmla="*/ 0 w 35"/>
                <a:gd name="T5" fmla="*/ 0 h 29"/>
                <a:gd name="T6" fmla="*/ 1 w 35"/>
                <a:gd name="T7" fmla="*/ 0 h 29"/>
                <a:gd name="T8" fmla="*/ 1 w 35"/>
                <a:gd name="T9" fmla="*/ 0 h 29"/>
                <a:gd name="T10" fmla="*/ 1 w 35"/>
                <a:gd name="T11" fmla="*/ 0 h 29"/>
                <a:gd name="T12" fmla="*/ 1 w 35"/>
                <a:gd name="T13" fmla="*/ 0 h 29"/>
                <a:gd name="T14" fmla="*/ 1 w 35"/>
                <a:gd name="T15" fmla="*/ 0 h 29"/>
                <a:gd name="T16" fmla="*/ 1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7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7" y="29"/>
                  </a:ln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6" name="Freeform 434"/>
            <p:cNvSpPr>
              <a:spLocks/>
            </p:cNvSpPr>
            <p:nvPr/>
          </p:nvSpPr>
          <p:spPr bwMode="auto">
            <a:xfrm>
              <a:off x="3059" y="2955"/>
              <a:ext cx="26" cy="23"/>
            </a:xfrm>
            <a:custGeom>
              <a:avLst/>
              <a:gdLst>
                <a:gd name="T0" fmla="*/ 1 w 52"/>
                <a:gd name="T1" fmla="*/ 1 h 46"/>
                <a:gd name="T2" fmla="*/ 1 w 52"/>
                <a:gd name="T3" fmla="*/ 1 h 46"/>
                <a:gd name="T4" fmla="*/ 1 w 52"/>
                <a:gd name="T5" fmla="*/ 1 h 46"/>
                <a:gd name="T6" fmla="*/ 1 w 52"/>
                <a:gd name="T7" fmla="*/ 1 h 46"/>
                <a:gd name="T8" fmla="*/ 1 w 52"/>
                <a:gd name="T9" fmla="*/ 1 h 46"/>
                <a:gd name="T10" fmla="*/ 1 w 52"/>
                <a:gd name="T11" fmla="*/ 1 h 46"/>
                <a:gd name="T12" fmla="*/ 1 w 52"/>
                <a:gd name="T13" fmla="*/ 1 h 46"/>
                <a:gd name="T14" fmla="*/ 1 w 52"/>
                <a:gd name="T15" fmla="*/ 1 h 46"/>
                <a:gd name="T16" fmla="*/ 1 w 52"/>
                <a:gd name="T17" fmla="*/ 1 h 46"/>
                <a:gd name="T18" fmla="*/ 1 w 52"/>
                <a:gd name="T19" fmla="*/ 1 h 46"/>
                <a:gd name="T20" fmla="*/ 1 w 52"/>
                <a:gd name="T21" fmla="*/ 1 h 46"/>
                <a:gd name="T22" fmla="*/ 1 w 52"/>
                <a:gd name="T23" fmla="*/ 1 h 46"/>
                <a:gd name="T24" fmla="*/ 1 w 52"/>
                <a:gd name="T25" fmla="*/ 1 h 46"/>
                <a:gd name="T26" fmla="*/ 1 w 52"/>
                <a:gd name="T27" fmla="*/ 1 h 46"/>
                <a:gd name="T28" fmla="*/ 1 w 52"/>
                <a:gd name="T29" fmla="*/ 1 h 46"/>
                <a:gd name="T30" fmla="*/ 1 w 52"/>
                <a:gd name="T31" fmla="*/ 1 h 46"/>
                <a:gd name="T32" fmla="*/ 1 w 52"/>
                <a:gd name="T33" fmla="*/ 1 h 46"/>
                <a:gd name="T34" fmla="*/ 1 w 52"/>
                <a:gd name="T35" fmla="*/ 1 h 46"/>
                <a:gd name="T36" fmla="*/ 1 w 52"/>
                <a:gd name="T37" fmla="*/ 1 h 46"/>
                <a:gd name="T38" fmla="*/ 1 w 52"/>
                <a:gd name="T39" fmla="*/ 1 h 46"/>
                <a:gd name="T40" fmla="*/ 1 w 52"/>
                <a:gd name="T41" fmla="*/ 1 h 46"/>
                <a:gd name="T42" fmla="*/ 1 w 52"/>
                <a:gd name="T43" fmla="*/ 1 h 46"/>
                <a:gd name="T44" fmla="*/ 1 w 52"/>
                <a:gd name="T45" fmla="*/ 1 h 46"/>
                <a:gd name="T46" fmla="*/ 1 w 52"/>
                <a:gd name="T47" fmla="*/ 1 h 46"/>
                <a:gd name="T48" fmla="*/ 1 w 52"/>
                <a:gd name="T49" fmla="*/ 0 h 46"/>
                <a:gd name="T50" fmla="*/ 1 w 52"/>
                <a:gd name="T51" fmla="*/ 0 h 46"/>
                <a:gd name="T52" fmla="*/ 1 w 52"/>
                <a:gd name="T53" fmla="*/ 1 h 46"/>
                <a:gd name="T54" fmla="*/ 1 w 52"/>
                <a:gd name="T55" fmla="*/ 1 h 46"/>
                <a:gd name="T56" fmla="*/ 1 w 52"/>
                <a:gd name="T57" fmla="*/ 1 h 46"/>
                <a:gd name="T58" fmla="*/ 1 w 52"/>
                <a:gd name="T59" fmla="*/ 1 h 46"/>
                <a:gd name="T60" fmla="*/ 1 w 52"/>
                <a:gd name="T61" fmla="*/ 1 h 46"/>
                <a:gd name="T62" fmla="*/ 1 w 52"/>
                <a:gd name="T63" fmla="*/ 1 h 46"/>
                <a:gd name="T64" fmla="*/ 1 w 52"/>
                <a:gd name="T65" fmla="*/ 1 h 46"/>
                <a:gd name="T66" fmla="*/ 1 w 52"/>
                <a:gd name="T67" fmla="*/ 1 h 46"/>
                <a:gd name="T68" fmla="*/ 1 w 52"/>
                <a:gd name="T69" fmla="*/ 1 h 46"/>
                <a:gd name="T70" fmla="*/ 1 w 52"/>
                <a:gd name="T71" fmla="*/ 1 h 46"/>
                <a:gd name="T72" fmla="*/ 1 w 52"/>
                <a:gd name="T73" fmla="*/ 1 h 46"/>
                <a:gd name="T74" fmla="*/ 1 w 52"/>
                <a:gd name="T75" fmla="*/ 1 h 46"/>
                <a:gd name="T76" fmla="*/ 1 w 52"/>
                <a:gd name="T77" fmla="*/ 1 h 46"/>
                <a:gd name="T78" fmla="*/ 1 w 52"/>
                <a:gd name="T79" fmla="*/ 1 h 46"/>
                <a:gd name="T80" fmla="*/ 1 w 52"/>
                <a:gd name="T81" fmla="*/ 1 h 46"/>
                <a:gd name="T82" fmla="*/ 0 w 52"/>
                <a:gd name="T83" fmla="*/ 1 h 46"/>
                <a:gd name="T84" fmla="*/ 0 w 52"/>
                <a:gd name="T85" fmla="*/ 1 h 46"/>
                <a:gd name="T86" fmla="*/ 0 w 52"/>
                <a:gd name="T87" fmla="*/ 1 h 46"/>
                <a:gd name="T88" fmla="*/ 1 w 52"/>
                <a:gd name="T89" fmla="*/ 1 h 46"/>
                <a:gd name="T90" fmla="*/ 1 w 52"/>
                <a:gd name="T91" fmla="*/ 1 h 46"/>
                <a:gd name="T92" fmla="*/ 1 w 52"/>
                <a:gd name="T93" fmla="*/ 1 h 46"/>
                <a:gd name="T94" fmla="*/ 1 w 52"/>
                <a:gd name="T95" fmla="*/ 0 h 46"/>
                <a:gd name="T96" fmla="*/ 1 w 52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6"/>
                <a:gd name="T149" fmla="*/ 52 w 52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6">
                  <a:moveTo>
                    <a:pt x="29" y="17"/>
                  </a:moveTo>
                  <a:lnTo>
                    <a:pt x="17" y="23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2" y="23"/>
                  </a:lnTo>
                  <a:lnTo>
                    <a:pt x="17" y="29"/>
                  </a:lnTo>
                  <a:lnTo>
                    <a:pt x="17" y="23"/>
                  </a:lnTo>
                  <a:lnTo>
                    <a:pt x="29" y="29"/>
                  </a:lnTo>
                  <a:lnTo>
                    <a:pt x="23" y="29"/>
                  </a:lnTo>
                  <a:lnTo>
                    <a:pt x="35" y="23"/>
                  </a:lnTo>
                  <a:lnTo>
                    <a:pt x="29" y="29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9" y="17"/>
                  </a:lnTo>
                  <a:lnTo>
                    <a:pt x="35" y="23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1" y="6"/>
                  </a:lnTo>
                  <a:lnTo>
                    <a:pt x="46" y="11"/>
                  </a:lnTo>
                  <a:lnTo>
                    <a:pt x="52" y="23"/>
                  </a:lnTo>
                  <a:lnTo>
                    <a:pt x="46" y="35"/>
                  </a:lnTo>
                  <a:lnTo>
                    <a:pt x="41" y="40"/>
                  </a:lnTo>
                  <a:lnTo>
                    <a:pt x="29" y="46"/>
                  </a:lnTo>
                  <a:lnTo>
                    <a:pt x="23" y="46"/>
                  </a:lnTo>
                  <a:lnTo>
                    <a:pt x="12" y="40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2" y="6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7" name="Freeform 435"/>
            <p:cNvSpPr>
              <a:spLocks/>
            </p:cNvSpPr>
            <p:nvPr/>
          </p:nvSpPr>
          <p:spPr bwMode="auto">
            <a:xfrm>
              <a:off x="3071" y="2955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8" name="Freeform 436"/>
            <p:cNvSpPr>
              <a:spLocks/>
            </p:cNvSpPr>
            <p:nvPr/>
          </p:nvSpPr>
          <p:spPr bwMode="auto">
            <a:xfrm>
              <a:off x="3062" y="2903"/>
              <a:ext cx="18" cy="14"/>
            </a:xfrm>
            <a:custGeom>
              <a:avLst/>
              <a:gdLst>
                <a:gd name="T0" fmla="*/ 1 w 35"/>
                <a:gd name="T1" fmla="*/ 0 h 29"/>
                <a:gd name="T2" fmla="*/ 1 w 35"/>
                <a:gd name="T3" fmla="*/ 0 h 29"/>
                <a:gd name="T4" fmla="*/ 0 w 35"/>
                <a:gd name="T5" fmla="*/ 0 h 29"/>
                <a:gd name="T6" fmla="*/ 1 w 35"/>
                <a:gd name="T7" fmla="*/ 0 h 29"/>
                <a:gd name="T8" fmla="*/ 1 w 35"/>
                <a:gd name="T9" fmla="*/ 0 h 29"/>
                <a:gd name="T10" fmla="*/ 1 w 35"/>
                <a:gd name="T11" fmla="*/ 0 h 29"/>
                <a:gd name="T12" fmla="*/ 1 w 35"/>
                <a:gd name="T13" fmla="*/ 0 h 29"/>
                <a:gd name="T14" fmla="*/ 1 w 35"/>
                <a:gd name="T15" fmla="*/ 0 h 29"/>
                <a:gd name="T16" fmla="*/ 1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7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7" y="29"/>
                  </a:ln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69" name="Freeform 437"/>
            <p:cNvSpPr>
              <a:spLocks/>
            </p:cNvSpPr>
            <p:nvPr/>
          </p:nvSpPr>
          <p:spPr bwMode="auto">
            <a:xfrm>
              <a:off x="3059" y="2897"/>
              <a:ext cx="26" cy="23"/>
            </a:xfrm>
            <a:custGeom>
              <a:avLst/>
              <a:gdLst>
                <a:gd name="T0" fmla="*/ 1 w 52"/>
                <a:gd name="T1" fmla="*/ 1 h 46"/>
                <a:gd name="T2" fmla="*/ 1 w 52"/>
                <a:gd name="T3" fmla="*/ 1 h 46"/>
                <a:gd name="T4" fmla="*/ 1 w 52"/>
                <a:gd name="T5" fmla="*/ 1 h 46"/>
                <a:gd name="T6" fmla="*/ 1 w 52"/>
                <a:gd name="T7" fmla="*/ 1 h 46"/>
                <a:gd name="T8" fmla="*/ 1 w 52"/>
                <a:gd name="T9" fmla="*/ 1 h 46"/>
                <a:gd name="T10" fmla="*/ 1 w 52"/>
                <a:gd name="T11" fmla="*/ 1 h 46"/>
                <a:gd name="T12" fmla="*/ 1 w 52"/>
                <a:gd name="T13" fmla="*/ 1 h 46"/>
                <a:gd name="T14" fmla="*/ 1 w 52"/>
                <a:gd name="T15" fmla="*/ 1 h 46"/>
                <a:gd name="T16" fmla="*/ 1 w 52"/>
                <a:gd name="T17" fmla="*/ 1 h 46"/>
                <a:gd name="T18" fmla="*/ 1 w 52"/>
                <a:gd name="T19" fmla="*/ 1 h 46"/>
                <a:gd name="T20" fmla="*/ 1 w 52"/>
                <a:gd name="T21" fmla="*/ 1 h 46"/>
                <a:gd name="T22" fmla="*/ 1 w 52"/>
                <a:gd name="T23" fmla="*/ 1 h 46"/>
                <a:gd name="T24" fmla="*/ 1 w 52"/>
                <a:gd name="T25" fmla="*/ 1 h 46"/>
                <a:gd name="T26" fmla="*/ 1 w 52"/>
                <a:gd name="T27" fmla="*/ 1 h 46"/>
                <a:gd name="T28" fmla="*/ 1 w 52"/>
                <a:gd name="T29" fmla="*/ 1 h 46"/>
                <a:gd name="T30" fmla="*/ 1 w 52"/>
                <a:gd name="T31" fmla="*/ 1 h 46"/>
                <a:gd name="T32" fmla="*/ 1 w 52"/>
                <a:gd name="T33" fmla="*/ 1 h 46"/>
                <a:gd name="T34" fmla="*/ 1 w 52"/>
                <a:gd name="T35" fmla="*/ 1 h 46"/>
                <a:gd name="T36" fmla="*/ 1 w 52"/>
                <a:gd name="T37" fmla="*/ 1 h 46"/>
                <a:gd name="T38" fmla="*/ 1 w 52"/>
                <a:gd name="T39" fmla="*/ 1 h 46"/>
                <a:gd name="T40" fmla="*/ 1 w 52"/>
                <a:gd name="T41" fmla="*/ 1 h 46"/>
                <a:gd name="T42" fmla="*/ 1 w 52"/>
                <a:gd name="T43" fmla="*/ 1 h 46"/>
                <a:gd name="T44" fmla="*/ 1 w 52"/>
                <a:gd name="T45" fmla="*/ 1 h 46"/>
                <a:gd name="T46" fmla="*/ 1 w 52"/>
                <a:gd name="T47" fmla="*/ 1 h 46"/>
                <a:gd name="T48" fmla="*/ 1 w 52"/>
                <a:gd name="T49" fmla="*/ 0 h 46"/>
                <a:gd name="T50" fmla="*/ 1 w 52"/>
                <a:gd name="T51" fmla="*/ 0 h 46"/>
                <a:gd name="T52" fmla="*/ 1 w 52"/>
                <a:gd name="T53" fmla="*/ 1 h 46"/>
                <a:gd name="T54" fmla="*/ 1 w 52"/>
                <a:gd name="T55" fmla="*/ 1 h 46"/>
                <a:gd name="T56" fmla="*/ 1 w 52"/>
                <a:gd name="T57" fmla="*/ 1 h 46"/>
                <a:gd name="T58" fmla="*/ 1 w 52"/>
                <a:gd name="T59" fmla="*/ 1 h 46"/>
                <a:gd name="T60" fmla="*/ 1 w 52"/>
                <a:gd name="T61" fmla="*/ 1 h 46"/>
                <a:gd name="T62" fmla="*/ 1 w 52"/>
                <a:gd name="T63" fmla="*/ 1 h 46"/>
                <a:gd name="T64" fmla="*/ 1 w 52"/>
                <a:gd name="T65" fmla="*/ 1 h 46"/>
                <a:gd name="T66" fmla="*/ 1 w 52"/>
                <a:gd name="T67" fmla="*/ 1 h 46"/>
                <a:gd name="T68" fmla="*/ 1 w 52"/>
                <a:gd name="T69" fmla="*/ 1 h 46"/>
                <a:gd name="T70" fmla="*/ 1 w 52"/>
                <a:gd name="T71" fmla="*/ 1 h 46"/>
                <a:gd name="T72" fmla="*/ 1 w 52"/>
                <a:gd name="T73" fmla="*/ 1 h 46"/>
                <a:gd name="T74" fmla="*/ 1 w 52"/>
                <a:gd name="T75" fmla="*/ 1 h 46"/>
                <a:gd name="T76" fmla="*/ 1 w 52"/>
                <a:gd name="T77" fmla="*/ 1 h 46"/>
                <a:gd name="T78" fmla="*/ 1 w 52"/>
                <a:gd name="T79" fmla="*/ 1 h 46"/>
                <a:gd name="T80" fmla="*/ 1 w 52"/>
                <a:gd name="T81" fmla="*/ 1 h 46"/>
                <a:gd name="T82" fmla="*/ 0 w 52"/>
                <a:gd name="T83" fmla="*/ 1 h 46"/>
                <a:gd name="T84" fmla="*/ 0 w 52"/>
                <a:gd name="T85" fmla="*/ 1 h 46"/>
                <a:gd name="T86" fmla="*/ 0 w 52"/>
                <a:gd name="T87" fmla="*/ 1 h 46"/>
                <a:gd name="T88" fmla="*/ 1 w 52"/>
                <a:gd name="T89" fmla="*/ 1 h 46"/>
                <a:gd name="T90" fmla="*/ 1 w 52"/>
                <a:gd name="T91" fmla="*/ 1 h 46"/>
                <a:gd name="T92" fmla="*/ 1 w 52"/>
                <a:gd name="T93" fmla="*/ 1 h 46"/>
                <a:gd name="T94" fmla="*/ 1 w 52"/>
                <a:gd name="T95" fmla="*/ 0 h 46"/>
                <a:gd name="T96" fmla="*/ 1 w 52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6"/>
                <a:gd name="T149" fmla="*/ 52 w 52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6">
                  <a:moveTo>
                    <a:pt x="29" y="17"/>
                  </a:moveTo>
                  <a:lnTo>
                    <a:pt x="17" y="23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2" y="23"/>
                  </a:lnTo>
                  <a:lnTo>
                    <a:pt x="17" y="29"/>
                  </a:lnTo>
                  <a:lnTo>
                    <a:pt x="17" y="23"/>
                  </a:lnTo>
                  <a:lnTo>
                    <a:pt x="29" y="29"/>
                  </a:lnTo>
                  <a:lnTo>
                    <a:pt x="23" y="29"/>
                  </a:lnTo>
                  <a:lnTo>
                    <a:pt x="35" y="23"/>
                  </a:lnTo>
                  <a:lnTo>
                    <a:pt x="29" y="29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9" y="17"/>
                  </a:lnTo>
                  <a:lnTo>
                    <a:pt x="35" y="23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1" y="6"/>
                  </a:lnTo>
                  <a:lnTo>
                    <a:pt x="46" y="11"/>
                  </a:lnTo>
                  <a:lnTo>
                    <a:pt x="52" y="23"/>
                  </a:lnTo>
                  <a:lnTo>
                    <a:pt x="46" y="35"/>
                  </a:lnTo>
                  <a:lnTo>
                    <a:pt x="41" y="40"/>
                  </a:lnTo>
                  <a:lnTo>
                    <a:pt x="29" y="46"/>
                  </a:lnTo>
                  <a:lnTo>
                    <a:pt x="23" y="46"/>
                  </a:lnTo>
                  <a:lnTo>
                    <a:pt x="12" y="40"/>
                  </a:lnTo>
                  <a:lnTo>
                    <a:pt x="6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2" y="6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70" name="Freeform 438"/>
            <p:cNvSpPr>
              <a:spLocks/>
            </p:cNvSpPr>
            <p:nvPr/>
          </p:nvSpPr>
          <p:spPr bwMode="auto">
            <a:xfrm>
              <a:off x="3071" y="2897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71" name="Rectangle 439"/>
            <p:cNvSpPr>
              <a:spLocks noChangeArrowheads="1"/>
            </p:cNvSpPr>
            <p:nvPr/>
          </p:nvSpPr>
          <p:spPr bwMode="auto">
            <a:xfrm>
              <a:off x="2120" y="3296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2" name="Rectangle 440"/>
            <p:cNvSpPr>
              <a:spLocks noChangeArrowheads="1"/>
            </p:cNvSpPr>
            <p:nvPr/>
          </p:nvSpPr>
          <p:spPr bwMode="auto">
            <a:xfrm>
              <a:off x="2123" y="3296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3" name="Rectangle 441"/>
            <p:cNvSpPr>
              <a:spLocks noChangeArrowheads="1"/>
            </p:cNvSpPr>
            <p:nvPr/>
          </p:nvSpPr>
          <p:spPr bwMode="auto">
            <a:xfrm>
              <a:off x="2266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4" name="Rectangle 442"/>
            <p:cNvSpPr>
              <a:spLocks noChangeArrowheads="1"/>
            </p:cNvSpPr>
            <p:nvPr/>
          </p:nvSpPr>
          <p:spPr bwMode="auto">
            <a:xfrm>
              <a:off x="2248" y="3119"/>
              <a:ext cx="9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5" name="Rectangle 443"/>
            <p:cNvSpPr>
              <a:spLocks noChangeArrowheads="1"/>
            </p:cNvSpPr>
            <p:nvPr/>
          </p:nvSpPr>
          <p:spPr bwMode="auto">
            <a:xfrm>
              <a:off x="2336" y="3296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6" name="Rectangle 445"/>
            <p:cNvSpPr>
              <a:spLocks noChangeArrowheads="1"/>
            </p:cNvSpPr>
            <p:nvPr/>
          </p:nvSpPr>
          <p:spPr bwMode="auto">
            <a:xfrm>
              <a:off x="2336" y="3119"/>
              <a:ext cx="8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7" name="Rectangle 446"/>
            <p:cNvSpPr>
              <a:spLocks noChangeArrowheads="1"/>
            </p:cNvSpPr>
            <p:nvPr/>
          </p:nvSpPr>
          <p:spPr bwMode="auto">
            <a:xfrm>
              <a:off x="2654" y="3312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8" name="Rectangle 447"/>
            <p:cNvSpPr>
              <a:spLocks noChangeArrowheads="1"/>
            </p:cNvSpPr>
            <p:nvPr/>
          </p:nvSpPr>
          <p:spPr bwMode="auto">
            <a:xfrm>
              <a:off x="2639" y="3296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79" name="Rectangle 448"/>
            <p:cNvSpPr>
              <a:spLocks noChangeArrowheads="1"/>
            </p:cNvSpPr>
            <p:nvPr/>
          </p:nvSpPr>
          <p:spPr bwMode="auto">
            <a:xfrm>
              <a:off x="2782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0" name="Rectangle 449"/>
            <p:cNvSpPr>
              <a:spLocks noChangeArrowheads="1"/>
            </p:cNvSpPr>
            <p:nvPr/>
          </p:nvSpPr>
          <p:spPr bwMode="auto">
            <a:xfrm>
              <a:off x="2764" y="3119"/>
              <a:ext cx="9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1" name="Rectangle 450"/>
            <p:cNvSpPr>
              <a:spLocks noChangeArrowheads="1"/>
            </p:cNvSpPr>
            <p:nvPr/>
          </p:nvSpPr>
          <p:spPr bwMode="auto">
            <a:xfrm>
              <a:off x="2852" y="3296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2" name="Rectangle 451"/>
            <p:cNvSpPr>
              <a:spLocks noChangeArrowheads="1"/>
            </p:cNvSpPr>
            <p:nvPr/>
          </p:nvSpPr>
          <p:spPr bwMode="auto">
            <a:xfrm>
              <a:off x="2870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3" name="Rectangle 452"/>
            <p:cNvSpPr>
              <a:spLocks noChangeArrowheads="1"/>
            </p:cNvSpPr>
            <p:nvPr/>
          </p:nvSpPr>
          <p:spPr bwMode="auto">
            <a:xfrm>
              <a:off x="2852" y="3119"/>
              <a:ext cx="9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4" name="Rectangle 453"/>
            <p:cNvSpPr>
              <a:spLocks noChangeArrowheads="1"/>
            </p:cNvSpPr>
            <p:nvPr/>
          </p:nvSpPr>
          <p:spPr bwMode="auto">
            <a:xfrm>
              <a:off x="2120" y="3384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5" name="Rectangle 454"/>
            <p:cNvSpPr>
              <a:spLocks noChangeArrowheads="1"/>
            </p:cNvSpPr>
            <p:nvPr/>
          </p:nvSpPr>
          <p:spPr bwMode="auto">
            <a:xfrm>
              <a:off x="2123" y="3384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6" name="Rectangle 455"/>
            <p:cNvSpPr>
              <a:spLocks noChangeArrowheads="1"/>
            </p:cNvSpPr>
            <p:nvPr/>
          </p:nvSpPr>
          <p:spPr bwMode="auto">
            <a:xfrm>
              <a:off x="2248" y="3387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7" name="Rectangle 456"/>
            <p:cNvSpPr>
              <a:spLocks noChangeArrowheads="1"/>
            </p:cNvSpPr>
            <p:nvPr/>
          </p:nvSpPr>
          <p:spPr bwMode="auto">
            <a:xfrm>
              <a:off x="2120" y="3565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8" name="Rectangle 457"/>
            <p:cNvSpPr>
              <a:spLocks noChangeArrowheads="1"/>
            </p:cNvSpPr>
            <p:nvPr/>
          </p:nvSpPr>
          <p:spPr bwMode="auto">
            <a:xfrm>
              <a:off x="2123" y="3565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89" name="Rectangle 458"/>
            <p:cNvSpPr>
              <a:spLocks noChangeArrowheads="1"/>
            </p:cNvSpPr>
            <p:nvPr/>
          </p:nvSpPr>
          <p:spPr bwMode="auto">
            <a:xfrm>
              <a:off x="2336" y="3384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0" name="Rectangle 459"/>
            <p:cNvSpPr>
              <a:spLocks noChangeArrowheads="1"/>
            </p:cNvSpPr>
            <p:nvPr/>
          </p:nvSpPr>
          <p:spPr bwMode="auto">
            <a:xfrm>
              <a:off x="2336" y="3387"/>
              <a:ext cx="8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1" name="Rectangle 460"/>
            <p:cNvSpPr>
              <a:spLocks noChangeArrowheads="1"/>
            </p:cNvSpPr>
            <p:nvPr/>
          </p:nvSpPr>
          <p:spPr bwMode="auto">
            <a:xfrm>
              <a:off x="2338" y="3565"/>
              <a:ext cx="12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2" name="Rectangle 461"/>
            <p:cNvSpPr>
              <a:spLocks noChangeArrowheads="1"/>
            </p:cNvSpPr>
            <p:nvPr/>
          </p:nvSpPr>
          <p:spPr bwMode="auto">
            <a:xfrm>
              <a:off x="2654" y="340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3" name="Rectangle 462"/>
            <p:cNvSpPr>
              <a:spLocks noChangeArrowheads="1"/>
            </p:cNvSpPr>
            <p:nvPr/>
          </p:nvSpPr>
          <p:spPr bwMode="auto">
            <a:xfrm>
              <a:off x="2639" y="3384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4" name="Rectangle 463"/>
            <p:cNvSpPr>
              <a:spLocks noChangeArrowheads="1"/>
            </p:cNvSpPr>
            <p:nvPr/>
          </p:nvSpPr>
          <p:spPr bwMode="auto">
            <a:xfrm>
              <a:off x="2764" y="3387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5" name="Rectangle 464"/>
            <p:cNvSpPr>
              <a:spLocks noChangeArrowheads="1"/>
            </p:cNvSpPr>
            <p:nvPr/>
          </p:nvSpPr>
          <p:spPr bwMode="auto">
            <a:xfrm>
              <a:off x="2639" y="3565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6" name="Rectangle 465"/>
            <p:cNvSpPr>
              <a:spLocks noChangeArrowheads="1"/>
            </p:cNvSpPr>
            <p:nvPr/>
          </p:nvSpPr>
          <p:spPr bwMode="auto">
            <a:xfrm>
              <a:off x="2852" y="3384"/>
              <a:ext cx="13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7" name="Rectangle 466"/>
            <p:cNvSpPr>
              <a:spLocks noChangeArrowheads="1"/>
            </p:cNvSpPr>
            <p:nvPr/>
          </p:nvSpPr>
          <p:spPr bwMode="auto">
            <a:xfrm>
              <a:off x="2852" y="3387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8" name="Rectangle 467"/>
            <p:cNvSpPr>
              <a:spLocks noChangeArrowheads="1"/>
            </p:cNvSpPr>
            <p:nvPr/>
          </p:nvSpPr>
          <p:spPr bwMode="auto">
            <a:xfrm>
              <a:off x="2855" y="3565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099" name="Rectangle 468"/>
            <p:cNvSpPr>
              <a:spLocks noChangeArrowheads="1"/>
            </p:cNvSpPr>
            <p:nvPr/>
          </p:nvSpPr>
          <p:spPr bwMode="auto">
            <a:xfrm>
              <a:off x="2219" y="3565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0" name="Rectangle 469"/>
            <p:cNvSpPr>
              <a:spLocks noChangeArrowheads="1"/>
            </p:cNvSpPr>
            <p:nvPr/>
          </p:nvSpPr>
          <p:spPr bwMode="auto">
            <a:xfrm>
              <a:off x="1822" y="3565"/>
              <a:ext cx="39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1" name="Rectangle 471"/>
            <p:cNvSpPr>
              <a:spLocks noChangeArrowheads="1"/>
            </p:cNvSpPr>
            <p:nvPr/>
          </p:nvSpPr>
          <p:spPr bwMode="auto">
            <a:xfrm>
              <a:off x="2657" y="3581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2" name="Rectangle 472"/>
            <p:cNvSpPr>
              <a:spLocks noChangeArrowheads="1"/>
            </p:cNvSpPr>
            <p:nvPr/>
          </p:nvSpPr>
          <p:spPr bwMode="auto">
            <a:xfrm>
              <a:off x="2467" y="3565"/>
              <a:ext cx="172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3" name="Rectangle 473"/>
            <p:cNvSpPr>
              <a:spLocks noChangeArrowheads="1"/>
            </p:cNvSpPr>
            <p:nvPr/>
          </p:nvSpPr>
          <p:spPr bwMode="auto">
            <a:xfrm>
              <a:off x="2980" y="3565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4" name="Rectangle 474"/>
            <p:cNvSpPr>
              <a:spLocks noChangeArrowheads="1"/>
            </p:cNvSpPr>
            <p:nvPr/>
          </p:nvSpPr>
          <p:spPr bwMode="auto">
            <a:xfrm>
              <a:off x="2983" y="3565"/>
              <a:ext cx="34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5" name="Rectangle 475"/>
            <p:cNvSpPr>
              <a:spLocks noChangeArrowheads="1"/>
            </p:cNvSpPr>
            <p:nvPr/>
          </p:nvSpPr>
          <p:spPr bwMode="auto">
            <a:xfrm>
              <a:off x="2747" y="3276"/>
              <a:ext cx="128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6" name="Rectangle 476"/>
            <p:cNvSpPr>
              <a:spLocks noChangeArrowheads="1"/>
            </p:cNvSpPr>
            <p:nvPr/>
          </p:nvSpPr>
          <p:spPr bwMode="auto">
            <a:xfrm>
              <a:off x="2747" y="3273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7" name="Rectangle 477"/>
            <p:cNvSpPr>
              <a:spLocks noChangeArrowheads="1"/>
            </p:cNvSpPr>
            <p:nvPr/>
          </p:nvSpPr>
          <p:spPr bwMode="auto">
            <a:xfrm>
              <a:off x="2875" y="3276"/>
              <a:ext cx="9" cy="14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8" name="Rectangle 478"/>
            <p:cNvSpPr>
              <a:spLocks noChangeArrowheads="1"/>
            </p:cNvSpPr>
            <p:nvPr/>
          </p:nvSpPr>
          <p:spPr bwMode="auto">
            <a:xfrm>
              <a:off x="2744" y="3408"/>
              <a:ext cx="134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09" name="Rectangle 479"/>
            <p:cNvSpPr>
              <a:spLocks noChangeArrowheads="1"/>
            </p:cNvSpPr>
            <p:nvPr/>
          </p:nvSpPr>
          <p:spPr bwMode="auto">
            <a:xfrm>
              <a:off x="2744" y="3273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0" name="Rectangle 480"/>
            <p:cNvSpPr>
              <a:spLocks noChangeArrowheads="1"/>
            </p:cNvSpPr>
            <p:nvPr/>
          </p:nvSpPr>
          <p:spPr bwMode="auto">
            <a:xfrm>
              <a:off x="2228" y="3276"/>
              <a:ext cx="131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1" name="Rectangle 481"/>
            <p:cNvSpPr>
              <a:spLocks noChangeArrowheads="1"/>
            </p:cNvSpPr>
            <p:nvPr/>
          </p:nvSpPr>
          <p:spPr bwMode="auto">
            <a:xfrm>
              <a:off x="2228" y="3273"/>
              <a:ext cx="13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2" name="Rectangle 482"/>
            <p:cNvSpPr>
              <a:spLocks noChangeArrowheads="1"/>
            </p:cNvSpPr>
            <p:nvPr/>
          </p:nvSpPr>
          <p:spPr bwMode="auto">
            <a:xfrm>
              <a:off x="2359" y="3276"/>
              <a:ext cx="8" cy="14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3" name="Rectangle 483"/>
            <p:cNvSpPr>
              <a:spLocks noChangeArrowheads="1"/>
            </p:cNvSpPr>
            <p:nvPr/>
          </p:nvSpPr>
          <p:spPr bwMode="auto">
            <a:xfrm>
              <a:off x="2225" y="3408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4" name="Rectangle 484"/>
            <p:cNvSpPr>
              <a:spLocks noChangeArrowheads="1"/>
            </p:cNvSpPr>
            <p:nvPr/>
          </p:nvSpPr>
          <p:spPr bwMode="auto">
            <a:xfrm>
              <a:off x="2225" y="3273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5" name="Rectangle 486"/>
            <p:cNvSpPr>
              <a:spLocks noChangeArrowheads="1"/>
            </p:cNvSpPr>
            <p:nvPr/>
          </p:nvSpPr>
          <p:spPr bwMode="auto">
            <a:xfrm>
              <a:off x="1991" y="3440"/>
              <a:ext cx="9" cy="13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6" name="Rectangle 487"/>
            <p:cNvSpPr>
              <a:spLocks noChangeArrowheads="1"/>
            </p:cNvSpPr>
            <p:nvPr/>
          </p:nvSpPr>
          <p:spPr bwMode="auto">
            <a:xfrm>
              <a:off x="1994" y="3565"/>
              <a:ext cx="26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7" name="Rectangle 489"/>
            <p:cNvSpPr>
              <a:spLocks noChangeArrowheads="1"/>
            </p:cNvSpPr>
            <p:nvPr/>
          </p:nvSpPr>
          <p:spPr bwMode="auto">
            <a:xfrm>
              <a:off x="2248" y="3440"/>
              <a:ext cx="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8" name="Rectangle 491"/>
            <p:cNvSpPr>
              <a:spLocks noChangeArrowheads="1"/>
            </p:cNvSpPr>
            <p:nvPr/>
          </p:nvSpPr>
          <p:spPr bwMode="auto">
            <a:xfrm>
              <a:off x="2076" y="3440"/>
              <a:ext cx="9" cy="13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19" name="Rectangle 492"/>
            <p:cNvSpPr>
              <a:spLocks noChangeArrowheads="1"/>
            </p:cNvSpPr>
            <p:nvPr/>
          </p:nvSpPr>
          <p:spPr bwMode="auto">
            <a:xfrm>
              <a:off x="2079" y="3565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0" name="Rectangle 493"/>
            <p:cNvSpPr>
              <a:spLocks noChangeArrowheads="1"/>
            </p:cNvSpPr>
            <p:nvPr/>
          </p:nvSpPr>
          <p:spPr bwMode="auto">
            <a:xfrm>
              <a:off x="2336" y="3440"/>
              <a:ext cx="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1" name="Rectangle 494"/>
            <p:cNvSpPr>
              <a:spLocks noChangeArrowheads="1"/>
            </p:cNvSpPr>
            <p:nvPr/>
          </p:nvSpPr>
          <p:spPr bwMode="auto">
            <a:xfrm>
              <a:off x="2336" y="3440"/>
              <a:ext cx="8" cy="13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2" name="Rectangle 495"/>
            <p:cNvSpPr>
              <a:spLocks noChangeArrowheads="1"/>
            </p:cNvSpPr>
            <p:nvPr/>
          </p:nvSpPr>
          <p:spPr bwMode="auto">
            <a:xfrm>
              <a:off x="2338" y="3565"/>
              <a:ext cx="26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3" name="Rectangle 497"/>
            <p:cNvSpPr>
              <a:spLocks noChangeArrowheads="1"/>
            </p:cNvSpPr>
            <p:nvPr/>
          </p:nvSpPr>
          <p:spPr bwMode="auto">
            <a:xfrm>
              <a:off x="2592" y="3440"/>
              <a:ext cx="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4" name="Rectangle 499"/>
            <p:cNvSpPr>
              <a:spLocks noChangeArrowheads="1"/>
            </p:cNvSpPr>
            <p:nvPr/>
          </p:nvSpPr>
          <p:spPr bwMode="auto">
            <a:xfrm>
              <a:off x="2248" y="3440"/>
              <a:ext cx="9" cy="13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5" name="Rectangle 500"/>
            <p:cNvSpPr>
              <a:spLocks noChangeArrowheads="1"/>
            </p:cNvSpPr>
            <p:nvPr/>
          </p:nvSpPr>
          <p:spPr bwMode="auto">
            <a:xfrm>
              <a:off x="2251" y="3565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6" name="Rectangle 502"/>
            <p:cNvSpPr>
              <a:spLocks noChangeArrowheads="1"/>
            </p:cNvSpPr>
            <p:nvPr/>
          </p:nvSpPr>
          <p:spPr bwMode="auto">
            <a:xfrm>
              <a:off x="2508" y="3440"/>
              <a:ext cx="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7" name="Rectangle 504"/>
            <p:cNvSpPr>
              <a:spLocks noChangeArrowheads="1"/>
            </p:cNvSpPr>
            <p:nvPr/>
          </p:nvSpPr>
          <p:spPr bwMode="auto">
            <a:xfrm>
              <a:off x="2764" y="3440"/>
              <a:ext cx="9" cy="13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8" name="Rectangle 505"/>
            <p:cNvSpPr>
              <a:spLocks noChangeArrowheads="1"/>
            </p:cNvSpPr>
            <p:nvPr/>
          </p:nvSpPr>
          <p:spPr bwMode="auto">
            <a:xfrm>
              <a:off x="2767" y="3565"/>
              <a:ext cx="26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29" name="Rectangle 507"/>
            <p:cNvSpPr>
              <a:spLocks noChangeArrowheads="1"/>
            </p:cNvSpPr>
            <p:nvPr/>
          </p:nvSpPr>
          <p:spPr bwMode="auto">
            <a:xfrm>
              <a:off x="3024" y="3440"/>
              <a:ext cx="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0" name="Rectangle 509"/>
            <p:cNvSpPr>
              <a:spLocks noChangeArrowheads="1"/>
            </p:cNvSpPr>
            <p:nvPr/>
          </p:nvSpPr>
          <p:spPr bwMode="auto">
            <a:xfrm>
              <a:off x="2852" y="3440"/>
              <a:ext cx="9" cy="13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1" name="Rectangle 510"/>
            <p:cNvSpPr>
              <a:spLocks noChangeArrowheads="1"/>
            </p:cNvSpPr>
            <p:nvPr/>
          </p:nvSpPr>
          <p:spPr bwMode="auto">
            <a:xfrm>
              <a:off x="2855" y="3565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2" name="Rectangle 512"/>
            <p:cNvSpPr>
              <a:spLocks noChangeArrowheads="1"/>
            </p:cNvSpPr>
            <p:nvPr/>
          </p:nvSpPr>
          <p:spPr bwMode="auto">
            <a:xfrm>
              <a:off x="3111" y="3440"/>
              <a:ext cx="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3" name="Rectangle 513"/>
            <p:cNvSpPr>
              <a:spLocks noChangeArrowheads="1"/>
            </p:cNvSpPr>
            <p:nvPr/>
          </p:nvSpPr>
          <p:spPr bwMode="auto">
            <a:xfrm>
              <a:off x="3171" y="3312"/>
              <a:ext cx="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4" name="Rectangle 514"/>
            <p:cNvSpPr>
              <a:spLocks noChangeArrowheads="1"/>
            </p:cNvSpPr>
            <p:nvPr/>
          </p:nvSpPr>
          <p:spPr bwMode="auto">
            <a:xfrm>
              <a:off x="3155" y="3296"/>
              <a:ext cx="17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5" name="Rectangle 515"/>
            <p:cNvSpPr>
              <a:spLocks noChangeArrowheads="1"/>
            </p:cNvSpPr>
            <p:nvPr/>
          </p:nvSpPr>
          <p:spPr bwMode="auto">
            <a:xfrm>
              <a:off x="3171" y="3400"/>
              <a:ext cx="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6" name="Rectangle 516"/>
            <p:cNvSpPr>
              <a:spLocks noChangeArrowheads="1"/>
            </p:cNvSpPr>
            <p:nvPr/>
          </p:nvSpPr>
          <p:spPr bwMode="auto">
            <a:xfrm>
              <a:off x="3155" y="3384"/>
              <a:ext cx="17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7" name="Rectangle 518"/>
            <p:cNvSpPr>
              <a:spLocks noChangeArrowheads="1"/>
            </p:cNvSpPr>
            <p:nvPr/>
          </p:nvSpPr>
          <p:spPr bwMode="auto">
            <a:xfrm>
              <a:off x="2657" y="3668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8" name="Rectangle 519"/>
            <p:cNvSpPr>
              <a:spLocks noChangeArrowheads="1"/>
            </p:cNvSpPr>
            <p:nvPr/>
          </p:nvSpPr>
          <p:spPr bwMode="auto">
            <a:xfrm>
              <a:off x="2467" y="3652"/>
              <a:ext cx="17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39" name="Rectangle 520"/>
            <p:cNvSpPr>
              <a:spLocks noChangeArrowheads="1"/>
            </p:cNvSpPr>
            <p:nvPr/>
          </p:nvSpPr>
          <p:spPr bwMode="auto">
            <a:xfrm>
              <a:off x="3153" y="3668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0" name="Rectangle 521"/>
            <p:cNvSpPr>
              <a:spLocks noChangeArrowheads="1"/>
            </p:cNvSpPr>
            <p:nvPr/>
          </p:nvSpPr>
          <p:spPr bwMode="auto">
            <a:xfrm>
              <a:off x="3138" y="3652"/>
              <a:ext cx="190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1" name="Rectangle 523"/>
            <p:cNvSpPr>
              <a:spLocks noChangeArrowheads="1"/>
            </p:cNvSpPr>
            <p:nvPr/>
          </p:nvSpPr>
          <p:spPr bwMode="auto">
            <a:xfrm>
              <a:off x="1822" y="3652"/>
              <a:ext cx="137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2" name="Rectangle 524"/>
            <p:cNvSpPr>
              <a:spLocks noChangeArrowheads="1"/>
            </p:cNvSpPr>
            <p:nvPr/>
          </p:nvSpPr>
          <p:spPr bwMode="auto">
            <a:xfrm>
              <a:off x="3042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3" name="Rectangle 525"/>
            <p:cNvSpPr>
              <a:spLocks noChangeArrowheads="1"/>
            </p:cNvSpPr>
            <p:nvPr/>
          </p:nvSpPr>
          <p:spPr bwMode="auto">
            <a:xfrm>
              <a:off x="3024" y="311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4" name="Rectangle 526"/>
            <p:cNvSpPr>
              <a:spLocks noChangeArrowheads="1"/>
            </p:cNvSpPr>
            <p:nvPr/>
          </p:nvSpPr>
          <p:spPr bwMode="auto">
            <a:xfrm>
              <a:off x="3129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5" name="Rectangle 527"/>
            <p:cNvSpPr>
              <a:spLocks noChangeArrowheads="1"/>
            </p:cNvSpPr>
            <p:nvPr/>
          </p:nvSpPr>
          <p:spPr bwMode="auto">
            <a:xfrm>
              <a:off x="3111" y="311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6" name="Rectangle 528"/>
            <p:cNvSpPr>
              <a:spLocks noChangeArrowheads="1"/>
            </p:cNvSpPr>
            <p:nvPr/>
          </p:nvSpPr>
          <p:spPr bwMode="auto">
            <a:xfrm>
              <a:off x="2610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7" name="Rectangle 529"/>
            <p:cNvSpPr>
              <a:spLocks noChangeArrowheads="1"/>
            </p:cNvSpPr>
            <p:nvPr/>
          </p:nvSpPr>
          <p:spPr bwMode="auto">
            <a:xfrm>
              <a:off x="2592" y="311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8" name="Rectangle 530"/>
            <p:cNvSpPr>
              <a:spLocks noChangeArrowheads="1"/>
            </p:cNvSpPr>
            <p:nvPr/>
          </p:nvSpPr>
          <p:spPr bwMode="auto">
            <a:xfrm>
              <a:off x="2526" y="3132"/>
              <a:ext cx="8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49" name="Rectangle 531"/>
            <p:cNvSpPr>
              <a:spLocks noChangeArrowheads="1"/>
            </p:cNvSpPr>
            <p:nvPr/>
          </p:nvSpPr>
          <p:spPr bwMode="auto">
            <a:xfrm>
              <a:off x="2508" y="3119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0" name="Rectangle 532"/>
            <p:cNvSpPr>
              <a:spLocks noChangeArrowheads="1"/>
            </p:cNvSpPr>
            <p:nvPr/>
          </p:nvSpPr>
          <p:spPr bwMode="auto">
            <a:xfrm>
              <a:off x="2094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1" name="Rectangle 533"/>
            <p:cNvSpPr>
              <a:spLocks noChangeArrowheads="1"/>
            </p:cNvSpPr>
            <p:nvPr/>
          </p:nvSpPr>
          <p:spPr bwMode="auto">
            <a:xfrm>
              <a:off x="2076" y="311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2" name="Rectangle 534"/>
            <p:cNvSpPr>
              <a:spLocks noChangeArrowheads="1"/>
            </p:cNvSpPr>
            <p:nvPr/>
          </p:nvSpPr>
          <p:spPr bwMode="auto">
            <a:xfrm>
              <a:off x="2467" y="3247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3" name="Rectangle 535"/>
            <p:cNvSpPr>
              <a:spLocks noChangeArrowheads="1"/>
            </p:cNvSpPr>
            <p:nvPr/>
          </p:nvSpPr>
          <p:spPr bwMode="auto">
            <a:xfrm>
              <a:off x="2630" y="3256"/>
              <a:ext cx="18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4" name="Rectangle 536"/>
            <p:cNvSpPr>
              <a:spLocks noChangeArrowheads="1"/>
            </p:cNvSpPr>
            <p:nvPr/>
          </p:nvSpPr>
          <p:spPr bwMode="auto">
            <a:xfrm>
              <a:off x="2458" y="3422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5" name="Rectangle 537"/>
            <p:cNvSpPr>
              <a:spLocks noChangeArrowheads="1"/>
            </p:cNvSpPr>
            <p:nvPr/>
          </p:nvSpPr>
          <p:spPr bwMode="auto">
            <a:xfrm>
              <a:off x="2458" y="3247"/>
              <a:ext cx="18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6" name="Rectangle 538"/>
            <p:cNvSpPr>
              <a:spLocks noChangeArrowheads="1"/>
            </p:cNvSpPr>
            <p:nvPr/>
          </p:nvSpPr>
          <p:spPr bwMode="auto">
            <a:xfrm>
              <a:off x="2983" y="3247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7" name="Rectangle 539"/>
            <p:cNvSpPr>
              <a:spLocks noChangeArrowheads="1"/>
            </p:cNvSpPr>
            <p:nvPr/>
          </p:nvSpPr>
          <p:spPr bwMode="auto">
            <a:xfrm>
              <a:off x="3147" y="3256"/>
              <a:ext cx="17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8" name="Rectangle 540"/>
            <p:cNvSpPr>
              <a:spLocks noChangeArrowheads="1"/>
            </p:cNvSpPr>
            <p:nvPr/>
          </p:nvSpPr>
          <p:spPr bwMode="auto">
            <a:xfrm>
              <a:off x="2975" y="3422"/>
              <a:ext cx="180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59" name="Rectangle 541"/>
            <p:cNvSpPr>
              <a:spLocks noChangeArrowheads="1"/>
            </p:cNvSpPr>
            <p:nvPr/>
          </p:nvSpPr>
          <p:spPr bwMode="auto">
            <a:xfrm>
              <a:off x="2975" y="3247"/>
              <a:ext cx="17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0" name="Rectangle 542"/>
            <p:cNvSpPr>
              <a:spLocks noChangeArrowheads="1"/>
            </p:cNvSpPr>
            <p:nvPr/>
          </p:nvSpPr>
          <p:spPr bwMode="auto">
            <a:xfrm>
              <a:off x="2228" y="3544"/>
              <a:ext cx="131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1" name="Rectangle 543"/>
            <p:cNvSpPr>
              <a:spLocks noChangeArrowheads="1"/>
            </p:cNvSpPr>
            <p:nvPr/>
          </p:nvSpPr>
          <p:spPr bwMode="auto">
            <a:xfrm>
              <a:off x="2228" y="3542"/>
              <a:ext cx="13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2" name="Rectangle 544"/>
            <p:cNvSpPr>
              <a:spLocks noChangeArrowheads="1"/>
            </p:cNvSpPr>
            <p:nvPr/>
          </p:nvSpPr>
          <p:spPr bwMode="auto">
            <a:xfrm>
              <a:off x="2359" y="3544"/>
              <a:ext cx="8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3" name="Rectangle 545"/>
            <p:cNvSpPr>
              <a:spLocks noChangeArrowheads="1"/>
            </p:cNvSpPr>
            <p:nvPr/>
          </p:nvSpPr>
          <p:spPr bwMode="auto">
            <a:xfrm>
              <a:off x="2225" y="3675"/>
              <a:ext cx="137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4" name="Rectangle 546"/>
            <p:cNvSpPr>
              <a:spLocks noChangeArrowheads="1"/>
            </p:cNvSpPr>
            <p:nvPr/>
          </p:nvSpPr>
          <p:spPr bwMode="auto">
            <a:xfrm>
              <a:off x="2225" y="3542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5" name="Rectangle 547"/>
            <p:cNvSpPr>
              <a:spLocks noChangeArrowheads="1"/>
            </p:cNvSpPr>
            <p:nvPr/>
          </p:nvSpPr>
          <p:spPr bwMode="auto">
            <a:xfrm>
              <a:off x="2747" y="3544"/>
              <a:ext cx="12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6" name="Rectangle 548"/>
            <p:cNvSpPr>
              <a:spLocks noChangeArrowheads="1"/>
            </p:cNvSpPr>
            <p:nvPr/>
          </p:nvSpPr>
          <p:spPr bwMode="auto">
            <a:xfrm>
              <a:off x="2747" y="3542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7" name="Rectangle 549"/>
            <p:cNvSpPr>
              <a:spLocks noChangeArrowheads="1"/>
            </p:cNvSpPr>
            <p:nvPr/>
          </p:nvSpPr>
          <p:spPr bwMode="auto">
            <a:xfrm>
              <a:off x="2875" y="3544"/>
              <a:ext cx="9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8" name="Rectangle 550"/>
            <p:cNvSpPr>
              <a:spLocks noChangeArrowheads="1"/>
            </p:cNvSpPr>
            <p:nvPr/>
          </p:nvSpPr>
          <p:spPr bwMode="auto">
            <a:xfrm>
              <a:off x="2744" y="3675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69" name="Rectangle 551"/>
            <p:cNvSpPr>
              <a:spLocks noChangeArrowheads="1"/>
            </p:cNvSpPr>
            <p:nvPr/>
          </p:nvSpPr>
          <p:spPr bwMode="auto">
            <a:xfrm>
              <a:off x="2744" y="3542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0" name="Rectangle 552"/>
            <p:cNvSpPr>
              <a:spLocks noChangeArrowheads="1"/>
            </p:cNvSpPr>
            <p:nvPr/>
          </p:nvSpPr>
          <p:spPr bwMode="auto">
            <a:xfrm>
              <a:off x="2487" y="3544"/>
              <a:ext cx="12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1" name="Rectangle 553"/>
            <p:cNvSpPr>
              <a:spLocks noChangeArrowheads="1"/>
            </p:cNvSpPr>
            <p:nvPr/>
          </p:nvSpPr>
          <p:spPr bwMode="auto">
            <a:xfrm>
              <a:off x="2487" y="3542"/>
              <a:ext cx="13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2" name="Rectangle 554"/>
            <p:cNvSpPr>
              <a:spLocks noChangeArrowheads="1"/>
            </p:cNvSpPr>
            <p:nvPr/>
          </p:nvSpPr>
          <p:spPr bwMode="auto">
            <a:xfrm>
              <a:off x="2615" y="3544"/>
              <a:ext cx="10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3" name="Rectangle 555"/>
            <p:cNvSpPr>
              <a:spLocks noChangeArrowheads="1"/>
            </p:cNvSpPr>
            <p:nvPr/>
          </p:nvSpPr>
          <p:spPr bwMode="auto">
            <a:xfrm>
              <a:off x="2484" y="3675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4" name="Rectangle 556"/>
            <p:cNvSpPr>
              <a:spLocks noChangeArrowheads="1"/>
            </p:cNvSpPr>
            <p:nvPr/>
          </p:nvSpPr>
          <p:spPr bwMode="auto">
            <a:xfrm>
              <a:off x="2484" y="3542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5" name="Rectangle 557"/>
            <p:cNvSpPr>
              <a:spLocks noChangeArrowheads="1"/>
            </p:cNvSpPr>
            <p:nvPr/>
          </p:nvSpPr>
          <p:spPr bwMode="auto">
            <a:xfrm>
              <a:off x="3004" y="3544"/>
              <a:ext cx="131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6" name="Rectangle 558"/>
            <p:cNvSpPr>
              <a:spLocks noChangeArrowheads="1"/>
            </p:cNvSpPr>
            <p:nvPr/>
          </p:nvSpPr>
          <p:spPr bwMode="auto">
            <a:xfrm>
              <a:off x="3004" y="3542"/>
              <a:ext cx="13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7" name="Rectangle 559"/>
            <p:cNvSpPr>
              <a:spLocks noChangeArrowheads="1"/>
            </p:cNvSpPr>
            <p:nvPr/>
          </p:nvSpPr>
          <p:spPr bwMode="auto">
            <a:xfrm>
              <a:off x="3135" y="3544"/>
              <a:ext cx="8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8" name="Rectangle 560"/>
            <p:cNvSpPr>
              <a:spLocks noChangeArrowheads="1"/>
            </p:cNvSpPr>
            <p:nvPr/>
          </p:nvSpPr>
          <p:spPr bwMode="auto">
            <a:xfrm>
              <a:off x="3001" y="3675"/>
              <a:ext cx="137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79" name="Rectangle 561"/>
            <p:cNvSpPr>
              <a:spLocks noChangeArrowheads="1"/>
            </p:cNvSpPr>
            <p:nvPr/>
          </p:nvSpPr>
          <p:spPr bwMode="auto">
            <a:xfrm>
              <a:off x="3001" y="3542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80" name="Freeform 562"/>
            <p:cNvSpPr>
              <a:spLocks/>
            </p:cNvSpPr>
            <p:nvPr/>
          </p:nvSpPr>
          <p:spPr bwMode="auto">
            <a:xfrm>
              <a:off x="3435" y="3335"/>
              <a:ext cx="15" cy="17"/>
            </a:xfrm>
            <a:custGeom>
              <a:avLst/>
              <a:gdLst>
                <a:gd name="T0" fmla="*/ 1 w 30"/>
                <a:gd name="T1" fmla="*/ 0 h 35"/>
                <a:gd name="T2" fmla="*/ 1 w 30"/>
                <a:gd name="T3" fmla="*/ 0 h 35"/>
                <a:gd name="T4" fmla="*/ 1 w 30"/>
                <a:gd name="T5" fmla="*/ 0 h 35"/>
                <a:gd name="T6" fmla="*/ 1 w 30"/>
                <a:gd name="T7" fmla="*/ 0 h 35"/>
                <a:gd name="T8" fmla="*/ 0 w 30"/>
                <a:gd name="T9" fmla="*/ 0 h 35"/>
                <a:gd name="T10" fmla="*/ 1 w 30"/>
                <a:gd name="T11" fmla="*/ 0 h 35"/>
                <a:gd name="T12" fmla="*/ 1 w 30"/>
                <a:gd name="T13" fmla="*/ 0 h 35"/>
                <a:gd name="T14" fmla="*/ 1 w 30"/>
                <a:gd name="T15" fmla="*/ 0 h 35"/>
                <a:gd name="T16" fmla="*/ 1 w 30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5"/>
                <a:gd name="T29" fmla="*/ 30 w 30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5">
                  <a:moveTo>
                    <a:pt x="30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1" name="Freeform 563"/>
            <p:cNvSpPr>
              <a:spLocks/>
            </p:cNvSpPr>
            <p:nvPr/>
          </p:nvSpPr>
          <p:spPr bwMode="auto">
            <a:xfrm>
              <a:off x="3432" y="3332"/>
              <a:ext cx="24" cy="26"/>
            </a:xfrm>
            <a:custGeom>
              <a:avLst/>
              <a:gdLst>
                <a:gd name="T0" fmla="*/ 1 w 48"/>
                <a:gd name="T1" fmla="*/ 1 h 52"/>
                <a:gd name="T2" fmla="*/ 1 w 48"/>
                <a:gd name="T3" fmla="*/ 1 h 52"/>
                <a:gd name="T4" fmla="*/ 1 w 48"/>
                <a:gd name="T5" fmla="*/ 1 h 52"/>
                <a:gd name="T6" fmla="*/ 1 w 48"/>
                <a:gd name="T7" fmla="*/ 1 h 52"/>
                <a:gd name="T8" fmla="*/ 1 w 48"/>
                <a:gd name="T9" fmla="*/ 1 h 52"/>
                <a:gd name="T10" fmla="*/ 1 w 48"/>
                <a:gd name="T11" fmla="*/ 1 h 52"/>
                <a:gd name="T12" fmla="*/ 1 w 48"/>
                <a:gd name="T13" fmla="*/ 1 h 52"/>
                <a:gd name="T14" fmla="*/ 1 w 48"/>
                <a:gd name="T15" fmla="*/ 1 h 52"/>
                <a:gd name="T16" fmla="*/ 1 w 48"/>
                <a:gd name="T17" fmla="*/ 1 h 52"/>
                <a:gd name="T18" fmla="*/ 1 w 48"/>
                <a:gd name="T19" fmla="*/ 1 h 52"/>
                <a:gd name="T20" fmla="*/ 1 w 48"/>
                <a:gd name="T21" fmla="*/ 1 h 52"/>
                <a:gd name="T22" fmla="*/ 1 w 48"/>
                <a:gd name="T23" fmla="*/ 1 h 52"/>
                <a:gd name="T24" fmla="*/ 1 w 48"/>
                <a:gd name="T25" fmla="*/ 1 h 52"/>
                <a:gd name="T26" fmla="*/ 1 w 48"/>
                <a:gd name="T27" fmla="*/ 1 h 52"/>
                <a:gd name="T28" fmla="*/ 1 w 48"/>
                <a:gd name="T29" fmla="*/ 1 h 52"/>
                <a:gd name="T30" fmla="*/ 1 w 48"/>
                <a:gd name="T31" fmla="*/ 1 h 52"/>
                <a:gd name="T32" fmla="*/ 1 w 48"/>
                <a:gd name="T33" fmla="*/ 1 h 52"/>
                <a:gd name="T34" fmla="*/ 1 w 48"/>
                <a:gd name="T35" fmla="*/ 1 h 52"/>
                <a:gd name="T36" fmla="*/ 1 w 48"/>
                <a:gd name="T37" fmla="*/ 1 h 52"/>
                <a:gd name="T38" fmla="*/ 1 w 48"/>
                <a:gd name="T39" fmla="*/ 1 h 52"/>
                <a:gd name="T40" fmla="*/ 1 w 48"/>
                <a:gd name="T41" fmla="*/ 1 h 52"/>
                <a:gd name="T42" fmla="*/ 1 w 48"/>
                <a:gd name="T43" fmla="*/ 1 h 52"/>
                <a:gd name="T44" fmla="*/ 1 w 48"/>
                <a:gd name="T45" fmla="*/ 1 h 52"/>
                <a:gd name="T46" fmla="*/ 1 w 48"/>
                <a:gd name="T47" fmla="*/ 1 h 52"/>
                <a:gd name="T48" fmla="*/ 1 w 48"/>
                <a:gd name="T49" fmla="*/ 1 h 52"/>
                <a:gd name="T50" fmla="*/ 1 w 48"/>
                <a:gd name="T51" fmla="*/ 1 h 52"/>
                <a:gd name="T52" fmla="*/ 1 w 48"/>
                <a:gd name="T53" fmla="*/ 1 h 52"/>
                <a:gd name="T54" fmla="*/ 1 w 48"/>
                <a:gd name="T55" fmla="*/ 1 h 52"/>
                <a:gd name="T56" fmla="*/ 1 w 48"/>
                <a:gd name="T57" fmla="*/ 1 h 52"/>
                <a:gd name="T58" fmla="*/ 1 w 48"/>
                <a:gd name="T59" fmla="*/ 1 h 52"/>
                <a:gd name="T60" fmla="*/ 1 w 48"/>
                <a:gd name="T61" fmla="*/ 1 h 52"/>
                <a:gd name="T62" fmla="*/ 1 w 48"/>
                <a:gd name="T63" fmla="*/ 1 h 52"/>
                <a:gd name="T64" fmla="*/ 1 w 48"/>
                <a:gd name="T65" fmla="*/ 1 h 52"/>
                <a:gd name="T66" fmla="*/ 1 w 48"/>
                <a:gd name="T67" fmla="*/ 1 h 52"/>
                <a:gd name="T68" fmla="*/ 1 w 48"/>
                <a:gd name="T69" fmla="*/ 1 h 52"/>
                <a:gd name="T70" fmla="*/ 0 w 48"/>
                <a:gd name="T71" fmla="*/ 1 h 52"/>
                <a:gd name="T72" fmla="*/ 0 w 48"/>
                <a:gd name="T73" fmla="*/ 1 h 52"/>
                <a:gd name="T74" fmla="*/ 0 w 48"/>
                <a:gd name="T75" fmla="*/ 1 h 52"/>
                <a:gd name="T76" fmla="*/ 1 w 48"/>
                <a:gd name="T77" fmla="*/ 1 h 52"/>
                <a:gd name="T78" fmla="*/ 1 w 48"/>
                <a:gd name="T79" fmla="*/ 1 h 52"/>
                <a:gd name="T80" fmla="*/ 1 w 48"/>
                <a:gd name="T81" fmla="*/ 1 h 52"/>
                <a:gd name="T82" fmla="*/ 1 w 48"/>
                <a:gd name="T83" fmla="*/ 0 h 52"/>
                <a:gd name="T84" fmla="*/ 1 w 48"/>
                <a:gd name="T85" fmla="*/ 0 h 52"/>
                <a:gd name="T86" fmla="*/ 1 w 48"/>
                <a:gd name="T87" fmla="*/ 0 h 52"/>
                <a:gd name="T88" fmla="*/ 1 w 48"/>
                <a:gd name="T89" fmla="*/ 1 h 52"/>
                <a:gd name="T90" fmla="*/ 1 w 48"/>
                <a:gd name="T91" fmla="*/ 1 h 52"/>
                <a:gd name="T92" fmla="*/ 1 w 48"/>
                <a:gd name="T93" fmla="*/ 1 h 52"/>
                <a:gd name="T94" fmla="*/ 1 w 48"/>
                <a:gd name="T95" fmla="*/ 1 h 52"/>
                <a:gd name="T96" fmla="*/ 1 w 48"/>
                <a:gd name="T97" fmla="*/ 1 h 5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52"/>
                <a:gd name="T149" fmla="*/ 48 w 48"/>
                <a:gd name="T150" fmla="*/ 52 h 5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52">
                  <a:moveTo>
                    <a:pt x="29" y="29"/>
                  </a:moveTo>
                  <a:lnTo>
                    <a:pt x="25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5" y="12"/>
                  </a:lnTo>
                  <a:lnTo>
                    <a:pt x="18" y="17"/>
                  </a:lnTo>
                  <a:lnTo>
                    <a:pt x="25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5" y="35"/>
                  </a:lnTo>
                  <a:lnTo>
                    <a:pt x="18" y="29"/>
                  </a:lnTo>
                  <a:lnTo>
                    <a:pt x="25" y="35"/>
                  </a:lnTo>
                  <a:lnTo>
                    <a:pt x="18" y="35"/>
                  </a:lnTo>
                  <a:lnTo>
                    <a:pt x="29" y="29"/>
                  </a:lnTo>
                  <a:lnTo>
                    <a:pt x="25" y="35"/>
                  </a:lnTo>
                  <a:lnTo>
                    <a:pt x="29" y="23"/>
                  </a:lnTo>
                  <a:lnTo>
                    <a:pt x="48" y="29"/>
                  </a:lnTo>
                  <a:lnTo>
                    <a:pt x="42" y="41"/>
                  </a:lnTo>
                  <a:lnTo>
                    <a:pt x="36" y="46"/>
                  </a:lnTo>
                  <a:lnTo>
                    <a:pt x="25" y="52"/>
                  </a:lnTo>
                  <a:lnTo>
                    <a:pt x="12" y="46"/>
                  </a:lnTo>
                  <a:lnTo>
                    <a:pt x="6" y="41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8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2" name="Freeform 564"/>
            <p:cNvSpPr>
              <a:spLocks/>
            </p:cNvSpPr>
            <p:nvPr/>
          </p:nvSpPr>
          <p:spPr bwMode="auto">
            <a:xfrm>
              <a:off x="3447" y="3343"/>
              <a:ext cx="9" cy="3"/>
            </a:xfrm>
            <a:custGeom>
              <a:avLst/>
              <a:gdLst>
                <a:gd name="T0" fmla="*/ 0 w 19"/>
                <a:gd name="T1" fmla="*/ 0 h 6"/>
                <a:gd name="T2" fmla="*/ 0 w 19"/>
                <a:gd name="T3" fmla="*/ 0 h 6"/>
                <a:gd name="T4" fmla="*/ 0 w 19"/>
                <a:gd name="T5" fmla="*/ 1 h 6"/>
                <a:gd name="T6" fmla="*/ 0 w 19"/>
                <a:gd name="T7" fmla="*/ 0 h 6"/>
                <a:gd name="T8" fmla="*/ 0 w 19"/>
                <a:gd name="T9" fmla="*/ 1 h 6"/>
                <a:gd name="T10" fmla="*/ 0 w 19"/>
                <a:gd name="T11" fmla="*/ 1 h 6"/>
                <a:gd name="T12" fmla="*/ 0 w 19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6"/>
                <a:gd name="T23" fmla="*/ 19 w 19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9" y="0"/>
                  </a:lnTo>
                  <a:lnTo>
                    <a:pt x="19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3" name="Freeform 565"/>
            <p:cNvSpPr>
              <a:spLocks/>
            </p:cNvSpPr>
            <p:nvPr/>
          </p:nvSpPr>
          <p:spPr bwMode="auto">
            <a:xfrm>
              <a:off x="3494" y="3335"/>
              <a:ext cx="14" cy="17"/>
            </a:xfrm>
            <a:custGeom>
              <a:avLst/>
              <a:gdLst>
                <a:gd name="T0" fmla="*/ 0 w 29"/>
                <a:gd name="T1" fmla="*/ 0 h 35"/>
                <a:gd name="T2" fmla="*/ 0 w 29"/>
                <a:gd name="T3" fmla="*/ 0 h 35"/>
                <a:gd name="T4" fmla="*/ 0 w 29"/>
                <a:gd name="T5" fmla="*/ 0 h 35"/>
                <a:gd name="T6" fmla="*/ 0 w 29"/>
                <a:gd name="T7" fmla="*/ 0 h 35"/>
                <a:gd name="T8" fmla="*/ 0 w 29"/>
                <a:gd name="T9" fmla="*/ 0 h 35"/>
                <a:gd name="T10" fmla="*/ 0 w 29"/>
                <a:gd name="T11" fmla="*/ 0 h 35"/>
                <a:gd name="T12" fmla="*/ 0 w 29"/>
                <a:gd name="T13" fmla="*/ 0 h 35"/>
                <a:gd name="T14" fmla="*/ 0 w 29"/>
                <a:gd name="T15" fmla="*/ 0 h 35"/>
                <a:gd name="T16" fmla="*/ 0 w 29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5"/>
                <a:gd name="T29" fmla="*/ 29 w 29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5">
                  <a:moveTo>
                    <a:pt x="29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4" name="Freeform 566"/>
            <p:cNvSpPr>
              <a:spLocks/>
            </p:cNvSpPr>
            <p:nvPr/>
          </p:nvSpPr>
          <p:spPr bwMode="auto">
            <a:xfrm>
              <a:off x="3490" y="3332"/>
              <a:ext cx="24" cy="26"/>
            </a:xfrm>
            <a:custGeom>
              <a:avLst/>
              <a:gdLst>
                <a:gd name="T0" fmla="*/ 1 w 47"/>
                <a:gd name="T1" fmla="*/ 1 h 52"/>
                <a:gd name="T2" fmla="*/ 1 w 47"/>
                <a:gd name="T3" fmla="*/ 1 h 52"/>
                <a:gd name="T4" fmla="*/ 1 w 47"/>
                <a:gd name="T5" fmla="*/ 1 h 52"/>
                <a:gd name="T6" fmla="*/ 1 w 47"/>
                <a:gd name="T7" fmla="*/ 1 h 52"/>
                <a:gd name="T8" fmla="*/ 1 w 47"/>
                <a:gd name="T9" fmla="*/ 1 h 52"/>
                <a:gd name="T10" fmla="*/ 1 w 47"/>
                <a:gd name="T11" fmla="*/ 1 h 52"/>
                <a:gd name="T12" fmla="*/ 1 w 47"/>
                <a:gd name="T13" fmla="*/ 1 h 52"/>
                <a:gd name="T14" fmla="*/ 1 w 47"/>
                <a:gd name="T15" fmla="*/ 1 h 52"/>
                <a:gd name="T16" fmla="*/ 1 w 47"/>
                <a:gd name="T17" fmla="*/ 1 h 52"/>
                <a:gd name="T18" fmla="*/ 1 w 47"/>
                <a:gd name="T19" fmla="*/ 1 h 52"/>
                <a:gd name="T20" fmla="*/ 1 w 47"/>
                <a:gd name="T21" fmla="*/ 1 h 52"/>
                <a:gd name="T22" fmla="*/ 1 w 47"/>
                <a:gd name="T23" fmla="*/ 1 h 52"/>
                <a:gd name="T24" fmla="*/ 1 w 47"/>
                <a:gd name="T25" fmla="*/ 1 h 52"/>
                <a:gd name="T26" fmla="*/ 1 w 47"/>
                <a:gd name="T27" fmla="*/ 1 h 52"/>
                <a:gd name="T28" fmla="*/ 1 w 47"/>
                <a:gd name="T29" fmla="*/ 1 h 52"/>
                <a:gd name="T30" fmla="*/ 1 w 47"/>
                <a:gd name="T31" fmla="*/ 1 h 52"/>
                <a:gd name="T32" fmla="*/ 1 w 47"/>
                <a:gd name="T33" fmla="*/ 1 h 52"/>
                <a:gd name="T34" fmla="*/ 1 w 47"/>
                <a:gd name="T35" fmla="*/ 1 h 52"/>
                <a:gd name="T36" fmla="*/ 1 w 47"/>
                <a:gd name="T37" fmla="*/ 1 h 52"/>
                <a:gd name="T38" fmla="*/ 1 w 47"/>
                <a:gd name="T39" fmla="*/ 1 h 52"/>
                <a:gd name="T40" fmla="*/ 1 w 47"/>
                <a:gd name="T41" fmla="*/ 1 h 52"/>
                <a:gd name="T42" fmla="*/ 1 w 47"/>
                <a:gd name="T43" fmla="*/ 1 h 52"/>
                <a:gd name="T44" fmla="*/ 1 w 47"/>
                <a:gd name="T45" fmla="*/ 1 h 52"/>
                <a:gd name="T46" fmla="*/ 1 w 47"/>
                <a:gd name="T47" fmla="*/ 1 h 52"/>
                <a:gd name="T48" fmla="*/ 1 w 47"/>
                <a:gd name="T49" fmla="*/ 1 h 52"/>
                <a:gd name="T50" fmla="*/ 1 w 47"/>
                <a:gd name="T51" fmla="*/ 1 h 52"/>
                <a:gd name="T52" fmla="*/ 1 w 47"/>
                <a:gd name="T53" fmla="*/ 1 h 52"/>
                <a:gd name="T54" fmla="*/ 1 w 47"/>
                <a:gd name="T55" fmla="*/ 1 h 52"/>
                <a:gd name="T56" fmla="*/ 1 w 47"/>
                <a:gd name="T57" fmla="*/ 1 h 52"/>
                <a:gd name="T58" fmla="*/ 1 w 47"/>
                <a:gd name="T59" fmla="*/ 1 h 52"/>
                <a:gd name="T60" fmla="*/ 1 w 47"/>
                <a:gd name="T61" fmla="*/ 1 h 52"/>
                <a:gd name="T62" fmla="*/ 1 w 47"/>
                <a:gd name="T63" fmla="*/ 1 h 52"/>
                <a:gd name="T64" fmla="*/ 1 w 47"/>
                <a:gd name="T65" fmla="*/ 1 h 52"/>
                <a:gd name="T66" fmla="*/ 1 w 47"/>
                <a:gd name="T67" fmla="*/ 1 h 52"/>
                <a:gd name="T68" fmla="*/ 1 w 47"/>
                <a:gd name="T69" fmla="*/ 1 h 52"/>
                <a:gd name="T70" fmla="*/ 0 w 47"/>
                <a:gd name="T71" fmla="*/ 1 h 52"/>
                <a:gd name="T72" fmla="*/ 0 w 47"/>
                <a:gd name="T73" fmla="*/ 1 h 52"/>
                <a:gd name="T74" fmla="*/ 0 w 47"/>
                <a:gd name="T75" fmla="*/ 1 h 52"/>
                <a:gd name="T76" fmla="*/ 1 w 47"/>
                <a:gd name="T77" fmla="*/ 1 h 52"/>
                <a:gd name="T78" fmla="*/ 1 w 47"/>
                <a:gd name="T79" fmla="*/ 1 h 52"/>
                <a:gd name="T80" fmla="*/ 1 w 47"/>
                <a:gd name="T81" fmla="*/ 1 h 52"/>
                <a:gd name="T82" fmla="*/ 1 w 47"/>
                <a:gd name="T83" fmla="*/ 0 h 52"/>
                <a:gd name="T84" fmla="*/ 1 w 47"/>
                <a:gd name="T85" fmla="*/ 0 h 52"/>
                <a:gd name="T86" fmla="*/ 1 w 47"/>
                <a:gd name="T87" fmla="*/ 0 h 52"/>
                <a:gd name="T88" fmla="*/ 1 w 47"/>
                <a:gd name="T89" fmla="*/ 1 h 52"/>
                <a:gd name="T90" fmla="*/ 1 w 47"/>
                <a:gd name="T91" fmla="*/ 1 h 52"/>
                <a:gd name="T92" fmla="*/ 1 w 47"/>
                <a:gd name="T93" fmla="*/ 1 h 52"/>
                <a:gd name="T94" fmla="*/ 1 w 47"/>
                <a:gd name="T95" fmla="*/ 1 h 52"/>
                <a:gd name="T96" fmla="*/ 1 w 47"/>
                <a:gd name="T97" fmla="*/ 1 h 5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52"/>
                <a:gd name="T149" fmla="*/ 47 w 47"/>
                <a:gd name="T150" fmla="*/ 52 h 5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52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2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4" y="35"/>
                  </a:lnTo>
                  <a:lnTo>
                    <a:pt x="18" y="29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29" y="29"/>
                  </a:lnTo>
                  <a:lnTo>
                    <a:pt x="24" y="35"/>
                  </a:lnTo>
                  <a:lnTo>
                    <a:pt x="29" y="23"/>
                  </a:lnTo>
                  <a:lnTo>
                    <a:pt x="47" y="29"/>
                  </a:lnTo>
                  <a:lnTo>
                    <a:pt x="41" y="41"/>
                  </a:lnTo>
                  <a:lnTo>
                    <a:pt x="35" y="46"/>
                  </a:lnTo>
                  <a:lnTo>
                    <a:pt x="24" y="52"/>
                  </a:lnTo>
                  <a:lnTo>
                    <a:pt x="12" y="46"/>
                  </a:lnTo>
                  <a:lnTo>
                    <a:pt x="6" y="41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5" name="Freeform 567"/>
            <p:cNvSpPr>
              <a:spLocks/>
            </p:cNvSpPr>
            <p:nvPr/>
          </p:nvSpPr>
          <p:spPr bwMode="auto">
            <a:xfrm>
              <a:off x="3505" y="3343"/>
              <a:ext cx="9" cy="3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0 h 6"/>
                <a:gd name="T4" fmla="*/ 0 w 18"/>
                <a:gd name="T5" fmla="*/ 1 h 6"/>
                <a:gd name="T6" fmla="*/ 1 w 18"/>
                <a:gd name="T7" fmla="*/ 0 h 6"/>
                <a:gd name="T8" fmla="*/ 1 w 18"/>
                <a:gd name="T9" fmla="*/ 1 h 6"/>
                <a:gd name="T10" fmla="*/ 1 w 18"/>
                <a:gd name="T11" fmla="*/ 1 h 6"/>
                <a:gd name="T12" fmla="*/ 0 w 18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6"/>
                <a:gd name="T23" fmla="*/ 18 w 18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6" name="Freeform 568"/>
            <p:cNvSpPr>
              <a:spLocks/>
            </p:cNvSpPr>
            <p:nvPr/>
          </p:nvSpPr>
          <p:spPr bwMode="auto">
            <a:xfrm>
              <a:off x="3552" y="3335"/>
              <a:ext cx="14" cy="17"/>
            </a:xfrm>
            <a:custGeom>
              <a:avLst/>
              <a:gdLst>
                <a:gd name="T0" fmla="*/ 0 w 29"/>
                <a:gd name="T1" fmla="*/ 0 h 35"/>
                <a:gd name="T2" fmla="*/ 0 w 29"/>
                <a:gd name="T3" fmla="*/ 0 h 35"/>
                <a:gd name="T4" fmla="*/ 0 w 29"/>
                <a:gd name="T5" fmla="*/ 0 h 35"/>
                <a:gd name="T6" fmla="*/ 0 w 29"/>
                <a:gd name="T7" fmla="*/ 0 h 35"/>
                <a:gd name="T8" fmla="*/ 0 w 29"/>
                <a:gd name="T9" fmla="*/ 0 h 35"/>
                <a:gd name="T10" fmla="*/ 0 w 29"/>
                <a:gd name="T11" fmla="*/ 0 h 35"/>
                <a:gd name="T12" fmla="*/ 0 w 29"/>
                <a:gd name="T13" fmla="*/ 0 h 35"/>
                <a:gd name="T14" fmla="*/ 0 w 29"/>
                <a:gd name="T15" fmla="*/ 0 h 35"/>
                <a:gd name="T16" fmla="*/ 0 w 29"/>
                <a:gd name="T17" fmla="*/ 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5"/>
                <a:gd name="T29" fmla="*/ 29 w 29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5">
                  <a:moveTo>
                    <a:pt x="29" y="17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7"/>
                  </a:lnTo>
                  <a:lnTo>
                    <a:pt x="6" y="29"/>
                  </a:lnTo>
                  <a:lnTo>
                    <a:pt x="12" y="35"/>
                  </a:lnTo>
                  <a:lnTo>
                    <a:pt x="23" y="29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7" name="Freeform 569"/>
            <p:cNvSpPr>
              <a:spLocks/>
            </p:cNvSpPr>
            <p:nvPr/>
          </p:nvSpPr>
          <p:spPr bwMode="auto">
            <a:xfrm>
              <a:off x="3549" y="3332"/>
              <a:ext cx="24" cy="26"/>
            </a:xfrm>
            <a:custGeom>
              <a:avLst/>
              <a:gdLst>
                <a:gd name="T0" fmla="*/ 1 w 47"/>
                <a:gd name="T1" fmla="*/ 1 h 52"/>
                <a:gd name="T2" fmla="*/ 1 w 47"/>
                <a:gd name="T3" fmla="*/ 1 h 52"/>
                <a:gd name="T4" fmla="*/ 1 w 47"/>
                <a:gd name="T5" fmla="*/ 1 h 52"/>
                <a:gd name="T6" fmla="*/ 1 w 47"/>
                <a:gd name="T7" fmla="*/ 1 h 52"/>
                <a:gd name="T8" fmla="*/ 1 w 47"/>
                <a:gd name="T9" fmla="*/ 1 h 52"/>
                <a:gd name="T10" fmla="*/ 1 w 47"/>
                <a:gd name="T11" fmla="*/ 1 h 52"/>
                <a:gd name="T12" fmla="*/ 1 w 47"/>
                <a:gd name="T13" fmla="*/ 1 h 52"/>
                <a:gd name="T14" fmla="*/ 1 w 47"/>
                <a:gd name="T15" fmla="*/ 1 h 52"/>
                <a:gd name="T16" fmla="*/ 1 w 47"/>
                <a:gd name="T17" fmla="*/ 1 h 52"/>
                <a:gd name="T18" fmla="*/ 1 w 47"/>
                <a:gd name="T19" fmla="*/ 1 h 52"/>
                <a:gd name="T20" fmla="*/ 1 w 47"/>
                <a:gd name="T21" fmla="*/ 1 h 52"/>
                <a:gd name="T22" fmla="*/ 1 w 47"/>
                <a:gd name="T23" fmla="*/ 1 h 52"/>
                <a:gd name="T24" fmla="*/ 1 w 47"/>
                <a:gd name="T25" fmla="*/ 1 h 52"/>
                <a:gd name="T26" fmla="*/ 1 w 47"/>
                <a:gd name="T27" fmla="*/ 1 h 52"/>
                <a:gd name="T28" fmla="*/ 1 w 47"/>
                <a:gd name="T29" fmla="*/ 1 h 52"/>
                <a:gd name="T30" fmla="*/ 1 w 47"/>
                <a:gd name="T31" fmla="*/ 1 h 52"/>
                <a:gd name="T32" fmla="*/ 1 w 47"/>
                <a:gd name="T33" fmla="*/ 1 h 52"/>
                <a:gd name="T34" fmla="*/ 1 w 47"/>
                <a:gd name="T35" fmla="*/ 1 h 52"/>
                <a:gd name="T36" fmla="*/ 1 w 47"/>
                <a:gd name="T37" fmla="*/ 1 h 52"/>
                <a:gd name="T38" fmla="*/ 1 w 47"/>
                <a:gd name="T39" fmla="*/ 1 h 52"/>
                <a:gd name="T40" fmla="*/ 1 w 47"/>
                <a:gd name="T41" fmla="*/ 1 h 52"/>
                <a:gd name="T42" fmla="*/ 1 w 47"/>
                <a:gd name="T43" fmla="*/ 1 h 52"/>
                <a:gd name="T44" fmla="*/ 1 w 47"/>
                <a:gd name="T45" fmla="*/ 1 h 52"/>
                <a:gd name="T46" fmla="*/ 1 w 47"/>
                <a:gd name="T47" fmla="*/ 1 h 52"/>
                <a:gd name="T48" fmla="*/ 1 w 47"/>
                <a:gd name="T49" fmla="*/ 1 h 52"/>
                <a:gd name="T50" fmla="*/ 1 w 47"/>
                <a:gd name="T51" fmla="*/ 1 h 52"/>
                <a:gd name="T52" fmla="*/ 1 w 47"/>
                <a:gd name="T53" fmla="*/ 1 h 52"/>
                <a:gd name="T54" fmla="*/ 1 w 47"/>
                <a:gd name="T55" fmla="*/ 1 h 52"/>
                <a:gd name="T56" fmla="*/ 1 w 47"/>
                <a:gd name="T57" fmla="*/ 1 h 52"/>
                <a:gd name="T58" fmla="*/ 1 w 47"/>
                <a:gd name="T59" fmla="*/ 1 h 52"/>
                <a:gd name="T60" fmla="*/ 1 w 47"/>
                <a:gd name="T61" fmla="*/ 1 h 52"/>
                <a:gd name="T62" fmla="*/ 1 w 47"/>
                <a:gd name="T63" fmla="*/ 1 h 52"/>
                <a:gd name="T64" fmla="*/ 1 w 47"/>
                <a:gd name="T65" fmla="*/ 1 h 52"/>
                <a:gd name="T66" fmla="*/ 1 w 47"/>
                <a:gd name="T67" fmla="*/ 1 h 52"/>
                <a:gd name="T68" fmla="*/ 1 w 47"/>
                <a:gd name="T69" fmla="*/ 1 h 52"/>
                <a:gd name="T70" fmla="*/ 0 w 47"/>
                <a:gd name="T71" fmla="*/ 1 h 52"/>
                <a:gd name="T72" fmla="*/ 0 w 47"/>
                <a:gd name="T73" fmla="*/ 1 h 52"/>
                <a:gd name="T74" fmla="*/ 0 w 47"/>
                <a:gd name="T75" fmla="*/ 1 h 52"/>
                <a:gd name="T76" fmla="*/ 1 w 47"/>
                <a:gd name="T77" fmla="*/ 1 h 52"/>
                <a:gd name="T78" fmla="*/ 1 w 47"/>
                <a:gd name="T79" fmla="*/ 1 h 52"/>
                <a:gd name="T80" fmla="*/ 1 w 47"/>
                <a:gd name="T81" fmla="*/ 1 h 52"/>
                <a:gd name="T82" fmla="*/ 1 w 47"/>
                <a:gd name="T83" fmla="*/ 0 h 52"/>
                <a:gd name="T84" fmla="*/ 1 w 47"/>
                <a:gd name="T85" fmla="*/ 0 h 52"/>
                <a:gd name="T86" fmla="*/ 1 w 47"/>
                <a:gd name="T87" fmla="*/ 0 h 52"/>
                <a:gd name="T88" fmla="*/ 1 w 47"/>
                <a:gd name="T89" fmla="*/ 1 h 52"/>
                <a:gd name="T90" fmla="*/ 1 w 47"/>
                <a:gd name="T91" fmla="*/ 1 h 52"/>
                <a:gd name="T92" fmla="*/ 1 w 47"/>
                <a:gd name="T93" fmla="*/ 1 h 52"/>
                <a:gd name="T94" fmla="*/ 1 w 47"/>
                <a:gd name="T95" fmla="*/ 1 h 52"/>
                <a:gd name="T96" fmla="*/ 1 w 47"/>
                <a:gd name="T97" fmla="*/ 1 h 5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52"/>
                <a:gd name="T149" fmla="*/ 47 w 47"/>
                <a:gd name="T150" fmla="*/ 52 h 5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52">
                  <a:moveTo>
                    <a:pt x="29" y="29"/>
                  </a:moveTo>
                  <a:lnTo>
                    <a:pt x="24" y="17"/>
                  </a:lnTo>
                  <a:lnTo>
                    <a:pt x="29" y="23"/>
                  </a:lnTo>
                  <a:lnTo>
                    <a:pt x="18" y="17"/>
                  </a:lnTo>
                  <a:lnTo>
                    <a:pt x="24" y="12"/>
                  </a:lnTo>
                  <a:lnTo>
                    <a:pt x="18" y="17"/>
                  </a:lnTo>
                  <a:lnTo>
                    <a:pt x="24" y="17"/>
                  </a:lnTo>
                  <a:lnTo>
                    <a:pt x="18" y="29"/>
                  </a:lnTo>
                  <a:lnTo>
                    <a:pt x="18" y="23"/>
                  </a:lnTo>
                  <a:lnTo>
                    <a:pt x="24" y="35"/>
                  </a:lnTo>
                  <a:lnTo>
                    <a:pt x="18" y="29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29" y="29"/>
                  </a:lnTo>
                  <a:lnTo>
                    <a:pt x="24" y="35"/>
                  </a:lnTo>
                  <a:lnTo>
                    <a:pt x="29" y="23"/>
                  </a:lnTo>
                  <a:lnTo>
                    <a:pt x="47" y="29"/>
                  </a:lnTo>
                  <a:lnTo>
                    <a:pt x="41" y="41"/>
                  </a:lnTo>
                  <a:lnTo>
                    <a:pt x="35" y="46"/>
                  </a:lnTo>
                  <a:lnTo>
                    <a:pt x="24" y="52"/>
                  </a:lnTo>
                  <a:lnTo>
                    <a:pt x="12" y="46"/>
                  </a:lnTo>
                  <a:lnTo>
                    <a:pt x="6" y="41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6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6"/>
                  </a:lnTo>
                  <a:lnTo>
                    <a:pt x="41" y="12"/>
                  </a:lnTo>
                  <a:lnTo>
                    <a:pt x="47" y="23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8" name="Freeform 570"/>
            <p:cNvSpPr>
              <a:spLocks/>
            </p:cNvSpPr>
            <p:nvPr/>
          </p:nvSpPr>
          <p:spPr bwMode="auto">
            <a:xfrm>
              <a:off x="3563" y="3343"/>
              <a:ext cx="10" cy="3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0 h 6"/>
                <a:gd name="T4" fmla="*/ 0 w 18"/>
                <a:gd name="T5" fmla="*/ 1 h 6"/>
                <a:gd name="T6" fmla="*/ 1 w 18"/>
                <a:gd name="T7" fmla="*/ 0 h 6"/>
                <a:gd name="T8" fmla="*/ 1 w 18"/>
                <a:gd name="T9" fmla="*/ 1 h 6"/>
                <a:gd name="T10" fmla="*/ 1 w 18"/>
                <a:gd name="T11" fmla="*/ 1 h 6"/>
                <a:gd name="T12" fmla="*/ 0 w 18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6"/>
                <a:gd name="T23" fmla="*/ 18 w 18"/>
                <a:gd name="T24" fmla="*/ 6 h 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8" y="0"/>
                  </a:lnTo>
                  <a:lnTo>
                    <a:pt x="18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89" name="Rectangle 571"/>
            <p:cNvSpPr>
              <a:spLocks noChangeArrowheads="1"/>
            </p:cNvSpPr>
            <p:nvPr/>
          </p:nvSpPr>
          <p:spPr bwMode="auto">
            <a:xfrm>
              <a:off x="1750" y="1735"/>
              <a:ext cx="8" cy="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0" name="Rectangle 572"/>
            <p:cNvSpPr>
              <a:spLocks noChangeArrowheads="1"/>
            </p:cNvSpPr>
            <p:nvPr/>
          </p:nvSpPr>
          <p:spPr bwMode="auto">
            <a:xfrm>
              <a:off x="1732" y="1555"/>
              <a:ext cx="8" cy="16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1" name="Rectangle 573"/>
            <p:cNvSpPr>
              <a:spLocks noChangeArrowheads="1"/>
            </p:cNvSpPr>
            <p:nvPr/>
          </p:nvSpPr>
          <p:spPr bwMode="auto">
            <a:xfrm>
              <a:off x="1735" y="1555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2" name="Rectangle 575"/>
            <p:cNvSpPr>
              <a:spLocks noChangeArrowheads="1"/>
            </p:cNvSpPr>
            <p:nvPr/>
          </p:nvSpPr>
          <p:spPr bwMode="auto">
            <a:xfrm>
              <a:off x="1991" y="1558"/>
              <a:ext cx="9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3" name="Rectangle 576"/>
            <p:cNvSpPr>
              <a:spLocks noChangeArrowheads="1"/>
            </p:cNvSpPr>
            <p:nvPr/>
          </p:nvSpPr>
          <p:spPr bwMode="auto">
            <a:xfrm>
              <a:off x="1969" y="1755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4" name="Rectangle 577"/>
            <p:cNvSpPr>
              <a:spLocks noChangeArrowheads="1"/>
            </p:cNvSpPr>
            <p:nvPr/>
          </p:nvSpPr>
          <p:spPr bwMode="auto">
            <a:xfrm>
              <a:off x="1819" y="1739"/>
              <a:ext cx="13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5" name="Rectangle 578"/>
            <p:cNvSpPr>
              <a:spLocks noChangeArrowheads="1"/>
            </p:cNvSpPr>
            <p:nvPr/>
          </p:nvSpPr>
          <p:spPr bwMode="auto">
            <a:xfrm>
              <a:off x="1819" y="1555"/>
              <a:ext cx="9" cy="18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6" name="Rectangle 579"/>
            <p:cNvSpPr>
              <a:spLocks noChangeArrowheads="1"/>
            </p:cNvSpPr>
            <p:nvPr/>
          </p:nvSpPr>
          <p:spPr bwMode="auto">
            <a:xfrm>
              <a:off x="1969" y="1571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7" name="Rectangle 580"/>
            <p:cNvSpPr>
              <a:spLocks noChangeArrowheads="1"/>
            </p:cNvSpPr>
            <p:nvPr/>
          </p:nvSpPr>
          <p:spPr bwMode="auto">
            <a:xfrm>
              <a:off x="1822" y="1555"/>
              <a:ext cx="12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8" name="Rectangle 581"/>
            <p:cNvSpPr>
              <a:spLocks noChangeArrowheads="1"/>
            </p:cNvSpPr>
            <p:nvPr/>
          </p:nvSpPr>
          <p:spPr bwMode="auto">
            <a:xfrm>
              <a:off x="1969" y="1839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199" name="Rectangle 582"/>
            <p:cNvSpPr>
              <a:spLocks noChangeArrowheads="1"/>
            </p:cNvSpPr>
            <p:nvPr/>
          </p:nvSpPr>
          <p:spPr bwMode="auto">
            <a:xfrm>
              <a:off x="1819" y="1823"/>
              <a:ext cx="13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0" name="Rectangle 583"/>
            <p:cNvSpPr>
              <a:spLocks noChangeArrowheads="1"/>
            </p:cNvSpPr>
            <p:nvPr/>
          </p:nvSpPr>
          <p:spPr bwMode="auto">
            <a:xfrm>
              <a:off x="1819" y="1826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1" name="Rectangle 584"/>
            <p:cNvSpPr>
              <a:spLocks noChangeArrowheads="1"/>
            </p:cNvSpPr>
            <p:nvPr/>
          </p:nvSpPr>
          <p:spPr bwMode="auto">
            <a:xfrm>
              <a:off x="1969" y="2023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2" name="Rectangle 585"/>
            <p:cNvSpPr>
              <a:spLocks noChangeArrowheads="1"/>
            </p:cNvSpPr>
            <p:nvPr/>
          </p:nvSpPr>
          <p:spPr bwMode="auto">
            <a:xfrm>
              <a:off x="1822" y="2007"/>
              <a:ext cx="12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3" name="Rectangle 587"/>
            <p:cNvSpPr>
              <a:spLocks noChangeArrowheads="1"/>
            </p:cNvSpPr>
            <p:nvPr/>
          </p:nvSpPr>
          <p:spPr bwMode="auto">
            <a:xfrm>
              <a:off x="1732" y="1850"/>
              <a:ext cx="8" cy="16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4" name="Rectangle 588"/>
            <p:cNvSpPr>
              <a:spLocks noChangeArrowheads="1"/>
            </p:cNvSpPr>
            <p:nvPr/>
          </p:nvSpPr>
          <p:spPr bwMode="auto">
            <a:xfrm>
              <a:off x="1735" y="2007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5" name="Rectangle 589"/>
            <p:cNvSpPr>
              <a:spLocks noChangeArrowheads="1"/>
            </p:cNvSpPr>
            <p:nvPr/>
          </p:nvSpPr>
          <p:spPr bwMode="auto">
            <a:xfrm>
              <a:off x="1991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6" name="Rectangle 590"/>
            <p:cNvSpPr>
              <a:spLocks noChangeArrowheads="1"/>
            </p:cNvSpPr>
            <p:nvPr/>
          </p:nvSpPr>
          <p:spPr bwMode="auto">
            <a:xfrm>
              <a:off x="1991" y="1879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7" name="Rectangle 591"/>
            <p:cNvSpPr>
              <a:spLocks noChangeArrowheads="1"/>
            </p:cNvSpPr>
            <p:nvPr/>
          </p:nvSpPr>
          <p:spPr bwMode="auto">
            <a:xfrm>
              <a:off x="1732" y="2092"/>
              <a:ext cx="8" cy="16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8" name="Rectangle 592"/>
            <p:cNvSpPr>
              <a:spLocks noChangeArrowheads="1"/>
            </p:cNvSpPr>
            <p:nvPr/>
          </p:nvSpPr>
          <p:spPr bwMode="auto">
            <a:xfrm>
              <a:off x="1735" y="2092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09" name="Rectangle 593"/>
            <p:cNvSpPr>
              <a:spLocks noChangeArrowheads="1"/>
            </p:cNvSpPr>
            <p:nvPr/>
          </p:nvSpPr>
          <p:spPr bwMode="auto">
            <a:xfrm>
              <a:off x="2009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0" name="Rectangle 594"/>
            <p:cNvSpPr>
              <a:spLocks noChangeArrowheads="1"/>
            </p:cNvSpPr>
            <p:nvPr/>
          </p:nvSpPr>
          <p:spPr bwMode="auto">
            <a:xfrm>
              <a:off x="1991" y="2095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1" name="Rectangle 595"/>
            <p:cNvSpPr>
              <a:spLocks noChangeArrowheads="1"/>
            </p:cNvSpPr>
            <p:nvPr/>
          </p:nvSpPr>
          <p:spPr bwMode="auto">
            <a:xfrm>
              <a:off x="1969" y="2291"/>
              <a:ext cx="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2" name="Rectangle 596"/>
            <p:cNvSpPr>
              <a:spLocks noChangeArrowheads="1"/>
            </p:cNvSpPr>
            <p:nvPr/>
          </p:nvSpPr>
          <p:spPr bwMode="auto">
            <a:xfrm>
              <a:off x="1819" y="2275"/>
              <a:ext cx="132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3" name="Rectangle 597"/>
            <p:cNvSpPr>
              <a:spLocks noChangeArrowheads="1"/>
            </p:cNvSpPr>
            <p:nvPr/>
          </p:nvSpPr>
          <p:spPr bwMode="auto">
            <a:xfrm>
              <a:off x="1819" y="2092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4" name="Rectangle 598"/>
            <p:cNvSpPr>
              <a:spLocks noChangeArrowheads="1"/>
            </p:cNvSpPr>
            <p:nvPr/>
          </p:nvSpPr>
          <p:spPr bwMode="auto">
            <a:xfrm>
              <a:off x="1969" y="2108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5" name="Rectangle 599"/>
            <p:cNvSpPr>
              <a:spLocks noChangeArrowheads="1"/>
            </p:cNvSpPr>
            <p:nvPr/>
          </p:nvSpPr>
          <p:spPr bwMode="auto">
            <a:xfrm>
              <a:off x="1822" y="2092"/>
              <a:ext cx="12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6" name="Rectangle 600"/>
            <p:cNvSpPr>
              <a:spLocks noChangeArrowheads="1"/>
            </p:cNvSpPr>
            <p:nvPr/>
          </p:nvSpPr>
          <p:spPr bwMode="auto">
            <a:xfrm>
              <a:off x="1969" y="2376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7" name="Rectangle 601"/>
            <p:cNvSpPr>
              <a:spLocks noChangeArrowheads="1"/>
            </p:cNvSpPr>
            <p:nvPr/>
          </p:nvSpPr>
          <p:spPr bwMode="auto">
            <a:xfrm>
              <a:off x="1819" y="2360"/>
              <a:ext cx="13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8" name="Rectangle 602"/>
            <p:cNvSpPr>
              <a:spLocks noChangeArrowheads="1"/>
            </p:cNvSpPr>
            <p:nvPr/>
          </p:nvSpPr>
          <p:spPr bwMode="auto">
            <a:xfrm>
              <a:off x="1819" y="2363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19" name="Rectangle 603"/>
            <p:cNvSpPr>
              <a:spLocks noChangeArrowheads="1"/>
            </p:cNvSpPr>
            <p:nvPr/>
          </p:nvSpPr>
          <p:spPr bwMode="auto">
            <a:xfrm>
              <a:off x="1969" y="256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0" name="Rectangle 604"/>
            <p:cNvSpPr>
              <a:spLocks noChangeArrowheads="1"/>
            </p:cNvSpPr>
            <p:nvPr/>
          </p:nvSpPr>
          <p:spPr bwMode="auto">
            <a:xfrm>
              <a:off x="1822" y="2544"/>
              <a:ext cx="129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1" name="Rectangle 605"/>
            <p:cNvSpPr>
              <a:spLocks noChangeArrowheads="1"/>
            </p:cNvSpPr>
            <p:nvPr/>
          </p:nvSpPr>
          <p:spPr bwMode="auto">
            <a:xfrm>
              <a:off x="1732" y="2387"/>
              <a:ext cx="8" cy="16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2" name="Rectangle 606"/>
            <p:cNvSpPr>
              <a:spLocks noChangeArrowheads="1"/>
            </p:cNvSpPr>
            <p:nvPr/>
          </p:nvSpPr>
          <p:spPr bwMode="auto">
            <a:xfrm>
              <a:off x="1735" y="2544"/>
              <a:ext cx="26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3" name="Rectangle 607"/>
            <p:cNvSpPr>
              <a:spLocks noChangeArrowheads="1"/>
            </p:cNvSpPr>
            <p:nvPr/>
          </p:nvSpPr>
          <p:spPr bwMode="auto">
            <a:xfrm>
              <a:off x="1991" y="2416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4" name="Rectangle 610"/>
            <p:cNvSpPr>
              <a:spLocks noChangeArrowheads="1"/>
            </p:cNvSpPr>
            <p:nvPr/>
          </p:nvSpPr>
          <p:spPr bwMode="auto">
            <a:xfrm>
              <a:off x="1991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5" name="Rectangle 611"/>
            <p:cNvSpPr>
              <a:spLocks noChangeArrowheads="1"/>
            </p:cNvSpPr>
            <p:nvPr/>
          </p:nvSpPr>
          <p:spPr bwMode="auto">
            <a:xfrm>
              <a:off x="1969" y="3312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6" name="Rectangle 612"/>
            <p:cNvSpPr>
              <a:spLocks noChangeArrowheads="1"/>
            </p:cNvSpPr>
            <p:nvPr/>
          </p:nvSpPr>
          <p:spPr bwMode="auto">
            <a:xfrm>
              <a:off x="1819" y="3296"/>
              <a:ext cx="13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7" name="Rectangle 613"/>
            <p:cNvSpPr>
              <a:spLocks noChangeArrowheads="1"/>
            </p:cNvSpPr>
            <p:nvPr/>
          </p:nvSpPr>
          <p:spPr bwMode="auto">
            <a:xfrm>
              <a:off x="1837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8" name="Rectangle 614"/>
            <p:cNvSpPr>
              <a:spLocks noChangeArrowheads="1"/>
            </p:cNvSpPr>
            <p:nvPr/>
          </p:nvSpPr>
          <p:spPr bwMode="auto">
            <a:xfrm>
              <a:off x="1819" y="3119"/>
              <a:ext cx="9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29" name="Rectangle 615"/>
            <p:cNvSpPr>
              <a:spLocks noChangeArrowheads="1"/>
            </p:cNvSpPr>
            <p:nvPr/>
          </p:nvSpPr>
          <p:spPr bwMode="auto">
            <a:xfrm>
              <a:off x="1969" y="340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0" name="Rectangle 616"/>
            <p:cNvSpPr>
              <a:spLocks noChangeArrowheads="1"/>
            </p:cNvSpPr>
            <p:nvPr/>
          </p:nvSpPr>
          <p:spPr bwMode="auto">
            <a:xfrm>
              <a:off x="1819" y="3384"/>
              <a:ext cx="13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1" name="Rectangle 617"/>
            <p:cNvSpPr>
              <a:spLocks noChangeArrowheads="1"/>
            </p:cNvSpPr>
            <p:nvPr/>
          </p:nvSpPr>
          <p:spPr bwMode="auto">
            <a:xfrm>
              <a:off x="1819" y="3387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2" name="Rectangle 618"/>
            <p:cNvSpPr>
              <a:spLocks noChangeArrowheads="1"/>
            </p:cNvSpPr>
            <p:nvPr/>
          </p:nvSpPr>
          <p:spPr bwMode="auto">
            <a:xfrm>
              <a:off x="1822" y="3565"/>
              <a:ext cx="129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3" name="Rectangle 619"/>
            <p:cNvSpPr>
              <a:spLocks noChangeArrowheads="1"/>
            </p:cNvSpPr>
            <p:nvPr/>
          </p:nvSpPr>
          <p:spPr bwMode="auto">
            <a:xfrm>
              <a:off x="2009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4" name="Rectangle 620"/>
            <p:cNvSpPr>
              <a:spLocks noChangeArrowheads="1"/>
            </p:cNvSpPr>
            <p:nvPr/>
          </p:nvSpPr>
          <p:spPr bwMode="auto">
            <a:xfrm>
              <a:off x="1991" y="311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5" name="Rectangle 621"/>
            <p:cNvSpPr>
              <a:spLocks noChangeArrowheads="1"/>
            </p:cNvSpPr>
            <p:nvPr/>
          </p:nvSpPr>
          <p:spPr bwMode="auto">
            <a:xfrm>
              <a:off x="1971" y="1450"/>
              <a:ext cx="12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6" name="Rectangle 622"/>
            <p:cNvSpPr>
              <a:spLocks noChangeArrowheads="1"/>
            </p:cNvSpPr>
            <p:nvPr/>
          </p:nvSpPr>
          <p:spPr bwMode="auto">
            <a:xfrm>
              <a:off x="1971" y="1447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7" name="Rectangle 623"/>
            <p:cNvSpPr>
              <a:spLocks noChangeArrowheads="1"/>
            </p:cNvSpPr>
            <p:nvPr/>
          </p:nvSpPr>
          <p:spPr bwMode="auto">
            <a:xfrm>
              <a:off x="2099" y="1450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8" name="Rectangle 624"/>
            <p:cNvSpPr>
              <a:spLocks noChangeArrowheads="1"/>
            </p:cNvSpPr>
            <p:nvPr/>
          </p:nvSpPr>
          <p:spPr bwMode="auto">
            <a:xfrm>
              <a:off x="1968" y="1578"/>
              <a:ext cx="135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39" name="Rectangle 625"/>
            <p:cNvSpPr>
              <a:spLocks noChangeArrowheads="1"/>
            </p:cNvSpPr>
            <p:nvPr/>
          </p:nvSpPr>
          <p:spPr bwMode="auto">
            <a:xfrm>
              <a:off x="1968" y="1447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0" name="Rectangle 626"/>
            <p:cNvSpPr>
              <a:spLocks noChangeArrowheads="1"/>
            </p:cNvSpPr>
            <p:nvPr/>
          </p:nvSpPr>
          <p:spPr bwMode="auto">
            <a:xfrm>
              <a:off x="1951" y="1690"/>
              <a:ext cx="181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1" name="Rectangle 627"/>
            <p:cNvSpPr>
              <a:spLocks noChangeArrowheads="1"/>
            </p:cNvSpPr>
            <p:nvPr/>
          </p:nvSpPr>
          <p:spPr bwMode="auto">
            <a:xfrm>
              <a:off x="2114" y="1698"/>
              <a:ext cx="18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2" name="Rectangle 628"/>
            <p:cNvSpPr>
              <a:spLocks noChangeArrowheads="1"/>
            </p:cNvSpPr>
            <p:nvPr/>
          </p:nvSpPr>
          <p:spPr bwMode="auto">
            <a:xfrm>
              <a:off x="1942" y="1862"/>
              <a:ext cx="181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3" name="Rectangle 629"/>
            <p:cNvSpPr>
              <a:spLocks noChangeArrowheads="1"/>
            </p:cNvSpPr>
            <p:nvPr/>
          </p:nvSpPr>
          <p:spPr bwMode="auto">
            <a:xfrm>
              <a:off x="1942" y="1690"/>
              <a:ext cx="17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4" name="Rectangle 630"/>
            <p:cNvSpPr>
              <a:spLocks noChangeArrowheads="1"/>
            </p:cNvSpPr>
            <p:nvPr/>
          </p:nvSpPr>
          <p:spPr bwMode="auto">
            <a:xfrm>
              <a:off x="1971" y="1987"/>
              <a:ext cx="128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5" name="Rectangle 631"/>
            <p:cNvSpPr>
              <a:spLocks noChangeArrowheads="1"/>
            </p:cNvSpPr>
            <p:nvPr/>
          </p:nvSpPr>
          <p:spPr bwMode="auto">
            <a:xfrm>
              <a:off x="1971" y="1984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6" name="Rectangle 632"/>
            <p:cNvSpPr>
              <a:spLocks noChangeArrowheads="1"/>
            </p:cNvSpPr>
            <p:nvPr/>
          </p:nvSpPr>
          <p:spPr bwMode="auto">
            <a:xfrm>
              <a:off x="2099" y="1987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7" name="Rectangle 633"/>
            <p:cNvSpPr>
              <a:spLocks noChangeArrowheads="1"/>
            </p:cNvSpPr>
            <p:nvPr/>
          </p:nvSpPr>
          <p:spPr bwMode="auto">
            <a:xfrm>
              <a:off x="1968" y="2115"/>
              <a:ext cx="13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8" name="Rectangle 634"/>
            <p:cNvSpPr>
              <a:spLocks noChangeArrowheads="1"/>
            </p:cNvSpPr>
            <p:nvPr/>
          </p:nvSpPr>
          <p:spPr bwMode="auto">
            <a:xfrm>
              <a:off x="1968" y="1984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49" name="Rectangle 635"/>
            <p:cNvSpPr>
              <a:spLocks noChangeArrowheads="1"/>
            </p:cNvSpPr>
            <p:nvPr/>
          </p:nvSpPr>
          <p:spPr bwMode="auto">
            <a:xfrm>
              <a:off x="1951" y="2226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0" name="Rectangle 636"/>
            <p:cNvSpPr>
              <a:spLocks noChangeArrowheads="1"/>
            </p:cNvSpPr>
            <p:nvPr/>
          </p:nvSpPr>
          <p:spPr bwMode="auto">
            <a:xfrm>
              <a:off x="2114" y="2235"/>
              <a:ext cx="18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1" name="Rectangle 637"/>
            <p:cNvSpPr>
              <a:spLocks noChangeArrowheads="1"/>
            </p:cNvSpPr>
            <p:nvPr/>
          </p:nvSpPr>
          <p:spPr bwMode="auto">
            <a:xfrm>
              <a:off x="1942" y="2398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2" name="Rectangle 638"/>
            <p:cNvSpPr>
              <a:spLocks noChangeArrowheads="1"/>
            </p:cNvSpPr>
            <p:nvPr/>
          </p:nvSpPr>
          <p:spPr bwMode="auto">
            <a:xfrm>
              <a:off x="1942" y="2226"/>
              <a:ext cx="17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3" name="Rectangle 639"/>
            <p:cNvSpPr>
              <a:spLocks noChangeArrowheads="1"/>
            </p:cNvSpPr>
            <p:nvPr/>
          </p:nvSpPr>
          <p:spPr bwMode="auto">
            <a:xfrm>
              <a:off x="1971" y="2523"/>
              <a:ext cx="128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4" name="Rectangle 640"/>
            <p:cNvSpPr>
              <a:spLocks noChangeArrowheads="1"/>
            </p:cNvSpPr>
            <p:nvPr/>
          </p:nvSpPr>
          <p:spPr bwMode="auto">
            <a:xfrm>
              <a:off x="1971" y="2521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5" name="Rectangle 641"/>
            <p:cNvSpPr>
              <a:spLocks noChangeArrowheads="1"/>
            </p:cNvSpPr>
            <p:nvPr/>
          </p:nvSpPr>
          <p:spPr bwMode="auto">
            <a:xfrm>
              <a:off x="2099" y="2523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6" name="Rectangle 642"/>
            <p:cNvSpPr>
              <a:spLocks noChangeArrowheads="1"/>
            </p:cNvSpPr>
            <p:nvPr/>
          </p:nvSpPr>
          <p:spPr bwMode="auto">
            <a:xfrm>
              <a:off x="1968" y="2652"/>
              <a:ext cx="135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7" name="Rectangle 643"/>
            <p:cNvSpPr>
              <a:spLocks noChangeArrowheads="1"/>
            </p:cNvSpPr>
            <p:nvPr/>
          </p:nvSpPr>
          <p:spPr bwMode="auto">
            <a:xfrm>
              <a:off x="1968" y="2521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8" name="Rectangle 645"/>
            <p:cNvSpPr>
              <a:spLocks noChangeArrowheads="1"/>
            </p:cNvSpPr>
            <p:nvPr/>
          </p:nvSpPr>
          <p:spPr bwMode="auto">
            <a:xfrm>
              <a:off x="1732" y="3411"/>
              <a:ext cx="8" cy="16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59" name="Rectangle 646"/>
            <p:cNvSpPr>
              <a:spLocks noChangeArrowheads="1"/>
            </p:cNvSpPr>
            <p:nvPr/>
          </p:nvSpPr>
          <p:spPr bwMode="auto">
            <a:xfrm>
              <a:off x="1735" y="3565"/>
              <a:ext cx="265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0" name="Rectangle 648"/>
            <p:cNvSpPr>
              <a:spLocks noChangeArrowheads="1"/>
            </p:cNvSpPr>
            <p:nvPr/>
          </p:nvSpPr>
          <p:spPr bwMode="auto">
            <a:xfrm>
              <a:off x="1991" y="3440"/>
              <a:ext cx="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1" name="Rectangle 649"/>
            <p:cNvSpPr>
              <a:spLocks noChangeArrowheads="1"/>
            </p:cNvSpPr>
            <p:nvPr/>
          </p:nvSpPr>
          <p:spPr bwMode="auto">
            <a:xfrm>
              <a:off x="1971" y="3544"/>
              <a:ext cx="128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2" name="Rectangle 650"/>
            <p:cNvSpPr>
              <a:spLocks noChangeArrowheads="1"/>
            </p:cNvSpPr>
            <p:nvPr/>
          </p:nvSpPr>
          <p:spPr bwMode="auto">
            <a:xfrm>
              <a:off x="1971" y="3542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3" name="Rectangle 651"/>
            <p:cNvSpPr>
              <a:spLocks noChangeArrowheads="1"/>
            </p:cNvSpPr>
            <p:nvPr/>
          </p:nvSpPr>
          <p:spPr bwMode="auto">
            <a:xfrm>
              <a:off x="2099" y="3544"/>
              <a:ext cx="9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4" name="Rectangle 652"/>
            <p:cNvSpPr>
              <a:spLocks noChangeArrowheads="1"/>
            </p:cNvSpPr>
            <p:nvPr/>
          </p:nvSpPr>
          <p:spPr bwMode="auto">
            <a:xfrm>
              <a:off x="1968" y="3675"/>
              <a:ext cx="135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5" name="Rectangle 653"/>
            <p:cNvSpPr>
              <a:spLocks noChangeArrowheads="1"/>
            </p:cNvSpPr>
            <p:nvPr/>
          </p:nvSpPr>
          <p:spPr bwMode="auto">
            <a:xfrm>
              <a:off x="1968" y="3542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6" name="Rectangle 654"/>
            <p:cNvSpPr>
              <a:spLocks noChangeArrowheads="1"/>
            </p:cNvSpPr>
            <p:nvPr/>
          </p:nvSpPr>
          <p:spPr bwMode="auto">
            <a:xfrm>
              <a:off x="1542" y="1555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7" name="Rectangle 655"/>
            <p:cNvSpPr>
              <a:spLocks noChangeArrowheads="1"/>
            </p:cNvSpPr>
            <p:nvPr/>
          </p:nvSpPr>
          <p:spPr bwMode="auto">
            <a:xfrm>
              <a:off x="1714" y="1471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8" name="Rectangle 656"/>
            <p:cNvSpPr>
              <a:spLocks noChangeArrowheads="1"/>
            </p:cNvSpPr>
            <p:nvPr/>
          </p:nvSpPr>
          <p:spPr bwMode="auto">
            <a:xfrm>
              <a:off x="1542" y="1471"/>
              <a:ext cx="172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69" name="Rectangle 657"/>
            <p:cNvSpPr>
              <a:spLocks noChangeArrowheads="1"/>
            </p:cNvSpPr>
            <p:nvPr/>
          </p:nvSpPr>
          <p:spPr bwMode="auto">
            <a:xfrm>
              <a:off x="1542" y="2007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0" name="Rectangle 658"/>
            <p:cNvSpPr>
              <a:spLocks noChangeArrowheads="1"/>
            </p:cNvSpPr>
            <p:nvPr/>
          </p:nvSpPr>
          <p:spPr bwMode="auto">
            <a:xfrm>
              <a:off x="1542" y="1739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1" name="Rectangle 659"/>
            <p:cNvSpPr>
              <a:spLocks noChangeArrowheads="1"/>
            </p:cNvSpPr>
            <p:nvPr/>
          </p:nvSpPr>
          <p:spPr bwMode="auto">
            <a:xfrm>
              <a:off x="1542" y="1823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2" name="Rectangle 660"/>
            <p:cNvSpPr>
              <a:spLocks noChangeArrowheads="1"/>
            </p:cNvSpPr>
            <p:nvPr/>
          </p:nvSpPr>
          <p:spPr bwMode="auto">
            <a:xfrm>
              <a:off x="1542" y="2544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3" name="Rectangle 661"/>
            <p:cNvSpPr>
              <a:spLocks noChangeArrowheads="1"/>
            </p:cNvSpPr>
            <p:nvPr/>
          </p:nvSpPr>
          <p:spPr bwMode="auto">
            <a:xfrm>
              <a:off x="1542" y="2628"/>
              <a:ext cx="169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4" name="Rectangle 662"/>
            <p:cNvSpPr>
              <a:spLocks noChangeArrowheads="1"/>
            </p:cNvSpPr>
            <p:nvPr/>
          </p:nvSpPr>
          <p:spPr bwMode="auto">
            <a:xfrm>
              <a:off x="1542" y="2275"/>
              <a:ext cx="19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5" name="Rectangle 663"/>
            <p:cNvSpPr>
              <a:spLocks noChangeArrowheads="1"/>
            </p:cNvSpPr>
            <p:nvPr/>
          </p:nvSpPr>
          <p:spPr bwMode="auto">
            <a:xfrm>
              <a:off x="1542" y="2360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6" name="Rectangle 664"/>
            <p:cNvSpPr>
              <a:spLocks noChangeArrowheads="1"/>
            </p:cNvSpPr>
            <p:nvPr/>
          </p:nvSpPr>
          <p:spPr bwMode="auto">
            <a:xfrm>
              <a:off x="1542" y="2092"/>
              <a:ext cx="19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7" name="Rectangle 665"/>
            <p:cNvSpPr>
              <a:spLocks noChangeArrowheads="1"/>
            </p:cNvSpPr>
            <p:nvPr/>
          </p:nvSpPr>
          <p:spPr bwMode="auto">
            <a:xfrm>
              <a:off x="1542" y="3565"/>
              <a:ext cx="19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8" name="Rectangle 666"/>
            <p:cNvSpPr>
              <a:spLocks noChangeArrowheads="1"/>
            </p:cNvSpPr>
            <p:nvPr/>
          </p:nvSpPr>
          <p:spPr bwMode="auto">
            <a:xfrm>
              <a:off x="1542" y="3296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79" name="Rectangle 667"/>
            <p:cNvSpPr>
              <a:spLocks noChangeArrowheads="1"/>
            </p:cNvSpPr>
            <p:nvPr/>
          </p:nvSpPr>
          <p:spPr bwMode="auto">
            <a:xfrm>
              <a:off x="1542" y="3384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0" name="Rectangle 668"/>
            <p:cNvSpPr>
              <a:spLocks noChangeArrowheads="1"/>
            </p:cNvSpPr>
            <p:nvPr/>
          </p:nvSpPr>
          <p:spPr bwMode="auto">
            <a:xfrm>
              <a:off x="1542" y="3652"/>
              <a:ext cx="19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1" name="Rectangle 669"/>
            <p:cNvSpPr>
              <a:spLocks noChangeArrowheads="1"/>
            </p:cNvSpPr>
            <p:nvPr/>
          </p:nvSpPr>
          <p:spPr bwMode="auto">
            <a:xfrm>
              <a:off x="1711" y="1719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2" name="Rectangle 670"/>
            <p:cNvSpPr>
              <a:spLocks noChangeArrowheads="1"/>
            </p:cNvSpPr>
            <p:nvPr/>
          </p:nvSpPr>
          <p:spPr bwMode="auto">
            <a:xfrm>
              <a:off x="1711" y="1716"/>
              <a:ext cx="141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3" name="Rectangle 671"/>
            <p:cNvSpPr>
              <a:spLocks noChangeArrowheads="1"/>
            </p:cNvSpPr>
            <p:nvPr/>
          </p:nvSpPr>
          <p:spPr bwMode="auto">
            <a:xfrm>
              <a:off x="1842" y="1719"/>
              <a:ext cx="10" cy="13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4" name="Rectangle 672"/>
            <p:cNvSpPr>
              <a:spLocks noChangeArrowheads="1"/>
            </p:cNvSpPr>
            <p:nvPr/>
          </p:nvSpPr>
          <p:spPr bwMode="auto">
            <a:xfrm>
              <a:off x="1709" y="1847"/>
              <a:ext cx="13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5" name="Rectangle 673"/>
            <p:cNvSpPr>
              <a:spLocks noChangeArrowheads="1"/>
            </p:cNvSpPr>
            <p:nvPr/>
          </p:nvSpPr>
          <p:spPr bwMode="auto">
            <a:xfrm>
              <a:off x="1709" y="1716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6" name="Rectangle 674"/>
            <p:cNvSpPr>
              <a:spLocks noChangeArrowheads="1"/>
            </p:cNvSpPr>
            <p:nvPr/>
          </p:nvSpPr>
          <p:spPr bwMode="auto">
            <a:xfrm>
              <a:off x="1711" y="2255"/>
              <a:ext cx="131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7" name="Rectangle 675"/>
            <p:cNvSpPr>
              <a:spLocks noChangeArrowheads="1"/>
            </p:cNvSpPr>
            <p:nvPr/>
          </p:nvSpPr>
          <p:spPr bwMode="auto">
            <a:xfrm>
              <a:off x="1711" y="2252"/>
              <a:ext cx="14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8" name="Rectangle 676"/>
            <p:cNvSpPr>
              <a:spLocks noChangeArrowheads="1"/>
            </p:cNvSpPr>
            <p:nvPr/>
          </p:nvSpPr>
          <p:spPr bwMode="auto">
            <a:xfrm>
              <a:off x="1842" y="2255"/>
              <a:ext cx="10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89" name="Rectangle 677"/>
            <p:cNvSpPr>
              <a:spLocks noChangeArrowheads="1"/>
            </p:cNvSpPr>
            <p:nvPr/>
          </p:nvSpPr>
          <p:spPr bwMode="auto">
            <a:xfrm>
              <a:off x="1709" y="2384"/>
              <a:ext cx="13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0" name="Rectangle 678"/>
            <p:cNvSpPr>
              <a:spLocks noChangeArrowheads="1"/>
            </p:cNvSpPr>
            <p:nvPr/>
          </p:nvSpPr>
          <p:spPr bwMode="auto">
            <a:xfrm>
              <a:off x="1709" y="2252"/>
              <a:ext cx="8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1" name="Rectangle 679"/>
            <p:cNvSpPr>
              <a:spLocks noChangeArrowheads="1"/>
            </p:cNvSpPr>
            <p:nvPr/>
          </p:nvSpPr>
          <p:spPr bwMode="auto">
            <a:xfrm>
              <a:off x="1711" y="2523"/>
              <a:ext cx="131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2" name="Rectangle 680"/>
            <p:cNvSpPr>
              <a:spLocks noChangeArrowheads="1"/>
            </p:cNvSpPr>
            <p:nvPr/>
          </p:nvSpPr>
          <p:spPr bwMode="auto">
            <a:xfrm>
              <a:off x="1711" y="2521"/>
              <a:ext cx="141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3" name="Rectangle 681"/>
            <p:cNvSpPr>
              <a:spLocks noChangeArrowheads="1"/>
            </p:cNvSpPr>
            <p:nvPr/>
          </p:nvSpPr>
          <p:spPr bwMode="auto">
            <a:xfrm>
              <a:off x="1842" y="2523"/>
              <a:ext cx="10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4" name="Rectangle 682"/>
            <p:cNvSpPr>
              <a:spLocks noChangeArrowheads="1"/>
            </p:cNvSpPr>
            <p:nvPr/>
          </p:nvSpPr>
          <p:spPr bwMode="auto">
            <a:xfrm>
              <a:off x="1709" y="2652"/>
              <a:ext cx="13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5" name="Rectangle 683"/>
            <p:cNvSpPr>
              <a:spLocks noChangeArrowheads="1"/>
            </p:cNvSpPr>
            <p:nvPr/>
          </p:nvSpPr>
          <p:spPr bwMode="auto">
            <a:xfrm>
              <a:off x="1709" y="2521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6" name="Rectangle 684"/>
            <p:cNvSpPr>
              <a:spLocks noChangeArrowheads="1"/>
            </p:cNvSpPr>
            <p:nvPr/>
          </p:nvSpPr>
          <p:spPr bwMode="auto">
            <a:xfrm>
              <a:off x="1711" y="1987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7" name="Rectangle 685"/>
            <p:cNvSpPr>
              <a:spLocks noChangeArrowheads="1"/>
            </p:cNvSpPr>
            <p:nvPr/>
          </p:nvSpPr>
          <p:spPr bwMode="auto">
            <a:xfrm>
              <a:off x="1711" y="1984"/>
              <a:ext cx="14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8" name="Rectangle 686"/>
            <p:cNvSpPr>
              <a:spLocks noChangeArrowheads="1"/>
            </p:cNvSpPr>
            <p:nvPr/>
          </p:nvSpPr>
          <p:spPr bwMode="auto">
            <a:xfrm>
              <a:off x="1842" y="1987"/>
              <a:ext cx="10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299" name="Rectangle 687"/>
            <p:cNvSpPr>
              <a:spLocks noChangeArrowheads="1"/>
            </p:cNvSpPr>
            <p:nvPr/>
          </p:nvSpPr>
          <p:spPr bwMode="auto">
            <a:xfrm>
              <a:off x="1709" y="2115"/>
              <a:ext cx="13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00" name="Rectangle 688"/>
            <p:cNvSpPr>
              <a:spLocks noChangeArrowheads="1"/>
            </p:cNvSpPr>
            <p:nvPr/>
          </p:nvSpPr>
          <p:spPr bwMode="auto">
            <a:xfrm>
              <a:off x="1709" y="1984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01" name="Rectangle 691"/>
            <p:cNvSpPr>
              <a:spLocks noChangeArrowheads="1"/>
            </p:cNvSpPr>
            <p:nvPr/>
          </p:nvSpPr>
          <p:spPr bwMode="auto">
            <a:xfrm>
              <a:off x="1732" y="2655"/>
              <a:ext cx="8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02" name="Rectangle 694"/>
            <p:cNvSpPr>
              <a:spLocks noChangeArrowheads="1"/>
            </p:cNvSpPr>
            <p:nvPr/>
          </p:nvSpPr>
          <p:spPr bwMode="auto">
            <a:xfrm>
              <a:off x="1819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03" name="Freeform 695"/>
            <p:cNvSpPr>
              <a:spLocks/>
            </p:cNvSpPr>
            <p:nvPr/>
          </p:nvSpPr>
          <p:spPr bwMode="auto">
            <a:xfrm>
              <a:off x="1770" y="3019"/>
              <a:ext cx="17" cy="15"/>
            </a:xfrm>
            <a:custGeom>
              <a:avLst/>
              <a:gdLst>
                <a:gd name="T0" fmla="*/ 0 w 35"/>
                <a:gd name="T1" fmla="*/ 0 h 30"/>
                <a:gd name="T2" fmla="*/ 0 w 35"/>
                <a:gd name="T3" fmla="*/ 1 h 30"/>
                <a:gd name="T4" fmla="*/ 0 w 35"/>
                <a:gd name="T5" fmla="*/ 1 h 30"/>
                <a:gd name="T6" fmla="*/ 0 w 35"/>
                <a:gd name="T7" fmla="*/ 1 h 30"/>
                <a:gd name="T8" fmla="*/ 0 w 35"/>
                <a:gd name="T9" fmla="*/ 1 h 30"/>
                <a:gd name="T10" fmla="*/ 0 w 35"/>
                <a:gd name="T11" fmla="*/ 1 h 30"/>
                <a:gd name="T12" fmla="*/ 0 w 35"/>
                <a:gd name="T13" fmla="*/ 1 h 30"/>
                <a:gd name="T14" fmla="*/ 0 w 35"/>
                <a:gd name="T15" fmla="*/ 1 h 30"/>
                <a:gd name="T16" fmla="*/ 0 w 35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30"/>
                <a:gd name="T29" fmla="*/ 35 w 35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30">
                  <a:moveTo>
                    <a:pt x="18" y="0"/>
                  </a:moveTo>
                  <a:lnTo>
                    <a:pt x="6" y="6"/>
                  </a:lnTo>
                  <a:lnTo>
                    <a:pt x="0" y="19"/>
                  </a:lnTo>
                  <a:lnTo>
                    <a:pt x="6" y="25"/>
                  </a:lnTo>
                  <a:lnTo>
                    <a:pt x="18" y="30"/>
                  </a:lnTo>
                  <a:lnTo>
                    <a:pt x="29" y="25"/>
                  </a:lnTo>
                  <a:lnTo>
                    <a:pt x="35" y="19"/>
                  </a:lnTo>
                  <a:lnTo>
                    <a:pt x="29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04" name="Freeform 696"/>
            <p:cNvSpPr>
              <a:spLocks/>
            </p:cNvSpPr>
            <p:nvPr/>
          </p:nvSpPr>
          <p:spPr bwMode="auto">
            <a:xfrm>
              <a:off x="1767" y="3014"/>
              <a:ext cx="26" cy="23"/>
            </a:xfrm>
            <a:custGeom>
              <a:avLst/>
              <a:gdLst>
                <a:gd name="T0" fmla="*/ 1 w 52"/>
                <a:gd name="T1" fmla="*/ 0 h 47"/>
                <a:gd name="T2" fmla="*/ 1 w 52"/>
                <a:gd name="T3" fmla="*/ 0 h 47"/>
                <a:gd name="T4" fmla="*/ 1 w 52"/>
                <a:gd name="T5" fmla="*/ 0 h 47"/>
                <a:gd name="T6" fmla="*/ 1 w 52"/>
                <a:gd name="T7" fmla="*/ 0 h 47"/>
                <a:gd name="T8" fmla="*/ 1 w 52"/>
                <a:gd name="T9" fmla="*/ 0 h 47"/>
                <a:gd name="T10" fmla="*/ 1 w 52"/>
                <a:gd name="T11" fmla="*/ 0 h 47"/>
                <a:gd name="T12" fmla="*/ 1 w 52"/>
                <a:gd name="T13" fmla="*/ 0 h 47"/>
                <a:gd name="T14" fmla="*/ 1 w 52"/>
                <a:gd name="T15" fmla="*/ 0 h 47"/>
                <a:gd name="T16" fmla="*/ 1 w 52"/>
                <a:gd name="T17" fmla="*/ 0 h 47"/>
                <a:gd name="T18" fmla="*/ 1 w 52"/>
                <a:gd name="T19" fmla="*/ 0 h 47"/>
                <a:gd name="T20" fmla="*/ 1 w 52"/>
                <a:gd name="T21" fmla="*/ 0 h 47"/>
                <a:gd name="T22" fmla="*/ 1 w 52"/>
                <a:gd name="T23" fmla="*/ 0 h 47"/>
                <a:gd name="T24" fmla="*/ 1 w 52"/>
                <a:gd name="T25" fmla="*/ 0 h 47"/>
                <a:gd name="T26" fmla="*/ 1 w 52"/>
                <a:gd name="T27" fmla="*/ 0 h 47"/>
                <a:gd name="T28" fmla="*/ 1 w 52"/>
                <a:gd name="T29" fmla="*/ 0 h 47"/>
                <a:gd name="T30" fmla="*/ 1 w 52"/>
                <a:gd name="T31" fmla="*/ 0 h 47"/>
                <a:gd name="T32" fmla="*/ 1 w 52"/>
                <a:gd name="T33" fmla="*/ 0 h 47"/>
                <a:gd name="T34" fmla="*/ 1 w 52"/>
                <a:gd name="T35" fmla="*/ 0 h 47"/>
                <a:gd name="T36" fmla="*/ 1 w 52"/>
                <a:gd name="T37" fmla="*/ 0 h 47"/>
                <a:gd name="T38" fmla="*/ 1 w 52"/>
                <a:gd name="T39" fmla="*/ 0 h 47"/>
                <a:gd name="T40" fmla="*/ 1 w 52"/>
                <a:gd name="T41" fmla="*/ 0 h 47"/>
                <a:gd name="T42" fmla="*/ 1 w 52"/>
                <a:gd name="T43" fmla="*/ 0 h 47"/>
                <a:gd name="T44" fmla="*/ 1 w 52"/>
                <a:gd name="T45" fmla="*/ 0 h 47"/>
                <a:gd name="T46" fmla="*/ 1 w 52"/>
                <a:gd name="T47" fmla="*/ 0 h 47"/>
                <a:gd name="T48" fmla="*/ 1 w 52"/>
                <a:gd name="T49" fmla="*/ 0 h 47"/>
                <a:gd name="T50" fmla="*/ 1 w 52"/>
                <a:gd name="T51" fmla="*/ 0 h 47"/>
                <a:gd name="T52" fmla="*/ 1 w 52"/>
                <a:gd name="T53" fmla="*/ 0 h 47"/>
                <a:gd name="T54" fmla="*/ 1 w 52"/>
                <a:gd name="T55" fmla="*/ 0 h 47"/>
                <a:gd name="T56" fmla="*/ 1 w 52"/>
                <a:gd name="T57" fmla="*/ 0 h 47"/>
                <a:gd name="T58" fmla="*/ 1 w 52"/>
                <a:gd name="T59" fmla="*/ 0 h 47"/>
                <a:gd name="T60" fmla="*/ 1 w 52"/>
                <a:gd name="T61" fmla="*/ 0 h 47"/>
                <a:gd name="T62" fmla="*/ 1 w 52"/>
                <a:gd name="T63" fmla="*/ 0 h 47"/>
                <a:gd name="T64" fmla="*/ 1 w 52"/>
                <a:gd name="T65" fmla="*/ 0 h 47"/>
                <a:gd name="T66" fmla="*/ 1 w 52"/>
                <a:gd name="T67" fmla="*/ 0 h 47"/>
                <a:gd name="T68" fmla="*/ 1 w 52"/>
                <a:gd name="T69" fmla="*/ 0 h 47"/>
                <a:gd name="T70" fmla="*/ 1 w 52"/>
                <a:gd name="T71" fmla="*/ 0 h 47"/>
                <a:gd name="T72" fmla="*/ 1 w 52"/>
                <a:gd name="T73" fmla="*/ 0 h 47"/>
                <a:gd name="T74" fmla="*/ 1 w 52"/>
                <a:gd name="T75" fmla="*/ 0 h 47"/>
                <a:gd name="T76" fmla="*/ 1 w 52"/>
                <a:gd name="T77" fmla="*/ 0 h 47"/>
                <a:gd name="T78" fmla="*/ 1 w 52"/>
                <a:gd name="T79" fmla="*/ 0 h 47"/>
                <a:gd name="T80" fmla="*/ 1 w 52"/>
                <a:gd name="T81" fmla="*/ 0 h 47"/>
                <a:gd name="T82" fmla="*/ 0 w 52"/>
                <a:gd name="T83" fmla="*/ 0 h 47"/>
                <a:gd name="T84" fmla="*/ 0 w 52"/>
                <a:gd name="T85" fmla="*/ 0 h 47"/>
                <a:gd name="T86" fmla="*/ 0 w 52"/>
                <a:gd name="T87" fmla="*/ 0 h 47"/>
                <a:gd name="T88" fmla="*/ 1 w 52"/>
                <a:gd name="T89" fmla="*/ 0 h 47"/>
                <a:gd name="T90" fmla="*/ 1 w 52"/>
                <a:gd name="T91" fmla="*/ 0 h 47"/>
                <a:gd name="T92" fmla="*/ 1 w 52"/>
                <a:gd name="T93" fmla="*/ 0 h 47"/>
                <a:gd name="T94" fmla="*/ 1 w 52"/>
                <a:gd name="T95" fmla="*/ 0 h 47"/>
                <a:gd name="T96" fmla="*/ 1 w 52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7"/>
                <a:gd name="T149" fmla="*/ 52 w 52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7">
                  <a:moveTo>
                    <a:pt x="29" y="17"/>
                  </a:moveTo>
                  <a:lnTo>
                    <a:pt x="17" y="24"/>
                  </a:lnTo>
                  <a:lnTo>
                    <a:pt x="23" y="17"/>
                  </a:lnTo>
                  <a:lnTo>
                    <a:pt x="17" y="30"/>
                  </a:lnTo>
                  <a:lnTo>
                    <a:pt x="11" y="24"/>
                  </a:lnTo>
                  <a:lnTo>
                    <a:pt x="17" y="30"/>
                  </a:lnTo>
                  <a:lnTo>
                    <a:pt x="17" y="24"/>
                  </a:lnTo>
                  <a:lnTo>
                    <a:pt x="29" y="30"/>
                  </a:lnTo>
                  <a:lnTo>
                    <a:pt x="23" y="30"/>
                  </a:lnTo>
                  <a:lnTo>
                    <a:pt x="34" y="24"/>
                  </a:lnTo>
                  <a:lnTo>
                    <a:pt x="29" y="30"/>
                  </a:lnTo>
                  <a:lnTo>
                    <a:pt x="34" y="24"/>
                  </a:lnTo>
                  <a:lnTo>
                    <a:pt x="34" y="30"/>
                  </a:lnTo>
                  <a:lnTo>
                    <a:pt x="29" y="17"/>
                  </a:lnTo>
                  <a:lnTo>
                    <a:pt x="34" y="24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0" y="7"/>
                  </a:lnTo>
                  <a:lnTo>
                    <a:pt x="46" y="11"/>
                  </a:lnTo>
                  <a:lnTo>
                    <a:pt x="52" y="24"/>
                  </a:lnTo>
                  <a:lnTo>
                    <a:pt x="46" y="36"/>
                  </a:lnTo>
                  <a:lnTo>
                    <a:pt x="40" y="41"/>
                  </a:lnTo>
                  <a:lnTo>
                    <a:pt x="29" y="47"/>
                  </a:lnTo>
                  <a:lnTo>
                    <a:pt x="23" y="47"/>
                  </a:lnTo>
                  <a:lnTo>
                    <a:pt x="11" y="41"/>
                  </a:lnTo>
                  <a:lnTo>
                    <a:pt x="5" y="41"/>
                  </a:lnTo>
                  <a:lnTo>
                    <a:pt x="0" y="36"/>
                  </a:lnTo>
                  <a:lnTo>
                    <a:pt x="0" y="24"/>
                  </a:lnTo>
                  <a:lnTo>
                    <a:pt x="5" y="11"/>
                  </a:lnTo>
                  <a:lnTo>
                    <a:pt x="11" y="7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05" name="Freeform 697"/>
            <p:cNvSpPr>
              <a:spLocks/>
            </p:cNvSpPr>
            <p:nvPr/>
          </p:nvSpPr>
          <p:spPr bwMode="auto">
            <a:xfrm>
              <a:off x="1779" y="3014"/>
              <a:ext cx="3" cy="8"/>
            </a:xfrm>
            <a:custGeom>
              <a:avLst/>
              <a:gdLst>
                <a:gd name="T0" fmla="*/ 0 w 6"/>
                <a:gd name="T1" fmla="*/ 0 h 17"/>
                <a:gd name="T2" fmla="*/ 0 w 6"/>
                <a:gd name="T3" fmla="*/ 0 h 17"/>
                <a:gd name="T4" fmla="*/ 1 w 6"/>
                <a:gd name="T5" fmla="*/ 0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06" name="Freeform 698"/>
            <p:cNvSpPr>
              <a:spLocks/>
            </p:cNvSpPr>
            <p:nvPr/>
          </p:nvSpPr>
          <p:spPr bwMode="auto">
            <a:xfrm>
              <a:off x="1770" y="2961"/>
              <a:ext cx="17" cy="14"/>
            </a:xfrm>
            <a:custGeom>
              <a:avLst/>
              <a:gdLst>
                <a:gd name="T0" fmla="*/ 0 w 35"/>
                <a:gd name="T1" fmla="*/ 0 h 29"/>
                <a:gd name="T2" fmla="*/ 0 w 35"/>
                <a:gd name="T3" fmla="*/ 0 h 29"/>
                <a:gd name="T4" fmla="*/ 0 w 35"/>
                <a:gd name="T5" fmla="*/ 0 h 29"/>
                <a:gd name="T6" fmla="*/ 0 w 35"/>
                <a:gd name="T7" fmla="*/ 0 h 29"/>
                <a:gd name="T8" fmla="*/ 0 w 35"/>
                <a:gd name="T9" fmla="*/ 0 h 29"/>
                <a:gd name="T10" fmla="*/ 0 w 35"/>
                <a:gd name="T11" fmla="*/ 0 h 29"/>
                <a:gd name="T12" fmla="*/ 0 w 35"/>
                <a:gd name="T13" fmla="*/ 0 h 29"/>
                <a:gd name="T14" fmla="*/ 0 w 35"/>
                <a:gd name="T15" fmla="*/ 0 h 29"/>
                <a:gd name="T16" fmla="*/ 0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8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8" y="29"/>
                  </a:ln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07" name="Freeform 699"/>
            <p:cNvSpPr>
              <a:spLocks/>
            </p:cNvSpPr>
            <p:nvPr/>
          </p:nvSpPr>
          <p:spPr bwMode="auto">
            <a:xfrm>
              <a:off x="1767" y="2955"/>
              <a:ext cx="26" cy="23"/>
            </a:xfrm>
            <a:custGeom>
              <a:avLst/>
              <a:gdLst>
                <a:gd name="T0" fmla="*/ 1 w 52"/>
                <a:gd name="T1" fmla="*/ 1 h 46"/>
                <a:gd name="T2" fmla="*/ 1 w 52"/>
                <a:gd name="T3" fmla="*/ 1 h 46"/>
                <a:gd name="T4" fmla="*/ 1 w 52"/>
                <a:gd name="T5" fmla="*/ 1 h 46"/>
                <a:gd name="T6" fmla="*/ 1 w 52"/>
                <a:gd name="T7" fmla="*/ 1 h 46"/>
                <a:gd name="T8" fmla="*/ 1 w 52"/>
                <a:gd name="T9" fmla="*/ 1 h 46"/>
                <a:gd name="T10" fmla="*/ 1 w 52"/>
                <a:gd name="T11" fmla="*/ 1 h 46"/>
                <a:gd name="T12" fmla="*/ 1 w 52"/>
                <a:gd name="T13" fmla="*/ 1 h 46"/>
                <a:gd name="T14" fmla="*/ 1 w 52"/>
                <a:gd name="T15" fmla="*/ 1 h 46"/>
                <a:gd name="T16" fmla="*/ 1 w 52"/>
                <a:gd name="T17" fmla="*/ 1 h 46"/>
                <a:gd name="T18" fmla="*/ 1 w 52"/>
                <a:gd name="T19" fmla="*/ 1 h 46"/>
                <a:gd name="T20" fmla="*/ 1 w 52"/>
                <a:gd name="T21" fmla="*/ 1 h 46"/>
                <a:gd name="T22" fmla="*/ 1 w 52"/>
                <a:gd name="T23" fmla="*/ 1 h 46"/>
                <a:gd name="T24" fmla="*/ 1 w 52"/>
                <a:gd name="T25" fmla="*/ 1 h 46"/>
                <a:gd name="T26" fmla="*/ 1 w 52"/>
                <a:gd name="T27" fmla="*/ 1 h 46"/>
                <a:gd name="T28" fmla="*/ 1 w 52"/>
                <a:gd name="T29" fmla="*/ 1 h 46"/>
                <a:gd name="T30" fmla="*/ 1 w 52"/>
                <a:gd name="T31" fmla="*/ 1 h 46"/>
                <a:gd name="T32" fmla="*/ 1 w 52"/>
                <a:gd name="T33" fmla="*/ 1 h 46"/>
                <a:gd name="T34" fmla="*/ 1 w 52"/>
                <a:gd name="T35" fmla="*/ 1 h 46"/>
                <a:gd name="T36" fmla="*/ 1 w 52"/>
                <a:gd name="T37" fmla="*/ 1 h 46"/>
                <a:gd name="T38" fmla="*/ 1 w 52"/>
                <a:gd name="T39" fmla="*/ 1 h 46"/>
                <a:gd name="T40" fmla="*/ 1 w 52"/>
                <a:gd name="T41" fmla="*/ 1 h 46"/>
                <a:gd name="T42" fmla="*/ 1 w 52"/>
                <a:gd name="T43" fmla="*/ 1 h 46"/>
                <a:gd name="T44" fmla="*/ 1 w 52"/>
                <a:gd name="T45" fmla="*/ 1 h 46"/>
                <a:gd name="T46" fmla="*/ 1 w 52"/>
                <a:gd name="T47" fmla="*/ 1 h 46"/>
                <a:gd name="T48" fmla="*/ 1 w 52"/>
                <a:gd name="T49" fmla="*/ 0 h 46"/>
                <a:gd name="T50" fmla="*/ 1 w 52"/>
                <a:gd name="T51" fmla="*/ 0 h 46"/>
                <a:gd name="T52" fmla="*/ 1 w 52"/>
                <a:gd name="T53" fmla="*/ 1 h 46"/>
                <a:gd name="T54" fmla="*/ 1 w 52"/>
                <a:gd name="T55" fmla="*/ 1 h 46"/>
                <a:gd name="T56" fmla="*/ 1 w 52"/>
                <a:gd name="T57" fmla="*/ 1 h 46"/>
                <a:gd name="T58" fmla="*/ 1 w 52"/>
                <a:gd name="T59" fmla="*/ 1 h 46"/>
                <a:gd name="T60" fmla="*/ 1 w 52"/>
                <a:gd name="T61" fmla="*/ 1 h 46"/>
                <a:gd name="T62" fmla="*/ 1 w 52"/>
                <a:gd name="T63" fmla="*/ 1 h 46"/>
                <a:gd name="T64" fmla="*/ 1 w 52"/>
                <a:gd name="T65" fmla="*/ 1 h 46"/>
                <a:gd name="T66" fmla="*/ 1 w 52"/>
                <a:gd name="T67" fmla="*/ 1 h 46"/>
                <a:gd name="T68" fmla="*/ 1 w 52"/>
                <a:gd name="T69" fmla="*/ 1 h 46"/>
                <a:gd name="T70" fmla="*/ 1 w 52"/>
                <a:gd name="T71" fmla="*/ 1 h 46"/>
                <a:gd name="T72" fmla="*/ 1 w 52"/>
                <a:gd name="T73" fmla="*/ 1 h 46"/>
                <a:gd name="T74" fmla="*/ 1 w 52"/>
                <a:gd name="T75" fmla="*/ 1 h 46"/>
                <a:gd name="T76" fmla="*/ 1 w 52"/>
                <a:gd name="T77" fmla="*/ 1 h 46"/>
                <a:gd name="T78" fmla="*/ 1 w 52"/>
                <a:gd name="T79" fmla="*/ 1 h 46"/>
                <a:gd name="T80" fmla="*/ 1 w 52"/>
                <a:gd name="T81" fmla="*/ 1 h 46"/>
                <a:gd name="T82" fmla="*/ 0 w 52"/>
                <a:gd name="T83" fmla="*/ 1 h 46"/>
                <a:gd name="T84" fmla="*/ 0 w 52"/>
                <a:gd name="T85" fmla="*/ 1 h 46"/>
                <a:gd name="T86" fmla="*/ 0 w 52"/>
                <a:gd name="T87" fmla="*/ 1 h 46"/>
                <a:gd name="T88" fmla="*/ 1 w 52"/>
                <a:gd name="T89" fmla="*/ 1 h 46"/>
                <a:gd name="T90" fmla="*/ 1 w 52"/>
                <a:gd name="T91" fmla="*/ 1 h 46"/>
                <a:gd name="T92" fmla="*/ 1 w 52"/>
                <a:gd name="T93" fmla="*/ 1 h 46"/>
                <a:gd name="T94" fmla="*/ 1 w 52"/>
                <a:gd name="T95" fmla="*/ 0 h 46"/>
                <a:gd name="T96" fmla="*/ 1 w 52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6"/>
                <a:gd name="T149" fmla="*/ 52 w 52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6">
                  <a:moveTo>
                    <a:pt x="29" y="17"/>
                  </a:moveTo>
                  <a:lnTo>
                    <a:pt x="17" y="23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1" y="23"/>
                  </a:lnTo>
                  <a:lnTo>
                    <a:pt x="17" y="29"/>
                  </a:lnTo>
                  <a:lnTo>
                    <a:pt x="17" y="23"/>
                  </a:lnTo>
                  <a:lnTo>
                    <a:pt x="29" y="29"/>
                  </a:lnTo>
                  <a:lnTo>
                    <a:pt x="23" y="29"/>
                  </a:lnTo>
                  <a:lnTo>
                    <a:pt x="34" y="23"/>
                  </a:lnTo>
                  <a:lnTo>
                    <a:pt x="29" y="29"/>
                  </a:lnTo>
                  <a:lnTo>
                    <a:pt x="34" y="23"/>
                  </a:lnTo>
                  <a:lnTo>
                    <a:pt x="34" y="29"/>
                  </a:lnTo>
                  <a:lnTo>
                    <a:pt x="29" y="17"/>
                  </a:lnTo>
                  <a:lnTo>
                    <a:pt x="34" y="23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0" y="6"/>
                  </a:lnTo>
                  <a:lnTo>
                    <a:pt x="46" y="11"/>
                  </a:lnTo>
                  <a:lnTo>
                    <a:pt x="52" y="23"/>
                  </a:lnTo>
                  <a:lnTo>
                    <a:pt x="46" y="35"/>
                  </a:lnTo>
                  <a:lnTo>
                    <a:pt x="40" y="40"/>
                  </a:lnTo>
                  <a:lnTo>
                    <a:pt x="29" y="46"/>
                  </a:lnTo>
                  <a:lnTo>
                    <a:pt x="23" y="46"/>
                  </a:lnTo>
                  <a:lnTo>
                    <a:pt x="11" y="40"/>
                  </a:lnTo>
                  <a:lnTo>
                    <a:pt x="5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5" y="11"/>
                  </a:lnTo>
                  <a:lnTo>
                    <a:pt x="11" y="6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08" name="Freeform 700"/>
            <p:cNvSpPr>
              <a:spLocks/>
            </p:cNvSpPr>
            <p:nvPr/>
          </p:nvSpPr>
          <p:spPr bwMode="auto">
            <a:xfrm>
              <a:off x="1779" y="2955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09" name="Freeform 701"/>
            <p:cNvSpPr>
              <a:spLocks/>
            </p:cNvSpPr>
            <p:nvPr/>
          </p:nvSpPr>
          <p:spPr bwMode="auto">
            <a:xfrm>
              <a:off x="1770" y="2903"/>
              <a:ext cx="17" cy="14"/>
            </a:xfrm>
            <a:custGeom>
              <a:avLst/>
              <a:gdLst>
                <a:gd name="T0" fmla="*/ 0 w 35"/>
                <a:gd name="T1" fmla="*/ 0 h 29"/>
                <a:gd name="T2" fmla="*/ 0 w 35"/>
                <a:gd name="T3" fmla="*/ 0 h 29"/>
                <a:gd name="T4" fmla="*/ 0 w 35"/>
                <a:gd name="T5" fmla="*/ 0 h 29"/>
                <a:gd name="T6" fmla="*/ 0 w 35"/>
                <a:gd name="T7" fmla="*/ 0 h 29"/>
                <a:gd name="T8" fmla="*/ 0 w 35"/>
                <a:gd name="T9" fmla="*/ 0 h 29"/>
                <a:gd name="T10" fmla="*/ 0 w 35"/>
                <a:gd name="T11" fmla="*/ 0 h 29"/>
                <a:gd name="T12" fmla="*/ 0 w 35"/>
                <a:gd name="T13" fmla="*/ 0 h 29"/>
                <a:gd name="T14" fmla="*/ 0 w 35"/>
                <a:gd name="T15" fmla="*/ 0 h 29"/>
                <a:gd name="T16" fmla="*/ 0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8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8" y="29"/>
                  </a:ln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10" name="Freeform 702"/>
            <p:cNvSpPr>
              <a:spLocks/>
            </p:cNvSpPr>
            <p:nvPr/>
          </p:nvSpPr>
          <p:spPr bwMode="auto">
            <a:xfrm>
              <a:off x="1767" y="2897"/>
              <a:ext cx="26" cy="23"/>
            </a:xfrm>
            <a:custGeom>
              <a:avLst/>
              <a:gdLst>
                <a:gd name="T0" fmla="*/ 1 w 52"/>
                <a:gd name="T1" fmla="*/ 1 h 46"/>
                <a:gd name="T2" fmla="*/ 1 w 52"/>
                <a:gd name="T3" fmla="*/ 1 h 46"/>
                <a:gd name="T4" fmla="*/ 1 w 52"/>
                <a:gd name="T5" fmla="*/ 1 h 46"/>
                <a:gd name="T6" fmla="*/ 1 w 52"/>
                <a:gd name="T7" fmla="*/ 1 h 46"/>
                <a:gd name="T8" fmla="*/ 1 w 52"/>
                <a:gd name="T9" fmla="*/ 1 h 46"/>
                <a:gd name="T10" fmla="*/ 1 w 52"/>
                <a:gd name="T11" fmla="*/ 1 h 46"/>
                <a:gd name="T12" fmla="*/ 1 w 52"/>
                <a:gd name="T13" fmla="*/ 1 h 46"/>
                <a:gd name="T14" fmla="*/ 1 w 52"/>
                <a:gd name="T15" fmla="*/ 1 h 46"/>
                <a:gd name="T16" fmla="*/ 1 w 52"/>
                <a:gd name="T17" fmla="*/ 1 h 46"/>
                <a:gd name="T18" fmla="*/ 1 w 52"/>
                <a:gd name="T19" fmla="*/ 1 h 46"/>
                <a:gd name="T20" fmla="*/ 1 w 52"/>
                <a:gd name="T21" fmla="*/ 1 h 46"/>
                <a:gd name="T22" fmla="*/ 1 w 52"/>
                <a:gd name="T23" fmla="*/ 1 h 46"/>
                <a:gd name="T24" fmla="*/ 1 w 52"/>
                <a:gd name="T25" fmla="*/ 1 h 46"/>
                <a:gd name="T26" fmla="*/ 1 w 52"/>
                <a:gd name="T27" fmla="*/ 1 h 46"/>
                <a:gd name="T28" fmla="*/ 1 w 52"/>
                <a:gd name="T29" fmla="*/ 1 h 46"/>
                <a:gd name="T30" fmla="*/ 1 w 52"/>
                <a:gd name="T31" fmla="*/ 1 h 46"/>
                <a:gd name="T32" fmla="*/ 1 w 52"/>
                <a:gd name="T33" fmla="*/ 1 h 46"/>
                <a:gd name="T34" fmla="*/ 1 w 52"/>
                <a:gd name="T35" fmla="*/ 1 h 46"/>
                <a:gd name="T36" fmla="*/ 1 w 52"/>
                <a:gd name="T37" fmla="*/ 1 h 46"/>
                <a:gd name="T38" fmla="*/ 1 w 52"/>
                <a:gd name="T39" fmla="*/ 1 h 46"/>
                <a:gd name="T40" fmla="*/ 1 w 52"/>
                <a:gd name="T41" fmla="*/ 1 h 46"/>
                <a:gd name="T42" fmla="*/ 1 w 52"/>
                <a:gd name="T43" fmla="*/ 1 h 46"/>
                <a:gd name="T44" fmla="*/ 1 w 52"/>
                <a:gd name="T45" fmla="*/ 1 h 46"/>
                <a:gd name="T46" fmla="*/ 1 w 52"/>
                <a:gd name="T47" fmla="*/ 1 h 46"/>
                <a:gd name="T48" fmla="*/ 1 w 52"/>
                <a:gd name="T49" fmla="*/ 0 h 46"/>
                <a:gd name="T50" fmla="*/ 1 w 52"/>
                <a:gd name="T51" fmla="*/ 0 h 46"/>
                <a:gd name="T52" fmla="*/ 1 w 52"/>
                <a:gd name="T53" fmla="*/ 1 h 46"/>
                <a:gd name="T54" fmla="*/ 1 w 52"/>
                <a:gd name="T55" fmla="*/ 1 h 46"/>
                <a:gd name="T56" fmla="*/ 1 w 52"/>
                <a:gd name="T57" fmla="*/ 1 h 46"/>
                <a:gd name="T58" fmla="*/ 1 w 52"/>
                <a:gd name="T59" fmla="*/ 1 h 46"/>
                <a:gd name="T60" fmla="*/ 1 w 52"/>
                <a:gd name="T61" fmla="*/ 1 h 46"/>
                <a:gd name="T62" fmla="*/ 1 w 52"/>
                <a:gd name="T63" fmla="*/ 1 h 46"/>
                <a:gd name="T64" fmla="*/ 1 w 52"/>
                <a:gd name="T65" fmla="*/ 1 h 46"/>
                <a:gd name="T66" fmla="*/ 1 w 52"/>
                <a:gd name="T67" fmla="*/ 1 h 46"/>
                <a:gd name="T68" fmla="*/ 1 w 52"/>
                <a:gd name="T69" fmla="*/ 1 h 46"/>
                <a:gd name="T70" fmla="*/ 1 w 52"/>
                <a:gd name="T71" fmla="*/ 1 h 46"/>
                <a:gd name="T72" fmla="*/ 1 w 52"/>
                <a:gd name="T73" fmla="*/ 1 h 46"/>
                <a:gd name="T74" fmla="*/ 1 w 52"/>
                <a:gd name="T75" fmla="*/ 1 h 46"/>
                <a:gd name="T76" fmla="*/ 1 w 52"/>
                <a:gd name="T77" fmla="*/ 1 h 46"/>
                <a:gd name="T78" fmla="*/ 1 w 52"/>
                <a:gd name="T79" fmla="*/ 1 h 46"/>
                <a:gd name="T80" fmla="*/ 1 w 52"/>
                <a:gd name="T81" fmla="*/ 1 h 46"/>
                <a:gd name="T82" fmla="*/ 0 w 52"/>
                <a:gd name="T83" fmla="*/ 1 h 46"/>
                <a:gd name="T84" fmla="*/ 0 w 52"/>
                <a:gd name="T85" fmla="*/ 1 h 46"/>
                <a:gd name="T86" fmla="*/ 0 w 52"/>
                <a:gd name="T87" fmla="*/ 1 h 46"/>
                <a:gd name="T88" fmla="*/ 1 w 52"/>
                <a:gd name="T89" fmla="*/ 1 h 46"/>
                <a:gd name="T90" fmla="*/ 1 w 52"/>
                <a:gd name="T91" fmla="*/ 1 h 46"/>
                <a:gd name="T92" fmla="*/ 1 w 52"/>
                <a:gd name="T93" fmla="*/ 1 h 46"/>
                <a:gd name="T94" fmla="*/ 1 w 52"/>
                <a:gd name="T95" fmla="*/ 0 h 46"/>
                <a:gd name="T96" fmla="*/ 1 w 52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2"/>
                <a:gd name="T148" fmla="*/ 0 h 46"/>
                <a:gd name="T149" fmla="*/ 52 w 52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2" h="46">
                  <a:moveTo>
                    <a:pt x="29" y="17"/>
                  </a:moveTo>
                  <a:lnTo>
                    <a:pt x="17" y="23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1" y="23"/>
                  </a:lnTo>
                  <a:lnTo>
                    <a:pt x="17" y="29"/>
                  </a:lnTo>
                  <a:lnTo>
                    <a:pt x="17" y="23"/>
                  </a:lnTo>
                  <a:lnTo>
                    <a:pt x="29" y="29"/>
                  </a:lnTo>
                  <a:lnTo>
                    <a:pt x="23" y="29"/>
                  </a:lnTo>
                  <a:lnTo>
                    <a:pt x="34" y="23"/>
                  </a:lnTo>
                  <a:lnTo>
                    <a:pt x="29" y="29"/>
                  </a:lnTo>
                  <a:lnTo>
                    <a:pt x="34" y="23"/>
                  </a:lnTo>
                  <a:lnTo>
                    <a:pt x="34" y="29"/>
                  </a:lnTo>
                  <a:lnTo>
                    <a:pt x="29" y="17"/>
                  </a:lnTo>
                  <a:lnTo>
                    <a:pt x="34" y="23"/>
                  </a:lnTo>
                  <a:lnTo>
                    <a:pt x="23" y="17"/>
                  </a:lnTo>
                  <a:lnTo>
                    <a:pt x="29" y="0"/>
                  </a:lnTo>
                  <a:lnTo>
                    <a:pt x="40" y="6"/>
                  </a:lnTo>
                  <a:lnTo>
                    <a:pt x="46" y="11"/>
                  </a:lnTo>
                  <a:lnTo>
                    <a:pt x="52" y="23"/>
                  </a:lnTo>
                  <a:lnTo>
                    <a:pt x="46" y="35"/>
                  </a:lnTo>
                  <a:lnTo>
                    <a:pt x="40" y="40"/>
                  </a:lnTo>
                  <a:lnTo>
                    <a:pt x="29" y="46"/>
                  </a:lnTo>
                  <a:lnTo>
                    <a:pt x="23" y="46"/>
                  </a:lnTo>
                  <a:lnTo>
                    <a:pt x="11" y="40"/>
                  </a:lnTo>
                  <a:lnTo>
                    <a:pt x="5" y="40"/>
                  </a:lnTo>
                  <a:lnTo>
                    <a:pt x="0" y="35"/>
                  </a:lnTo>
                  <a:lnTo>
                    <a:pt x="0" y="23"/>
                  </a:lnTo>
                  <a:lnTo>
                    <a:pt x="5" y="11"/>
                  </a:lnTo>
                  <a:lnTo>
                    <a:pt x="11" y="6"/>
                  </a:lnTo>
                  <a:lnTo>
                    <a:pt x="23" y="0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11" name="Freeform 703"/>
            <p:cNvSpPr>
              <a:spLocks/>
            </p:cNvSpPr>
            <p:nvPr/>
          </p:nvSpPr>
          <p:spPr bwMode="auto">
            <a:xfrm>
              <a:off x="1779" y="2897"/>
              <a:ext cx="3" cy="9"/>
            </a:xfrm>
            <a:custGeom>
              <a:avLst/>
              <a:gdLst>
                <a:gd name="T0" fmla="*/ 0 w 6"/>
                <a:gd name="T1" fmla="*/ 1 h 17"/>
                <a:gd name="T2" fmla="*/ 0 w 6"/>
                <a:gd name="T3" fmla="*/ 1 h 17"/>
                <a:gd name="T4" fmla="*/ 1 w 6"/>
                <a:gd name="T5" fmla="*/ 1 h 17"/>
                <a:gd name="T6" fmla="*/ 0 w 6"/>
                <a:gd name="T7" fmla="*/ 0 h 17"/>
                <a:gd name="T8" fmla="*/ 1 w 6"/>
                <a:gd name="T9" fmla="*/ 0 h 17"/>
                <a:gd name="T10" fmla="*/ 1 w 6"/>
                <a:gd name="T11" fmla="*/ 0 h 17"/>
                <a:gd name="T12" fmla="*/ 0 w 6"/>
                <a:gd name="T13" fmla="*/ 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0" y="17"/>
                  </a:moveTo>
                  <a:lnTo>
                    <a:pt x="0" y="17"/>
                  </a:lnTo>
                  <a:lnTo>
                    <a:pt x="6" y="17"/>
                  </a:lnTo>
                  <a:lnTo>
                    <a:pt x="0" y="0"/>
                  </a:lnTo>
                  <a:lnTo>
                    <a:pt x="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12" name="Rectangle 704"/>
            <p:cNvSpPr>
              <a:spLocks noChangeArrowheads="1"/>
            </p:cNvSpPr>
            <p:nvPr/>
          </p:nvSpPr>
          <p:spPr bwMode="auto">
            <a:xfrm>
              <a:off x="1711" y="3276"/>
              <a:ext cx="131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13" name="Rectangle 705"/>
            <p:cNvSpPr>
              <a:spLocks noChangeArrowheads="1"/>
            </p:cNvSpPr>
            <p:nvPr/>
          </p:nvSpPr>
          <p:spPr bwMode="auto">
            <a:xfrm>
              <a:off x="1711" y="3273"/>
              <a:ext cx="14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14" name="Rectangle 706"/>
            <p:cNvSpPr>
              <a:spLocks noChangeArrowheads="1"/>
            </p:cNvSpPr>
            <p:nvPr/>
          </p:nvSpPr>
          <p:spPr bwMode="auto">
            <a:xfrm>
              <a:off x="1842" y="3276"/>
              <a:ext cx="10" cy="14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15" name="Rectangle 707"/>
            <p:cNvSpPr>
              <a:spLocks noChangeArrowheads="1"/>
            </p:cNvSpPr>
            <p:nvPr/>
          </p:nvSpPr>
          <p:spPr bwMode="auto">
            <a:xfrm>
              <a:off x="1709" y="3408"/>
              <a:ext cx="13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16" name="Rectangle 708"/>
            <p:cNvSpPr>
              <a:spLocks noChangeArrowheads="1"/>
            </p:cNvSpPr>
            <p:nvPr/>
          </p:nvSpPr>
          <p:spPr bwMode="auto">
            <a:xfrm>
              <a:off x="1709" y="3273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17" name="Rectangle 709"/>
            <p:cNvSpPr>
              <a:spLocks noChangeArrowheads="1"/>
            </p:cNvSpPr>
            <p:nvPr/>
          </p:nvSpPr>
          <p:spPr bwMode="auto">
            <a:xfrm>
              <a:off x="1711" y="3544"/>
              <a:ext cx="131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18" name="Rectangle 710"/>
            <p:cNvSpPr>
              <a:spLocks noChangeArrowheads="1"/>
            </p:cNvSpPr>
            <p:nvPr/>
          </p:nvSpPr>
          <p:spPr bwMode="auto">
            <a:xfrm>
              <a:off x="1711" y="3542"/>
              <a:ext cx="141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19" name="Rectangle 711"/>
            <p:cNvSpPr>
              <a:spLocks noChangeArrowheads="1"/>
            </p:cNvSpPr>
            <p:nvPr/>
          </p:nvSpPr>
          <p:spPr bwMode="auto">
            <a:xfrm>
              <a:off x="1842" y="3544"/>
              <a:ext cx="10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0" name="Rectangle 712"/>
            <p:cNvSpPr>
              <a:spLocks noChangeArrowheads="1"/>
            </p:cNvSpPr>
            <p:nvPr/>
          </p:nvSpPr>
          <p:spPr bwMode="auto">
            <a:xfrm>
              <a:off x="1709" y="3675"/>
              <a:ext cx="136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1" name="Rectangle 713"/>
            <p:cNvSpPr>
              <a:spLocks noChangeArrowheads="1"/>
            </p:cNvSpPr>
            <p:nvPr/>
          </p:nvSpPr>
          <p:spPr bwMode="auto">
            <a:xfrm>
              <a:off x="1709" y="3542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2" name="Rectangle 714"/>
            <p:cNvSpPr>
              <a:spLocks noChangeArrowheads="1"/>
            </p:cNvSpPr>
            <p:nvPr/>
          </p:nvSpPr>
          <p:spPr bwMode="auto">
            <a:xfrm>
              <a:off x="1750" y="3132"/>
              <a:ext cx="8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3" name="Rectangle 715"/>
            <p:cNvSpPr>
              <a:spLocks noChangeArrowheads="1"/>
            </p:cNvSpPr>
            <p:nvPr/>
          </p:nvSpPr>
          <p:spPr bwMode="auto">
            <a:xfrm>
              <a:off x="1732" y="3119"/>
              <a:ext cx="8" cy="15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4" name="Rectangle 716"/>
            <p:cNvSpPr>
              <a:spLocks noChangeArrowheads="1"/>
            </p:cNvSpPr>
            <p:nvPr/>
          </p:nvSpPr>
          <p:spPr bwMode="auto">
            <a:xfrm>
              <a:off x="1711" y="1450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5" name="Rectangle 717"/>
            <p:cNvSpPr>
              <a:spLocks noChangeArrowheads="1"/>
            </p:cNvSpPr>
            <p:nvPr/>
          </p:nvSpPr>
          <p:spPr bwMode="auto">
            <a:xfrm>
              <a:off x="1711" y="1447"/>
              <a:ext cx="141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6" name="Rectangle 718"/>
            <p:cNvSpPr>
              <a:spLocks noChangeArrowheads="1"/>
            </p:cNvSpPr>
            <p:nvPr/>
          </p:nvSpPr>
          <p:spPr bwMode="auto">
            <a:xfrm>
              <a:off x="1842" y="1450"/>
              <a:ext cx="10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7" name="Rectangle 719"/>
            <p:cNvSpPr>
              <a:spLocks noChangeArrowheads="1"/>
            </p:cNvSpPr>
            <p:nvPr/>
          </p:nvSpPr>
          <p:spPr bwMode="auto">
            <a:xfrm>
              <a:off x="1709" y="1578"/>
              <a:ext cx="136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8" name="Rectangle 720"/>
            <p:cNvSpPr>
              <a:spLocks noChangeArrowheads="1"/>
            </p:cNvSpPr>
            <p:nvPr/>
          </p:nvSpPr>
          <p:spPr bwMode="auto">
            <a:xfrm>
              <a:off x="1709" y="1447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29" name="Rectangle 721"/>
            <p:cNvSpPr>
              <a:spLocks noChangeArrowheads="1"/>
            </p:cNvSpPr>
            <p:nvPr/>
          </p:nvSpPr>
          <p:spPr bwMode="auto">
            <a:xfrm>
              <a:off x="1327" y="1421"/>
              <a:ext cx="224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0" name="Rectangle 722"/>
            <p:cNvSpPr>
              <a:spLocks noChangeArrowheads="1"/>
            </p:cNvSpPr>
            <p:nvPr/>
          </p:nvSpPr>
          <p:spPr bwMode="auto">
            <a:xfrm>
              <a:off x="1534" y="1430"/>
              <a:ext cx="17" cy="229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1" name="Rectangle 723"/>
            <p:cNvSpPr>
              <a:spLocks noChangeArrowheads="1"/>
            </p:cNvSpPr>
            <p:nvPr/>
          </p:nvSpPr>
          <p:spPr bwMode="auto">
            <a:xfrm>
              <a:off x="1318" y="3711"/>
              <a:ext cx="224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2" name="Rectangle 724"/>
            <p:cNvSpPr>
              <a:spLocks noChangeArrowheads="1"/>
            </p:cNvSpPr>
            <p:nvPr/>
          </p:nvSpPr>
          <p:spPr bwMode="auto">
            <a:xfrm>
              <a:off x="1318" y="1421"/>
              <a:ext cx="17" cy="229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3" name="Rectangle 725"/>
            <p:cNvSpPr>
              <a:spLocks noChangeArrowheads="1"/>
            </p:cNvSpPr>
            <p:nvPr/>
          </p:nvSpPr>
          <p:spPr bwMode="auto">
            <a:xfrm>
              <a:off x="3675" y="1739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4" name="Rectangle 726"/>
            <p:cNvSpPr>
              <a:spLocks noChangeArrowheads="1"/>
            </p:cNvSpPr>
            <p:nvPr/>
          </p:nvSpPr>
          <p:spPr bwMode="auto">
            <a:xfrm>
              <a:off x="3678" y="1739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5" name="Rectangle 727"/>
            <p:cNvSpPr>
              <a:spLocks noChangeArrowheads="1"/>
            </p:cNvSpPr>
            <p:nvPr/>
          </p:nvSpPr>
          <p:spPr bwMode="auto">
            <a:xfrm>
              <a:off x="4106" y="1555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6" name="Rectangle 728"/>
            <p:cNvSpPr>
              <a:spLocks noChangeArrowheads="1"/>
            </p:cNvSpPr>
            <p:nvPr/>
          </p:nvSpPr>
          <p:spPr bwMode="auto">
            <a:xfrm>
              <a:off x="3709" y="1555"/>
              <a:ext cx="39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7" name="Rectangle 730"/>
            <p:cNvSpPr>
              <a:spLocks noChangeArrowheads="1"/>
            </p:cNvSpPr>
            <p:nvPr/>
          </p:nvSpPr>
          <p:spPr bwMode="auto">
            <a:xfrm>
              <a:off x="3931" y="1555"/>
              <a:ext cx="9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8" name="Rectangle 731"/>
            <p:cNvSpPr>
              <a:spLocks noChangeArrowheads="1"/>
            </p:cNvSpPr>
            <p:nvPr/>
          </p:nvSpPr>
          <p:spPr bwMode="auto">
            <a:xfrm>
              <a:off x="3675" y="1555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39" name="Rectangle 732"/>
            <p:cNvSpPr>
              <a:spLocks noChangeArrowheads="1"/>
            </p:cNvSpPr>
            <p:nvPr/>
          </p:nvSpPr>
          <p:spPr bwMode="auto">
            <a:xfrm>
              <a:off x="3678" y="1555"/>
              <a:ext cx="25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0" name="Rectangle 733"/>
            <p:cNvSpPr>
              <a:spLocks noChangeArrowheads="1"/>
            </p:cNvSpPr>
            <p:nvPr/>
          </p:nvSpPr>
          <p:spPr bwMode="auto">
            <a:xfrm>
              <a:off x="3675" y="1823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1" name="Rectangle 734"/>
            <p:cNvSpPr>
              <a:spLocks noChangeArrowheads="1"/>
            </p:cNvSpPr>
            <p:nvPr/>
          </p:nvSpPr>
          <p:spPr bwMode="auto">
            <a:xfrm>
              <a:off x="3678" y="1823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2" name="Rectangle 735"/>
            <p:cNvSpPr>
              <a:spLocks noChangeArrowheads="1"/>
            </p:cNvSpPr>
            <p:nvPr/>
          </p:nvSpPr>
          <p:spPr bwMode="auto">
            <a:xfrm>
              <a:off x="4106" y="2007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3" name="Rectangle 736"/>
            <p:cNvSpPr>
              <a:spLocks noChangeArrowheads="1"/>
            </p:cNvSpPr>
            <p:nvPr/>
          </p:nvSpPr>
          <p:spPr bwMode="auto">
            <a:xfrm>
              <a:off x="3709" y="2007"/>
              <a:ext cx="39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4" name="Rectangle 737"/>
            <p:cNvSpPr>
              <a:spLocks noChangeArrowheads="1"/>
            </p:cNvSpPr>
            <p:nvPr/>
          </p:nvSpPr>
          <p:spPr bwMode="auto">
            <a:xfrm>
              <a:off x="3931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5" name="Rectangle 738"/>
            <p:cNvSpPr>
              <a:spLocks noChangeArrowheads="1"/>
            </p:cNvSpPr>
            <p:nvPr/>
          </p:nvSpPr>
          <p:spPr bwMode="auto">
            <a:xfrm>
              <a:off x="3931" y="187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6" name="Rectangle 739"/>
            <p:cNvSpPr>
              <a:spLocks noChangeArrowheads="1"/>
            </p:cNvSpPr>
            <p:nvPr/>
          </p:nvSpPr>
          <p:spPr bwMode="auto">
            <a:xfrm>
              <a:off x="3675" y="2007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7" name="Rectangle 740"/>
            <p:cNvSpPr>
              <a:spLocks noChangeArrowheads="1"/>
            </p:cNvSpPr>
            <p:nvPr/>
          </p:nvSpPr>
          <p:spPr bwMode="auto">
            <a:xfrm>
              <a:off x="3678" y="2007"/>
              <a:ext cx="25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8" name="Rectangle 741"/>
            <p:cNvSpPr>
              <a:spLocks noChangeArrowheads="1"/>
            </p:cNvSpPr>
            <p:nvPr/>
          </p:nvSpPr>
          <p:spPr bwMode="auto">
            <a:xfrm>
              <a:off x="3675" y="2275"/>
              <a:ext cx="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49" name="Rectangle 742"/>
            <p:cNvSpPr>
              <a:spLocks noChangeArrowheads="1"/>
            </p:cNvSpPr>
            <p:nvPr/>
          </p:nvSpPr>
          <p:spPr bwMode="auto">
            <a:xfrm>
              <a:off x="3678" y="2275"/>
              <a:ext cx="128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0" name="Rectangle 743"/>
            <p:cNvSpPr>
              <a:spLocks noChangeArrowheads="1"/>
            </p:cNvSpPr>
            <p:nvPr/>
          </p:nvSpPr>
          <p:spPr bwMode="auto">
            <a:xfrm>
              <a:off x="3949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1" name="Rectangle 744"/>
            <p:cNvSpPr>
              <a:spLocks noChangeArrowheads="1"/>
            </p:cNvSpPr>
            <p:nvPr/>
          </p:nvSpPr>
          <p:spPr bwMode="auto">
            <a:xfrm>
              <a:off x="3931" y="2092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2" name="Rectangle 746"/>
            <p:cNvSpPr>
              <a:spLocks noChangeArrowheads="1"/>
            </p:cNvSpPr>
            <p:nvPr/>
          </p:nvSpPr>
          <p:spPr bwMode="auto">
            <a:xfrm>
              <a:off x="3678" y="2092"/>
              <a:ext cx="25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3" name="Rectangle 747"/>
            <p:cNvSpPr>
              <a:spLocks noChangeArrowheads="1"/>
            </p:cNvSpPr>
            <p:nvPr/>
          </p:nvSpPr>
          <p:spPr bwMode="auto">
            <a:xfrm>
              <a:off x="3675" y="236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4" name="Rectangle 748"/>
            <p:cNvSpPr>
              <a:spLocks noChangeArrowheads="1"/>
            </p:cNvSpPr>
            <p:nvPr/>
          </p:nvSpPr>
          <p:spPr bwMode="auto">
            <a:xfrm>
              <a:off x="3678" y="2360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5" name="Rectangle 749"/>
            <p:cNvSpPr>
              <a:spLocks noChangeArrowheads="1"/>
            </p:cNvSpPr>
            <p:nvPr/>
          </p:nvSpPr>
          <p:spPr bwMode="auto">
            <a:xfrm>
              <a:off x="4106" y="2544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6" name="Rectangle 750"/>
            <p:cNvSpPr>
              <a:spLocks noChangeArrowheads="1"/>
            </p:cNvSpPr>
            <p:nvPr/>
          </p:nvSpPr>
          <p:spPr bwMode="auto">
            <a:xfrm>
              <a:off x="3709" y="2544"/>
              <a:ext cx="39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7" name="Rectangle 751"/>
            <p:cNvSpPr>
              <a:spLocks noChangeArrowheads="1"/>
            </p:cNvSpPr>
            <p:nvPr/>
          </p:nvSpPr>
          <p:spPr bwMode="auto">
            <a:xfrm>
              <a:off x="3931" y="2416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8" name="Rectangle 752"/>
            <p:cNvSpPr>
              <a:spLocks noChangeArrowheads="1"/>
            </p:cNvSpPr>
            <p:nvPr/>
          </p:nvSpPr>
          <p:spPr bwMode="auto">
            <a:xfrm>
              <a:off x="3675" y="2544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59" name="Rectangle 753"/>
            <p:cNvSpPr>
              <a:spLocks noChangeArrowheads="1"/>
            </p:cNvSpPr>
            <p:nvPr/>
          </p:nvSpPr>
          <p:spPr bwMode="auto">
            <a:xfrm>
              <a:off x="3678" y="2544"/>
              <a:ext cx="256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60" name="Freeform 754"/>
            <p:cNvSpPr>
              <a:spLocks/>
            </p:cNvSpPr>
            <p:nvPr/>
          </p:nvSpPr>
          <p:spPr bwMode="auto">
            <a:xfrm>
              <a:off x="3884" y="3019"/>
              <a:ext cx="15" cy="15"/>
            </a:xfrm>
            <a:custGeom>
              <a:avLst/>
              <a:gdLst>
                <a:gd name="T0" fmla="*/ 1 w 30"/>
                <a:gd name="T1" fmla="*/ 1 h 30"/>
                <a:gd name="T2" fmla="*/ 1 w 30"/>
                <a:gd name="T3" fmla="*/ 1 h 30"/>
                <a:gd name="T4" fmla="*/ 1 w 30"/>
                <a:gd name="T5" fmla="*/ 1 h 30"/>
                <a:gd name="T6" fmla="*/ 1 w 30"/>
                <a:gd name="T7" fmla="*/ 1 h 30"/>
                <a:gd name="T8" fmla="*/ 1 w 30"/>
                <a:gd name="T9" fmla="*/ 0 h 30"/>
                <a:gd name="T10" fmla="*/ 1 w 30"/>
                <a:gd name="T11" fmla="*/ 1 h 30"/>
                <a:gd name="T12" fmla="*/ 0 w 30"/>
                <a:gd name="T13" fmla="*/ 1 h 30"/>
                <a:gd name="T14" fmla="*/ 1 w 30"/>
                <a:gd name="T15" fmla="*/ 1 h 30"/>
                <a:gd name="T16" fmla="*/ 1 w 30"/>
                <a:gd name="T17" fmla="*/ 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13" y="30"/>
                  </a:moveTo>
                  <a:lnTo>
                    <a:pt x="25" y="25"/>
                  </a:lnTo>
                  <a:lnTo>
                    <a:pt x="30" y="19"/>
                  </a:lnTo>
                  <a:lnTo>
                    <a:pt x="25" y="6"/>
                  </a:lnTo>
                  <a:lnTo>
                    <a:pt x="13" y="0"/>
                  </a:lnTo>
                  <a:lnTo>
                    <a:pt x="7" y="6"/>
                  </a:lnTo>
                  <a:lnTo>
                    <a:pt x="0" y="19"/>
                  </a:lnTo>
                  <a:lnTo>
                    <a:pt x="7" y="25"/>
                  </a:lnTo>
                  <a:lnTo>
                    <a:pt x="13" y="3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1" name="Freeform 755"/>
            <p:cNvSpPr>
              <a:spLocks/>
            </p:cNvSpPr>
            <p:nvPr/>
          </p:nvSpPr>
          <p:spPr bwMode="auto">
            <a:xfrm>
              <a:off x="3879" y="3017"/>
              <a:ext cx="23" cy="23"/>
            </a:xfrm>
            <a:custGeom>
              <a:avLst/>
              <a:gdLst>
                <a:gd name="T0" fmla="*/ 1 w 46"/>
                <a:gd name="T1" fmla="*/ 1 h 46"/>
                <a:gd name="T2" fmla="*/ 1 w 46"/>
                <a:gd name="T3" fmla="*/ 1 h 46"/>
                <a:gd name="T4" fmla="*/ 1 w 46"/>
                <a:gd name="T5" fmla="*/ 1 h 46"/>
                <a:gd name="T6" fmla="*/ 1 w 46"/>
                <a:gd name="T7" fmla="*/ 1 h 46"/>
                <a:gd name="T8" fmla="*/ 1 w 46"/>
                <a:gd name="T9" fmla="*/ 1 h 46"/>
                <a:gd name="T10" fmla="*/ 1 w 46"/>
                <a:gd name="T11" fmla="*/ 1 h 46"/>
                <a:gd name="T12" fmla="*/ 1 w 46"/>
                <a:gd name="T13" fmla="*/ 1 h 46"/>
                <a:gd name="T14" fmla="*/ 1 w 46"/>
                <a:gd name="T15" fmla="*/ 1 h 46"/>
                <a:gd name="T16" fmla="*/ 1 w 46"/>
                <a:gd name="T17" fmla="*/ 1 h 46"/>
                <a:gd name="T18" fmla="*/ 1 w 46"/>
                <a:gd name="T19" fmla="*/ 1 h 46"/>
                <a:gd name="T20" fmla="*/ 1 w 46"/>
                <a:gd name="T21" fmla="*/ 1 h 46"/>
                <a:gd name="T22" fmla="*/ 1 w 46"/>
                <a:gd name="T23" fmla="*/ 1 h 46"/>
                <a:gd name="T24" fmla="*/ 1 w 46"/>
                <a:gd name="T25" fmla="*/ 1 h 46"/>
                <a:gd name="T26" fmla="*/ 1 w 46"/>
                <a:gd name="T27" fmla="*/ 1 h 46"/>
                <a:gd name="T28" fmla="*/ 1 w 46"/>
                <a:gd name="T29" fmla="*/ 1 h 46"/>
                <a:gd name="T30" fmla="*/ 1 w 46"/>
                <a:gd name="T31" fmla="*/ 1 h 46"/>
                <a:gd name="T32" fmla="*/ 1 w 46"/>
                <a:gd name="T33" fmla="*/ 1 h 46"/>
                <a:gd name="T34" fmla="*/ 1 w 46"/>
                <a:gd name="T35" fmla="*/ 1 h 46"/>
                <a:gd name="T36" fmla="*/ 1 w 46"/>
                <a:gd name="T37" fmla="*/ 1 h 46"/>
                <a:gd name="T38" fmla="*/ 1 w 46"/>
                <a:gd name="T39" fmla="*/ 1 h 46"/>
                <a:gd name="T40" fmla="*/ 1 w 46"/>
                <a:gd name="T41" fmla="*/ 1 h 46"/>
                <a:gd name="T42" fmla="*/ 1 w 46"/>
                <a:gd name="T43" fmla="*/ 1 h 46"/>
                <a:gd name="T44" fmla="*/ 1 w 46"/>
                <a:gd name="T45" fmla="*/ 1 h 46"/>
                <a:gd name="T46" fmla="*/ 1 w 46"/>
                <a:gd name="T47" fmla="*/ 1 h 46"/>
                <a:gd name="T48" fmla="*/ 1 w 46"/>
                <a:gd name="T49" fmla="*/ 1 h 46"/>
                <a:gd name="T50" fmla="*/ 1 w 46"/>
                <a:gd name="T51" fmla="*/ 1 h 46"/>
                <a:gd name="T52" fmla="*/ 1 w 46"/>
                <a:gd name="T53" fmla="*/ 1 h 46"/>
                <a:gd name="T54" fmla="*/ 1 w 46"/>
                <a:gd name="T55" fmla="*/ 1 h 46"/>
                <a:gd name="T56" fmla="*/ 1 w 46"/>
                <a:gd name="T57" fmla="*/ 1 h 46"/>
                <a:gd name="T58" fmla="*/ 1 w 46"/>
                <a:gd name="T59" fmla="*/ 1 h 46"/>
                <a:gd name="T60" fmla="*/ 1 w 46"/>
                <a:gd name="T61" fmla="*/ 1 h 46"/>
                <a:gd name="T62" fmla="*/ 0 w 46"/>
                <a:gd name="T63" fmla="*/ 1 h 46"/>
                <a:gd name="T64" fmla="*/ 1 w 46"/>
                <a:gd name="T65" fmla="*/ 1 h 46"/>
                <a:gd name="T66" fmla="*/ 1 w 46"/>
                <a:gd name="T67" fmla="*/ 1 h 46"/>
                <a:gd name="T68" fmla="*/ 1 w 46"/>
                <a:gd name="T69" fmla="*/ 1 h 46"/>
                <a:gd name="T70" fmla="*/ 1 w 46"/>
                <a:gd name="T71" fmla="*/ 0 h 46"/>
                <a:gd name="T72" fmla="*/ 1 w 46"/>
                <a:gd name="T73" fmla="*/ 0 h 46"/>
                <a:gd name="T74" fmla="*/ 1 w 46"/>
                <a:gd name="T75" fmla="*/ 0 h 46"/>
                <a:gd name="T76" fmla="*/ 1 w 46"/>
                <a:gd name="T77" fmla="*/ 1 h 46"/>
                <a:gd name="T78" fmla="*/ 1 w 46"/>
                <a:gd name="T79" fmla="*/ 1 h 46"/>
                <a:gd name="T80" fmla="*/ 1 w 46"/>
                <a:gd name="T81" fmla="*/ 1 h 46"/>
                <a:gd name="T82" fmla="*/ 1 w 46"/>
                <a:gd name="T83" fmla="*/ 1 h 46"/>
                <a:gd name="T84" fmla="*/ 1 w 46"/>
                <a:gd name="T85" fmla="*/ 1 h 46"/>
                <a:gd name="T86" fmla="*/ 1 w 46"/>
                <a:gd name="T87" fmla="*/ 1 h 46"/>
                <a:gd name="T88" fmla="*/ 1 w 46"/>
                <a:gd name="T89" fmla="*/ 1 h 46"/>
                <a:gd name="T90" fmla="*/ 1 w 46"/>
                <a:gd name="T91" fmla="*/ 1 h 46"/>
                <a:gd name="T92" fmla="*/ 1 w 46"/>
                <a:gd name="T93" fmla="*/ 1 h 46"/>
                <a:gd name="T94" fmla="*/ 1 w 46"/>
                <a:gd name="T95" fmla="*/ 1 h 46"/>
                <a:gd name="T96" fmla="*/ 1 w 46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6"/>
                <a:gd name="T149" fmla="*/ 46 w 46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6">
                  <a:moveTo>
                    <a:pt x="17" y="29"/>
                  </a:moveTo>
                  <a:lnTo>
                    <a:pt x="29" y="23"/>
                  </a:lnTo>
                  <a:lnTo>
                    <a:pt x="35" y="17"/>
                  </a:lnTo>
                  <a:lnTo>
                    <a:pt x="29" y="29"/>
                  </a:lnTo>
                  <a:lnTo>
                    <a:pt x="23" y="17"/>
                  </a:lnTo>
                  <a:lnTo>
                    <a:pt x="29" y="23"/>
                  </a:lnTo>
                  <a:lnTo>
                    <a:pt x="17" y="17"/>
                  </a:lnTo>
                  <a:lnTo>
                    <a:pt x="29" y="10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7" y="17"/>
                  </a:lnTo>
                  <a:lnTo>
                    <a:pt x="23" y="23"/>
                  </a:lnTo>
                  <a:lnTo>
                    <a:pt x="29" y="29"/>
                  </a:lnTo>
                  <a:lnTo>
                    <a:pt x="17" y="40"/>
                  </a:lnTo>
                  <a:lnTo>
                    <a:pt x="10" y="34"/>
                  </a:lnTo>
                  <a:lnTo>
                    <a:pt x="6" y="29"/>
                  </a:lnTo>
                  <a:lnTo>
                    <a:pt x="0" y="23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35" y="4"/>
                  </a:lnTo>
                  <a:lnTo>
                    <a:pt x="40" y="10"/>
                  </a:lnTo>
                  <a:lnTo>
                    <a:pt x="46" y="23"/>
                  </a:lnTo>
                  <a:lnTo>
                    <a:pt x="46" y="29"/>
                  </a:lnTo>
                  <a:lnTo>
                    <a:pt x="40" y="34"/>
                  </a:lnTo>
                  <a:lnTo>
                    <a:pt x="35" y="40"/>
                  </a:lnTo>
                  <a:lnTo>
                    <a:pt x="23" y="46"/>
                  </a:lnTo>
                  <a:lnTo>
                    <a:pt x="17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2" name="Freeform 756"/>
            <p:cNvSpPr>
              <a:spLocks/>
            </p:cNvSpPr>
            <p:nvPr/>
          </p:nvSpPr>
          <p:spPr bwMode="auto">
            <a:xfrm>
              <a:off x="3887" y="3031"/>
              <a:ext cx="6" cy="9"/>
            </a:xfrm>
            <a:custGeom>
              <a:avLst/>
              <a:gdLst>
                <a:gd name="T0" fmla="*/ 1 w 12"/>
                <a:gd name="T1" fmla="*/ 0 h 17"/>
                <a:gd name="T2" fmla="*/ 1 w 12"/>
                <a:gd name="T3" fmla="*/ 0 h 17"/>
                <a:gd name="T4" fmla="*/ 0 w 12"/>
                <a:gd name="T5" fmla="*/ 0 h 17"/>
                <a:gd name="T6" fmla="*/ 1 w 12"/>
                <a:gd name="T7" fmla="*/ 1 h 17"/>
                <a:gd name="T8" fmla="*/ 0 w 12"/>
                <a:gd name="T9" fmla="*/ 1 h 17"/>
                <a:gd name="T10" fmla="*/ 0 w 12"/>
                <a:gd name="T11" fmla="*/ 1 h 17"/>
                <a:gd name="T12" fmla="*/ 1 w 12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17"/>
                <a:gd name="T23" fmla="*/ 12 w 12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17">
                  <a:moveTo>
                    <a:pt x="12" y="0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6" y="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3" name="Freeform 757"/>
            <p:cNvSpPr>
              <a:spLocks/>
            </p:cNvSpPr>
            <p:nvPr/>
          </p:nvSpPr>
          <p:spPr bwMode="auto">
            <a:xfrm>
              <a:off x="3884" y="2961"/>
              <a:ext cx="15" cy="14"/>
            </a:xfrm>
            <a:custGeom>
              <a:avLst/>
              <a:gdLst>
                <a:gd name="T0" fmla="*/ 1 w 30"/>
                <a:gd name="T1" fmla="*/ 0 h 29"/>
                <a:gd name="T2" fmla="*/ 1 w 30"/>
                <a:gd name="T3" fmla="*/ 0 h 29"/>
                <a:gd name="T4" fmla="*/ 1 w 30"/>
                <a:gd name="T5" fmla="*/ 0 h 29"/>
                <a:gd name="T6" fmla="*/ 1 w 30"/>
                <a:gd name="T7" fmla="*/ 0 h 29"/>
                <a:gd name="T8" fmla="*/ 1 w 30"/>
                <a:gd name="T9" fmla="*/ 0 h 29"/>
                <a:gd name="T10" fmla="*/ 1 w 30"/>
                <a:gd name="T11" fmla="*/ 0 h 29"/>
                <a:gd name="T12" fmla="*/ 0 w 30"/>
                <a:gd name="T13" fmla="*/ 0 h 29"/>
                <a:gd name="T14" fmla="*/ 1 w 30"/>
                <a:gd name="T15" fmla="*/ 0 h 29"/>
                <a:gd name="T16" fmla="*/ 1 w 30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9"/>
                <a:gd name="T29" fmla="*/ 30 w 30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9">
                  <a:moveTo>
                    <a:pt x="13" y="29"/>
                  </a:moveTo>
                  <a:lnTo>
                    <a:pt x="25" y="24"/>
                  </a:lnTo>
                  <a:lnTo>
                    <a:pt x="30" y="18"/>
                  </a:lnTo>
                  <a:lnTo>
                    <a:pt x="25" y="6"/>
                  </a:lnTo>
                  <a:lnTo>
                    <a:pt x="13" y="0"/>
                  </a:lnTo>
                  <a:lnTo>
                    <a:pt x="7" y="6"/>
                  </a:lnTo>
                  <a:lnTo>
                    <a:pt x="0" y="18"/>
                  </a:lnTo>
                  <a:lnTo>
                    <a:pt x="7" y="24"/>
                  </a:lnTo>
                  <a:lnTo>
                    <a:pt x="13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4" name="Freeform 758"/>
            <p:cNvSpPr>
              <a:spLocks/>
            </p:cNvSpPr>
            <p:nvPr/>
          </p:nvSpPr>
          <p:spPr bwMode="auto">
            <a:xfrm>
              <a:off x="3879" y="2958"/>
              <a:ext cx="23" cy="24"/>
            </a:xfrm>
            <a:custGeom>
              <a:avLst/>
              <a:gdLst>
                <a:gd name="T0" fmla="*/ 1 w 46"/>
                <a:gd name="T1" fmla="*/ 1 h 46"/>
                <a:gd name="T2" fmla="*/ 1 w 46"/>
                <a:gd name="T3" fmla="*/ 1 h 46"/>
                <a:gd name="T4" fmla="*/ 1 w 46"/>
                <a:gd name="T5" fmla="*/ 1 h 46"/>
                <a:gd name="T6" fmla="*/ 1 w 46"/>
                <a:gd name="T7" fmla="*/ 1 h 46"/>
                <a:gd name="T8" fmla="*/ 1 w 46"/>
                <a:gd name="T9" fmla="*/ 1 h 46"/>
                <a:gd name="T10" fmla="*/ 1 w 46"/>
                <a:gd name="T11" fmla="*/ 1 h 46"/>
                <a:gd name="T12" fmla="*/ 1 w 46"/>
                <a:gd name="T13" fmla="*/ 1 h 46"/>
                <a:gd name="T14" fmla="*/ 1 w 46"/>
                <a:gd name="T15" fmla="*/ 1 h 46"/>
                <a:gd name="T16" fmla="*/ 1 w 46"/>
                <a:gd name="T17" fmla="*/ 1 h 46"/>
                <a:gd name="T18" fmla="*/ 1 w 46"/>
                <a:gd name="T19" fmla="*/ 1 h 46"/>
                <a:gd name="T20" fmla="*/ 1 w 46"/>
                <a:gd name="T21" fmla="*/ 1 h 46"/>
                <a:gd name="T22" fmla="*/ 1 w 46"/>
                <a:gd name="T23" fmla="*/ 1 h 46"/>
                <a:gd name="T24" fmla="*/ 1 w 46"/>
                <a:gd name="T25" fmla="*/ 1 h 46"/>
                <a:gd name="T26" fmla="*/ 1 w 46"/>
                <a:gd name="T27" fmla="*/ 1 h 46"/>
                <a:gd name="T28" fmla="*/ 1 w 46"/>
                <a:gd name="T29" fmla="*/ 1 h 46"/>
                <a:gd name="T30" fmla="*/ 1 w 46"/>
                <a:gd name="T31" fmla="*/ 1 h 46"/>
                <a:gd name="T32" fmla="*/ 1 w 46"/>
                <a:gd name="T33" fmla="*/ 1 h 46"/>
                <a:gd name="T34" fmla="*/ 1 w 46"/>
                <a:gd name="T35" fmla="*/ 1 h 46"/>
                <a:gd name="T36" fmla="*/ 1 w 46"/>
                <a:gd name="T37" fmla="*/ 1 h 46"/>
                <a:gd name="T38" fmla="*/ 1 w 46"/>
                <a:gd name="T39" fmla="*/ 1 h 46"/>
                <a:gd name="T40" fmla="*/ 1 w 46"/>
                <a:gd name="T41" fmla="*/ 1 h 46"/>
                <a:gd name="T42" fmla="*/ 1 w 46"/>
                <a:gd name="T43" fmla="*/ 1 h 46"/>
                <a:gd name="T44" fmla="*/ 1 w 46"/>
                <a:gd name="T45" fmla="*/ 1 h 46"/>
                <a:gd name="T46" fmla="*/ 1 w 46"/>
                <a:gd name="T47" fmla="*/ 1 h 46"/>
                <a:gd name="T48" fmla="*/ 1 w 46"/>
                <a:gd name="T49" fmla="*/ 1 h 46"/>
                <a:gd name="T50" fmla="*/ 1 w 46"/>
                <a:gd name="T51" fmla="*/ 1 h 46"/>
                <a:gd name="T52" fmla="*/ 1 w 46"/>
                <a:gd name="T53" fmla="*/ 1 h 46"/>
                <a:gd name="T54" fmla="*/ 1 w 46"/>
                <a:gd name="T55" fmla="*/ 1 h 46"/>
                <a:gd name="T56" fmla="*/ 1 w 46"/>
                <a:gd name="T57" fmla="*/ 1 h 46"/>
                <a:gd name="T58" fmla="*/ 1 w 46"/>
                <a:gd name="T59" fmla="*/ 1 h 46"/>
                <a:gd name="T60" fmla="*/ 1 w 46"/>
                <a:gd name="T61" fmla="*/ 1 h 46"/>
                <a:gd name="T62" fmla="*/ 0 w 46"/>
                <a:gd name="T63" fmla="*/ 1 h 46"/>
                <a:gd name="T64" fmla="*/ 1 w 46"/>
                <a:gd name="T65" fmla="*/ 1 h 46"/>
                <a:gd name="T66" fmla="*/ 1 w 46"/>
                <a:gd name="T67" fmla="*/ 1 h 46"/>
                <a:gd name="T68" fmla="*/ 1 w 46"/>
                <a:gd name="T69" fmla="*/ 1 h 46"/>
                <a:gd name="T70" fmla="*/ 1 w 46"/>
                <a:gd name="T71" fmla="*/ 0 h 46"/>
                <a:gd name="T72" fmla="*/ 1 w 46"/>
                <a:gd name="T73" fmla="*/ 0 h 46"/>
                <a:gd name="T74" fmla="*/ 1 w 46"/>
                <a:gd name="T75" fmla="*/ 0 h 46"/>
                <a:gd name="T76" fmla="*/ 1 w 46"/>
                <a:gd name="T77" fmla="*/ 1 h 46"/>
                <a:gd name="T78" fmla="*/ 1 w 46"/>
                <a:gd name="T79" fmla="*/ 1 h 46"/>
                <a:gd name="T80" fmla="*/ 1 w 46"/>
                <a:gd name="T81" fmla="*/ 1 h 46"/>
                <a:gd name="T82" fmla="*/ 1 w 46"/>
                <a:gd name="T83" fmla="*/ 1 h 46"/>
                <a:gd name="T84" fmla="*/ 1 w 46"/>
                <a:gd name="T85" fmla="*/ 1 h 46"/>
                <a:gd name="T86" fmla="*/ 1 w 46"/>
                <a:gd name="T87" fmla="*/ 1 h 46"/>
                <a:gd name="T88" fmla="*/ 1 w 46"/>
                <a:gd name="T89" fmla="*/ 1 h 46"/>
                <a:gd name="T90" fmla="*/ 1 w 46"/>
                <a:gd name="T91" fmla="*/ 1 h 46"/>
                <a:gd name="T92" fmla="*/ 1 w 46"/>
                <a:gd name="T93" fmla="*/ 1 h 46"/>
                <a:gd name="T94" fmla="*/ 1 w 46"/>
                <a:gd name="T95" fmla="*/ 1 h 46"/>
                <a:gd name="T96" fmla="*/ 1 w 46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6"/>
                <a:gd name="T149" fmla="*/ 46 w 46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6">
                  <a:moveTo>
                    <a:pt x="17" y="29"/>
                  </a:moveTo>
                  <a:lnTo>
                    <a:pt x="29" y="23"/>
                  </a:lnTo>
                  <a:lnTo>
                    <a:pt x="35" y="17"/>
                  </a:lnTo>
                  <a:lnTo>
                    <a:pt x="29" y="29"/>
                  </a:lnTo>
                  <a:lnTo>
                    <a:pt x="23" y="17"/>
                  </a:lnTo>
                  <a:lnTo>
                    <a:pt x="29" y="23"/>
                  </a:lnTo>
                  <a:lnTo>
                    <a:pt x="17" y="17"/>
                  </a:lnTo>
                  <a:lnTo>
                    <a:pt x="29" y="11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7" y="17"/>
                  </a:lnTo>
                  <a:lnTo>
                    <a:pt x="23" y="23"/>
                  </a:lnTo>
                  <a:lnTo>
                    <a:pt x="29" y="29"/>
                  </a:lnTo>
                  <a:lnTo>
                    <a:pt x="17" y="40"/>
                  </a:lnTo>
                  <a:lnTo>
                    <a:pt x="10" y="34"/>
                  </a:lnTo>
                  <a:lnTo>
                    <a:pt x="6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0" y="5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35" y="5"/>
                  </a:lnTo>
                  <a:lnTo>
                    <a:pt x="40" y="11"/>
                  </a:lnTo>
                  <a:lnTo>
                    <a:pt x="46" y="23"/>
                  </a:lnTo>
                  <a:lnTo>
                    <a:pt x="46" y="29"/>
                  </a:lnTo>
                  <a:lnTo>
                    <a:pt x="40" y="34"/>
                  </a:lnTo>
                  <a:lnTo>
                    <a:pt x="35" y="40"/>
                  </a:lnTo>
                  <a:lnTo>
                    <a:pt x="23" y="46"/>
                  </a:lnTo>
                  <a:lnTo>
                    <a:pt x="17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5" name="Freeform 759"/>
            <p:cNvSpPr>
              <a:spLocks/>
            </p:cNvSpPr>
            <p:nvPr/>
          </p:nvSpPr>
          <p:spPr bwMode="auto">
            <a:xfrm>
              <a:off x="3887" y="2973"/>
              <a:ext cx="6" cy="9"/>
            </a:xfrm>
            <a:custGeom>
              <a:avLst/>
              <a:gdLst>
                <a:gd name="T0" fmla="*/ 1 w 12"/>
                <a:gd name="T1" fmla="*/ 0 h 17"/>
                <a:gd name="T2" fmla="*/ 1 w 12"/>
                <a:gd name="T3" fmla="*/ 0 h 17"/>
                <a:gd name="T4" fmla="*/ 0 w 12"/>
                <a:gd name="T5" fmla="*/ 0 h 17"/>
                <a:gd name="T6" fmla="*/ 1 w 12"/>
                <a:gd name="T7" fmla="*/ 1 h 17"/>
                <a:gd name="T8" fmla="*/ 0 w 12"/>
                <a:gd name="T9" fmla="*/ 1 h 17"/>
                <a:gd name="T10" fmla="*/ 0 w 12"/>
                <a:gd name="T11" fmla="*/ 1 h 17"/>
                <a:gd name="T12" fmla="*/ 1 w 12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17"/>
                <a:gd name="T23" fmla="*/ 12 w 12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17">
                  <a:moveTo>
                    <a:pt x="12" y="0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6" y="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6" name="Freeform 760"/>
            <p:cNvSpPr>
              <a:spLocks/>
            </p:cNvSpPr>
            <p:nvPr/>
          </p:nvSpPr>
          <p:spPr bwMode="auto">
            <a:xfrm>
              <a:off x="3884" y="2903"/>
              <a:ext cx="15" cy="14"/>
            </a:xfrm>
            <a:custGeom>
              <a:avLst/>
              <a:gdLst>
                <a:gd name="T0" fmla="*/ 1 w 30"/>
                <a:gd name="T1" fmla="*/ 0 h 29"/>
                <a:gd name="T2" fmla="*/ 1 w 30"/>
                <a:gd name="T3" fmla="*/ 0 h 29"/>
                <a:gd name="T4" fmla="*/ 1 w 30"/>
                <a:gd name="T5" fmla="*/ 0 h 29"/>
                <a:gd name="T6" fmla="*/ 1 w 30"/>
                <a:gd name="T7" fmla="*/ 0 h 29"/>
                <a:gd name="T8" fmla="*/ 1 w 30"/>
                <a:gd name="T9" fmla="*/ 0 h 29"/>
                <a:gd name="T10" fmla="*/ 1 w 30"/>
                <a:gd name="T11" fmla="*/ 0 h 29"/>
                <a:gd name="T12" fmla="*/ 0 w 30"/>
                <a:gd name="T13" fmla="*/ 0 h 29"/>
                <a:gd name="T14" fmla="*/ 1 w 30"/>
                <a:gd name="T15" fmla="*/ 0 h 29"/>
                <a:gd name="T16" fmla="*/ 1 w 30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9"/>
                <a:gd name="T29" fmla="*/ 30 w 30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9">
                  <a:moveTo>
                    <a:pt x="13" y="29"/>
                  </a:moveTo>
                  <a:lnTo>
                    <a:pt x="25" y="24"/>
                  </a:lnTo>
                  <a:lnTo>
                    <a:pt x="30" y="18"/>
                  </a:lnTo>
                  <a:lnTo>
                    <a:pt x="25" y="6"/>
                  </a:lnTo>
                  <a:lnTo>
                    <a:pt x="13" y="0"/>
                  </a:lnTo>
                  <a:lnTo>
                    <a:pt x="7" y="6"/>
                  </a:lnTo>
                  <a:lnTo>
                    <a:pt x="0" y="18"/>
                  </a:lnTo>
                  <a:lnTo>
                    <a:pt x="7" y="24"/>
                  </a:lnTo>
                  <a:lnTo>
                    <a:pt x="13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7" name="Freeform 761"/>
            <p:cNvSpPr>
              <a:spLocks/>
            </p:cNvSpPr>
            <p:nvPr/>
          </p:nvSpPr>
          <p:spPr bwMode="auto">
            <a:xfrm>
              <a:off x="3879" y="2900"/>
              <a:ext cx="23" cy="23"/>
            </a:xfrm>
            <a:custGeom>
              <a:avLst/>
              <a:gdLst>
                <a:gd name="T0" fmla="*/ 1 w 46"/>
                <a:gd name="T1" fmla="*/ 1 h 46"/>
                <a:gd name="T2" fmla="*/ 1 w 46"/>
                <a:gd name="T3" fmla="*/ 1 h 46"/>
                <a:gd name="T4" fmla="*/ 1 w 46"/>
                <a:gd name="T5" fmla="*/ 1 h 46"/>
                <a:gd name="T6" fmla="*/ 1 w 46"/>
                <a:gd name="T7" fmla="*/ 1 h 46"/>
                <a:gd name="T8" fmla="*/ 1 w 46"/>
                <a:gd name="T9" fmla="*/ 1 h 46"/>
                <a:gd name="T10" fmla="*/ 1 w 46"/>
                <a:gd name="T11" fmla="*/ 1 h 46"/>
                <a:gd name="T12" fmla="*/ 1 w 46"/>
                <a:gd name="T13" fmla="*/ 1 h 46"/>
                <a:gd name="T14" fmla="*/ 1 w 46"/>
                <a:gd name="T15" fmla="*/ 1 h 46"/>
                <a:gd name="T16" fmla="*/ 1 w 46"/>
                <a:gd name="T17" fmla="*/ 1 h 46"/>
                <a:gd name="T18" fmla="*/ 1 w 46"/>
                <a:gd name="T19" fmla="*/ 1 h 46"/>
                <a:gd name="T20" fmla="*/ 1 w 46"/>
                <a:gd name="T21" fmla="*/ 1 h 46"/>
                <a:gd name="T22" fmla="*/ 1 w 46"/>
                <a:gd name="T23" fmla="*/ 1 h 46"/>
                <a:gd name="T24" fmla="*/ 1 w 46"/>
                <a:gd name="T25" fmla="*/ 1 h 46"/>
                <a:gd name="T26" fmla="*/ 1 w 46"/>
                <a:gd name="T27" fmla="*/ 1 h 46"/>
                <a:gd name="T28" fmla="*/ 1 w 46"/>
                <a:gd name="T29" fmla="*/ 1 h 46"/>
                <a:gd name="T30" fmla="*/ 1 w 46"/>
                <a:gd name="T31" fmla="*/ 1 h 46"/>
                <a:gd name="T32" fmla="*/ 1 w 46"/>
                <a:gd name="T33" fmla="*/ 1 h 46"/>
                <a:gd name="T34" fmla="*/ 1 w 46"/>
                <a:gd name="T35" fmla="*/ 1 h 46"/>
                <a:gd name="T36" fmla="*/ 1 w 46"/>
                <a:gd name="T37" fmla="*/ 1 h 46"/>
                <a:gd name="T38" fmla="*/ 1 w 46"/>
                <a:gd name="T39" fmla="*/ 1 h 46"/>
                <a:gd name="T40" fmla="*/ 1 w 46"/>
                <a:gd name="T41" fmla="*/ 1 h 46"/>
                <a:gd name="T42" fmla="*/ 1 w 46"/>
                <a:gd name="T43" fmla="*/ 1 h 46"/>
                <a:gd name="T44" fmla="*/ 1 w 46"/>
                <a:gd name="T45" fmla="*/ 1 h 46"/>
                <a:gd name="T46" fmla="*/ 1 w 46"/>
                <a:gd name="T47" fmla="*/ 1 h 46"/>
                <a:gd name="T48" fmla="*/ 1 w 46"/>
                <a:gd name="T49" fmla="*/ 1 h 46"/>
                <a:gd name="T50" fmla="*/ 1 w 46"/>
                <a:gd name="T51" fmla="*/ 1 h 46"/>
                <a:gd name="T52" fmla="*/ 1 w 46"/>
                <a:gd name="T53" fmla="*/ 1 h 46"/>
                <a:gd name="T54" fmla="*/ 1 w 46"/>
                <a:gd name="T55" fmla="*/ 1 h 46"/>
                <a:gd name="T56" fmla="*/ 1 w 46"/>
                <a:gd name="T57" fmla="*/ 1 h 46"/>
                <a:gd name="T58" fmla="*/ 1 w 46"/>
                <a:gd name="T59" fmla="*/ 1 h 46"/>
                <a:gd name="T60" fmla="*/ 1 w 46"/>
                <a:gd name="T61" fmla="*/ 1 h 46"/>
                <a:gd name="T62" fmla="*/ 0 w 46"/>
                <a:gd name="T63" fmla="*/ 1 h 46"/>
                <a:gd name="T64" fmla="*/ 1 w 46"/>
                <a:gd name="T65" fmla="*/ 1 h 46"/>
                <a:gd name="T66" fmla="*/ 1 w 46"/>
                <a:gd name="T67" fmla="*/ 1 h 46"/>
                <a:gd name="T68" fmla="*/ 1 w 46"/>
                <a:gd name="T69" fmla="*/ 1 h 46"/>
                <a:gd name="T70" fmla="*/ 1 w 46"/>
                <a:gd name="T71" fmla="*/ 0 h 46"/>
                <a:gd name="T72" fmla="*/ 1 w 46"/>
                <a:gd name="T73" fmla="*/ 0 h 46"/>
                <a:gd name="T74" fmla="*/ 1 w 46"/>
                <a:gd name="T75" fmla="*/ 0 h 46"/>
                <a:gd name="T76" fmla="*/ 1 w 46"/>
                <a:gd name="T77" fmla="*/ 1 h 46"/>
                <a:gd name="T78" fmla="*/ 1 w 46"/>
                <a:gd name="T79" fmla="*/ 1 h 46"/>
                <a:gd name="T80" fmla="*/ 1 w 46"/>
                <a:gd name="T81" fmla="*/ 1 h 46"/>
                <a:gd name="T82" fmla="*/ 1 w 46"/>
                <a:gd name="T83" fmla="*/ 1 h 46"/>
                <a:gd name="T84" fmla="*/ 1 w 46"/>
                <a:gd name="T85" fmla="*/ 1 h 46"/>
                <a:gd name="T86" fmla="*/ 1 w 46"/>
                <a:gd name="T87" fmla="*/ 1 h 46"/>
                <a:gd name="T88" fmla="*/ 1 w 46"/>
                <a:gd name="T89" fmla="*/ 1 h 46"/>
                <a:gd name="T90" fmla="*/ 1 w 46"/>
                <a:gd name="T91" fmla="*/ 1 h 46"/>
                <a:gd name="T92" fmla="*/ 1 w 46"/>
                <a:gd name="T93" fmla="*/ 1 h 46"/>
                <a:gd name="T94" fmla="*/ 1 w 46"/>
                <a:gd name="T95" fmla="*/ 1 h 46"/>
                <a:gd name="T96" fmla="*/ 1 w 46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"/>
                <a:gd name="T148" fmla="*/ 0 h 46"/>
                <a:gd name="T149" fmla="*/ 46 w 46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" h="46">
                  <a:moveTo>
                    <a:pt x="17" y="29"/>
                  </a:moveTo>
                  <a:lnTo>
                    <a:pt x="29" y="23"/>
                  </a:lnTo>
                  <a:lnTo>
                    <a:pt x="35" y="17"/>
                  </a:lnTo>
                  <a:lnTo>
                    <a:pt x="29" y="29"/>
                  </a:lnTo>
                  <a:lnTo>
                    <a:pt x="23" y="17"/>
                  </a:lnTo>
                  <a:lnTo>
                    <a:pt x="29" y="23"/>
                  </a:lnTo>
                  <a:lnTo>
                    <a:pt x="17" y="17"/>
                  </a:lnTo>
                  <a:lnTo>
                    <a:pt x="29" y="11"/>
                  </a:lnTo>
                  <a:lnTo>
                    <a:pt x="23" y="17"/>
                  </a:lnTo>
                  <a:lnTo>
                    <a:pt x="17" y="29"/>
                  </a:lnTo>
                  <a:lnTo>
                    <a:pt x="17" y="17"/>
                  </a:lnTo>
                  <a:lnTo>
                    <a:pt x="23" y="23"/>
                  </a:lnTo>
                  <a:lnTo>
                    <a:pt x="29" y="29"/>
                  </a:lnTo>
                  <a:lnTo>
                    <a:pt x="17" y="40"/>
                  </a:lnTo>
                  <a:lnTo>
                    <a:pt x="10" y="34"/>
                  </a:lnTo>
                  <a:lnTo>
                    <a:pt x="6" y="29"/>
                  </a:lnTo>
                  <a:lnTo>
                    <a:pt x="0" y="23"/>
                  </a:lnTo>
                  <a:lnTo>
                    <a:pt x="6" y="11"/>
                  </a:lnTo>
                  <a:lnTo>
                    <a:pt x="10" y="5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35" y="5"/>
                  </a:lnTo>
                  <a:lnTo>
                    <a:pt x="40" y="11"/>
                  </a:lnTo>
                  <a:lnTo>
                    <a:pt x="46" y="23"/>
                  </a:lnTo>
                  <a:lnTo>
                    <a:pt x="46" y="29"/>
                  </a:lnTo>
                  <a:lnTo>
                    <a:pt x="40" y="34"/>
                  </a:lnTo>
                  <a:lnTo>
                    <a:pt x="35" y="40"/>
                  </a:lnTo>
                  <a:lnTo>
                    <a:pt x="23" y="46"/>
                  </a:lnTo>
                  <a:lnTo>
                    <a:pt x="17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8" name="Freeform 762"/>
            <p:cNvSpPr>
              <a:spLocks/>
            </p:cNvSpPr>
            <p:nvPr/>
          </p:nvSpPr>
          <p:spPr bwMode="auto">
            <a:xfrm>
              <a:off x="3887" y="2915"/>
              <a:ext cx="6" cy="8"/>
            </a:xfrm>
            <a:custGeom>
              <a:avLst/>
              <a:gdLst>
                <a:gd name="T0" fmla="*/ 1 w 12"/>
                <a:gd name="T1" fmla="*/ 0 h 17"/>
                <a:gd name="T2" fmla="*/ 1 w 12"/>
                <a:gd name="T3" fmla="*/ 0 h 17"/>
                <a:gd name="T4" fmla="*/ 0 w 12"/>
                <a:gd name="T5" fmla="*/ 0 h 17"/>
                <a:gd name="T6" fmla="*/ 1 w 12"/>
                <a:gd name="T7" fmla="*/ 0 h 17"/>
                <a:gd name="T8" fmla="*/ 0 w 12"/>
                <a:gd name="T9" fmla="*/ 0 h 17"/>
                <a:gd name="T10" fmla="*/ 0 w 12"/>
                <a:gd name="T11" fmla="*/ 0 h 17"/>
                <a:gd name="T12" fmla="*/ 1 w 12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17"/>
                <a:gd name="T23" fmla="*/ 12 w 12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17">
                  <a:moveTo>
                    <a:pt x="12" y="0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6" y="17"/>
                  </a:lnTo>
                  <a:lnTo>
                    <a:pt x="0" y="1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69" name="Rectangle 764"/>
            <p:cNvSpPr>
              <a:spLocks noChangeArrowheads="1"/>
            </p:cNvSpPr>
            <p:nvPr/>
          </p:nvSpPr>
          <p:spPr bwMode="auto">
            <a:xfrm>
              <a:off x="3847" y="2655"/>
              <a:ext cx="8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0" name="Rectangle 765"/>
            <p:cNvSpPr>
              <a:spLocks noChangeArrowheads="1"/>
            </p:cNvSpPr>
            <p:nvPr/>
          </p:nvSpPr>
          <p:spPr bwMode="auto">
            <a:xfrm>
              <a:off x="3675" y="3296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1" name="Rectangle 766"/>
            <p:cNvSpPr>
              <a:spLocks noChangeArrowheads="1"/>
            </p:cNvSpPr>
            <p:nvPr/>
          </p:nvSpPr>
          <p:spPr bwMode="auto">
            <a:xfrm>
              <a:off x="3678" y="3296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2" name="Rectangle 767"/>
            <p:cNvSpPr>
              <a:spLocks noChangeArrowheads="1"/>
            </p:cNvSpPr>
            <p:nvPr/>
          </p:nvSpPr>
          <p:spPr bwMode="auto">
            <a:xfrm>
              <a:off x="3675" y="3384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3" name="Rectangle 768"/>
            <p:cNvSpPr>
              <a:spLocks noChangeArrowheads="1"/>
            </p:cNvSpPr>
            <p:nvPr/>
          </p:nvSpPr>
          <p:spPr bwMode="auto">
            <a:xfrm>
              <a:off x="3678" y="3384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4" name="Rectangle 769"/>
            <p:cNvSpPr>
              <a:spLocks noChangeArrowheads="1"/>
            </p:cNvSpPr>
            <p:nvPr/>
          </p:nvSpPr>
          <p:spPr bwMode="auto">
            <a:xfrm>
              <a:off x="4106" y="3565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5" name="Rectangle 770"/>
            <p:cNvSpPr>
              <a:spLocks noChangeArrowheads="1"/>
            </p:cNvSpPr>
            <p:nvPr/>
          </p:nvSpPr>
          <p:spPr bwMode="auto">
            <a:xfrm>
              <a:off x="3709" y="3565"/>
              <a:ext cx="39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6" name="Rectangle 772"/>
            <p:cNvSpPr>
              <a:spLocks noChangeArrowheads="1"/>
            </p:cNvSpPr>
            <p:nvPr/>
          </p:nvSpPr>
          <p:spPr bwMode="auto">
            <a:xfrm>
              <a:off x="3931" y="3440"/>
              <a:ext cx="9" cy="13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7" name="Rectangle 774"/>
            <p:cNvSpPr>
              <a:spLocks noChangeArrowheads="1"/>
            </p:cNvSpPr>
            <p:nvPr/>
          </p:nvSpPr>
          <p:spPr bwMode="auto">
            <a:xfrm>
              <a:off x="3678" y="3565"/>
              <a:ext cx="256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8" name="Rectangle 776"/>
            <p:cNvSpPr>
              <a:spLocks noChangeArrowheads="1"/>
            </p:cNvSpPr>
            <p:nvPr/>
          </p:nvSpPr>
          <p:spPr bwMode="auto">
            <a:xfrm>
              <a:off x="3847" y="3119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79" name="Rectangle 777"/>
            <p:cNvSpPr>
              <a:spLocks noChangeArrowheads="1"/>
            </p:cNvSpPr>
            <p:nvPr/>
          </p:nvSpPr>
          <p:spPr bwMode="auto">
            <a:xfrm>
              <a:off x="4209" y="1735"/>
              <a:ext cx="9" cy="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0" name="Rectangle 778"/>
            <p:cNvSpPr>
              <a:spLocks noChangeArrowheads="1"/>
            </p:cNvSpPr>
            <p:nvPr/>
          </p:nvSpPr>
          <p:spPr bwMode="auto">
            <a:xfrm>
              <a:off x="4191" y="1555"/>
              <a:ext cx="9" cy="16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1" name="Rectangle 779"/>
            <p:cNvSpPr>
              <a:spLocks noChangeArrowheads="1"/>
            </p:cNvSpPr>
            <p:nvPr/>
          </p:nvSpPr>
          <p:spPr bwMode="auto">
            <a:xfrm>
              <a:off x="3931" y="1555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2" name="Rectangle 781"/>
            <p:cNvSpPr>
              <a:spLocks noChangeArrowheads="1"/>
            </p:cNvSpPr>
            <p:nvPr/>
          </p:nvSpPr>
          <p:spPr bwMode="auto">
            <a:xfrm>
              <a:off x="3931" y="1558"/>
              <a:ext cx="9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3" name="Rectangle 783"/>
            <p:cNvSpPr>
              <a:spLocks noChangeArrowheads="1"/>
            </p:cNvSpPr>
            <p:nvPr/>
          </p:nvSpPr>
          <p:spPr bwMode="auto">
            <a:xfrm>
              <a:off x="3978" y="1739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4" name="Rectangle 784"/>
            <p:cNvSpPr>
              <a:spLocks noChangeArrowheads="1"/>
            </p:cNvSpPr>
            <p:nvPr/>
          </p:nvSpPr>
          <p:spPr bwMode="auto">
            <a:xfrm>
              <a:off x="4103" y="1555"/>
              <a:ext cx="9" cy="18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5" name="Rectangle 786"/>
            <p:cNvSpPr>
              <a:spLocks noChangeArrowheads="1"/>
            </p:cNvSpPr>
            <p:nvPr/>
          </p:nvSpPr>
          <p:spPr bwMode="auto">
            <a:xfrm>
              <a:off x="3978" y="1555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6" name="Rectangle 788"/>
            <p:cNvSpPr>
              <a:spLocks noChangeArrowheads="1"/>
            </p:cNvSpPr>
            <p:nvPr/>
          </p:nvSpPr>
          <p:spPr bwMode="auto">
            <a:xfrm>
              <a:off x="3978" y="1823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7" name="Rectangle 789"/>
            <p:cNvSpPr>
              <a:spLocks noChangeArrowheads="1"/>
            </p:cNvSpPr>
            <p:nvPr/>
          </p:nvSpPr>
          <p:spPr bwMode="auto">
            <a:xfrm>
              <a:off x="4103" y="1826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8" name="Rectangle 791"/>
            <p:cNvSpPr>
              <a:spLocks noChangeArrowheads="1"/>
            </p:cNvSpPr>
            <p:nvPr/>
          </p:nvSpPr>
          <p:spPr bwMode="auto">
            <a:xfrm>
              <a:off x="3978" y="2007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89" name="Rectangle 793"/>
            <p:cNvSpPr>
              <a:spLocks noChangeArrowheads="1"/>
            </p:cNvSpPr>
            <p:nvPr/>
          </p:nvSpPr>
          <p:spPr bwMode="auto">
            <a:xfrm>
              <a:off x="4191" y="1850"/>
              <a:ext cx="9" cy="16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0" name="Rectangle 794"/>
            <p:cNvSpPr>
              <a:spLocks noChangeArrowheads="1"/>
            </p:cNvSpPr>
            <p:nvPr/>
          </p:nvSpPr>
          <p:spPr bwMode="auto">
            <a:xfrm>
              <a:off x="3931" y="2007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1" name="Rectangle 795"/>
            <p:cNvSpPr>
              <a:spLocks noChangeArrowheads="1"/>
            </p:cNvSpPr>
            <p:nvPr/>
          </p:nvSpPr>
          <p:spPr bwMode="auto">
            <a:xfrm>
              <a:off x="3931" y="1876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2" name="Rectangle 796"/>
            <p:cNvSpPr>
              <a:spLocks noChangeArrowheads="1"/>
            </p:cNvSpPr>
            <p:nvPr/>
          </p:nvSpPr>
          <p:spPr bwMode="auto">
            <a:xfrm>
              <a:off x="3931" y="1879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3" name="Rectangle 797"/>
            <p:cNvSpPr>
              <a:spLocks noChangeArrowheads="1"/>
            </p:cNvSpPr>
            <p:nvPr/>
          </p:nvSpPr>
          <p:spPr bwMode="auto">
            <a:xfrm>
              <a:off x="4191" y="2092"/>
              <a:ext cx="9" cy="16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4" name="Rectangle 798"/>
            <p:cNvSpPr>
              <a:spLocks noChangeArrowheads="1"/>
            </p:cNvSpPr>
            <p:nvPr/>
          </p:nvSpPr>
          <p:spPr bwMode="auto">
            <a:xfrm>
              <a:off x="3931" y="2092"/>
              <a:ext cx="26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5" name="Rectangle 799"/>
            <p:cNvSpPr>
              <a:spLocks noChangeArrowheads="1"/>
            </p:cNvSpPr>
            <p:nvPr/>
          </p:nvSpPr>
          <p:spPr bwMode="auto">
            <a:xfrm>
              <a:off x="3949" y="2069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6" name="Rectangle 800"/>
            <p:cNvSpPr>
              <a:spLocks noChangeArrowheads="1"/>
            </p:cNvSpPr>
            <p:nvPr/>
          </p:nvSpPr>
          <p:spPr bwMode="auto">
            <a:xfrm>
              <a:off x="3931" y="2095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7" name="Rectangle 802"/>
            <p:cNvSpPr>
              <a:spLocks noChangeArrowheads="1"/>
            </p:cNvSpPr>
            <p:nvPr/>
          </p:nvSpPr>
          <p:spPr bwMode="auto">
            <a:xfrm>
              <a:off x="3978" y="2275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8" name="Rectangle 803"/>
            <p:cNvSpPr>
              <a:spLocks noChangeArrowheads="1"/>
            </p:cNvSpPr>
            <p:nvPr/>
          </p:nvSpPr>
          <p:spPr bwMode="auto">
            <a:xfrm>
              <a:off x="4103" y="2092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399" name="Rectangle 805"/>
            <p:cNvSpPr>
              <a:spLocks noChangeArrowheads="1"/>
            </p:cNvSpPr>
            <p:nvPr/>
          </p:nvSpPr>
          <p:spPr bwMode="auto">
            <a:xfrm>
              <a:off x="3978" y="2092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0" name="Rectangle 807"/>
            <p:cNvSpPr>
              <a:spLocks noChangeArrowheads="1"/>
            </p:cNvSpPr>
            <p:nvPr/>
          </p:nvSpPr>
          <p:spPr bwMode="auto">
            <a:xfrm>
              <a:off x="3978" y="2360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1" name="Rectangle 808"/>
            <p:cNvSpPr>
              <a:spLocks noChangeArrowheads="1"/>
            </p:cNvSpPr>
            <p:nvPr/>
          </p:nvSpPr>
          <p:spPr bwMode="auto">
            <a:xfrm>
              <a:off x="4103" y="2363"/>
              <a:ext cx="9" cy="19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2" name="Rectangle 810"/>
            <p:cNvSpPr>
              <a:spLocks noChangeArrowheads="1"/>
            </p:cNvSpPr>
            <p:nvPr/>
          </p:nvSpPr>
          <p:spPr bwMode="auto">
            <a:xfrm>
              <a:off x="3978" y="2544"/>
              <a:ext cx="12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3" name="Rectangle 811"/>
            <p:cNvSpPr>
              <a:spLocks noChangeArrowheads="1"/>
            </p:cNvSpPr>
            <p:nvPr/>
          </p:nvSpPr>
          <p:spPr bwMode="auto">
            <a:xfrm>
              <a:off x="4191" y="2387"/>
              <a:ext cx="9" cy="16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4" name="Rectangle 812"/>
            <p:cNvSpPr>
              <a:spLocks noChangeArrowheads="1"/>
            </p:cNvSpPr>
            <p:nvPr/>
          </p:nvSpPr>
          <p:spPr bwMode="auto">
            <a:xfrm>
              <a:off x="3931" y="2544"/>
              <a:ext cx="26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5" name="Rectangle 813"/>
            <p:cNvSpPr>
              <a:spLocks noChangeArrowheads="1"/>
            </p:cNvSpPr>
            <p:nvPr/>
          </p:nvSpPr>
          <p:spPr bwMode="auto">
            <a:xfrm>
              <a:off x="3931" y="2416"/>
              <a:ext cx="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6" name="Rectangle 816"/>
            <p:cNvSpPr>
              <a:spLocks noChangeArrowheads="1"/>
            </p:cNvSpPr>
            <p:nvPr/>
          </p:nvSpPr>
          <p:spPr bwMode="auto">
            <a:xfrm>
              <a:off x="3931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7" name="Rectangle 818"/>
            <p:cNvSpPr>
              <a:spLocks noChangeArrowheads="1"/>
            </p:cNvSpPr>
            <p:nvPr/>
          </p:nvSpPr>
          <p:spPr bwMode="auto">
            <a:xfrm>
              <a:off x="3978" y="3296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8" name="Rectangle 819"/>
            <p:cNvSpPr>
              <a:spLocks noChangeArrowheads="1"/>
            </p:cNvSpPr>
            <p:nvPr/>
          </p:nvSpPr>
          <p:spPr bwMode="auto">
            <a:xfrm>
              <a:off x="4121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09" name="Rectangle 820"/>
            <p:cNvSpPr>
              <a:spLocks noChangeArrowheads="1"/>
            </p:cNvSpPr>
            <p:nvPr/>
          </p:nvSpPr>
          <p:spPr bwMode="auto">
            <a:xfrm>
              <a:off x="4103" y="3119"/>
              <a:ext cx="9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0" name="Rectangle 822"/>
            <p:cNvSpPr>
              <a:spLocks noChangeArrowheads="1"/>
            </p:cNvSpPr>
            <p:nvPr/>
          </p:nvSpPr>
          <p:spPr bwMode="auto">
            <a:xfrm>
              <a:off x="3978" y="3384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1" name="Rectangle 823"/>
            <p:cNvSpPr>
              <a:spLocks noChangeArrowheads="1"/>
            </p:cNvSpPr>
            <p:nvPr/>
          </p:nvSpPr>
          <p:spPr bwMode="auto">
            <a:xfrm>
              <a:off x="4103" y="3387"/>
              <a:ext cx="9" cy="18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2" name="Rectangle 825"/>
            <p:cNvSpPr>
              <a:spLocks noChangeArrowheads="1"/>
            </p:cNvSpPr>
            <p:nvPr/>
          </p:nvSpPr>
          <p:spPr bwMode="auto">
            <a:xfrm>
              <a:off x="3978" y="3565"/>
              <a:ext cx="12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3" name="Rectangle 826"/>
            <p:cNvSpPr>
              <a:spLocks noChangeArrowheads="1"/>
            </p:cNvSpPr>
            <p:nvPr/>
          </p:nvSpPr>
          <p:spPr bwMode="auto">
            <a:xfrm>
              <a:off x="3949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4" name="Rectangle 827"/>
            <p:cNvSpPr>
              <a:spLocks noChangeArrowheads="1"/>
            </p:cNvSpPr>
            <p:nvPr/>
          </p:nvSpPr>
          <p:spPr bwMode="auto">
            <a:xfrm>
              <a:off x="3931" y="3119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5" name="Rectangle 828"/>
            <p:cNvSpPr>
              <a:spLocks noChangeArrowheads="1"/>
            </p:cNvSpPr>
            <p:nvPr/>
          </p:nvSpPr>
          <p:spPr bwMode="auto">
            <a:xfrm>
              <a:off x="3826" y="1987"/>
              <a:ext cx="12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6" name="Rectangle 829"/>
            <p:cNvSpPr>
              <a:spLocks noChangeArrowheads="1"/>
            </p:cNvSpPr>
            <p:nvPr/>
          </p:nvSpPr>
          <p:spPr bwMode="auto">
            <a:xfrm>
              <a:off x="3826" y="1984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7" name="Rectangle 830"/>
            <p:cNvSpPr>
              <a:spLocks noChangeArrowheads="1"/>
            </p:cNvSpPr>
            <p:nvPr/>
          </p:nvSpPr>
          <p:spPr bwMode="auto">
            <a:xfrm>
              <a:off x="3955" y="1987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8" name="Rectangle 831"/>
            <p:cNvSpPr>
              <a:spLocks noChangeArrowheads="1"/>
            </p:cNvSpPr>
            <p:nvPr/>
          </p:nvSpPr>
          <p:spPr bwMode="auto">
            <a:xfrm>
              <a:off x="3823" y="2115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19" name="Rectangle 832"/>
            <p:cNvSpPr>
              <a:spLocks noChangeArrowheads="1"/>
            </p:cNvSpPr>
            <p:nvPr/>
          </p:nvSpPr>
          <p:spPr bwMode="auto">
            <a:xfrm>
              <a:off x="3823" y="1984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0" name="Rectangle 834"/>
            <p:cNvSpPr>
              <a:spLocks noChangeArrowheads="1"/>
            </p:cNvSpPr>
            <p:nvPr/>
          </p:nvSpPr>
          <p:spPr bwMode="auto">
            <a:xfrm>
              <a:off x="4191" y="3411"/>
              <a:ext cx="9" cy="16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1" name="Rectangle 835"/>
            <p:cNvSpPr>
              <a:spLocks noChangeArrowheads="1"/>
            </p:cNvSpPr>
            <p:nvPr/>
          </p:nvSpPr>
          <p:spPr bwMode="auto">
            <a:xfrm>
              <a:off x="3931" y="3565"/>
              <a:ext cx="26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2" name="Rectangle 837"/>
            <p:cNvSpPr>
              <a:spLocks noChangeArrowheads="1"/>
            </p:cNvSpPr>
            <p:nvPr/>
          </p:nvSpPr>
          <p:spPr bwMode="auto">
            <a:xfrm>
              <a:off x="3931" y="3440"/>
              <a:ext cx="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3" name="Rectangle 838"/>
            <p:cNvSpPr>
              <a:spLocks noChangeArrowheads="1"/>
            </p:cNvSpPr>
            <p:nvPr/>
          </p:nvSpPr>
          <p:spPr bwMode="auto">
            <a:xfrm>
              <a:off x="4209" y="1571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4" name="Rectangle 839"/>
            <p:cNvSpPr>
              <a:spLocks noChangeArrowheads="1"/>
            </p:cNvSpPr>
            <p:nvPr/>
          </p:nvSpPr>
          <p:spPr bwMode="auto">
            <a:xfrm>
              <a:off x="4194" y="1555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5" name="Rectangle 840"/>
            <p:cNvSpPr>
              <a:spLocks noChangeArrowheads="1"/>
            </p:cNvSpPr>
            <p:nvPr/>
          </p:nvSpPr>
          <p:spPr bwMode="auto">
            <a:xfrm>
              <a:off x="3675" y="1471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6" name="Rectangle 841"/>
            <p:cNvSpPr>
              <a:spLocks noChangeArrowheads="1"/>
            </p:cNvSpPr>
            <p:nvPr/>
          </p:nvSpPr>
          <p:spPr bwMode="auto">
            <a:xfrm>
              <a:off x="3678" y="1471"/>
              <a:ext cx="708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7" name="Rectangle 842"/>
            <p:cNvSpPr>
              <a:spLocks noChangeArrowheads="1"/>
            </p:cNvSpPr>
            <p:nvPr/>
          </p:nvSpPr>
          <p:spPr bwMode="auto">
            <a:xfrm>
              <a:off x="4209" y="2023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8" name="Rectangle 843"/>
            <p:cNvSpPr>
              <a:spLocks noChangeArrowheads="1"/>
            </p:cNvSpPr>
            <p:nvPr/>
          </p:nvSpPr>
          <p:spPr bwMode="auto">
            <a:xfrm>
              <a:off x="4194" y="2007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29" name="Rectangle 844"/>
            <p:cNvSpPr>
              <a:spLocks noChangeArrowheads="1"/>
            </p:cNvSpPr>
            <p:nvPr/>
          </p:nvSpPr>
          <p:spPr bwMode="auto">
            <a:xfrm>
              <a:off x="4209" y="1755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0" name="Rectangle 845"/>
            <p:cNvSpPr>
              <a:spLocks noChangeArrowheads="1"/>
            </p:cNvSpPr>
            <p:nvPr/>
          </p:nvSpPr>
          <p:spPr bwMode="auto">
            <a:xfrm>
              <a:off x="4194" y="1739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1" name="Rectangle 846"/>
            <p:cNvSpPr>
              <a:spLocks noChangeArrowheads="1"/>
            </p:cNvSpPr>
            <p:nvPr/>
          </p:nvSpPr>
          <p:spPr bwMode="auto">
            <a:xfrm>
              <a:off x="4209" y="1839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2" name="Rectangle 847"/>
            <p:cNvSpPr>
              <a:spLocks noChangeArrowheads="1"/>
            </p:cNvSpPr>
            <p:nvPr/>
          </p:nvSpPr>
          <p:spPr bwMode="auto">
            <a:xfrm>
              <a:off x="4194" y="1823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3" name="Rectangle 848"/>
            <p:cNvSpPr>
              <a:spLocks noChangeArrowheads="1"/>
            </p:cNvSpPr>
            <p:nvPr/>
          </p:nvSpPr>
          <p:spPr bwMode="auto">
            <a:xfrm>
              <a:off x="4209" y="256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4" name="Rectangle 849"/>
            <p:cNvSpPr>
              <a:spLocks noChangeArrowheads="1"/>
            </p:cNvSpPr>
            <p:nvPr/>
          </p:nvSpPr>
          <p:spPr bwMode="auto">
            <a:xfrm>
              <a:off x="4194" y="2544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5" name="Rectangle 850"/>
            <p:cNvSpPr>
              <a:spLocks noChangeArrowheads="1"/>
            </p:cNvSpPr>
            <p:nvPr/>
          </p:nvSpPr>
          <p:spPr bwMode="auto">
            <a:xfrm>
              <a:off x="3675" y="2628"/>
              <a:ext cx="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6" name="Rectangle 851"/>
            <p:cNvSpPr>
              <a:spLocks noChangeArrowheads="1"/>
            </p:cNvSpPr>
            <p:nvPr/>
          </p:nvSpPr>
          <p:spPr bwMode="auto">
            <a:xfrm>
              <a:off x="3678" y="2628"/>
              <a:ext cx="708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7" name="Rectangle 852"/>
            <p:cNvSpPr>
              <a:spLocks noChangeArrowheads="1"/>
            </p:cNvSpPr>
            <p:nvPr/>
          </p:nvSpPr>
          <p:spPr bwMode="auto">
            <a:xfrm>
              <a:off x="4209" y="2291"/>
              <a:ext cx="3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8" name="Rectangle 853"/>
            <p:cNvSpPr>
              <a:spLocks noChangeArrowheads="1"/>
            </p:cNvSpPr>
            <p:nvPr/>
          </p:nvSpPr>
          <p:spPr bwMode="auto">
            <a:xfrm>
              <a:off x="4194" y="2275"/>
              <a:ext cx="192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39" name="Rectangle 854"/>
            <p:cNvSpPr>
              <a:spLocks noChangeArrowheads="1"/>
            </p:cNvSpPr>
            <p:nvPr/>
          </p:nvSpPr>
          <p:spPr bwMode="auto">
            <a:xfrm>
              <a:off x="4209" y="2376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0" name="Rectangle 855"/>
            <p:cNvSpPr>
              <a:spLocks noChangeArrowheads="1"/>
            </p:cNvSpPr>
            <p:nvPr/>
          </p:nvSpPr>
          <p:spPr bwMode="auto">
            <a:xfrm>
              <a:off x="4194" y="2360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1" name="Rectangle 856"/>
            <p:cNvSpPr>
              <a:spLocks noChangeArrowheads="1"/>
            </p:cNvSpPr>
            <p:nvPr/>
          </p:nvSpPr>
          <p:spPr bwMode="auto">
            <a:xfrm>
              <a:off x="4209" y="2108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2" name="Rectangle 857"/>
            <p:cNvSpPr>
              <a:spLocks noChangeArrowheads="1"/>
            </p:cNvSpPr>
            <p:nvPr/>
          </p:nvSpPr>
          <p:spPr bwMode="auto">
            <a:xfrm>
              <a:off x="4194" y="2092"/>
              <a:ext cx="192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3" name="Rectangle 858"/>
            <p:cNvSpPr>
              <a:spLocks noChangeArrowheads="1"/>
            </p:cNvSpPr>
            <p:nvPr/>
          </p:nvSpPr>
          <p:spPr bwMode="auto">
            <a:xfrm>
              <a:off x="4209" y="3581"/>
              <a:ext cx="3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4" name="Rectangle 859"/>
            <p:cNvSpPr>
              <a:spLocks noChangeArrowheads="1"/>
            </p:cNvSpPr>
            <p:nvPr/>
          </p:nvSpPr>
          <p:spPr bwMode="auto">
            <a:xfrm>
              <a:off x="4194" y="3565"/>
              <a:ext cx="192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5" name="Rectangle 860"/>
            <p:cNvSpPr>
              <a:spLocks noChangeArrowheads="1"/>
            </p:cNvSpPr>
            <p:nvPr/>
          </p:nvSpPr>
          <p:spPr bwMode="auto">
            <a:xfrm>
              <a:off x="4209" y="3312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6" name="Rectangle 861"/>
            <p:cNvSpPr>
              <a:spLocks noChangeArrowheads="1"/>
            </p:cNvSpPr>
            <p:nvPr/>
          </p:nvSpPr>
          <p:spPr bwMode="auto">
            <a:xfrm>
              <a:off x="4194" y="3296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7" name="Rectangle 862"/>
            <p:cNvSpPr>
              <a:spLocks noChangeArrowheads="1"/>
            </p:cNvSpPr>
            <p:nvPr/>
          </p:nvSpPr>
          <p:spPr bwMode="auto">
            <a:xfrm>
              <a:off x="4209" y="3400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8" name="Rectangle 863"/>
            <p:cNvSpPr>
              <a:spLocks noChangeArrowheads="1"/>
            </p:cNvSpPr>
            <p:nvPr/>
          </p:nvSpPr>
          <p:spPr bwMode="auto">
            <a:xfrm>
              <a:off x="4194" y="3384"/>
              <a:ext cx="192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49" name="Rectangle 864"/>
            <p:cNvSpPr>
              <a:spLocks noChangeArrowheads="1"/>
            </p:cNvSpPr>
            <p:nvPr/>
          </p:nvSpPr>
          <p:spPr bwMode="auto">
            <a:xfrm>
              <a:off x="3675" y="3652"/>
              <a:ext cx="3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0" name="Rectangle 865"/>
            <p:cNvSpPr>
              <a:spLocks noChangeArrowheads="1"/>
            </p:cNvSpPr>
            <p:nvPr/>
          </p:nvSpPr>
          <p:spPr bwMode="auto">
            <a:xfrm>
              <a:off x="3678" y="3652"/>
              <a:ext cx="708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1" name="Rectangle 866"/>
            <p:cNvSpPr>
              <a:spLocks noChangeArrowheads="1"/>
            </p:cNvSpPr>
            <p:nvPr/>
          </p:nvSpPr>
          <p:spPr bwMode="auto">
            <a:xfrm>
              <a:off x="4083" y="1719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2" name="Rectangle 867"/>
            <p:cNvSpPr>
              <a:spLocks noChangeArrowheads="1"/>
            </p:cNvSpPr>
            <p:nvPr/>
          </p:nvSpPr>
          <p:spPr bwMode="auto">
            <a:xfrm>
              <a:off x="4083" y="1716"/>
              <a:ext cx="140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3" name="Rectangle 868"/>
            <p:cNvSpPr>
              <a:spLocks noChangeArrowheads="1"/>
            </p:cNvSpPr>
            <p:nvPr/>
          </p:nvSpPr>
          <p:spPr bwMode="auto">
            <a:xfrm>
              <a:off x="4214" y="1719"/>
              <a:ext cx="9" cy="13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4" name="Rectangle 869"/>
            <p:cNvSpPr>
              <a:spLocks noChangeArrowheads="1"/>
            </p:cNvSpPr>
            <p:nvPr/>
          </p:nvSpPr>
          <p:spPr bwMode="auto">
            <a:xfrm>
              <a:off x="4080" y="1847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5" name="Rectangle 870"/>
            <p:cNvSpPr>
              <a:spLocks noChangeArrowheads="1"/>
            </p:cNvSpPr>
            <p:nvPr/>
          </p:nvSpPr>
          <p:spPr bwMode="auto">
            <a:xfrm>
              <a:off x="4080" y="1716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6" name="Rectangle 871"/>
            <p:cNvSpPr>
              <a:spLocks noChangeArrowheads="1"/>
            </p:cNvSpPr>
            <p:nvPr/>
          </p:nvSpPr>
          <p:spPr bwMode="auto">
            <a:xfrm>
              <a:off x="4083" y="2255"/>
              <a:ext cx="131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7" name="Rectangle 872"/>
            <p:cNvSpPr>
              <a:spLocks noChangeArrowheads="1"/>
            </p:cNvSpPr>
            <p:nvPr/>
          </p:nvSpPr>
          <p:spPr bwMode="auto">
            <a:xfrm>
              <a:off x="4083" y="2252"/>
              <a:ext cx="140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8" name="Rectangle 873"/>
            <p:cNvSpPr>
              <a:spLocks noChangeArrowheads="1"/>
            </p:cNvSpPr>
            <p:nvPr/>
          </p:nvSpPr>
          <p:spPr bwMode="auto">
            <a:xfrm>
              <a:off x="4214" y="2255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59" name="Rectangle 874"/>
            <p:cNvSpPr>
              <a:spLocks noChangeArrowheads="1"/>
            </p:cNvSpPr>
            <p:nvPr/>
          </p:nvSpPr>
          <p:spPr bwMode="auto">
            <a:xfrm>
              <a:off x="4080" y="2384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0" name="Rectangle 875"/>
            <p:cNvSpPr>
              <a:spLocks noChangeArrowheads="1"/>
            </p:cNvSpPr>
            <p:nvPr/>
          </p:nvSpPr>
          <p:spPr bwMode="auto">
            <a:xfrm>
              <a:off x="4080" y="2252"/>
              <a:ext cx="8" cy="13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1" name="Rectangle 876"/>
            <p:cNvSpPr>
              <a:spLocks noChangeArrowheads="1"/>
            </p:cNvSpPr>
            <p:nvPr/>
          </p:nvSpPr>
          <p:spPr bwMode="auto">
            <a:xfrm>
              <a:off x="4083" y="2523"/>
              <a:ext cx="131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2" name="Rectangle 877"/>
            <p:cNvSpPr>
              <a:spLocks noChangeArrowheads="1"/>
            </p:cNvSpPr>
            <p:nvPr/>
          </p:nvSpPr>
          <p:spPr bwMode="auto">
            <a:xfrm>
              <a:off x="4083" y="2521"/>
              <a:ext cx="140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3" name="Rectangle 878"/>
            <p:cNvSpPr>
              <a:spLocks noChangeArrowheads="1"/>
            </p:cNvSpPr>
            <p:nvPr/>
          </p:nvSpPr>
          <p:spPr bwMode="auto">
            <a:xfrm>
              <a:off x="4214" y="2523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4" name="Rectangle 879"/>
            <p:cNvSpPr>
              <a:spLocks noChangeArrowheads="1"/>
            </p:cNvSpPr>
            <p:nvPr/>
          </p:nvSpPr>
          <p:spPr bwMode="auto">
            <a:xfrm>
              <a:off x="4080" y="2652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5" name="Rectangle 880"/>
            <p:cNvSpPr>
              <a:spLocks noChangeArrowheads="1"/>
            </p:cNvSpPr>
            <p:nvPr/>
          </p:nvSpPr>
          <p:spPr bwMode="auto">
            <a:xfrm>
              <a:off x="4080" y="2521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6" name="Rectangle 881"/>
            <p:cNvSpPr>
              <a:spLocks noChangeArrowheads="1"/>
            </p:cNvSpPr>
            <p:nvPr/>
          </p:nvSpPr>
          <p:spPr bwMode="auto">
            <a:xfrm>
              <a:off x="4083" y="1987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7" name="Rectangle 882"/>
            <p:cNvSpPr>
              <a:spLocks noChangeArrowheads="1"/>
            </p:cNvSpPr>
            <p:nvPr/>
          </p:nvSpPr>
          <p:spPr bwMode="auto">
            <a:xfrm>
              <a:off x="4083" y="1984"/>
              <a:ext cx="140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8" name="Rectangle 883"/>
            <p:cNvSpPr>
              <a:spLocks noChangeArrowheads="1"/>
            </p:cNvSpPr>
            <p:nvPr/>
          </p:nvSpPr>
          <p:spPr bwMode="auto">
            <a:xfrm>
              <a:off x="4214" y="1987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69" name="Rectangle 884"/>
            <p:cNvSpPr>
              <a:spLocks noChangeArrowheads="1"/>
            </p:cNvSpPr>
            <p:nvPr/>
          </p:nvSpPr>
          <p:spPr bwMode="auto">
            <a:xfrm>
              <a:off x="4080" y="2115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70" name="Rectangle 885"/>
            <p:cNvSpPr>
              <a:spLocks noChangeArrowheads="1"/>
            </p:cNvSpPr>
            <p:nvPr/>
          </p:nvSpPr>
          <p:spPr bwMode="auto">
            <a:xfrm>
              <a:off x="4080" y="1984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71" name="Rectangle 888"/>
            <p:cNvSpPr>
              <a:spLocks noChangeArrowheads="1"/>
            </p:cNvSpPr>
            <p:nvPr/>
          </p:nvSpPr>
          <p:spPr bwMode="auto">
            <a:xfrm>
              <a:off x="4191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72" name="Rectangle 891"/>
            <p:cNvSpPr>
              <a:spLocks noChangeArrowheads="1"/>
            </p:cNvSpPr>
            <p:nvPr/>
          </p:nvSpPr>
          <p:spPr bwMode="auto">
            <a:xfrm>
              <a:off x="4103" y="2655"/>
              <a:ext cx="9" cy="16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73" name="Freeform 892"/>
            <p:cNvSpPr>
              <a:spLocks/>
            </p:cNvSpPr>
            <p:nvPr/>
          </p:nvSpPr>
          <p:spPr bwMode="auto">
            <a:xfrm>
              <a:off x="4141" y="3019"/>
              <a:ext cx="18" cy="15"/>
            </a:xfrm>
            <a:custGeom>
              <a:avLst/>
              <a:gdLst>
                <a:gd name="T0" fmla="*/ 1 w 35"/>
                <a:gd name="T1" fmla="*/ 1 h 30"/>
                <a:gd name="T2" fmla="*/ 1 w 35"/>
                <a:gd name="T3" fmla="*/ 1 h 30"/>
                <a:gd name="T4" fmla="*/ 1 w 35"/>
                <a:gd name="T5" fmla="*/ 1 h 30"/>
                <a:gd name="T6" fmla="*/ 1 w 35"/>
                <a:gd name="T7" fmla="*/ 1 h 30"/>
                <a:gd name="T8" fmla="*/ 1 w 35"/>
                <a:gd name="T9" fmla="*/ 0 h 30"/>
                <a:gd name="T10" fmla="*/ 1 w 35"/>
                <a:gd name="T11" fmla="*/ 1 h 30"/>
                <a:gd name="T12" fmla="*/ 0 w 35"/>
                <a:gd name="T13" fmla="*/ 1 h 30"/>
                <a:gd name="T14" fmla="*/ 1 w 35"/>
                <a:gd name="T15" fmla="*/ 1 h 30"/>
                <a:gd name="T16" fmla="*/ 1 w 35"/>
                <a:gd name="T17" fmla="*/ 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30"/>
                <a:gd name="T29" fmla="*/ 35 w 35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30">
                  <a:moveTo>
                    <a:pt x="17" y="30"/>
                  </a:moveTo>
                  <a:lnTo>
                    <a:pt x="29" y="25"/>
                  </a:lnTo>
                  <a:lnTo>
                    <a:pt x="35" y="19"/>
                  </a:lnTo>
                  <a:lnTo>
                    <a:pt x="29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19"/>
                  </a:lnTo>
                  <a:lnTo>
                    <a:pt x="6" y="25"/>
                  </a:lnTo>
                  <a:lnTo>
                    <a:pt x="17" y="3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74" name="Freeform 893"/>
            <p:cNvSpPr>
              <a:spLocks/>
            </p:cNvSpPr>
            <p:nvPr/>
          </p:nvSpPr>
          <p:spPr bwMode="auto">
            <a:xfrm>
              <a:off x="4135" y="3017"/>
              <a:ext cx="26" cy="23"/>
            </a:xfrm>
            <a:custGeom>
              <a:avLst/>
              <a:gdLst>
                <a:gd name="T0" fmla="*/ 0 w 53"/>
                <a:gd name="T1" fmla="*/ 1 h 46"/>
                <a:gd name="T2" fmla="*/ 0 w 53"/>
                <a:gd name="T3" fmla="*/ 1 h 46"/>
                <a:gd name="T4" fmla="*/ 0 w 53"/>
                <a:gd name="T5" fmla="*/ 1 h 46"/>
                <a:gd name="T6" fmla="*/ 0 w 53"/>
                <a:gd name="T7" fmla="*/ 1 h 46"/>
                <a:gd name="T8" fmla="*/ 0 w 53"/>
                <a:gd name="T9" fmla="*/ 1 h 46"/>
                <a:gd name="T10" fmla="*/ 0 w 53"/>
                <a:gd name="T11" fmla="*/ 1 h 46"/>
                <a:gd name="T12" fmla="*/ 0 w 53"/>
                <a:gd name="T13" fmla="*/ 1 h 46"/>
                <a:gd name="T14" fmla="*/ 0 w 53"/>
                <a:gd name="T15" fmla="*/ 1 h 46"/>
                <a:gd name="T16" fmla="*/ 0 w 53"/>
                <a:gd name="T17" fmla="*/ 1 h 46"/>
                <a:gd name="T18" fmla="*/ 0 w 53"/>
                <a:gd name="T19" fmla="*/ 1 h 46"/>
                <a:gd name="T20" fmla="*/ 0 w 53"/>
                <a:gd name="T21" fmla="*/ 1 h 46"/>
                <a:gd name="T22" fmla="*/ 0 w 53"/>
                <a:gd name="T23" fmla="*/ 1 h 46"/>
                <a:gd name="T24" fmla="*/ 0 w 53"/>
                <a:gd name="T25" fmla="*/ 1 h 46"/>
                <a:gd name="T26" fmla="*/ 0 w 53"/>
                <a:gd name="T27" fmla="*/ 1 h 46"/>
                <a:gd name="T28" fmla="*/ 0 w 53"/>
                <a:gd name="T29" fmla="*/ 1 h 46"/>
                <a:gd name="T30" fmla="*/ 0 w 53"/>
                <a:gd name="T31" fmla="*/ 1 h 46"/>
                <a:gd name="T32" fmla="*/ 0 w 53"/>
                <a:gd name="T33" fmla="*/ 1 h 46"/>
                <a:gd name="T34" fmla="*/ 0 w 53"/>
                <a:gd name="T35" fmla="*/ 1 h 46"/>
                <a:gd name="T36" fmla="*/ 0 w 53"/>
                <a:gd name="T37" fmla="*/ 1 h 46"/>
                <a:gd name="T38" fmla="*/ 0 w 53"/>
                <a:gd name="T39" fmla="*/ 1 h 46"/>
                <a:gd name="T40" fmla="*/ 0 w 53"/>
                <a:gd name="T41" fmla="*/ 1 h 46"/>
                <a:gd name="T42" fmla="*/ 0 w 53"/>
                <a:gd name="T43" fmla="*/ 1 h 46"/>
                <a:gd name="T44" fmla="*/ 0 w 53"/>
                <a:gd name="T45" fmla="*/ 1 h 46"/>
                <a:gd name="T46" fmla="*/ 0 w 53"/>
                <a:gd name="T47" fmla="*/ 1 h 46"/>
                <a:gd name="T48" fmla="*/ 0 w 53"/>
                <a:gd name="T49" fmla="*/ 1 h 46"/>
                <a:gd name="T50" fmla="*/ 0 w 53"/>
                <a:gd name="T51" fmla="*/ 1 h 46"/>
                <a:gd name="T52" fmla="*/ 0 w 53"/>
                <a:gd name="T53" fmla="*/ 1 h 46"/>
                <a:gd name="T54" fmla="*/ 0 w 53"/>
                <a:gd name="T55" fmla="*/ 1 h 46"/>
                <a:gd name="T56" fmla="*/ 0 w 53"/>
                <a:gd name="T57" fmla="*/ 1 h 46"/>
                <a:gd name="T58" fmla="*/ 0 w 53"/>
                <a:gd name="T59" fmla="*/ 1 h 46"/>
                <a:gd name="T60" fmla="*/ 0 w 53"/>
                <a:gd name="T61" fmla="*/ 1 h 46"/>
                <a:gd name="T62" fmla="*/ 0 w 53"/>
                <a:gd name="T63" fmla="*/ 1 h 46"/>
                <a:gd name="T64" fmla="*/ 0 w 53"/>
                <a:gd name="T65" fmla="*/ 1 h 46"/>
                <a:gd name="T66" fmla="*/ 0 w 53"/>
                <a:gd name="T67" fmla="*/ 1 h 46"/>
                <a:gd name="T68" fmla="*/ 0 w 53"/>
                <a:gd name="T69" fmla="*/ 1 h 46"/>
                <a:gd name="T70" fmla="*/ 0 w 53"/>
                <a:gd name="T71" fmla="*/ 0 h 46"/>
                <a:gd name="T72" fmla="*/ 0 w 53"/>
                <a:gd name="T73" fmla="*/ 0 h 46"/>
                <a:gd name="T74" fmla="*/ 0 w 53"/>
                <a:gd name="T75" fmla="*/ 0 h 46"/>
                <a:gd name="T76" fmla="*/ 0 w 53"/>
                <a:gd name="T77" fmla="*/ 1 h 46"/>
                <a:gd name="T78" fmla="*/ 0 w 53"/>
                <a:gd name="T79" fmla="*/ 1 h 46"/>
                <a:gd name="T80" fmla="*/ 0 w 53"/>
                <a:gd name="T81" fmla="*/ 1 h 46"/>
                <a:gd name="T82" fmla="*/ 0 w 53"/>
                <a:gd name="T83" fmla="*/ 1 h 46"/>
                <a:gd name="T84" fmla="*/ 0 w 53"/>
                <a:gd name="T85" fmla="*/ 1 h 46"/>
                <a:gd name="T86" fmla="*/ 0 w 53"/>
                <a:gd name="T87" fmla="*/ 1 h 46"/>
                <a:gd name="T88" fmla="*/ 0 w 53"/>
                <a:gd name="T89" fmla="*/ 1 h 46"/>
                <a:gd name="T90" fmla="*/ 0 w 53"/>
                <a:gd name="T91" fmla="*/ 1 h 46"/>
                <a:gd name="T92" fmla="*/ 0 w 53"/>
                <a:gd name="T93" fmla="*/ 1 h 46"/>
                <a:gd name="T94" fmla="*/ 0 w 53"/>
                <a:gd name="T95" fmla="*/ 1 h 46"/>
                <a:gd name="T96" fmla="*/ 0 w 53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3"/>
                <a:gd name="T148" fmla="*/ 0 h 46"/>
                <a:gd name="T149" fmla="*/ 53 w 53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3" h="46">
                  <a:moveTo>
                    <a:pt x="24" y="29"/>
                  </a:moveTo>
                  <a:lnTo>
                    <a:pt x="36" y="23"/>
                  </a:lnTo>
                  <a:lnTo>
                    <a:pt x="42" y="17"/>
                  </a:lnTo>
                  <a:lnTo>
                    <a:pt x="36" y="29"/>
                  </a:lnTo>
                  <a:lnTo>
                    <a:pt x="30" y="17"/>
                  </a:lnTo>
                  <a:lnTo>
                    <a:pt x="36" y="23"/>
                  </a:lnTo>
                  <a:lnTo>
                    <a:pt x="24" y="17"/>
                  </a:lnTo>
                  <a:lnTo>
                    <a:pt x="30" y="17"/>
                  </a:lnTo>
                  <a:lnTo>
                    <a:pt x="19" y="23"/>
                  </a:lnTo>
                  <a:lnTo>
                    <a:pt x="24" y="17"/>
                  </a:lnTo>
                  <a:lnTo>
                    <a:pt x="19" y="29"/>
                  </a:lnTo>
                  <a:lnTo>
                    <a:pt x="19" y="17"/>
                  </a:lnTo>
                  <a:lnTo>
                    <a:pt x="24" y="23"/>
                  </a:lnTo>
                  <a:lnTo>
                    <a:pt x="19" y="23"/>
                  </a:lnTo>
                  <a:lnTo>
                    <a:pt x="30" y="29"/>
                  </a:lnTo>
                  <a:lnTo>
                    <a:pt x="24" y="46"/>
                  </a:lnTo>
                  <a:lnTo>
                    <a:pt x="13" y="40"/>
                  </a:lnTo>
                  <a:lnTo>
                    <a:pt x="13" y="34"/>
                  </a:lnTo>
                  <a:lnTo>
                    <a:pt x="7" y="29"/>
                  </a:lnTo>
                  <a:lnTo>
                    <a:pt x="0" y="23"/>
                  </a:lnTo>
                  <a:lnTo>
                    <a:pt x="7" y="10"/>
                  </a:lnTo>
                  <a:lnTo>
                    <a:pt x="13" y="4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42" y="4"/>
                  </a:lnTo>
                  <a:lnTo>
                    <a:pt x="48" y="10"/>
                  </a:lnTo>
                  <a:lnTo>
                    <a:pt x="53" y="23"/>
                  </a:lnTo>
                  <a:lnTo>
                    <a:pt x="53" y="29"/>
                  </a:lnTo>
                  <a:lnTo>
                    <a:pt x="48" y="34"/>
                  </a:lnTo>
                  <a:lnTo>
                    <a:pt x="42" y="40"/>
                  </a:lnTo>
                  <a:lnTo>
                    <a:pt x="30" y="46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75" name="Freeform 894"/>
            <p:cNvSpPr>
              <a:spLocks/>
            </p:cNvSpPr>
            <p:nvPr/>
          </p:nvSpPr>
          <p:spPr bwMode="auto">
            <a:xfrm>
              <a:off x="4147" y="3031"/>
              <a:ext cx="3" cy="9"/>
            </a:xfrm>
            <a:custGeom>
              <a:avLst/>
              <a:gdLst>
                <a:gd name="T0" fmla="*/ 1 w 6"/>
                <a:gd name="T1" fmla="*/ 0 h 17"/>
                <a:gd name="T2" fmla="*/ 1 w 6"/>
                <a:gd name="T3" fmla="*/ 0 h 17"/>
                <a:gd name="T4" fmla="*/ 0 w 6"/>
                <a:gd name="T5" fmla="*/ 0 h 17"/>
                <a:gd name="T6" fmla="*/ 1 w 6"/>
                <a:gd name="T7" fmla="*/ 1 h 17"/>
                <a:gd name="T8" fmla="*/ 0 w 6"/>
                <a:gd name="T9" fmla="*/ 1 h 17"/>
                <a:gd name="T10" fmla="*/ 0 w 6"/>
                <a:gd name="T11" fmla="*/ 1 h 17"/>
                <a:gd name="T12" fmla="*/ 1 w 6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6" y="0"/>
                  </a:moveTo>
                  <a:lnTo>
                    <a:pt x="6" y="0"/>
                  </a:lnTo>
                  <a:lnTo>
                    <a:pt x="0" y="0"/>
                  </a:lnTo>
                  <a:lnTo>
                    <a:pt x="6" y="17"/>
                  </a:lnTo>
                  <a:lnTo>
                    <a:pt x="0" y="1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76" name="Freeform 895"/>
            <p:cNvSpPr>
              <a:spLocks/>
            </p:cNvSpPr>
            <p:nvPr/>
          </p:nvSpPr>
          <p:spPr bwMode="auto">
            <a:xfrm>
              <a:off x="4141" y="2961"/>
              <a:ext cx="18" cy="14"/>
            </a:xfrm>
            <a:custGeom>
              <a:avLst/>
              <a:gdLst>
                <a:gd name="T0" fmla="*/ 1 w 35"/>
                <a:gd name="T1" fmla="*/ 0 h 29"/>
                <a:gd name="T2" fmla="*/ 1 w 35"/>
                <a:gd name="T3" fmla="*/ 0 h 29"/>
                <a:gd name="T4" fmla="*/ 1 w 35"/>
                <a:gd name="T5" fmla="*/ 0 h 29"/>
                <a:gd name="T6" fmla="*/ 1 w 35"/>
                <a:gd name="T7" fmla="*/ 0 h 29"/>
                <a:gd name="T8" fmla="*/ 1 w 35"/>
                <a:gd name="T9" fmla="*/ 0 h 29"/>
                <a:gd name="T10" fmla="*/ 1 w 35"/>
                <a:gd name="T11" fmla="*/ 0 h 29"/>
                <a:gd name="T12" fmla="*/ 0 w 35"/>
                <a:gd name="T13" fmla="*/ 0 h 29"/>
                <a:gd name="T14" fmla="*/ 1 w 35"/>
                <a:gd name="T15" fmla="*/ 0 h 29"/>
                <a:gd name="T16" fmla="*/ 1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7" y="29"/>
                  </a:move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7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77" name="Freeform 896"/>
            <p:cNvSpPr>
              <a:spLocks/>
            </p:cNvSpPr>
            <p:nvPr/>
          </p:nvSpPr>
          <p:spPr bwMode="auto">
            <a:xfrm>
              <a:off x="4135" y="2958"/>
              <a:ext cx="26" cy="24"/>
            </a:xfrm>
            <a:custGeom>
              <a:avLst/>
              <a:gdLst>
                <a:gd name="T0" fmla="*/ 0 w 53"/>
                <a:gd name="T1" fmla="*/ 1 h 46"/>
                <a:gd name="T2" fmla="*/ 0 w 53"/>
                <a:gd name="T3" fmla="*/ 1 h 46"/>
                <a:gd name="T4" fmla="*/ 0 w 53"/>
                <a:gd name="T5" fmla="*/ 1 h 46"/>
                <a:gd name="T6" fmla="*/ 0 w 53"/>
                <a:gd name="T7" fmla="*/ 1 h 46"/>
                <a:gd name="T8" fmla="*/ 0 w 53"/>
                <a:gd name="T9" fmla="*/ 1 h 46"/>
                <a:gd name="T10" fmla="*/ 0 w 53"/>
                <a:gd name="T11" fmla="*/ 1 h 46"/>
                <a:gd name="T12" fmla="*/ 0 w 53"/>
                <a:gd name="T13" fmla="*/ 1 h 46"/>
                <a:gd name="T14" fmla="*/ 0 w 53"/>
                <a:gd name="T15" fmla="*/ 1 h 46"/>
                <a:gd name="T16" fmla="*/ 0 w 53"/>
                <a:gd name="T17" fmla="*/ 1 h 46"/>
                <a:gd name="T18" fmla="*/ 0 w 53"/>
                <a:gd name="T19" fmla="*/ 1 h 46"/>
                <a:gd name="T20" fmla="*/ 0 w 53"/>
                <a:gd name="T21" fmla="*/ 1 h 46"/>
                <a:gd name="T22" fmla="*/ 0 w 53"/>
                <a:gd name="T23" fmla="*/ 1 h 46"/>
                <a:gd name="T24" fmla="*/ 0 w 53"/>
                <a:gd name="T25" fmla="*/ 1 h 46"/>
                <a:gd name="T26" fmla="*/ 0 w 53"/>
                <a:gd name="T27" fmla="*/ 1 h 46"/>
                <a:gd name="T28" fmla="*/ 0 w 53"/>
                <a:gd name="T29" fmla="*/ 1 h 46"/>
                <a:gd name="T30" fmla="*/ 0 w 53"/>
                <a:gd name="T31" fmla="*/ 1 h 46"/>
                <a:gd name="T32" fmla="*/ 0 w 53"/>
                <a:gd name="T33" fmla="*/ 1 h 46"/>
                <a:gd name="T34" fmla="*/ 0 w 53"/>
                <a:gd name="T35" fmla="*/ 1 h 46"/>
                <a:gd name="T36" fmla="*/ 0 w 53"/>
                <a:gd name="T37" fmla="*/ 1 h 46"/>
                <a:gd name="T38" fmla="*/ 0 w 53"/>
                <a:gd name="T39" fmla="*/ 1 h 46"/>
                <a:gd name="T40" fmla="*/ 0 w 53"/>
                <a:gd name="T41" fmla="*/ 1 h 46"/>
                <a:gd name="T42" fmla="*/ 0 w 53"/>
                <a:gd name="T43" fmla="*/ 1 h 46"/>
                <a:gd name="T44" fmla="*/ 0 w 53"/>
                <a:gd name="T45" fmla="*/ 1 h 46"/>
                <a:gd name="T46" fmla="*/ 0 w 53"/>
                <a:gd name="T47" fmla="*/ 1 h 46"/>
                <a:gd name="T48" fmla="*/ 0 w 53"/>
                <a:gd name="T49" fmla="*/ 1 h 46"/>
                <a:gd name="T50" fmla="*/ 0 w 53"/>
                <a:gd name="T51" fmla="*/ 1 h 46"/>
                <a:gd name="T52" fmla="*/ 0 w 53"/>
                <a:gd name="T53" fmla="*/ 1 h 46"/>
                <a:gd name="T54" fmla="*/ 0 w 53"/>
                <a:gd name="T55" fmla="*/ 1 h 46"/>
                <a:gd name="T56" fmla="*/ 0 w 53"/>
                <a:gd name="T57" fmla="*/ 1 h 46"/>
                <a:gd name="T58" fmla="*/ 0 w 53"/>
                <a:gd name="T59" fmla="*/ 1 h 46"/>
                <a:gd name="T60" fmla="*/ 0 w 53"/>
                <a:gd name="T61" fmla="*/ 1 h 46"/>
                <a:gd name="T62" fmla="*/ 0 w 53"/>
                <a:gd name="T63" fmla="*/ 1 h 46"/>
                <a:gd name="T64" fmla="*/ 0 w 53"/>
                <a:gd name="T65" fmla="*/ 1 h 46"/>
                <a:gd name="T66" fmla="*/ 0 w 53"/>
                <a:gd name="T67" fmla="*/ 1 h 46"/>
                <a:gd name="T68" fmla="*/ 0 w 53"/>
                <a:gd name="T69" fmla="*/ 1 h 46"/>
                <a:gd name="T70" fmla="*/ 0 w 53"/>
                <a:gd name="T71" fmla="*/ 0 h 46"/>
                <a:gd name="T72" fmla="*/ 0 w 53"/>
                <a:gd name="T73" fmla="*/ 0 h 46"/>
                <a:gd name="T74" fmla="*/ 0 w 53"/>
                <a:gd name="T75" fmla="*/ 0 h 46"/>
                <a:gd name="T76" fmla="*/ 0 w 53"/>
                <a:gd name="T77" fmla="*/ 1 h 46"/>
                <a:gd name="T78" fmla="*/ 0 w 53"/>
                <a:gd name="T79" fmla="*/ 1 h 46"/>
                <a:gd name="T80" fmla="*/ 0 w 53"/>
                <a:gd name="T81" fmla="*/ 1 h 46"/>
                <a:gd name="T82" fmla="*/ 0 w 53"/>
                <a:gd name="T83" fmla="*/ 1 h 46"/>
                <a:gd name="T84" fmla="*/ 0 w 53"/>
                <a:gd name="T85" fmla="*/ 1 h 46"/>
                <a:gd name="T86" fmla="*/ 0 w 53"/>
                <a:gd name="T87" fmla="*/ 1 h 46"/>
                <a:gd name="T88" fmla="*/ 0 w 53"/>
                <a:gd name="T89" fmla="*/ 1 h 46"/>
                <a:gd name="T90" fmla="*/ 0 w 53"/>
                <a:gd name="T91" fmla="*/ 1 h 46"/>
                <a:gd name="T92" fmla="*/ 0 w 53"/>
                <a:gd name="T93" fmla="*/ 1 h 46"/>
                <a:gd name="T94" fmla="*/ 0 w 53"/>
                <a:gd name="T95" fmla="*/ 1 h 46"/>
                <a:gd name="T96" fmla="*/ 0 w 53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3"/>
                <a:gd name="T148" fmla="*/ 0 h 46"/>
                <a:gd name="T149" fmla="*/ 53 w 53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3" h="46">
                  <a:moveTo>
                    <a:pt x="24" y="29"/>
                  </a:moveTo>
                  <a:lnTo>
                    <a:pt x="36" y="23"/>
                  </a:lnTo>
                  <a:lnTo>
                    <a:pt x="42" y="17"/>
                  </a:lnTo>
                  <a:lnTo>
                    <a:pt x="36" y="29"/>
                  </a:lnTo>
                  <a:lnTo>
                    <a:pt x="30" y="17"/>
                  </a:lnTo>
                  <a:lnTo>
                    <a:pt x="36" y="23"/>
                  </a:lnTo>
                  <a:lnTo>
                    <a:pt x="24" y="17"/>
                  </a:lnTo>
                  <a:lnTo>
                    <a:pt x="30" y="17"/>
                  </a:lnTo>
                  <a:lnTo>
                    <a:pt x="19" y="23"/>
                  </a:lnTo>
                  <a:lnTo>
                    <a:pt x="24" y="17"/>
                  </a:lnTo>
                  <a:lnTo>
                    <a:pt x="19" y="29"/>
                  </a:lnTo>
                  <a:lnTo>
                    <a:pt x="19" y="17"/>
                  </a:lnTo>
                  <a:lnTo>
                    <a:pt x="24" y="23"/>
                  </a:lnTo>
                  <a:lnTo>
                    <a:pt x="19" y="23"/>
                  </a:lnTo>
                  <a:lnTo>
                    <a:pt x="30" y="29"/>
                  </a:lnTo>
                  <a:lnTo>
                    <a:pt x="24" y="46"/>
                  </a:lnTo>
                  <a:lnTo>
                    <a:pt x="13" y="40"/>
                  </a:lnTo>
                  <a:lnTo>
                    <a:pt x="13" y="34"/>
                  </a:lnTo>
                  <a:lnTo>
                    <a:pt x="7" y="29"/>
                  </a:lnTo>
                  <a:lnTo>
                    <a:pt x="0" y="23"/>
                  </a:lnTo>
                  <a:lnTo>
                    <a:pt x="7" y="11"/>
                  </a:lnTo>
                  <a:lnTo>
                    <a:pt x="13" y="5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42" y="5"/>
                  </a:lnTo>
                  <a:lnTo>
                    <a:pt x="48" y="11"/>
                  </a:lnTo>
                  <a:lnTo>
                    <a:pt x="53" y="23"/>
                  </a:lnTo>
                  <a:lnTo>
                    <a:pt x="53" y="29"/>
                  </a:lnTo>
                  <a:lnTo>
                    <a:pt x="48" y="34"/>
                  </a:lnTo>
                  <a:lnTo>
                    <a:pt x="42" y="40"/>
                  </a:lnTo>
                  <a:lnTo>
                    <a:pt x="30" y="46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78" name="Freeform 897"/>
            <p:cNvSpPr>
              <a:spLocks/>
            </p:cNvSpPr>
            <p:nvPr/>
          </p:nvSpPr>
          <p:spPr bwMode="auto">
            <a:xfrm>
              <a:off x="4147" y="2973"/>
              <a:ext cx="3" cy="9"/>
            </a:xfrm>
            <a:custGeom>
              <a:avLst/>
              <a:gdLst>
                <a:gd name="T0" fmla="*/ 1 w 6"/>
                <a:gd name="T1" fmla="*/ 0 h 17"/>
                <a:gd name="T2" fmla="*/ 1 w 6"/>
                <a:gd name="T3" fmla="*/ 0 h 17"/>
                <a:gd name="T4" fmla="*/ 0 w 6"/>
                <a:gd name="T5" fmla="*/ 0 h 17"/>
                <a:gd name="T6" fmla="*/ 1 w 6"/>
                <a:gd name="T7" fmla="*/ 1 h 17"/>
                <a:gd name="T8" fmla="*/ 0 w 6"/>
                <a:gd name="T9" fmla="*/ 1 h 17"/>
                <a:gd name="T10" fmla="*/ 0 w 6"/>
                <a:gd name="T11" fmla="*/ 1 h 17"/>
                <a:gd name="T12" fmla="*/ 1 w 6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6" y="0"/>
                  </a:moveTo>
                  <a:lnTo>
                    <a:pt x="6" y="0"/>
                  </a:lnTo>
                  <a:lnTo>
                    <a:pt x="0" y="0"/>
                  </a:lnTo>
                  <a:lnTo>
                    <a:pt x="6" y="17"/>
                  </a:lnTo>
                  <a:lnTo>
                    <a:pt x="0" y="1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79" name="Freeform 898"/>
            <p:cNvSpPr>
              <a:spLocks/>
            </p:cNvSpPr>
            <p:nvPr/>
          </p:nvSpPr>
          <p:spPr bwMode="auto">
            <a:xfrm>
              <a:off x="4141" y="2903"/>
              <a:ext cx="18" cy="14"/>
            </a:xfrm>
            <a:custGeom>
              <a:avLst/>
              <a:gdLst>
                <a:gd name="T0" fmla="*/ 1 w 35"/>
                <a:gd name="T1" fmla="*/ 0 h 29"/>
                <a:gd name="T2" fmla="*/ 1 w 35"/>
                <a:gd name="T3" fmla="*/ 0 h 29"/>
                <a:gd name="T4" fmla="*/ 1 w 35"/>
                <a:gd name="T5" fmla="*/ 0 h 29"/>
                <a:gd name="T6" fmla="*/ 1 w 35"/>
                <a:gd name="T7" fmla="*/ 0 h 29"/>
                <a:gd name="T8" fmla="*/ 1 w 35"/>
                <a:gd name="T9" fmla="*/ 0 h 29"/>
                <a:gd name="T10" fmla="*/ 1 w 35"/>
                <a:gd name="T11" fmla="*/ 0 h 29"/>
                <a:gd name="T12" fmla="*/ 0 w 35"/>
                <a:gd name="T13" fmla="*/ 0 h 29"/>
                <a:gd name="T14" fmla="*/ 1 w 35"/>
                <a:gd name="T15" fmla="*/ 0 h 29"/>
                <a:gd name="T16" fmla="*/ 1 w 3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29"/>
                <a:gd name="T29" fmla="*/ 35 w 3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29">
                  <a:moveTo>
                    <a:pt x="17" y="29"/>
                  </a:moveTo>
                  <a:lnTo>
                    <a:pt x="29" y="24"/>
                  </a:lnTo>
                  <a:lnTo>
                    <a:pt x="35" y="18"/>
                  </a:lnTo>
                  <a:lnTo>
                    <a:pt x="29" y="6"/>
                  </a:lnTo>
                  <a:lnTo>
                    <a:pt x="17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7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80" name="Freeform 899"/>
            <p:cNvSpPr>
              <a:spLocks/>
            </p:cNvSpPr>
            <p:nvPr/>
          </p:nvSpPr>
          <p:spPr bwMode="auto">
            <a:xfrm>
              <a:off x="4135" y="2900"/>
              <a:ext cx="26" cy="23"/>
            </a:xfrm>
            <a:custGeom>
              <a:avLst/>
              <a:gdLst>
                <a:gd name="T0" fmla="*/ 0 w 53"/>
                <a:gd name="T1" fmla="*/ 1 h 46"/>
                <a:gd name="T2" fmla="*/ 0 w 53"/>
                <a:gd name="T3" fmla="*/ 1 h 46"/>
                <a:gd name="T4" fmla="*/ 0 w 53"/>
                <a:gd name="T5" fmla="*/ 1 h 46"/>
                <a:gd name="T6" fmla="*/ 0 w 53"/>
                <a:gd name="T7" fmla="*/ 1 h 46"/>
                <a:gd name="T8" fmla="*/ 0 w 53"/>
                <a:gd name="T9" fmla="*/ 1 h 46"/>
                <a:gd name="T10" fmla="*/ 0 w 53"/>
                <a:gd name="T11" fmla="*/ 1 h 46"/>
                <a:gd name="T12" fmla="*/ 0 w 53"/>
                <a:gd name="T13" fmla="*/ 1 h 46"/>
                <a:gd name="T14" fmla="*/ 0 w 53"/>
                <a:gd name="T15" fmla="*/ 1 h 46"/>
                <a:gd name="T16" fmla="*/ 0 w 53"/>
                <a:gd name="T17" fmla="*/ 1 h 46"/>
                <a:gd name="T18" fmla="*/ 0 w 53"/>
                <a:gd name="T19" fmla="*/ 1 h 46"/>
                <a:gd name="T20" fmla="*/ 0 w 53"/>
                <a:gd name="T21" fmla="*/ 1 h 46"/>
                <a:gd name="T22" fmla="*/ 0 w 53"/>
                <a:gd name="T23" fmla="*/ 1 h 46"/>
                <a:gd name="T24" fmla="*/ 0 w 53"/>
                <a:gd name="T25" fmla="*/ 1 h 46"/>
                <a:gd name="T26" fmla="*/ 0 w 53"/>
                <a:gd name="T27" fmla="*/ 1 h 46"/>
                <a:gd name="T28" fmla="*/ 0 w 53"/>
                <a:gd name="T29" fmla="*/ 1 h 46"/>
                <a:gd name="T30" fmla="*/ 0 w 53"/>
                <a:gd name="T31" fmla="*/ 1 h 46"/>
                <a:gd name="T32" fmla="*/ 0 w 53"/>
                <a:gd name="T33" fmla="*/ 1 h 46"/>
                <a:gd name="T34" fmla="*/ 0 w 53"/>
                <a:gd name="T35" fmla="*/ 1 h 46"/>
                <a:gd name="T36" fmla="*/ 0 w 53"/>
                <a:gd name="T37" fmla="*/ 1 h 46"/>
                <a:gd name="T38" fmla="*/ 0 w 53"/>
                <a:gd name="T39" fmla="*/ 1 h 46"/>
                <a:gd name="T40" fmla="*/ 0 w 53"/>
                <a:gd name="T41" fmla="*/ 1 h 46"/>
                <a:gd name="T42" fmla="*/ 0 w 53"/>
                <a:gd name="T43" fmla="*/ 1 h 46"/>
                <a:gd name="T44" fmla="*/ 0 w 53"/>
                <a:gd name="T45" fmla="*/ 1 h 46"/>
                <a:gd name="T46" fmla="*/ 0 w 53"/>
                <a:gd name="T47" fmla="*/ 1 h 46"/>
                <a:gd name="T48" fmla="*/ 0 w 53"/>
                <a:gd name="T49" fmla="*/ 1 h 46"/>
                <a:gd name="T50" fmla="*/ 0 w 53"/>
                <a:gd name="T51" fmla="*/ 1 h 46"/>
                <a:gd name="T52" fmla="*/ 0 w 53"/>
                <a:gd name="T53" fmla="*/ 1 h 46"/>
                <a:gd name="T54" fmla="*/ 0 w 53"/>
                <a:gd name="T55" fmla="*/ 1 h 46"/>
                <a:gd name="T56" fmla="*/ 0 w 53"/>
                <a:gd name="T57" fmla="*/ 1 h 46"/>
                <a:gd name="T58" fmla="*/ 0 w 53"/>
                <a:gd name="T59" fmla="*/ 1 h 46"/>
                <a:gd name="T60" fmla="*/ 0 w 53"/>
                <a:gd name="T61" fmla="*/ 1 h 46"/>
                <a:gd name="T62" fmla="*/ 0 w 53"/>
                <a:gd name="T63" fmla="*/ 1 h 46"/>
                <a:gd name="T64" fmla="*/ 0 w 53"/>
                <a:gd name="T65" fmla="*/ 1 h 46"/>
                <a:gd name="T66" fmla="*/ 0 w 53"/>
                <a:gd name="T67" fmla="*/ 1 h 46"/>
                <a:gd name="T68" fmla="*/ 0 w 53"/>
                <a:gd name="T69" fmla="*/ 1 h 46"/>
                <a:gd name="T70" fmla="*/ 0 w 53"/>
                <a:gd name="T71" fmla="*/ 0 h 46"/>
                <a:gd name="T72" fmla="*/ 0 w 53"/>
                <a:gd name="T73" fmla="*/ 0 h 46"/>
                <a:gd name="T74" fmla="*/ 0 w 53"/>
                <a:gd name="T75" fmla="*/ 0 h 46"/>
                <a:gd name="T76" fmla="*/ 0 w 53"/>
                <a:gd name="T77" fmla="*/ 1 h 46"/>
                <a:gd name="T78" fmla="*/ 0 w 53"/>
                <a:gd name="T79" fmla="*/ 1 h 46"/>
                <a:gd name="T80" fmla="*/ 0 w 53"/>
                <a:gd name="T81" fmla="*/ 1 h 46"/>
                <a:gd name="T82" fmla="*/ 0 w 53"/>
                <a:gd name="T83" fmla="*/ 1 h 46"/>
                <a:gd name="T84" fmla="*/ 0 w 53"/>
                <a:gd name="T85" fmla="*/ 1 h 46"/>
                <a:gd name="T86" fmla="*/ 0 w 53"/>
                <a:gd name="T87" fmla="*/ 1 h 46"/>
                <a:gd name="T88" fmla="*/ 0 w 53"/>
                <a:gd name="T89" fmla="*/ 1 h 46"/>
                <a:gd name="T90" fmla="*/ 0 w 53"/>
                <a:gd name="T91" fmla="*/ 1 h 46"/>
                <a:gd name="T92" fmla="*/ 0 w 53"/>
                <a:gd name="T93" fmla="*/ 1 h 46"/>
                <a:gd name="T94" fmla="*/ 0 w 53"/>
                <a:gd name="T95" fmla="*/ 1 h 46"/>
                <a:gd name="T96" fmla="*/ 0 w 53"/>
                <a:gd name="T97" fmla="*/ 1 h 4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53"/>
                <a:gd name="T148" fmla="*/ 0 h 46"/>
                <a:gd name="T149" fmla="*/ 53 w 53"/>
                <a:gd name="T150" fmla="*/ 46 h 4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53" h="46">
                  <a:moveTo>
                    <a:pt x="24" y="29"/>
                  </a:moveTo>
                  <a:lnTo>
                    <a:pt x="36" y="23"/>
                  </a:lnTo>
                  <a:lnTo>
                    <a:pt x="42" y="17"/>
                  </a:lnTo>
                  <a:lnTo>
                    <a:pt x="36" y="29"/>
                  </a:lnTo>
                  <a:lnTo>
                    <a:pt x="30" y="17"/>
                  </a:lnTo>
                  <a:lnTo>
                    <a:pt x="36" y="23"/>
                  </a:lnTo>
                  <a:lnTo>
                    <a:pt x="24" y="17"/>
                  </a:lnTo>
                  <a:lnTo>
                    <a:pt x="30" y="17"/>
                  </a:lnTo>
                  <a:lnTo>
                    <a:pt x="19" y="23"/>
                  </a:lnTo>
                  <a:lnTo>
                    <a:pt x="24" y="17"/>
                  </a:lnTo>
                  <a:lnTo>
                    <a:pt x="19" y="29"/>
                  </a:lnTo>
                  <a:lnTo>
                    <a:pt x="19" y="17"/>
                  </a:lnTo>
                  <a:lnTo>
                    <a:pt x="24" y="23"/>
                  </a:lnTo>
                  <a:lnTo>
                    <a:pt x="19" y="23"/>
                  </a:lnTo>
                  <a:lnTo>
                    <a:pt x="30" y="29"/>
                  </a:lnTo>
                  <a:lnTo>
                    <a:pt x="24" y="46"/>
                  </a:lnTo>
                  <a:lnTo>
                    <a:pt x="13" y="40"/>
                  </a:lnTo>
                  <a:lnTo>
                    <a:pt x="13" y="34"/>
                  </a:lnTo>
                  <a:lnTo>
                    <a:pt x="7" y="29"/>
                  </a:lnTo>
                  <a:lnTo>
                    <a:pt x="0" y="23"/>
                  </a:lnTo>
                  <a:lnTo>
                    <a:pt x="7" y="11"/>
                  </a:lnTo>
                  <a:lnTo>
                    <a:pt x="13" y="5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42" y="5"/>
                  </a:lnTo>
                  <a:lnTo>
                    <a:pt x="48" y="11"/>
                  </a:lnTo>
                  <a:lnTo>
                    <a:pt x="53" y="23"/>
                  </a:lnTo>
                  <a:lnTo>
                    <a:pt x="53" y="29"/>
                  </a:lnTo>
                  <a:lnTo>
                    <a:pt x="48" y="34"/>
                  </a:lnTo>
                  <a:lnTo>
                    <a:pt x="42" y="40"/>
                  </a:lnTo>
                  <a:lnTo>
                    <a:pt x="30" y="46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81" name="Freeform 900"/>
            <p:cNvSpPr>
              <a:spLocks/>
            </p:cNvSpPr>
            <p:nvPr/>
          </p:nvSpPr>
          <p:spPr bwMode="auto">
            <a:xfrm>
              <a:off x="4147" y="2915"/>
              <a:ext cx="3" cy="8"/>
            </a:xfrm>
            <a:custGeom>
              <a:avLst/>
              <a:gdLst>
                <a:gd name="T0" fmla="*/ 1 w 6"/>
                <a:gd name="T1" fmla="*/ 0 h 17"/>
                <a:gd name="T2" fmla="*/ 1 w 6"/>
                <a:gd name="T3" fmla="*/ 0 h 17"/>
                <a:gd name="T4" fmla="*/ 0 w 6"/>
                <a:gd name="T5" fmla="*/ 0 h 17"/>
                <a:gd name="T6" fmla="*/ 1 w 6"/>
                <a:gd name="T7" fmla="*/ 0 h 17"/>
                <a:gd name="T8" fmla="*/ 0 w 6"/>
                <a:gd name="T9" fmla="*/ 0 h 17"/>
                <a:gd name="T10" fmla="*/ 0 w 6"/>
                <a:gd name="T11" fmla="*/ 0 h 17"/>
                <a:gd name="T12" fmla="*/ 1 w 6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17"/>
                <a:gd name="T23" fmla="*/ 6 w 6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17">
                  <a:moveTo>
                    <a:pt x="6" y="0"/>
                  </a:moveTo>
                  <a:lnTo>
                    <a:pt x="6" y="0"/>
                  </a:lnTo>
                  <a:lnTo>
                    <a:pt x="0" y="0"/>
                  </a:lnTo>
                  <a:lnTo>
                    <a:pt x="6" y="17"/>
                  </a:lnTo>
                  <a:lnTo>
                    <a:pt x="0" y="1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82" name="Rectangle 901"/>
            <p:cNvSpPr>
              <a:spLocks noChangeArrowheads="1"/>
            </p:cNvSpPr>
            <p:nvPr/>
          </p:nvSpPr>
          <p:spPr bwMode="auto">
            <a:xfrm>
              <a:off x="4083" y="3276"/>
              <a:ext cx="131" cy="13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83" name="Rectangle 902"/>
            <p:cNvSpPr>
              <a:spLocks noChangeArrowheads="1"/>
            </p:cNvSpPr>
            <p:nvPr/>
          </p:nvSpPr>
          <p:spPr bwMode="auto">
            <a:xfrm>
              <a:off x="4083" y="3273"/>
              <a:ext cx="140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84" name="Rectangle 903"/>
            <p:cNvSpPr>
              <a:spLocks noChangeArrowheads="1"/>
            </p:cNvSpPr>
            <p:nvPr/>
          </p:nvSpPr>
          <p:spPr bwMode="auto">
            <a:xfrm>
              <a:off x="4214" y="3276"/>
              <a:ext cx="9" cy="14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85" name="Rectangle 904"/>
            <p:cNvSpPr>
              <a:spLocks noChangeArrowheads="1"/>
            </p:cNvSpPr>
            <p:nvPr/>
          </p:nvSpPr>
          <p:spPr bwMode="auto">
            <a:xfrm>
              <a:off x="4080" y="3408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86" name="Rectangle 905"/>
            <p:cNvSpPr>
              <a:spLocks noChangeArrowheads="1"/>
            </p:cNvSpPr>
            <p:nvPr/>
          </p:nvSpPr>
          <p:spPr bwMode="auto">
            <a:xfrm>
              <a:off x="4080" y="3273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87" name="Rectangle 906"/>
            <p:cNvSpPr>
              <a:spLocks noChangeArrowheads="1"/>
            </p:cNvSpPr>
            <p:nvPr/>
          </p:nvSpPr>
          <p:spPr bwMode="auto">
            <a:xfrm>
              <a:off x="4209" y="3132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88" name="Rectangle 907"/>
            <p:cNvSpPr>
              <a:spLocks noChangeArrowheads="1"/>
            </p:cNvSpPr>
            <p:nvPr/>
          </p:nvSpPr>
          <p:spPr bwMode="auto">
            <a:xfrm>
              <a:off x="4191" y="3119"/>
              <a:ext cx="9" cy="15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89" name="Rectangle 908"/>
            <p:cNvSpPr>
              <a:spLocks noChangeArrowheads="1"/>
            </p:cNvSpPr>
            <p:nvPr/>
          </p:nvSpPr>
          <p:spPr bwMode="auto">
            <a:xfrm>
              <a:off x="4083" y="1450"/>
              <a:ext cx="131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0" name="Rectangle 909"/>
            <p:cNvSpPr>
              <a:spLocks noChangeArrowheads="1"/>
            </p:cNvSpPr>
            <p:nvPr/>
          </p:nvSpPr>
          <p:spPr bwMode="auto">
            <a:xfrm>
              <a:off x="4083" y="1447"/>
              <a:ext cx="140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1" name="Rectangle 910"/>
            <p:cNvSpPr>
              <a:spLocks noChangeArrowheads="1"/>
            </p:cNvSpPr>
            <p:nvPr/>
          </p:nvSpPr>
          <p:spPr bwMode="auto">
            <a:xfrm>
              <a:off x="4214" y="1450"/>
              <a:ext cx="9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2" name="Rectangle 911"/>
            <p:cNvSpPr>
              <a:spLocks noChangeArrowheads="1"/>
            </p:cNvSpPr>
            <p:nvPr/>
          </p:nvSpPr>
          <p:spPr bwMode="auto">
            <a:xfrm>
              <a:off x="4080" y="1578"/>
              <a:ext cx="137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3" name="Rectangle 912"/>
            <p:cNvSpPr>
              <a:spLocks noChangeArrowheads="1"/>
            </p:cNvSpPr>
            <p:nvPr/>
          </p:nvSpPr>
          <p:spPr bwMode="auto">
            <a:xfrm>
              <a:off x="4080" y="1447"/>
              <a:ext cx="8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4" name="Rectangle 913"/>
            <p:cNvSpPr>
              <a:spLocks noChangeArrowheads="1"/>
            </p:cNvSpPr>
            <p:nvPr/>
          </p:nvSpPr>
          <p:spPr bwMode="auto">
            <a:xfrm>
              <a:off x="4386" y="1421"/>
              <a:ext cx="222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5" name="Rectangle 914"/>
            <p:cNvSpPr>
              <a:spLocks noChangeArrowheads="1"/>
            </p:cNvSpPr>
            <p:nvPr/>
          </p:nvSpPr>
          <p:spPr bwMode="auto">
            <a:xfrm>
              <a:off x="4590" y="1430"/>
              <a:ext cx="18" cy="229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6" name="Rectangle 915"/>
            <p:cNvSpPr>
              <a:spLocks noChangeArrowheads="1"/>
            </p:cNvSpPr>
            <p:nvPr/>
          </p:nvSpPr>
          <p:spPr bwMode="auto">
            <a:xfrm>
              <a:off x="4378" y="3711"/>
              <a:ext cx="221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7" name="Rectangle 916"/>
            <p:cNvSpPr>
              <a:spLocks noChangeArrowheads="1"/>
            </p:cNvSpPr>
            <p:nvPr/>
          </p:nvSpPr>
          <p:spPr bwMode="auto">
            <a:xfrm>
              <a:off x="4378" y="1421"/>
              <a:ext cx="17" cy="229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8" name="Rectangle 917"/>
            <p:cNvSpPr>
              <a:spLocks noChangeArrowheads="1"/>
            </p:cNvSpPr>
            <p:nvPr/>
          </p:nvSpPr>
          <p:spPr bwMode="auto">
            <a:xfrm>
              <a:off x="3826" y="1450"/>
              <a:ext cx="129" cy="12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499" name="Rectangle 918"/>
            <p:cNvSpPr>
              <a:spLocks noChangeArrowheads="1"/>
            </p:cNvSpPr>
            <p:nvPr/>
          </p:nvSpPr>
          <p:spPr bwMode="auto">
            <a:xfrm>
              <a:off x="3826" y="1447"/>
              <a:ext cx="137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0" name="Rectangle 919"/>
            <p:cNvSpPr>
              <a:spLocks noChangeArrowheads="1"/>
            </p:cNvSpPr>
            <p:nvPr/>
          </p:nvSpPr>
          <p:spPr bwMode="auto">
            <a:xfrm>
              <a:off x="3955" y="1450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1" name="Rectangle 920"/>
            <p:cNvSpPr>
              <a:spLocks noChangeArrowheads="1"/>
            </p:cNvSpPr>
            <p:nvPr/>
          </p:nvSpPr>
          <p:spPr bwMode="auto">
            <a:xfrm>
              <a:off x="3823" y="1578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2" name="Rectangle 921"/>
            <p:cNvSpPr>
              <a:spLocks noChangeArrowheads="1"/>
            </p:cNvSpPr>
            <p:nvPr/>
          </p:nvSpPr>
          <p:spPr bwMode="auto">
            <a:xfrm>
              <a:off x="3823" y="1447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3" name="Rectangle 922"/>
            <p:cNvSpPr>
              <a:spLocks noChangeArrowheads="1"/>
            </p:cNvSpPr>
            <p:nvPr/>
          </p:nvSpPr>
          <p:spPr bwMode="auto">
            <a:xfrm>
              <a:off x="3826" y="2523"/>
              <a:ext cx="129" cy="12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4" name="Rectangle 923"/>
            <p:cNvSpPr>
              <a:spLocks noChangeArrowheads="1"/>
            </p:cNvSpPr>
            <p:nvPr/>
          </p:nvSpPr>
          <p:spPr bwMode="auto">
            <a:xfrm>
              <a:off x="3826" y="2521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5" name="Rectangle 924"/>
            <p:cNvSpPr>
              <a:spLocks noChangeArrowheads="1"/>
            </p:cNvSpPr>
            <p:nvPr/>
          </p:nvSpPr>
          <p:spPr bwMode="auto">
            <a:xfrm>
              <a:off x="3955" y="2523"/>
              <a:ext cx="8" cy="13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6" name="Rectangle 925"/>
            <p:cNvSpPr>
              <a:spLocks noChangeArrowheads="1"/>
            </p:cNvSpPr>
            <p:nvPr/>
          </p:nvSpPr>
          <p:spPr bwMode="auto">
            <a:xfrm>
              <a:off x="3823" y="2652"/>
              <a:ext cx="134" cy="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7" name="Rectangle 926"/>
            <p:cNvSpPr>
              <a:spLocks noChangeArrowheads="1"/>
            </p:cNvSpPr>
            <p:nvPr/>
          </p:nvSpPr>
          <p:spPr bwMode="auto">
            <a:xfrm>
              <a:off x="3823" y="2521"/>
              <a:ext cx="9" cy="13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8" name="Rectangle 927"/>
            <p:cNvSpPr>
              <a:spLocks noChangeArrowheads="1"/>
            </p:cNvSpPr>
            <p:nvPr/>
          </p:nvSpPr>
          <p:spPr bwMode="auto">
            <a:xfrm>
              <a:off x="3847" y="3431"/>
              <a:ext cx="8" cy="11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09" name="Rectangle 928"/>
            <p:cNvSpPr>
              <a:spLocks noChangeArrowheads="1"/>
            </p:cNvSpPr>
            <p:nvPr/>
          </p:nvSpPr>
          <p:spPr bwMode="auto">
            <a:xfrm>
              <a:off x="3806" y="3247"/>
              <a:ext cx="180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0" name="Rectangle 929"/>
            <p:cNvSpPr>
              <a:spLocks noChangeArrowheads="1"/>
            </p:cNvSpPr>
            <p:nvPr/>
          </p:nvSpPr>
          <p:spPr bwMode="auto">
            <a:xfrm>
              <a:off x="3969" y="3256"/>
              <a:ext cx="17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1" name="Rectangle 930"/>
            <p:cNvSpPr>
              <a:spLocks noChangeArrowheads="1"/>
            </p:cNvSpPr>
            <p:nvPr/>
          </p:nvSpPr>
          <p:spPr bwMode="auto">
            <a:xfrm>
              <a:off x="3797" y="3422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2" name="Rectangle 931"/>
            <p:cNvSpPr>
              <a:spLocks noChangeArrowheads="1"/>
            </p:cNvSpPr>
            <p:nvPr/>
          </p:nvSpPr>
          <p:spPr bwMode="auto">
            <a:xfrm>
              <a:off x="3797" y="3247"/>
              <a:ext cx="17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3" name="Rectangle 932"/>
            <p:cNvSpPr>
              <a:spLocks noChangeArrowheads="1"/>
            </p:cNvSpPr>
            <p:nvPr/>
          </p:nvSpPr>
          <p:spPr bwMode="auto">
            <a:xfrm>
              <a:off x="3847" y="2523"/>
              <a:ext cx="8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4" name="Rectangle 933"/>
            <p:cNvSpPr>
              <a:spLocks noChangeArrowheads="1"/>
            </p:cNvSpPr>
            <p:nvPr/>
          </p:nvSpPr>
          <p:spPr bwMode="auto">
            <a:xfrm>
              <a:off x="3847" y="2407"/>
              <a:ext cx="8" cy="116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5" name="Rectangle 935"/>
            <p:cNvSpPr>
              <a:spLocks noChangeArrowheads="1"/>
            </p:cNvSpPr>
            <p:nvPr/>
          </p:nvSpPr>
          <p:spPr bwMode="auto">
            <a:xfrm>
              <a:off x="3847" y="2118"/>
              <a:ext cx="8" cy="1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6" name="Rectangle 936"/>
            <p:cNvSpPr>
              <a:spLocks noChangeArrowheads="1"/>
            </p:cNvSpPr>
            <p:nvPr/>
          </p:nvSpPr>
          <p:spPr bwMode="auto">
            <a:xfrm>
              <a:off x="3806" y="2226"/>
              <a:ext cx="180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7" name="Rectangle 937"/>
            <p:cNvSpPr>
              <a:spLocks noChangeArrowheads="1"/>
            </p:cNvSpPr>
            <p:nvPr/>
          </p:nvSpPr>
          <p:spPr bwMode="auto">
            <a:xfrm>
              <a:off x="3969" y="2235"/>
              <a:ext cx="17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8" name="Rectangle 938"/>
            <p:cNvSpPr>
              <a:spLocks noChangeArrowheads="1"/>
            </p:cNvSpPr>
            <p:nvPr/>
          </p:nvSpPr>
          <p:spPr bwMode="auto">
            <a:xfrm>
              <a:off x="3797" y="2398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19" name="Rectangle 939"/>
            <p:cNvSpPr>
              <a:spLocks noChangeArrowheads="1"/>
            </p:cNvSpPr>
            <p:nvPr/>
          </p:nvSpPr>
          <p:spPr bwMode="auto">
            <a:xfrm>
              <a:off x="3797" y="2226"/>
              <a:ext cx="17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20" name="Rectangle 940"/>
            <p:cNvSpPr>
              <a:spLocks noChangeArrowheads="1"/>
            </p:cNvSpPr>
            <p:nvPr/>
          </p:nvSpPr>
          <p:spPr bwMode="auto">
            <a:xfrm>
              <a:off x="3847" y="1870"/>
              <a:ext cx="8" cy="1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21" name="Rectangle 942"/>
            <p:cNvSpPr>
              <a:spLocks noChangeArrowheads="1"/>
            </p:cNvSpPr>
            <p:nvPr/>
          </p:nvSpPr>
          <p:spPr bwMode="auto">
            <a:xfrm>
              <a:off x="3847" y="1581"/>
              <a:ext cx="8" cy="1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22" name="Rectangle 943"/>
            <p:cNvSpPr>
              <a:spLocks noChangeArrowheads="1"/>
            </p:cNvSpPr>
            <p:nvPr/>
          </p:nvSpPr>
          <p:spPr bwMode="auto">
            <a:xfrm>
              <a:off x="3806" y="1690"/>
              <a:ext cx="180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23" name="Rectangle 944"/>
            <p:cNvSpPr>
              <a:spLocks noChangeArrowheads="1"/>
            </p:cNvSpPr>
            <p:nvPr/>
          </p:nvSpPr>
          <p:spPr bwMode="auto">
            <a:xfrm>
              <a:off x="3969" y="1698"/>
              <a:ext cx="17" cy="18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24" name="Rectangle 945"/>
            <p:cNvSpPr>
              <a:spLocks noChangeArrowheads="1"/>
            </p:cNvSpPr>
            <p:nvPr/>
          </p:nvSpPr>
          <p:spPr bwMode="auto">
            <a:xfrm>
              <a:off x="3797" y="1862"/>
              <a:ext cx="181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25" name="Rectangle 946"/>
            <p:cNvSpPr>
              <a:spLocks noChangeArrowheads="1"/>
            </p:cNvSpPr>
            <p:nvPr/>
          </p:nvSpPr>
          <p:spPr bwMode="auto">
            <a:xfrm>
              <a:off x="3797" y="1690"/>
              <a:ext cx="17" cy="18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26" name="Freeform 947"/>
            <p:cNvSpPr>
              <a:spLocks/>
            </p:cNvSpPr>
            <p:nvPr/>
          </p:nvSpPr>
          <p:spPr bwMode="auto">
            <a:xfrm>
              <a:off x="3435" y="2582"/>
              <a:ext cx="15" cy="14"/>
            </a:xfrm>
            <a:custGeom>
              <a:avLst/>
              <a:gdLst>
                <a:gd name="T0" fmla="*/ 1 w 30"/>
                <a:gd name="T1" fmla="*/ 0 h 30"/>
                <a:gd name="T2" fmla="*/ 1 w 30"/>
                <a:gd name="T3" fmla="*/ 0 h 30"/>
                <a:gd name="T4" fmla="*/ 1 w 30"/>
                <a:gd name="T5" fmla="*/ 0 h 30"/>
                <a:gd name="T6" fmla="*/ 1 w 30"/>
                <a:gd name="T7" fmla="*/ 0 h 30"/>
                <a:gd name="T8" fmla="*/ 0 w 30"/>
                <a:gd name="T9" fmla="*/ 0 h 30"/>
                <a:gd name="T10" fmla="*/ 1 w 30"/>
                <a:gd name="T11" fmla="*/ 0 h 30"/>
                <a:gd name="T12" fmla="*/ 1 w 30"/>
                <a:gd name="T13" fmla="*/ 0 h 30"/>
                <a:gd name="T14" fmla="*/ 1 w 30"/>
                <a:gd name="T15" fmla="*/ 0 h 30"/>
                <a:gd name="T16" fmla="*/ 1 w 30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13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3"/>
                  </a:lnTo>
                  <a:lnTo>
                    <a:pt x="6" y="25"/>
                  </a:lnTo>
                  <a:lnTo>
                    <a:pt x="12" y="30"/>
                  </a:lnTo>
                  <a:lnTo>
                    <a:pt x="23" y="25"/>
                  </a:lnTo>
                  <a:lnTo>
                    <a:pt x="30" y="13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27" name="Freeform 948"/>
            <p:cNvSpPr>
              <a:spLocks/>
            </p:cNvSpPr>
            <p:nvPr/>
          </p:nvSpPr>
          <p:spPr bwMode="auto">
            <a:xfrm>
              <a:off x="3432" y="2579"/>
              <a:ext cx="24" cy="23"/>
            </a:xfrm>
            <a:custGeom>
              <a:avLst/>
              <a:gdLst>
                <a:gd name="T0" fmla="*/ 1 w 48"/>
                <a:gd name="T1" fmla="*/ 0 h 47"/>
                <a:gd name="T2" fmla="*/ 1 w 48"/>
                <a:gd name="T3" fmla="*/ 0 h 47"/>
                <a:gd name="T4" fmla="*/ 1 w 48"/>
                <a:gd name="T5" fmla="*/ 0 h 47"/>
                <a:gd name="T6" fmla="*/ 1 w 48"/>
                <a:gd name="T7" fmla="*/ 0 h 47"/>
                <a:gd name="T8" fmla="*/ 1 w 48"/>
                <a:gd name="T9" fmla="*/ 0 h 47"/>
                <a:gd name="T10" fmla="*/ 1 w 48"/>
                <a:gd name="T11" fmla="*/ 0 h 47"/>
                <a:gd name="T12" fmla="*/ 1 w 48"/>
                <a:gd name="T13" fmla="*/ 0 h 47"/>
                <a:gd name="T14" fmla="*/ 1 w 48"/>
                <a:gd name="T15" fmla="*/ 0 h 47"/>
                <a:gd name="T16" fmla="*/ 1 w 48"/>
                <a:gd name="T17" fmla="*/ 0 h 47"/>
                <a:gd name="T18" fmla="*/ 1 w 48"/>
                <a:gd name="T19" fmla="*/ 0 h 47"/>
                <a:gd name="T20" fmla="*/ 1 w 48"/>
                <a:gd name="T21" fmla="*/ 0 h 47"/>
                <a:gd name="T22" fmla="*/ 1 w 48"/>
                <a:gd name="T23" fmla="*/ 0 h 47"/>
                <a:gd name="T24" fmla="*/ 1 w 48"/>
                <a:gd name="T25" fmla="*/ 0 h 47"/>
                <a:gd name="T26" fmla="*/ 1 w 48"/>
                <a:gd name="T27" fmla="*/ 0 h 47"/>
                <a:gd name="T28" fmla="*/ 1 w 48"/>
                <a:gd name="T29" fmla="*/ 0 h 47"/>
                <a:gd name="T30" fmla="*/ 1 w 48"/>
                <a:gd name="T31" fmla="*/ 0 h 47"/>
                <a:gd name="T32" fmla="*/ 1 w 48"/>
                <a:gd name="T33" fmla="*/ 0 h 47"/>
                <a:gd name="T34" fmla="*/ 1 w 48"/>
                <a:gd name="T35" fmla="*/ 0 h 47"/>
                <a:gd name="T36" fmla="*/ 1 w 48"/>
                <a:gd name="T37" fmla="*/ 0 h 47"/>
                <a:gd name="T38" fmla="*/ 1 w 48"/>
                <a:gd name="T39" fmla="*/ 0 h 47"/>
                <a:gd name="T40" fmla="*/ 1 w 48"/>
                <a:gd name="T41" fmla="*/ 0 h 47"/>
                <a:gd name="T42" fmla="*/ 1 w 48"/>
                <a:gd name="T43" fmla="*/ 0 h 47"/>
                <a:gd name="T44" fmla="*/ 1 w 48"/>
                <a:gd name="T45" fmla="*/ 0 h 47"/>
                <a:gd name="T46" fmla="*/ 1 w 48"/>
                <a:gd name="T47" fmla="*/ 0 h 47"/>
                <a:gd name="T48" fmla="*/ 1 w 48"/>
                <a:gd name="T49" fmla="*/ 0 h 47"/>
                <a:gd name="T50" fmla="*/ 1 w 48"/>
                <a:gd name="T51" fmla="*/ 0 h 47"/>
                <a:gd name="T52" fmla="*/ 1 w 48"/>
                <a:gd name="T53" fmla="*/ 0 h 47"/>
                <a:gd name="T54" fmla="*/ 1 w 48"/>
                <a:gd name="T55" fmla="*/ 0 h 47"/>
                <a:gd name="T56" fmla="*/ 1 w 48"/>
                <a:gd name="T57" fmla="*/ 0 h 47"/>
                <a:gd name="T58" fmla="*/ 1 w 48"/>
                <a:gd name="T59" fmla="*/ 0 h 47"/>
                <a:gd name="T60" fmla="*/ 1 w 48"/>
                <a:gd name="T61" fmla="*/ 0 h 47"/>
                <a:gd name="T62" fmla="*/ 1 w 48"/>
                <a:gd name="T63" fmla="*/ 0 h 47"/>
                <a:gd name="T64" fmla="*/ 1 w 48"/>
                <a:gd name="T65" fmla="*/ 0 h 47"/>
                <a:gd name="T66" fmla="*/ 1 w 48"/>
                <a:gd name="T67" fmla="*/ 0 h 47"/>
                <a:gd name="T68" fmla="*/ 1 w 48"/>
                <a:gd name="T69" fmla="*/ 0 h 47"/>
                <a:gd name="T70" fmla="*/ 0 w 48"/>
                <a:gd name="T71" fmla="*/ 0 h 47"/>
                <a:gd name="T72" fmla="*/ 0 w 48"/>
                <a:gd name="T73" fmla="*/ 0 h 47"/>
                <a:gd name="T74" fmla="*/ 0 w 48"/>
                <a:gd name="T75" fmla="*/ 0 h 47"/>
                <a:gd name="T76" fmla="*/ 1 w 48"/>
                <a:gd name="T77" fmla="*/ 0 h 47"/>
                <a:gd name="T78" fmla="*/ 1 w 48"/>
                <a:gd name="T79" fmla="*/ 0 h 47"/>
                <a:gd name="T80" fmla="*/ 1 w 48"/>
                <a:gd name="T81" fmla="*/ 0 h 47"/>
                <a:gd name="T82" fmla="*/ 1 w 48"/>
                <a:gd name="T83" fmla="*/ 0 h 47"/>
                <a:gd name="T84" fmla="*/ 1 w 48"/>
                <a:gd name="T85" fmla="*/ 0 h 47"/>
                <a:gd name="T86" fmla="*/ 1 w 48"/>
                <a:gd name="T87" fmla="*/ 0 h 47"/>
                <a:gd name="T88" fmla="*/ 1 w 48"/>
                <a:gd name="T89" fmla="*/ 0 h 47"/>
                <a:gd name="T90" fmla="*/ 1 w 48"/>
                <a:gd name="T91" fmla="*/ 0 h 47"/>
                <a:gd name="T92" fmla="*/ 1 w 48"/>
                <a:gd name="T93" fmla="*/ 0 h 47"/>
                <a:gd name="T94" fmla="*/ 1 w 48"/>
                <a:gd name="T95" fmla="*/ 0 h 47"/>
                <a:gd name="T96" fmla="*/ 1 w 48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8"/>
                <a:gd name="T148" fmla="*/ 0 h 47"/>
                <a:gd name="T149" fmla="*/ 48 w 48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8" h="47">
                  <a:moveTo>
                    <a:pt x="29" y="24"/>
                  </a:moveTo>
                  <a:lnTo>
                    <a:pt x="25" y="18"/>
                  </a:lnTo>
                  <a:lnTo>
                    <a:pt x="29" y="24"/>
                  </a:lnTo>
                  <a:lnTo>
                    <a:pt x="18" y="18"/>
                  </a:lnTo>
                  <a:lnTo>
                    <a:pt x="25" y="11"/>
                  </a:lnTo>
                  <a:lnTo>
                    <a:pt x="18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5" y="30"/>
                  </a:lnTo>
                  <a:lnTo>
                    <a:pt x="18" y="24"/>
                  </a:lnTo>
                  <a:lnTo>
                    <a:pt x="25" y="30"/>
                  </a:lnTo>
                  <a:lnTo>
                    <a:pt x="18" y="30"/>
                  </a:lnTo>
                  <a:lnTo>
                    <a:pt x="29" y="24"/>
                  </a:lnTo>
                  <a:lnTo>
                    <a:pt x="25" y="30"/>
                  </a:lnTo>
                  <a:lnTo>
                    <a:pt x="29" y="18"/>
                  </a:lnTo>
                  <a:lnTo>
                    <a:pt x="48" y="24"/>
                  </a:lnTo>
                  <a:lnTo>
                    <a:pt x="42" y="35"/>
                  </a:lnTo>
                  <a:lnTo>
                    <a:pt x="36" y="41"/>
                  </a:lnTo>
                  <a:lnTo>
                    <a:pt x="25" y="47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4"/>
                  </a:lnTo>
                  <a:lnTo>
                    <a:pt x="0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6" y="5"/>
                  </a:lnTo>
                  <a:lnTo>
                    <a:pt x="42" y="11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28" name="Freeform 949"/>
            <p:cNvSpPr>
              <a:spLocks/>
            </p:cNvSpPr>
            <p:nvPr/>
          </p:nvSpPr>
          <p:spPr bwMode="auto">
            <a:xfrm>
              <a:off x="3447" y="2585"/>
              <a:ext cx="9" cy="6"/>
            </a:xfrm>
            <a:custGeom>
              <a:avLst/>
              <a:gdLst>
                <a:gd name="T0" fmla="*/ 0 w 19"/>
                <a:gd name="T1" fmla="*/ 0 h 13"/>
                <a:gd name="T2" fmla="*/ 0 w 19"/>
                <a:gd name="T3" fmla="*/ 0 h 13"/>
                <a:gd name="T4" fmla="*/ 0 w 19"/>
                <a:gd name="T5" fmla="*/ 0 h 13"/>
                <a:gd name="T6" fmla="*/ 0 w 19"/>
                <a:gd name="T7" fmla="*/ 0 h 13"/>
                <a:gd name="T8" fmla="*/ 0 w 19"/>
                <a:gd name="T9" fmla="*/ 0 h 13"/>
                <a:gd name="T10" fmla="*/ 0 w 19"/>
                <a:gd name="T11" fmla="*/ 0 h 13"/>
                <a:gd name="T12" fmla="*/ 0 w 19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"/>
                <a:gd name="T22" fmla="*/ 0 h 13"/>
                <a:gd name="T23" fmla="*/ 19 w 19"/>
                <a:gd name="T24" fmla="*/ 13 h 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" h="13">
                  <a:moveTo>
                    <a:pt x="0" y="7"/>
                  </a:moveTo>
                  <a:lnTo>
                    <a:pt x="0" y="7"/>
                  </a:lnTo>
                  <a:lnTo>
                    <a:pt x="0" y="13"/>
                  </a:lnTo>
                  <a:lnTo>
                    <a:pt x="13" y="0"/>
                  </a:lnTo>
                  <a:lnTo>
                    <a:pt x="19" y="1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29" name="Freeform 950"/>
            <p:cNvSpPr>
              <a:spLocks/>
            </p:cNvSpPr>
            <p:nvPr/>
          </p:nvSpPr>
          <p:spPr bwMode="auto">
            <a:xfrm>
              <a:off x="3494" y="2582"/>
              <a:ext cx="14" cy="14"/>
            </a:xfrm>
            <a:custGeom>
              <a:avLst/>
              <a:gdLst>
                <a:gd name="T0" fmla="*/ 0 w 29"/>
                <a:gd name="T1" fmla="*/ 0 h 30"/>
                <a:gd name="T2" fmla="*/ 0 w 29"/>
                <a:gd name="T3" fmla="*/ 0 h 30"/>
                <a:gd name="T4" fmla="*/ 0 w 29"/>
                <a:gd name="T5" fmla="*/ 0 h 30"/>
                <a:gd name="T6" fmla="*/ 0 w 29"/>
                <a:gd name="T7" fmla="*/ 0 h 30"/>
                <a:gd name="T8" fmla="*/ 0 w 29"/>
                <a:gd name="T9" fmla="*/ 0 h 30"/>
                <a:gd name="T10" fmla="*/ 0 w 29"/>
                <a:gd name="T11" fmla="*/ 0 h 30"/>
                <a:gd name="T12" fmla="*/ 0 w 29"/>
                <a:gd name="T13" fmla="*/ 0 h 30"/>
                <a:gd name="T14" fmla="*/ 0 w 29"/>
                <a:gd name="T15" fmla="*/ 0 h 30"/>
                <a:gd name="T16" fmla="*/ 0 w 29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0"/>
                <a:gd name="T29" fmla="*/ 29 w 29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0">
                  <a:moveTo>
                    <a:pt x="29" y="13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3"/>
                  </a:lnTo>
                  <a:lnTo>
                    <a:pt x="6" y="25"/>
                  </a:lnTo>
                  <a:lnTo>
                    <a:pt x="12" y="30"/>
                  </a:lnTo>
                  <a:lnTo>
                    <a:pt x="23" y="25"/>
                  </a:lnTo>
                  <a:lnTo>
                    <a:pt x="29" y="13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30" name="Freeform 951"/>
            <p:cNvSpPr>
              <a:spLocks/>
            </p:cNvSpPr>
            <p:nvPr/>
          </p:nvSpPr>
          <p:spPr bwMode="auto">
            <a:xfrm>
              <a:off x="3490" y="2579"/>
              <a:ext cx="24" cy="23"/>
            </a:xfrm>
            <a:custGeom>
              <a:avLst/>
              <a:gdLst>
                <a:gd name="T0" fmla="*/ 1 w 47"/>
                <a:gd name="T1" fmla="*/ 0 h 47"/>
                <a:gd name="T2" fmla="*/ 1 w 47"/>
                <a:gd name="T3" fmla="*/ 0 h 47"/>
                <a:gd name="T4" fmla="*/ 1 w 47"/>
                <a:gd name="T5" fmla="*/ 0 h 47"/>
                <a:gd name="T6" fmla="*/ 1 w 47"/>
                <a:gd name="T7" fmla="*/ 0 h 47"/>
                <a:gd name="T8" fmla="*/ 1 w 47"/>
                <a:gd name="T9" fmla="*/ 0 h 47"/>
                <a:gd name="T10" fmla="*/ 1 w 47"/>
                <a:gd name="T11" fmla="*/ 0 h 47"/>
                <a:gd name="T12" fmla="*/ 1 w 47"/>
                <a:gd name="T13" fmla="*/ 0 h 47"/>
                <a:gd name="T14" fmla="*/ 1 w 47"/>
                <a:gd name="T15" fmla="*/ 0 h 47"/>
                <a:gd name="T16" fmla="*/ 1 w 47"/>
                <a:gd name="T17" fmla="*/ 0 h 47"/>
                <a:gd name="T18" fmla="*/ 1 w 47"/>
                <a:gd name="T19" fmla="*/ 0 h 47"/>
                <a:gd name="T20" fmla="*/ 1 w 47"/>
                <a:gd name="T21" fmla="*/ 0 h 47"/>
                <a:gd name="T22" fmla="*/ 1 w 47"/>
                <a:gd name="T23" fmla="*/ 0 h 47"/>
                <a:gd name="T24" fmla="*/ 1 w 47"/>
                <a:gd name="T25" fmla="*/ 0 h 47"/>
                <a:gd name="T26" fmla="*/ 1 w 47"/>
                <a:gd name="T27" fmla="*/ 0 h 47"/>
                <a:gd name="T28" fmla="*/ 1 w 47"/>
                <a:gd name="T29" fmla="*/ 0 h 47"/>
                <a:gd name="T30" fmla="*/ 1 w 47"/>
                <a:gd name="T31" fmla="*/ 0 h 47"/>
                <a:gd name="T32" fmla="*/ 1 w 47"/>
                <a:gd name="T33" fmla="*/ 0 h 47"/>
                <a:gd name="T34" fmla="*/ 1 w 47"/>
                <a:gd name="T35" fmla="*/ 0 h 47"/>
                <a:gd name="T36" fmla="*/ 1 w 47"/>
                <a:gd name="T37" fmla="*/ 0 h 47"/>
                <a:gd name="T38" fmla="*/ 1 w 47"/>
                <a:gd name="T39" fmla="*/ 0 h 47"/>
                <a:gd name="T40" fmla="*/ 1 w 47"/>
                <a:gd name="T41" fmla="*/ 0 h 47"/>
                <a:gd name="T42" fmla="*/ 1 w 47"/>
                <a:gd name="T43" fmla="*/ 0 h 47"/>
                <a:gd name="T44" fmla="*/ 1 w 47"/>
                <a:gd name="T45" fmla="*/ 0 h 47"/>
                <a:gd name="T46" fmla="*/ 1 w 47"/>
                <a:gd name="T47" fmla="*/ 0 h 47"/>
                <a:gd name="T48" fmla="*/ 1 w 47"/>
                <a:gd name="T49" fmla="*/ 0 h 47"/>
                <a:gd name="T50" fmla="*/ 1 w 47"/>
                <a:gd name="T51" fmla="*/ 0 h 47"/>
                <a:gd name="T52" fmla="*/ 1 w 47"/>
                <a:gd name="T53" fmla="*/ 0 h 47"/>
                <a:gd name="T54" fmla="*/ 1 w 47"/>
                <a:gd name="T55" fmla="*/ 0 h 47"/>
                <a:gd name="T56" fmla="*/ 1 w 47"/>
                <a:gd name="T57" fmla="*/ 0 h 47"/>
                <a:gd name="T58" fmla="*/ 1 w 47"/>
                <a:gd name="T59" fmla="*/ 0 h 47"/>
                <a:gd name="T60" fmla="*/ 1 w 47"/>
                <a:gd name="T61" fmla="*/ 0 h 47"/>
                <a:gd name="T62" fmla="*/ 1 w 47"/>
                <a:gd name="T63" fmla="*/ 0 h 47"/>
                <a:gd name="T64" fmla="*/ 1 w 47"/>
                <a:gd name="T65" fmla="*/ 0 h 47"/>
                <a:gd name="T66" fmla="*/ 1 w 47"/>
                <a:gd name="T67" fmla="*/ 0 h 47"/>
                <a:gd name="T68" fmla="*/ 1 w 47"/>
                <a:gd name="T69" fmla="*/ 0 h 47"/>
                <a:gd name="T70" fmla="*/ 0 w 47"/>
                <a:gd name="T71" fmla="*/ 0 h 47"/>
                <a:gd name="T72" fmla="*/ 0 w 47"/>
                <a:gd name="T73" fmla="*/ 0 h 47"/>
                <a:gd name="T74" fmla="*/ 0 w 47"/>
                <a:gd name="T75" fmla="*/ 0 h 47"/>
                <a:gd name="T76" fmla="*/ 1 w 47"/>
                <a:gd name="T77" fmla="*/ 0 h 47"/>
                <a:gd name="T78" fmla="*/ 1 w 47"/>
                <a:gd name="T79" fmla="*/ 0 h 47"/>
                <a:gd name="T80" fmla="*/ 1 w 47"/>
                <a:gd name="T81" fmla="*/ 0 h 47"/>
                <a:gd name="T82" fmla="*/ 1 w 47"/>
                <a:gd name="T83" fmla="*/ 0 h 47"/>
                <a:gd name="T84" fmla="*/ 1 w 47"/>
                <a:gd name="T85" fmla="*/ 0 h 47"/>
                <a:gd name="T86" fmla="*/ 1 w 47"/>
                <a:gd name="T87" fmla="*/ 0 h 47"/>
                <a:gd name="T88" fmla="*/ 1 w 47"/>
                <a:gd name="T89" fmla="*/ 0 h 47"/>
                <a:gd name="T90" fmla="*/ 1 w 47"/>
                <a:gd name="T91" fmla="*/ 0 h 47"/>
                <a:gd name="T92" fmla="*/ 1 w 47"/>
                <a:gd name="T93" fmla="*/ 0 h 47"/>
                <a:gd name="T94" fmla="*/ 1 w 47"/>
                <a:gd name="T95" fmla="*/ 0 h 47"/>
                <a:gd name="T96" fmla="*/ 1 w 47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7"/>
                <a:gd name="T149" fmla="*/ 47 w 47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7">
                  <a:moveTo>
                    <a:pt x="29" y="24"/>
                  </a:moveTo>
                  <a:lnTo>
                    <a:pt x="24" y="18"/>
                  </a:lnTo>
                  <a:lnTo>
                    <a:pt x="29" y="24"/>
                  </a:lnTo>
                  <a:lnTo>
                    <a:pt x="18" y="18"/>
                  </a:lnTo>
                  <a:lnTo>
                    <a:pt x="24" y="11"/>
                  </a:lnTo>
                  <a:lnTo>
                    <a:pt x="18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18" y="24"/>
                  </a:lnTo>
                  <a:lnTo>
                    <a:pt x="24" y="30"/>
                  </a:lnTo>
                  <a:lnTo>
                    <a:pt x="18" y="30"/>
                  </a:lnTo>
                  <a:lnTo>
                    <a:pt x="29" y="24"/>
                  </a:lnTo>
                  <a:lnTo>
                    <a:pt x="24" y="30"/>
                  </a:lnTo>
                  <a:lnTo>
                    <a:pt x="29" y="18"/>
                  </a:lnTo>
                  <a:lnTo>
                    <a:pt x="47" y="24"/>
                  </a:lnTo>
                  <a:lnTo>
                    <a:pt x="41" y="35"/>
                  </a:lnTo>
                  <a:lnTo>
                    <a:pt x="35" y="41"/>
                  </a:lnTo>
                  <a:lnTo>
                    <a:pt x="24" y="47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4"/>
                  </a:lnTo>
                  <a:lnTo>
                    <a:pt x="0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5"/>
                  </a:lnTo>
                  <a:lnTo>
                    <a:pt x="41" y="11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31" name="Freeform 952"/>
            <p:cNvSpPr>
              <a:spLocks/>
            </p:cNvSpPr>
            <p:nvPr/>
          </p:nvSpPr>
          <p:spPr bwMode="auto">
            <a:xfrm>
              <a:off x="3505" y="2585"/>
              <a:ext cx="9" cy="6"/>
            </a:xfrm>
            <a:custGeom>
              <a:avLst/>
              <a:gdLst>
                <a:gd name="T0" fmla="*/ 0 w 18"/>
                <a:gd name="T1" fmla="*/ 0 h 13"/>
                <a:gd name="T2" fmla="*/ 0 w 18"/>
                <a:gd name="T3" fmla="*/ 0 h 13"/>
                <a:gd name="T4" fmla="*/ 0 w 18"/>
                <a:gd name="T5" fmla="*/ 0 h 13"/>
                <a:gd name="T6" fmla="*/ 1 w 18"/>
                <a:gd name="T7" fmla="*/ 0 h 13"/>
                <a:gd name="T8" fmla="*/ 1 w 18"/>
                <a:gd name="T9" fmla="*/ 0 h 13"/>
                <a:gd name="T10" fmla="*/ 1 w 18"/>
                <a:gd name="T11" fmla="*/ 0 h 13"/>
                <a:gd name="T12" fmla="*/ 0 w 1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3"/>
                <a:gd name="T23" fmla="*/ 18 w 18"/>
                <a:gd name="T24" fmla="*/ 13 h 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3">
                  <a:moveTo>
                    <a:pt x="0" y="7"/>
                  </a:moveTo>
                  <a:lnTo>
                    <a:pt x="0" y="7"/>
                  </a:lnTo>
                  <a:lnTo>
                    <a:pt x="0" y="13"/>
                  </a:lnTo>
                  <a:lnTo>
                    <a:pt x="12" y="0"/>
                  </a:lnTo>
                  <a:lnTo>
                    <a:pt x="18" y="1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32" name="Freeform 953"/>
            <p:cNvSpPr>
              <a:spLocks/>
            </p:cNvSpPr>
            <p:nvPr/>
          </p:nvSpPr>
          <p:spPr bwMode="auto">
            <a:xfrm>
              <a:off x="3552" y="2582"/>
              <a:ext cx="14" cy="14"/>
            </a:xfrm>
            <a:custGeom>
              <a:avLst/>
              <a:gdLst>
                <a:gd name="T0" fmla="*/ 0 w 29"/>
                <a:gd name="T1" fmla="*/ 0 h 30"/>
                <a:gd name="T2" fmla="*/ 0 w 29"/>
                <a:gd name="T3" fmla="*/ 0 h 30"/>
                <a:gd name="T4" fmla="*/ 0 w 29"/>
                <a:gd name="T5" fmla="*/ 0 h 30"/>
                <a:gd name="T6" fmla="*/ 0 w 29"/>
                <a:gd name="T7" fmla="*/ 0 h 30"/>
                <a:gd name="T8" fmla="*/ 0 w 29"/>
                <a:gd name="T9" fmla="*/ 0 h 30"/>
                <a:gd name="T10" fmla="*/ 0 w 29"/>
                <a:gd name="T11" fmla="*/ 0 h 30"/>
                <a:gd name="T12" fmla="*/ 0 w 29"/>
                <a:gd name="T13" fmla="*/ 0 h 30"/>
                <a:gd name="T14" fmla="*/ 0 w 29"/>
                <a:gd name="T15" fmla="*/ 0 h 30"/>
                <a:gd name="T16" fmla="*/ 0 w 29"/>
                <a:gd name="T17" fmla="*/ 0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30"/>
                <a:gd name="T29" fmla="*/ 29 w 29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30">
                  <a:moveTo>
                    <a:pt x="29" y="13"/>
                  </a:moveTo>
                  <a:lnTo>
                    <a:pt x="23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3"/>
                  </a:lnTo>
                  <a:lnTo>
                    <a:pt x="6" y="25"/>
                  </a:lnTo>
                  <a:lnTo>
                    <a:pt x="12" y="30"/>
                  </a:lnTo>
                  <a:lnTo>
                    <a:pt x="23" y="25"/>
                  </a:lnTo>
                  <a:lnTo>
                    <a:pt x="29" y="13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33" name="Freeform 954"/>
            <p:cNvSpPr>
              <a:spLocks/>
            </p:cNvSpPr>
            <p:nvPr/>
          </p:nvSpPr>
          <p:spPr bwMode="auto">
            <a:xfrm>
              <a:off x="3549" y="2579"/>
              <a:ext cx="24" cy="23"/>
            </a:xfrm>
            <a:custGeom>
              <a:avLst/>
              <a:gdLst>
                <a:gd name="T0" fmla="*/ 1 w 47"/>
                <a:gd name="T1" fmla="*/ 0 h 47"/>
                <a:gd name="T2" fmla="*/ 1 w 47"/>
                <a:gd name="T3" fmla="*/ 0 h 47"/>
                <a:gd name="T4" fmla="*/ 1 w 47"/>
                <a:gd name="T5" fmla="*/ 0 h 47"/>
                <a:gd name="T6" fmla="*/ 1 w 47"/>
                <a:gd name="T7" fmla="*/ 0 h 47"/>
                <a:gd name="T8" fmla="*/ 1 w 47"/>
                <a:gd name="T9" fmla="*/ 0 h 47"/>
                <a:gd name="T10" fmla="*/ 1 w 47"/>
                <a:gd name="T11" fmla="*/ 0 h 47"/>
                <a:gd name="T12" fmla="*/ 1 w 47"/>
                <a:gd name="T13" fmla="*/ 0 h 47"/>
                <a:gd name="T14" fmla="*/ 1 w 47"/>
                <a:gd name="T15" fmla="*/ 0 h 47"/>
                <a:gd name="T16" fmla="*/ 1 w 47"/>
                <a:gd name="T17" fmla="*/ 0 h 47"/>
                <a:gd name="T18" fmla="*/ 1 w 47"/>
                <a:gd name="T19" fmla="*/ 0 h 47"/>
                <a:gd name="T20" fmla="*/ 1 w 47"/>
                <a:gd name="T21" fmla="*/ 0 h 47"/>
                <a:gd name="T22" fmla="*/ 1 w 47"/>
                <a:gd name="T23" fmla="*/ 0 h 47"/>
                <a:gd name="T24" fmla="*/ 1 w 47"/>
                <a:gd name="T25" fmla="*/ 0 h 47"/>
                <a:gd name="T26" fmla="*/ 1 w 47"/>
                <a:gd name="T27" fmla="*/ 0 h 47"/>
                <a:gd name="T28" fmla="*/ 1 w 47"/>
                <a:gd name="T29" fmla="*/ 0 h 47"/>
                <a:gd name="T30" fmla="*/ 1 w 47"/>
                <a:gd name="T31" fmla="*/ 0 h 47"/>
                <a:gd name="T32" fmla="*/ 1 w 47"/>
                <a:gd name="T33" fmla="*/ 0 h 47"/>
                <a:gd name="T34" fmla="*/ 1 w 47"/>
                <a:gd name="T35" fmla="*/ 0 h 47"/>
                <a:gd name="T36" fmla="*/ 1 w 47"/>
                <a:gd name="T37" fmla="*/ 0 h 47"/>
                <a:gd name="T38" fmla="*/ 1 w 47"/>
                <a:gd name="T39" fmla="*/ 0 h 47"/>
                <a:gd name="T40" fmla="*/ 1 w 47"/>
                <a:gd name="T41" fmla="*/ 0 h 47"/>
                <a:gd name="T42" fmla="*/ 1 w 47"/>
                <a:gd name="T43" fmla="*/ 0 h 47"/>
                <a:gd name="T44" fmla="*/ 1 w 47"/>
                <a:gd name="T45" fmla="*/ 0 h 47"/>
                <a:gd name="T46" fmla="*/ 1 w 47"/>
                <a:gd name="T47" fmla="*/ 0 h 47"/>
                <a:gd name="T48" fmla="*/ 1 w 47"/>
                <a:gd name="T49" fmla="*/ 0 h 47"/>
                <a:gd name="T50" fmla="*/ 1 w 47"/>
                <a:gd name="T51" fmla="*/ 0 h 47"/>
                <a:gd name="T52" fmla="*/ 1 w 47"/>
                <a:gd name="T53" fmla="*/ 0 h 47"/>
                <a:gd name="T54" fmla="*/ 1 w 47"/>
                <a:gd name="T55" fmla="*/ 0 h 47"/>
                <a:gd name="T56" fmla="*/ 1 w 47"/>
                <a:gd name="T57" fmla="*/ 0 h 47"/>
                <a:gd name="T58" fmla="*/ 1 w 47"/>
                <a:gd name="T59" fmla="*/ 0 h 47"/>
                <a:gd name="T60" fmla="*/ 1 w 47"/>
                <a:gd name="T61" fmla="*/ 0 h 47"/>
                <a:gd name="T62" fmla="*/ 1 w 47"/>
                <a:gd name="T63" fmla="*/ 0 h 47"/>
                <a:gd name="T64" fmla="*/ 1 w 47"/>
                <a:gd name="T65" fmla="*/ 0 h 47"/>
                <a:gd name="T66" fmla="*/ 1 w 47"/>
                <a:gd name="T67" fmla="*/ 0 h 47"/>
                <a:gd name="T68" fmla="*/ 1 w 47"/>
                <a:gd name="T69" fmla="*/ 0 h 47"/>
                <a:gd name="T70" fmla="*/ 0 w 47"/>
                <a:gd name="T71" fmla="*/ 0 h 47"/>
                <a:gd name="T72" fmla="*/ 0 w 47"/>
                <a:gd name="T73" fmla="*/ 0 h 47"/>
                <a:gd name="T74" fmla="*/ 0 w 47"/>
                <a:gd name="T75" fmla="*/ 0 h 47"/>
                <a:gd name="T76" fmla="*/ 1 w 47"/>
                <a:gd name="T77" fmla="*/ 0 h 47"/>
                <a:gd name="T78" fmla="*/ 1 w 47"/>
                <a:gd name="T79" fmla="*/ 0 h 47"/>
                <a:gd name="T80" fmla="*/ 1 w 47"/>
                <a:gd name="T81" fmla="*/ 0 h 47"/>
                <a:gd name="T82" fmla="*/ 1 w 47"/>
                <a:gd name="T83" fmla="*/ 0 h 47"/>
                <a:gd name="T84" fmla="*/ 1 w 47"/>
                <a:gd name="T85" fmla="*/ 0 h 47"/>
                <a:gd name="T86" fmla="*/ 1 w 47"/>
                <a:gd name="T87" fmla="*/ 0 h 47"/>
                <a:gd name="T88" fmla="*/ 1 w 47"/>
                <a:gd name="T89" fmla="*/ 0 h 47"/>
                <a:gd name="T90" fmla="*/ 1 w 47"/>
                <a:gd name="T91" fmla="*/ 0 h 47"/>
                <a:gd name="T92" fmla="*/ 1 w 47"/>
                <a:gd name="T93" fmla="*/ 0 h 47"/>
                <a:gd name="T94" fmla="*/ 1 w 47"/>
                <a:gd name="T95" fmla="*/ 0 h 47"/>
                <a:gd name="T96" fmla="*/ 1 w 47"/>
                <a:gd name="T97" fmla="*/ 0 h 4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7"/>
                <a:gd name="T148" fmla="*/ 0 h 47"/>
                <a:gd name="T149" fmla="*/ 47 w 47"/>
                <a:gd name="T150" fmla="*/ 47 h 4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7" h="47">
                  <a:moveTo>
                    <a:pt x="29" y="24"/>
                  </a:moveTo>
                  <a:lnTo>
                    <a:pt x="24" y="18"/>
                  </a:lnTo>
                  <a:lnTo>
                    <a:pt x="29" y="24"/>
                  </a:lnTo>
                  <a:lnTo>
                    <a:pt x="18" y="18"/>
                  </a:lnTo>
                  <a:lnTo>
                    <a:pt x="24" y="11"/>
                  </a:lnTo>
                  <a:lnTo>
                    <a:pt x="18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18" y="24"/>
                  </a:lnTo>
                  <a:lnTo>
                    <a:pt x="24" y="30"/>
                  </a:lnTo>
                  <a:lnTo>
                    <a:pt x="18" y="30"/>
                  </a:lnTo>
                  <a:lnTo>
                    <a:pt x="29" y="24"/>
                  </a:lnTo>
                  <a:lnTo>
                    <a:pt x="24" y="30"/>
                  </a:lnTo>
                  <a:lnTo>
                    <a:pt x="29" y="18"/>
                  </a:lnTo>
                  <a:lnTo>
                    <a:pt x="47" y="24"/>
                  </a:lnTo>
                  <a:lnTo>
                    <a:pt x="41" y="35"/>
                  </a:lnTo>
                  <a:lnTo>
                    <a:pt x="35" y="41"/>
                  </a:lnTo>
                  <a:lnTo>
                    <a:pt x="24" y="47"/>
                  </a:lnTo>
                  <a:lnTo>
                    <a:pt x="12" y="41"/>
                  </a:lnTo>
                  <a:lnTo>
                    <a:pt x="6" y="35"/>
                  </a:lnTo>
                  <a:lnTo>
                    <a:pt x="0" y="24"/>
                  </a:lnTo>
                  <a:lnTo>
                    <a:pt x="0" y="11"/>
                  </a:lnTo>
                  <a:lnTo>
                    <a:pt x="6" y="5"/>
                  </a:lnTo>
                  <a:lnTo>
                    <a:pt x="12" y="0"/>
                  </a:lnTo>
                  <a:lnTo>
                    <a:pt x="24" y="0"/>
                  </a:lnTo>
                  <a:lnTo>
                    <a:pt x="35" y="5"/>
                  </a:lnTo>
                  <a:lnTo>
                    <a:pt x="41" y="11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34" name="Freeform 955"/>
            <p:cNvSpPr>
              <a:spLocks/>
            </p:cNvSpPr>
            <p:nvPr/>
          </p:nvSpPr>
          <p:spPr bwMode="auto">
            <a:xfrm>
              <a:off x="3563" y="2585"/>
              <a:ext cx="10" cy="6"/>
            </a:xfrm>
            <a:custGeom>
              <a:avLst/>
              <a:gdLst>
                <a:gd name="T0" fmla="*/ 0 w 18"/>
                <a:gd name="T1" fmla="*/ 0 h 13"/>
                <a:gd name="T2" fmla="*/ 0 w 18"/>
                <a:gd name="T3" fmla="*/ 0 h 13"/>
                <a:gd name="T4" fmla="*/ 0 w 18"/>
                <a:gd name="T5" fmla="*/ 0 h 13"/>
                <a:gd name="T6" fmla="*/ 1 w 18"/>
                <a:gd name="T7" fmla="*/ 0 h 13"/>
                <a:gd name="T8" fmla="*/ 1 w 18"/>
                <a:gd name="T9" fmla="*/ 0 h 13"/>
                <a:gd name="T10" fmla="*/ 1 w 18"/>
                <a:gd name="T11" fmla="*/ 0 h 13"/>
                <a:gd name="T12" fmla="*/ 0 w 18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13"/>
                <a:gd name="T23" fmla="*/ 18 w 18"/>
                <a:gd name="T24" fmla="*/ 13 h 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13">
                  <a:moveTo>
                    <a:pt x="0" y="7"/>
                  </a:moveTo>
                  <a:lnTo>
                    <a:pt x="0" y="7"/>
                  </a:lnTo>
                  <a:lnTo>
                    <a:pt x="0" y="13"/>
                  </a:lnTo>
                  <a:lnTo>
                    <a:pt x="12" y="0"/>
                  </a:lnTo>
                  <a:lnTo>
                    <a:pt x="18" y="1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35" name="Rectangle 956"/>
            <p:cNvSpPr>
              <a:spLocks noChangeArrowheads="1"/>
            </p:cNvSpPr>
            <p:nvPr/>
          </p:nvSpPr>
          <p:spPr bwMode="auto">
            <a:xfrm>
              <a:off x="1951" y="3247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36" name="Rectangle 957"/>
            <p:cNvSpPr>
              <a:spLocks noChangeArrowheads="1"/>
            </p:cNvSpPr>
            <p:nvPr/>
          </p:nvSpPr>
          <p:spPr bwMode="auto">
            <a:xfrm>
              <a:off x="2114" y="3256"/>
              <a:ext cx="18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37" name="Rectangle 958"/>
            <p:cNvSpPr>
              <a:spLocks noChangeArrowheads="1"/>
            </p:cNvSpPr>
            <p:nvPr/>
          </p:nvSpPr>
          <p:spPr bwMode="auto">
            <a:xfrm>
              <a:off x="1942" y="3422"/>
              <a:ext cx="181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38" name="Rectangle 959"/>
            <p:cNvSpPr>
              <a:spLocks noChangeArrowheads="1"/>
            </p:cNvSpPr>
            <p:nvPr/>
          </p:nvSpPr>
          <p:spPr bwMode="auto">
            <a:xfrm>
              <a:off x="1942" y="3247"/>
              <a:ext cx="17" cy="18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39" name="Rectangle 962"/>
            <p:cNvSpPr>
              <a:spLocks noChangeArrowheads="1"/>
            </p:cNvSpPr>
            <p:nvPr/>
          </p:nvSpPr>
          <p:spPr bwMode="auto">
            <a:xfrm>
              <a:off x="1732" y="3679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0" name="Rectangle 965"/>
            <p:cNvSpPr>
              <a:spLocks noChangeArrowheads="1"/>
            </p:cNvSpPr>
            <p:nvPr/>
          </p:nvSpPr>
          <p:spPr bwMode="auto">
            <a:xfrm>
              <a:off x="1819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1" name="Rectangle 968"/>
            <p:cNvSpPr>
              <a:spLocks noChangeArrowheads="1"/>
            </p:cNvSpPr>
            <p:nvPr/>
          </p:nvSpPr>
          <p:spPr bwMode="auto">
            <a:xfrm>
              <a:off x="1991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2" name="Rectangle 971"/>
            <p:cNvSpPr>
              <a:spLocks noChangeArrowheads="1"/>
            </p:cNvSpPr>
            <p:nvPr/>
          </p:nvSpPr>
          <p:spPr bwMode="auto">
            <a:xfrm>
              <a:off x="2076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3" name="Rectangle 974"/>
            <p:cNvSpPr>
              <a:spLocks noChangeArrowheads="1"/>
            </p:cNvSpPr>
            <p:nvPr/>
          </p:nvSpPr>
          <p:spPr bwMode="auto">
            <a:xfrm>
              <a:off x="2248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4" name="Rectangle 976"/>
            <p:cNvSpPr>
              <a:spLocks noChangeArrowheads="1"/>
            </p:cNvSpPr>
            <p:nvPr/>
          </p:nvSpPr>
          <p:spPr bwMode="auto">
            <a:xfrm>
              <a:off x="2336" y="3679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5" name="Rectangle 979"/>
            <p:cNvSpPr>
              <a:spLocks noChangeArrowheads="1"/>
            </p:cNvSpPr>
            <p:nvPr/>
          </p:nvSpPr>
          <p:spPr bwMode="auto">
            <a:xfrm>
              <a:off x="2508" y="3679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6" name="Rectangle 982"/>
            <p:cNvSpPr>
              <a:spLocks noChangeArrowheads="1"/>
            </p:cNvSpPr>
            <p:nvPr/>
          </p:nvSpPr>
          <p:spPr bwMode="auto">
            <a:xfrm>
              <a:off x="2592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7" name="Rectangle 985"/>
            <p:cNvSpPr>
              <a:spLocks noChangeArrowheads="1"/>
            </p:cNvSpPr>
            <p:nvPr/>
          </p:nvSpPr>
          <p:spPr bwMode="auto">
            <a:xfrm>
              <a:off x="2764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8" name="Rectangle 988"/>
            <p:cNvSpPr>
              <a:spLocks noChangeArrowheads="1"/>
            </p:cNvSpPr>
            <p:nvPr/>
          </p:nvSpPr>
          <p:spPr bwMode="auto">
            <a:xfrm>
              <a:off x="2852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49" name="Rectangle 991"/>
            <p:cNvSpPr>
              <a:spLocks noChangeArrowheads="1"/>
            </p:cNvSpPr>
            <p:nvPr/>
          </p:nvSpPr>
          <p:spPr bwMode="auto">
            <a:xfrm>
              <a:off x="3024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0" name="Rectangle 994"/>
            <p:cNvSpPr>
              <a:spLocks noChangeArrowheads="1"/>
            </p:cNvSpPr>
            <p:nvPr/>
          </p:nvSpPr>
          <p:spPr bwMode="auto">
            <a:xfrm>
              <a:off x="3111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1" name="Rectangle 996"/>
            <p:cNvSpPr>
              <a:spLocks noChangeArrowheads="1"/>
            </p:cNvSpPr>
            <p:nvPr/>
          </p:nvSpPr>
          <p:spPr bwMode="auto">
            <a:xfrm>
              <a:off x="3847" y="3679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2" name="Rectangle 998"/>
            <p:cNvSpPr>
              <a:spLocks noChangeArrowheads="1"/>
            </p:cNvSpPr>
            <p:nvPr/>
          </p:nvSpPr>
          <p:spPr bwMode="auto">
            <a:xfrm>
              <a:off x="3931" y="3646"/>
              <a:ext cx="9" cy="202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3" name="Rectangle 1001"/>
            <p:cNvSpPr>
              <a:spLocks noChangeArrowheads="1"/>
            </p:cNvSpPr>
            <p:nvPr/>
          </p:nvSpPr>
          <p:spPr bwMode="auto">
            <a:xfrm>
              <a:off x="4103" y="3679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4" name="Rectangle 1002"/>
            <p:cNvSpPr>
              <a:spLocks noChangeArrowheads="1"/>
            </p:cNvSpPr>
            <p:nvPr/>
          </p:nvSpPr>
          <p:spPr bwMode="auto">
            <a:xfrm>
              <a:off x="4209" y="3668"/>
              <a:ext cx="9" cy="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5" name="Rectangle 1004"/>
            <p:cNvSpPr>
              <a:spLocks noChangeArrowheads="1"/>
            </p:cNvSpPr>
            <p:nvPr/>
          </p:nvSpPr>
          <p:spPr bwMode="auto">
            <a:xfrm>
              <a:off x="4191" y="3655"/>
              <a:ext cx="9" cy="193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6" name="Rectangle 1005"/>
            <p:cNvSpPr>
              <a:spLocks noChangeArrowheads="1"/>
            </p:cNvSpPr>
            <p:nvPr/>
          </p:nvSpPr>
          <p:spPr bwMode="auto">
            <a:xfrm>
              <a:off x="3826" y="3544"/>
              <a:ext cx="129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7" name="Rectangle 1006"/>
            <p:cNvSpPr>
              <a:spLocks noChangeArrowheads="1"/>
            </p:cNvSpPr>
            <p:nvPr/>
          </p:nvSpPr>
          <p:spPr bwMode="auto">
            <a:xfrm>
              <a:off x="3826" y="3542"/>
              <a:ext cx="137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8" name="Rectangle 1007"/>
            <p:cNvSpPr>
              <a:spLocks noChangeArrowheads="1"/>
            </p:cNvSpPr>
            <p:nvPr/>
          </p:nvSpPr>
          <p:spPr bwMode="auto">
            <a:xfrm>
              <a:off x="3955" y="3544"/>
              <a:ext cx="8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59" name="Rectangle 1008"/>
            <p:cNvSpPr>
              <a:spLocks noChangeArrowheads="1"/>
            </p:cNvSpPr>
            <p:nvPr/>
          </p:nvSpPr>
          <p:spPr bwMode="auto">
            <a:xfrm>
              <a:off x="3823" y="3675"/>
              <a:ext cx="134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0" name="Rectangle 1009"/>
            <p:cNvSpPr>
              <a:spLocks noChangeArrowheads="1"/>
            </p:cNvSpPr>
            <p:nvPr/>
          </p:nvSpPr>
          <p:spPr bwMode="auto">
            <a:xfrm>
              <a:off x="3823" y="3542"/>
              <a:ext cx="9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1" name="Rectangle 1010"/>
            <p:cNvSpPr>
              <a:spLocks noChangeArrowheads="1"/>
            </p:cNvSpPr>
            <p:nvPr/>
          </p:nvSpPr>
          <p:spPr bwMode="auto">
            <a:xfrm>
              <a:off x="4083" y="3544"/>
              <a:ext cx="131" cy="13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2" name="Rectangle 1011"/>
            <p:cNvSpPr>
              <a:spLocks noChangeArrowheads="1"/>
            </p:cNvSpPr>
            <p:nvPr/>
          </p:nvSpPr>
          <p:spPr bwMode="auto">
            <a:xfrm>
              <a:off x="4083" y="3542"/>
              <a:ext cx="140" cy="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3" name="Rectangle 1012"/>
            <p:cNvSpPr>
              <a:spLocks noChangeArrowheads="1"/>
            </p:cNvSpPr>
            <p:nvPr/>
          </p:nvSpPr>
          <p:spPr bwMode="auto">
            <a:xfrm>
              <a:off x="4214" y="3544"/>
              <a:ext cx="9" cy="141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4" name="Rectangle 1013"/>
            <p:cNvSpPr>
              <a:spLocks noChangeArrowheads="1"/>
            </p:cNvSpPr>
            <p:nvPr/>
          </p:nvSpPr>
          <p:spPr bwMode="auto">
            <a:xfrm>
              <a:off x="4080" y="3675"/>
              <a:ext cx="137" cy="10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5" name="Rectangle 1014"/>
            <p:cNvSpPr>
              <a:spLocks noChangeArrowheads="1"/>
            </p:cNvSpPr>
            <p:nvPr/>
          </p:nvSpPr>
          <p:spPr bwMode="auto">
            <a:xfrm>
              <a:off x="4080" y="3542"/>
              <a:ext cx="8" cy="13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6" name="Rectangle 1015"/>
            <p:cNvSpPr>
              <a:spLocks noChangeArrowheads="1"/>
            </p:cNvSpPr>
            <p:nvPr/>
          </p:nvSpPr>
          <p:spPr bwMode="auto">
            <a:xfrm>
              <a:off x="4249" y="3848"/>
              <a:ext cx="17" cy="224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7" name="Rectangle 1016"/>
            <p:cNvSpPr>
              <a:spLocks noChangeArrowheads="1"/>
            </p:cNvSpPr>
            <p:nvPr/>
          </p:nvSpPr>
          <p:spPr bwMode="auto">
            <a:xfrm>
              <a:off x="1653" y="4055"/>
              <a:ext cx="2605" cy="17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8" name="Rectangle 1017"/>
            <p:cNvSpPr>
              <a:spLocks noChangeArrowheads="1"/>
            </p:cNvSpPr>
            <p:nvPr/>
          </p:nvSpPr>
          <p:spPr bwMode="auto">
            <a:xfrm>
              <a:off x="1653" y="3839"/>
              <a:ext cx="17" cy="22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69" name="Rectangle 1018"/>
            <p:cNvSpPr>
              <a:spLocks noChangeArrowheads="1"/>
            </p:cNvSpPr>
            <p:nvPr/>
          </p:nvSpPr>
          <p:spPr bwMode="auto">
            <a:xfrm>
              <a:off x="1662" y="3839"/>
              <a:ext cx="2604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0" name="Rectangle 1020"/>
            <p:cNvSpPr>
              <a:spLocks noChangeArrowheads="1"/>
            </p:cNvSpPr>
            <p:nvPr/>
          </p:nvSpPr>
          <p:spPr bwMode="auto">
            <a:xfrm>
              <a:off x="3931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1" name="Rectangle 1021"/>
            <p:cNvSpPr>
              <a:spLocks noChangeArrowheads="1"/>
            </p:cNvSpPr>
            <p:nvPr/>
          </p:nvSpPr>
          <p:spPr bwMode="auto">
            <a:xfrm>
              <a:off x="2753" y="3768"/>
              <a:ext cx="72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>
                  <a:solidFill>
                    <a:srgbClr val="000000"/>
                  </a:solidFill>
                  <a:latin typeface="Times-Roman"/>
                </a:rPr>
                <a:t>I/O block </a:t>
              </a:r>
              <a:endParaRPr lang="en-US" altLang="en-US" sz="3200">
                <a:latin typeface="Times New Roman" pitchFamily="18" charset="0"/>
              </a:endParaRPr>
            </a:p>
          </p:txBody>
        </p:sp>
        <p:sp>
          <p:nvSpPr>
            <p:cNvPr id="24572" name="Rectangle 1023"/>
            <p:cNvSpPr>
              <a:spLocks noChangeArrowheads="1"/>
            </p:cNvSpPr>
            <p:nvPr/>
          </p:nvSpPr>
          <p:spPr bwMode="auto">
            <a:xfrm>
              <a:off x="1732" y="1281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3" name="Rectangle 1025"/>
            <p:cNvSpPr>
              <a:spLocks noChangeArrowheads="1"/>
            </p:cNvSpPr>
            <p:nvPr/>
          </p:nvSpPr>
          <p:spPr bwMode="auto">
            <a:xfrm>
              <a:off x="1819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4" name="Rectangle 1027"/>
            <p:cNvSpPr>
              <a:spLocks noChangeArrowheads="1"/>
            </p:cNvSpPr>
            <p:nvPr/>
          </p:nvSpPr>
          <p:spPr bwMode="auto">
            <a:xfrm>
              <a:off x="1991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5" name="Rectangle 1029"/>
            <p:cNvSpPr>
              <a:spLocks noChangeArrowheads="1"/>
            </p:cNvSpPr>
            <p:nvPr/>
          </p:nvSpPr>
          <p:spPr bwMode="auto">
            <a:xfrm>
              <a:off x="2076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6" name="Rectangle 1031"/>
            <p:cNvSpPr>
              <a:spLocks noChangeArrowheads="1"/>
            </p:cNvSpPr>
            <p:nvPr/>
          </p:nvSpPr>
          <p:spPr bwMode="auto">
            <a:xfrm>
              <a:off x="2248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7" name="Rectangle 1032"/>
            <p:cNvSpPr>
              <a:spLocks noChangeArrowheads="1"/>
            </p:cNvSpPr>
            <p:nvPr/>
          </p:nvSpPr>
          <p:spPr bwMode="auto">
            <a:xfrm>
              <a:off x="2336" y="1281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8" name="Rectangle 1034"/>
            <p:cNvSpPr>
              <a:spLocks noChangeArrowheads="1"/>
            </p:cNvSpPr>
            <p:nvPr/>
          </p:nvSpPr>
          <p:spPr bwMode="auto">
            <a:xfrm>
              <a:off x="2508" y="1281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79" name="Rectangle 1036"/>
            <p:cNvSpPr>
              <a:spLocks noChangeArrowheads="1"/>
            </p:cNvSpPr>
            <p:nvPr/>
          </p:nvSpPr>
          <p:spPr bwMode="auto">
            <a:xfrm>
              <a:off x="2592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0" name="Rectangle 1038"/>
            <p:cNvSpPr>
              <a:spLocks noChangeArrowheads="1"/>
            </p:cNvSpPr>
            <p:nvPr/>
          </p:nvSpPr>
          <p:spPr bwMode="auto">
            <a:xfrm>
              <a:off x="2764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1" name="Rectangle 1040"/>
            <p:cNvSpPr>
              <a:spLocks noChangeArrowheads="1"/>
            </p:cNvSpPr>
            <p:nvPr/>
          </p:nvSpPr>
          <p:spPr bwMode="auto">
            <a:xfrm>
              <a:off x="2852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2" name="Rectangle 1042"/>
            <p:cNvSpPr>
              <a:spLocks noChangeArrowheads="1"/>
            </p:cNvSpPr>
            <p:nvPr/>
          </p:nvSpPr>
          <p:spPr bwMode="auto">
            <a:xfrm>
              <a:off x="3024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3" name="Rectangle 1044"/>
            <p:cNvSpPr>
              <a:spLocks noChangeArrowheads="1"/>
            </p:cNvSpPr>
            <p:nvPr/>
          </p:nvSpPr>
          <p:spPr bwMode="auto">
            <a:xfrm>
              <a:off x="3111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4" name="Rectangle 1045"/>
            <p:cNvSpPr>
              <a:spLocks noChangeArrowheads="1"/>
            </p:cNvSpPr>
            <p:nvPr/>
          </p:nvSpPr>
          <p:spPr bwMode="auto">
            <a:xfrm>
              <a:off x="3847" y="1281"/>
              <a:ext cx="8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5" name="Rectangle 1047"/>
            <p:cNvSpPr>
              <a:spLocks noChangeArrowheads="1"/>
            </p:cNvSpPr>
            <p:nvPr/>
          </p:nvSpPr>
          <p:spPr bwMode="auto">
            <a:xfrm>
              <a:off x="4103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6" name="Rectangle 1049"/>
            <p:cNvSpPr>
              <a:spLocks noChangeArrowheads="1"/>
            </p:cNvSpPr>
            <p:nvPr/>
          </p:nvSpPr>
          <p:spPr bwMode="auto">
            <a:xfrm>
              <a:off x="4191" y="1281"/>
              <a:ext cx="9" cy="169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7" name="Rectangle 1050"/>
            <p:cNvSpPr>
              <a:spLocks noChangeArrowheads="1"/>
            </p:cNvSpPr>
            <p:nvPr/>
          </p:nvSpPr>
          <p:spPr bwMode="auto">
            <a:xfrm>
              <a:off x="1653" y="1056"/>
              <a:ext cx="17" cy="22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8" name="Rectangle 1051"/>
            <p:cNvSpPr>
              <a:spLocks noChangeArrowheads="1"/>
            </p:cNvSpPr>
            <p:nvPr/>
          </p:nvSpPr>
          <p:spPr bwMode="auto">
            <a:xfrm>
              <a:off x="1662" y="1056"/>
              <a:ext cx="2604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89" name="Rectangle 1052"/>
            <p:cNvSpPr>
              <a:spLocks noChangeArrowheads="1"/>
            </p:cNvSpPr>
            <p:nvPr/>
          </p:nvSpPr>
          <p:spPr bwMode="auto">
            <a:xfrm>
              <a:off x="4249" y="1065"/>
              <a:ext cx="17" cy="225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90" name="Rectangle 1053"/>
            <p:cNvSpPr>
              <a:spLocks noChangeArrowheads="1"/>
            </p:cNvSpPr>
            <p:nvPr/>
          </p:nvSpPr>
          <p:spPr bwMode="auto">
            <a:xfrm>
              <a:off x="1653" y="1272"/>
              <a:ext cx="2605" cy="18"/>
            </a:xfrm>
            <a:prstGeom prst="rect">
              <a:avLst/>
            </a:prstGeom>
            <a:solidFill>
              <a:srgbClr val="FF6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4591" name="Rectangle 1054"/>
            <p:cNvSpPr>
              <a:spLocks noChangeArrowheads="1"/>
            </p:cNvSpPr>
            <p:nvPr/>
          </p:nvSpPr>
          <p:spPr bwMode="auto">
            <a:xfrm>
              <a:off x="2753" y="994"/>
              <a:ext cx="72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>
                  <a:solidFill>
                    <a:srgbClr val="000000"/>
                  </a:solidFill>
                  <a:latin typeface="Times-Roman"/>
                </a:rPr>
                <a:t>I/O block </a:t>
              </a:r>
              <a:endParaRPr lang="en-US" altLang="en-US" sz="3200">
                <a:latin typeface="Times New Roman" pitchFamily="18" charset="0"/>
              </a:endParaRPr>
            </a:p>
          </p:txBody>
        </p:sp>
        <p:sp>
          <p:nvSpPr>
            <p:cNvPr id="24592" name="Rectangle 1055"/>
            <p:cNvSpPr>
              <a:spLocks noChangeArrowheads="1"/>
            </p:cNvSpPr>
            <p:nvPr/>
          </p:nvSpPr>
          <p:spPr bwMode="auto">
            <a:xfrm rot="5400000">
              <a:off x="4140" y="2484"/>
              <a:ext cx="72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>
                  <a:solidFill>
                    <a:srgbClr val="000000"/>
                  </a:solidFill>
                  <a:latin typeface="Times-Roman"/>
                </a:rPr>
                <a:t>I/O block </a:t>
              </a:r>
              <a:endParaRPr lang="en-US" altLang="en-US" sz="3200">
                <a:latin typeface="Times New Roman" pitchFamily="18" charset="0"/>
              </a:endParaRPr>
            </a:p>
          </p:txBody>
        </p:sp>
        <p:sp>
          <p:nvSpPr>
            <p:cNvPr id="24593" name="Rectangle 1056"/>
            <p:cNvSpPr>
              <a:spLocks noChangeArrowheads="1"/>
            </p:cNvSpPr>
            <p:nvPr/>
          </p:nvSpPr>
          <p:spPr bwMode="auto">
            <a:xfrm rot="16200000">
              <a:off x="1056" y="2445"/>
              <a:ext cx="72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>
                  <a:solidFill>
                    <a:srgbClr val="000000"/>
                  </a:solidFill>
                  <a:latin typeface="Times-Roman"/>
                </a:rPr>
                <a:t>I/O block </a:t>
              </a:r>
              <a:endParaRPr lang="en-US" altLang="en-US" sz="3200">
                <a:latin typeface="Times New Roman" pitchFamily="18" charset="0"/>
              </a:endParaRPr>
            </a:p>
          </p:txBody>
        </p:sp>
        <p:sp>
          <p:nvSpPr>
            <p:cNvPr id="24594" name="Line 1058"/>
            <p:cNvSpPr>
              <a:spLocks noChangeShapeType="1"/>
            </p:cNvSpPr>
            <p:nvPr/>
          </p:nvSpPr>
          <p:spPr bwMode="auto">
            <a:xfrm flipV="1">
              <a:off x="1056" y="3360"/>
              <a:ext cx="960" cy="52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24595" name="Line 1059"/>
            <p:cNvSpPr>
              <a:spLocks noChangeShapeType="1"/>
            </p:cNvSpPr>
            <p:nvPr/>
          </p:nvSpPr>
          <p:spPr bwMode="auto">
            <a:xfrm>
              <a:off x="960" y="1728"/>
              <a:ext cx="1056" cy="28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23616" name="Text Box 1060"/>
          <p:cNvSpPr txBox="1">
            <a:spLocks noChangeArrowheads="1"/>
          </p:cNvSpPr>
          <p:nvPr/>
        </p:nvSpPr>
        <p:spPr bwMode="auto">
          <a:xfrm>
            <a:off x="444104" y="6007101"/>
            <a:ext cx="985847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logic block</a:t>
            </a:r>
          </a:p>
        </p:txBody>
      </p:sp>
      <p:sp>
        <p:nvSpPr>
          <p:cNvPr id="23617" name="Text Box 1061"/>
          <p:cNvSpPr txBox="1">
            <a:spLocks noChangeArrowheads="1"/>
          </p:cNvSpPr>
          <p:nvPr/>
        </p:nvSpPr>
        <p:spPr bwMode="auto">
          <a:xfrm>
            <a:off x="228601" y="2362200"/>
            <a:ext cx="1487267" cy="5539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interconnection</a:t>
            </a:r>
            <a:br>
              <a:rPr lang="en-US" altLang="en-US"/>
            </a:br>
            <a:r>
              <a:rPr lang="en-US" altLang="en-US"/>
              <a:t>switch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685800"/>
            <a:ext cx="8229600" cy="4525963"/>
          </a:xfrm>
        </p:spPr>
        <p:txBody>
          <a:bodyPr/>
          <a:lstStyle/>
          <a:p>
            <a:r>
              <a:rPr lang="en-US" altLang="en-US" dirty="0" smtClean="0"/>
              <a:t>LUTs</a:t>
            </a:r>
          </a:p>
          <a:p>
            <a:pPr lvl="1"/>
            <a:endParaRPr lang="en-US" altLang="en-US" sz="2400" dirty="0" smtClean="0"/>
          </a:p>
          <a:p>
            <a:pPr lvl="1"/>
            <a:r>
              <a:rPr lang="en-US" altLang="en-US" sz="2400" dirty="0" smtClean="0"/>
              <a:t>Logic blocks are implemented using a lookup table (LUT)</a:t>
            </a:r>
          </a:p>
          <a:p>
            <a:pPr lvl="2"/>
            <a:r>
              <a:rPr lang="en-US" altLang="en-US" sz="2000" dirty="0" smtClean="0"/>
              <a:t>Small number of inputs, one output</a:t>
            </a:r>
          </a:p>
          <a:p>
            <a:pPr lvl="2"/>
            <a:r>
              <a:rPr lang="en-US" altLang="en-US" sz="2000" dirty="0" smtClean="0"/>
              <a:t>Contains storage cells that can be loaded with the desired values</a:t>
            </a:r>
          </a:p>
          <a:p>
            <a:pPr lvl="2"/>
            <a:endParaRPr lang="en-US" altLang="en-US" sz="2000" dirty="0" smtClean="0"/>
          </a:p>
          <a:p>
            <a:pPr lvl="2"/>
            <a:r>
              <a:rPr lang="en-US" altLang="en-US" sz="2000" dirty="0" smtClean="0"/>
              <a:t>A 2 input LUT uses 3 </a:t>
            </a:r>
            <a:r>
              <a:rPr lang="en-US" altLang="en-US" sz="2000" dirty="0" err="1" smtClean="0"/>
              <a:t>MUXes</a:t>
            </a:r>
            <a:r>
              <a:rPr lang="en-US" altLang="en-US" sz="2000" dirty="0" smtClean="0"/>
              <a:t> to implement any desired function of 2 variables</a:t>
            </a:r>
          </a:p>
          <a:p>
            <a:pPr lvl="3"/>
            <a:r>
              <a:rPr lang="en-US" altLang="en-US" sz="1800" dirty="0" smtClean="0"/>
              <a:t>Shannon's expansion at work!</a:t>
            </a:r>
          </a:p>
        </p:txBody>
      </p:sp>
      <p:sp>
        <p:nvSpPr>
          <p:cNvPr id="25603" name="Freeform 3"/>
          <p:cNvSpPr>
            <a:spLocks/>
          </p:cNvSpPr>
          <p:nvPr/>
        </p:nvSpPr>
        <p:spPr bwMode="auto">
          <a:xfrm>
            <a:off x="4133851" y="2787650"/>
            <a:ext cx="1222772" cy="1588"/>
          </a:xfrm>
          <a:custGeom>
            <a:avLst/>
            <a:gdLst>
              <a:gd name="T0" fmla="*/ 2147483647 w 848"/>
              <a:gd name="T1" fmla="*/ 0 h 1588"/>
              <a:gd name="T2" fmla="*/ 0 w 848"/>
              <a:gd name="T3" fmla="*/ 0 h 1588"/>
              <a:gd name="T4" fmla="*/ 2147483647 w 848"/>
              <a:gd name="T5" fmla="*/ 0 h 1588"/>
              <a:gd name="T6" fmla="*/ 0 60000 65536"/>
              <a:gd name="T7" fmla="*/ 0 60000 65536"/>
              <a:gd name="T8" fmla="*/ 0 60000 65536"/>
              <a:gd name="T9" fmla="*/ 0 w 848"/>
              <a:gd name="T10" fmla="*/ 0 h 1588"/>
              <a:gd name="T11" fmla="*/ 848 w 84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8" h="1588">
                <a:moveTo>
                  <a:pt x="848" y="0"/>
                </a:moveTo>
                <a:lnTo>
                  <a:pt x="0" y="0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4" name="Freeform 4"/>
          <p:cNvSpPr>
            <a:spLocks/>
          </p:cNvSpPr>
          <p:nvPr/>
        </p:nvSpPr>
        <p:spPr bwMode="auto">
          <a:xfrm>
            <a:off x="3384947" y="2532063"/>
            <a:ext cx="1971675" cy="0"/>
          </a:xfrm>
          <a:custGeom>
            <a:avLst/>
            <a:gdLst>
              <a:gd name="T0" fmla="*/ 2147483647 w 1368"/>
              <a:gd name="T1" fmla="*/ 0 w 1368"/>
              <a:gd name="T2" fmla="*/ 2147483647 w 1368"/>
              <a:gd name="T3" fmla="*/ 0 60000 65536"/>
              <a:gd name="T4" fmla="*/ 0 60000 65536"/>
              <a:gd name="T5" fmla="*/ 0 60000 65536"/>
              <a:gd name="T6" fmla="*/ 0 w 1368"/>
              <a:gd name="T7" fmla="*/ 1368 w 1368"/>
            </a:gdLst>
            <a:ahLst/>
            <a:cxnLst>
              <a:cxn ang="T3">
                <a:pos x="T0" y="0"/>
              </a:cxn>
              <a:cxn ang="T4">
                <a:pos x="T1" y="0"/>
              </a:cxn>
              <a:cxn ang="T5">
                <a:pos x="T2" y="0"/>
              </a:cxn>
            </a:cxnLst>
            <a:rect l="T6" t="0" r="T7" b="0"/>
            <a:pathLst>
              <a:path w="136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5" name="Freeform 5"/>
          <p:cNvSpPr>
            <a:spLocks/>
          </p:cNvSpPr>
          <p:nvPr/>
        </p:nvSpPr>
        <p:spPr bwMode="auto">
          <a:xfrm>
            <a:off x="3384947" y="4238625"/>
            <a:ext cx="1971675" cy="1588"/>
          </a:xfrm>
          <a:custGeom>
            <a:avLst/>
            <a:gdLst>
              <a:gd name="T0" fmla="*/ 2147483647 w 1368"/>
              <a:gd name="T1" fmla="*/ 0 h 1588"/>
              <a:gd name="T2" fmla="*/ 0 w 1368"/>
              <a:gd name="T3" fmla="*/ 0 h 1588"/>
              <a:gd name="T4" fmla="*/ 2147483647 w 1368"/>
              <a:gd name="T5" fmla="*/ 0 h 1588"/>
              <a:gd name="T6" fmla="*/ 0 60000 65536"/>
              <a:gd name="T7" fmla="*/ 0 60000 65536"/>
              <a:gd name="T8" fmla="*/ 0 60000 65536"/>
              <a:gd name="T9" fmla="*/ 0 w 1368"/>
              <a:gd name="T10" fmla="*/ 0 h 1588"/>
              <a:gd name="T11" fmla="*/ 1368 w 136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58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347781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347781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3618310" y="4659313"/>
            <a:ext cx="11906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320516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320516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3890963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3890963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40243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40243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5" name="Rectangle 15"/>
          <p:cNvSpPr>
            <a:spLocks noChangeArrowheads="1"/>
          </p:cNvSpPr>
          <p:nvPr/>
        </p:nvSpPr>
        <p:spPr bwMode="auto">
          <a:xfrm>
            <a:off x="429696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6" name="Rectangle 16"/>
          <p:cNvSpPr>
            <a:spLocks noChangeArrowheads="1"/>
          </p:cNvSpPr>
          <p:nvPr/>
        </p:nvSpPr>
        <p:spPr bwMode="auto">
          <a:xfrm>
            <a:off x="429696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7" name="Rectangle 17"/>
          <p:cNvSpPr>
            <a:spLocks noChangeArrowheads="1"/>
          </p:cNvSpPr>
          <p:nvPr/>
        </p:nvSpPr>
        <p:spPr bwMode="auto">
          <a:xfrm>
            <a:off x="4437460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4437460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47101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0" name="Rectangle 20"/>
          <p:cNvSpPr>
            <a:spLocks noChangeArrowheads="1"/>
          </p:cNvSpPr>
          <p:nvPr/>
        </p:nvSpPr>
        <p:spPr bwMode="auto">
          <a:xfrm>
            <a:off x="47101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48482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48482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3618310" y="5137151"/>
            <a:ext cx="11906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4" name="Rectangle 24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5" name="Rectangle 25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6" name="Rectangle 26"/>
          <p:cNvSpPr>
            <a:spLocks noChangeArrowheads="1"/>
          </p:cNvSpPr>
          <p:nvPr/>
        </p:nvSpPr>
        <p:spPr bwMode="auto">
          <a:xfrm>
            <a:off x="320516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7" name="Rectangle 27"/>
          <p:cNvSpPr>
            <a:spLocks noChangeArrowheads="1"/>
          </p:cNvSpPr>
          <p:nvPr/>
        </p:nvSpPr>
        <p:spPr bwMode="auto">
          <a:xfrm>
            <a:off x="40243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29" name="Rectangle 29"/>
          <p:cNvSpPr>
            <a:spLocks noChangeArrowheads="1"/>
          </p:cNvSpPr>
          <p:nvPr/>
        </p:nvSpPr>
        <p:spPr bwMode="auto">
          <a:xfrm>
            <a:off x="3890963" y="5646738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0" name="Rectangle 30"/>
          <p:cNvSpPr>
            <a:spLocks noChangeArrowheads="1"/>
          </p:cNvSpPr>
          <p:nvPr/>
        </p:nvSpPr>
        <p:spPr bwMode="auto">
          <a:xfrm>
            <a:off x="429696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1" name="Rectangle 31"/>
          <p:cNvSpPr>
            <a:spLocks noChangeArrowheads="1"/>
          </p:cNvSpPr>
          <p:nvPr/>
        </p:nvSpPr>
        <p:spPr bwMode="auto">
          <a:xfrm>
            <a:off x="47101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2" name="Rectangle 32"/>
          <p:cNvSpPr>
            <a:spLocks noChangeArrowheads="1"/>
          </p:cNvSpPr>
          <p:nvPr/>
        </p:nvSpPr>
        <p:spPr bwMode="auto">
          <a:xfrm>
            <a:off x="4437460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3" name="Rectangle 33"/>
          <p:cNvSpPr>
            <a:spLocks noChangeArrowheads="1"/>
          </p:cNvSpPr>
          <p:nvPr/>
        </p:nvSpPr>
        <p:spPr bwMode="auto">
          <a:xfrm>
            <a:off x="4848225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4" name="Rectangle 34"/>
          <p:cNvSpPr>
            <a:spLocks noChangeArrowheads="1"/>
          </p:cNvSpPr>
          <p:nvPr/>
        </p:nvSpPr>
        <p:spPr bwMode="auto">
          <a:xfrm>
            <a:off x="2658666" y="31226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5" name="Rectangle 35"/>
          <p:cNvSpPr>
            <a:spLocks noChangeArrowheads="1"/>
          </p:cNvSpPr>
          <p:nvPr/>
        </p:nvSpPr>
        <p:spPr bwMode="auto">
          <a:xfrm>
            <a:off x="30706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6" name="Rectangle 36"/>
          <p:cNvSpPr>
            <a:spLocks noChangeArrowheads="1"/>
          </p:cNvSpPr>
          <p:nvPr/>
        </p:nvSpPr>
        <p:spPr bwMode="auto">
          <a:xfrm>
            <a:off x="30706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7" name="Rectangle 37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8" name="Rectangle 38"/>
          <p:cNvSpPr>
            <a:spLocks noChangeArrowheads="1"/>
          </p:cNvSpPr>
          <p:nvPr/>
        </p:nvSpPr>
        <p:spPr bwMode="auto">
          <a:xfrm>
            <a:off x="2658666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39" name="Rectangle 39"/>
          <p:cNvSpPr>
            <a:spLocks noChangeArrowheads="1"/>
          </p:cNvSpPr>
          <p:nvPr/>
        </p:nvSpPr>
        <p:spPr bwMode="auto">
          <a:xfrm>
            <a:off x="2658666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0" name="Rectangle 40"/>
          <p:cNvSpPr>
            <a:spLocks noChangeArrowheads="1"/>
          </p:cNvSpPr>
          <p:nvPr/>
        </p:nvSpPr>
        <p:spPr bwMode="auto">
          <a:xfrm>
            <a:off x="27967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1" name="Rectangle 41"/>
          <p:cNvSpPr>
            <a:spLocks noChangeArrowheads="1"/>
          </p:cNvSpPr>
          <p:nvPr/>
        </p:nvSpPr>
        <p:spPr bwMode="auto">
          <a:xfrm>
            <a:off x="27967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2" name="Rectangle 42"/>
          <p:cNvSpPr>
            <a:spLocks noChangeArrowheads="1"/>
          </p:cNvSpPr>
          <p:nvPr/>
        </p:nvSpPr>
        <p:spPr bwMode="auto">
          <a:xfrm>
            <a:off x="6016228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3" name="Rectangle 43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4" name="Rectangle 44"/>
          <p:cNvSpPr>
            <a:spLocks noChangeArrowheads="1"/>
          </p:cNvSpPr>
          <p:nvPr/>
        </p:nvSpPr>
        <p:spPr bwMode="auto">
          <a:xfrm>
            <a:off x="571500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5" name="Rectangle 45"/>
          <p:cNvSpPr>
            <a:spLocks noChangeArrowheads="1"/>
          </p:cNvSpPr>
          <p:nvPr/>
        </p:nvSpPr>
        <p:spPr bwMode="auto">
          <a:xfrm>
            <a:off x="6016228" y="51371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6" name="Rectangle 46"/>
          <p:cNvSpPr>
            <a:spLocks noChangeArrowheads="1"/>
          </p:cNvSpPr>
          <p:nvPr/>
        </p:nvSpPr>
        <p:spPr bwMode="auto">
          <a:xfrm>
            <a:off x="6562725" y="31226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7" name="Rectangle 47"/>
          <p:cNvSpPr>
            <a:spLocks noChangeArrowheads="1"/>
          </p:cNvSpPr>
          <p:nvPr/>
        </p:nvSpPr>
        <p:spPr bwMode="auto">
          <a:xfrm>
            <a:off x="61495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8" name="Rectangle 48"/>
          <p:cNvSpPr>
            <a:spLocks noChangeArrowheads="1"/>
          </p:cNvSpPr>
          <p:nvPr/>
        </p:nvSpPr>
        <p:spPr bwMode="auto">
          <a:xfrm>
            <a:off x="61495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49" name="Rectangle 49"/>
          <p:cNvSpPr>
            <a:spLocks noChangeArrowheads="1"/>
          </p:cNvSpPr>
          <p:nvPr/>
        </p:nvSpPr>
        <p:spPr bwMode="auto">
          <a:xfrm>
            <a:off x="619125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0" name="Rectangle 50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1" name="Rectangle 51"/>
          <p:cNvSpPr>
            <a:spLocks noChangeArrowheads="1"/>
          </p:cNvSpPr>
          <p:nvPr/>
        </p:nvSpPr>
        <p:spPr bwMode="auto">
          <a:xfrm>
            <a:off x="65627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2" name="Rectangle 52"/>
          <p:cNvSpPr>
            <a:spLocks noChangeArrowheads="1"/>
          </p:cNvSpPr>
          <p:nvPr/>
        </p:nvSpPr>
        <p:spPr bwMode="auto">
          <a:xfrm>
            <a:off x="65627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3" name="Rectangle 53"/>
          <p:cNvSpPr>
            <a:spLocks noChangeArrowheads="1"/>
          </p:cNvSpPr>
          <p:nvPr/>
        </p:nvSpPr>
        <p:spPr bwMode="auto">
          <a:xfrm>
            <a:off x="64234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4" name="Rectangle 54"/>
          <p:cNvSpPr>
            <a:spLocks noChangeArrowheads="1"/>
          </p:cNvSpPr>
          <p:nvPr/>
        </p:nvSpPr>
        <p:spPr bwMode="auto">
          <a:xfrm>
            <a:off x="64234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5" name="Rectangle 55"/>
          <p:cNvSpPr>
            <a:spLocks noChangeArrowheads="1"/>
          </p:cNvSpPr>
          <p:nvPr/>
        </p:nvSpPr>
        <p:spPr bwMode="auto">
          <a:xfrm>
            <a:off x="6016228" y="354806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6" name="Rectangle 56"/>
          <p:cNvSpPr>
            <a:spLocks noChangeArrowheads="1"/>
          </p:cNvSpPr>
          <p:nvPr/>
        </p:nvSpPr>
        <p:spPr bwMode="auto">
          <a:xfrm>
            <a:off x="6016228" y="28860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7" name="Rectangle 57"/>
          <p:cNvSpPr>
            <a:spLocks noChangeArrowheads="1"/>
          </p:cNvSpPr>
          <p:nvPr/>
        </p:nvSpPr>
        <p:spPr bwMode="auto">
          <a:xfrm>
            <a:off x="3618310" y="6024563"/>
            <a:ext cx="11906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8" name="Rectangle 58"/>
          <p:cNvSpPr>
            <a:spLocks noChangeArrowheads="1"/>
          </p:cNvSpPr>
          <p:nvPr/>
        </p:nvSpPr>
        <p:spPr bwMode="auto">
          <a:xfrm>
            <a:off x="6016228" y="6024563"/>
            <a:ext cx="13097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59" name="Rectangle 59"/>
          <p:cNvSpPr>
            <a:spLocks noChangeArrowheads="1"/>
          </p:cNvSpPr>
          <p:nvPr/>
        </p:nvSpPr>
        <p:spPr bwMode="auto">
          <a:xfrm>
            <a:off x="61495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0" name="Rectangle 60"/>
          <p:cNvSpPr>
            <a:spLocks noChangeArrowheads="1"/>
          </p:cNvSpPr>
          <p:nvPr/>
        </p:nvSpPr>
        <p:spPr bwMode="auto">
          <a:xfrm>
            <a:off x="2658666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1" name="Rectangle 61"/>
          <p:cNvSpPr>
            <a:spLocks noChangeArrowheads="1"/>
          </p:cNvSpPr>
          <p:nvPr/>
        </p:nvSpPr>
        <p:spPr bwMode="auto">
          <a:xfrm>
            <a:off x="27967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2" name="Rectangle 62"/>
          <p:cNvSpPr>
            <a:spLocks noChangeArrowheads="1"/>
          </p:cNvSpPr>
          <p:nvPr/>
        </p:nvSpPr>
        <p:spPr bwMode="auto">
          <a:xfrm>
            <a:off x="30706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3" name="Rectangle 63"/>
          <p:cNvSpPr>
            <a:spLocks noChangeArrowheads="1"/>
          </p:cNvSpPr>
          <p:nvPr/>
        </p:nvSpPr>
        <p:spPr bwMode="auto">
          <a:xfrm>
            <a:off x="320516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4" name="Rectangle 64"/>
          <p:cNvSpPr>
            <a:spLocks noChangeArrowheads="1"/>
          </p:cNvSpPr>
          <p:nvPr/>
        </p:nvSpPr>
        <p:spPr bwMode="auto">
          <a:xfrm>
            <a:off x="347781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5" name="Rectangle 65"/>
          <p:cNvSpPr>
            <a:spLocks noChangeArrowheads="1"/>
          </p:cNvSpPr>
          <p:nvPr/>
        </p:nvSpPr>
        <p:spPr bwMode="auto">
          <a:xfrm>
            <a:off x="3890963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6" name="Rectangle 66"/>
          <p:cNvSpPr>
            <a:spLocks noChangeArrowheads="1"/>
          </p:cNvSpPr>
          <p:nvPr/>
        </p:nvSpPr>
        <p:spPr bwMode="auto">
          <a:xfrm>
            <a:off x="40243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7" name="Rectangle 67"/>
          <p:cNvSpPr>
            <a:spLocks noChangeArrowheads="1"/>
          </p:cNvSpPr>
          <p:nvPr/>
        </p:nvSpPr>
        <p:spPr bwMode="auto">
          <a:xfrm>
            <a:off x="429696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8" name="Rectangle 68"/>
          <p:cNvSpPr>
            <a:spLocks noChangeArrowheads="1"/>
          </p:cNvSpPr>
          <p:nvPr/>
        </p:nvSpPr>
        <p:spPr bwMode="auto">
          <a:xfrm>
            <a:off x="4437460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69" name="Rectangle 69"/>
          <p:cNvSpPr>
            <a:spLocks noChangeArrowheads="1"/>
          </p:cNvSpPr>
          <p:nvPr/>
        </p:nvSpPr>
        <p:spPr bwMode="auto">
          <a:xfrm>
            <a:off x="47101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70" name="Rectangle 70"/>
          <p:cNvSpPr>
            <a:spLocks noChangeArrowheads="1"/>
          </p:cNvSpPr>
          <p:nvPr/>
        </p:nvSpPr>
        <p:spPr bwMode="auto">
          <a:xfrm>
            <a:off x="48482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71" name="Rectangle 71"/>
          <p:cNvSpPr>
            <a:spLocks noChangeArrowheads="1"/>
          </p:cNvSpPr>
          <p:nvPr/>
        </p:nvSpPr>
        <p:spPr bwMode="auto">
          <a:xfrm>
            <a:off x="64234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5672" name="Rectangle 72"/>
          <p:cNvSpPr>
            <a:spLocks noChangeArrowheads="1"/>
          </p:cNvSpPr>
          <p:nvPr/>
        </p:nvSpPr>
        <p:spPr bwMode="auto">
          <a:xfrm>
            <a:off x="65627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grpSp>
        <p:nvGrpSpPr>
          <p:cNvPr id="2" name="Group 1052"/>
          <p:cNvGrpSpPr>
            <a:grpSpLocks/>
          </p:cNvGrpSpPr>
          <p:nvPr/>
        </p:nvGrpSpPr>
        <p:grpSpPr bwMode="auto">
          <a:xfrm>
            <a:off x="5700713" y="3987800"/>
            <a:ext cx="3477277" cy="2566988"/>
            <a:chOff x="2640" y="1206"/>
            <a:chExt cx="2443" cy="1762"/>
          </a:xfrm>
        </p:grpSpPr>
        <p:sp>
          <p:nvSpPr>
            <p:cNvPr id="25674" name="Line 1053"/>
            <p:cNvSpPr>
              <a:spLocks noChangeShapeType="1"/>
            </p:cNvSpPr>
            <p:nvPr/>
          </p:nvSpPr>
          <p:spPr bwMode="auto">
            <a:xfrm>
              <a:off x="3462" y="2209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75" name="Line 1054"/>
            <p:cNvSpPr>
              <a:spLocks noChangeShapeType="1"/>
            </p:cNvSpPr>
            <p:nvPr/>
          </p:nvSpPr>
          <p:spPr bwMode="auto">
            <a:xfrm>
              <a:off x="3462" y="2486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76" name="Line 1055"/>
            <p:cNvSpPr>
              <a:spLocks noChangeShapeType="1"/>
            </p:cNvSpPr>
            <p:nvPr/>
          </p:nvSpPr>
          <p:spPr bwMode="auto">
            <a:xfrm>
              <a:off x="3462" y="1916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77" name="Line 1056"/>
            <p:cNvSpPr>
              <a:spLocks noChangeShapeType="1"/>
            </p:cNvSpPr>
            <p:nvPr/>
          </p:nvSpPr>
          <p:spPr bwMode="auto">
            <a:xfrm>
              <a:off x="3462" y="1624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78" name="Line 1057"/>
            <p:cNvSpPr>
              <a:spLocks noChangeShapeType="1"/>
            </p:cNvSpPr>
            <p:nvPr/>
          </p:nvSpPr>
          <p:spPr bwMode="auto">
            <a:xfrm flipH="1">
              <a:off x="3820" y="1770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79" name="Freeform 1058"/>
            <p:cNvSpPr>
              <a:spLocks/>
            </p:cNvSpPr>
            <p:nvPr/>
          </p:nvSpPr>
          <p:spPr bwMode="auto">
            <a:xfrm>
              <a:off x="3625" y="1542"/>
              <a:ext cx="195" cy="456"/>
            </a:xfrm>
            <a:custGeom>
              <a:avLst/>
              <a:gdLst>
                <a:gd name="T0" fmla="*/ 1 w 390"/>
                <a:gd name="T1" fmla="*/ 1 h 911"/>
                <a:gd name="T2" fmla="*/ 1 w 390"/>
                <a:gd name="T3" fmla="*/ 1 h 911"/>
                <a:gd name="T4" fmla="*/ 0 w 390"/>
                <a:gd name="T5" fmla="*/ 1 h 911"/>
                <a:gd name="T6" fmla="*/ 0 w 390"/>
                <a:gd name="T7" fmla="*/ 0 h 911"/>
                <a:gd name="T8" fmla="*/ 1 w 390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11"/>
                <a:gd name="T17" fmla="*/ 390 w 390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11">
                  <a:moveTo>
                    <a:pt x="390" y="195"/>
                  </a:moveTo>
                  <a:lnTo>
                    <a:pt x="390" y="748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80" name="Line 1059"/>
            <p:cNvSpPr>
              <a:spLocks noChangeShapeType="1"/>
            </p:cNvSpPr>
            <p:nvPr/>
          </p:nvSpPr>
          <p:spPr bwMode="auto">
            <a:xfrm flipV="1">
              <a:off x="3739" y="1949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81" name="Rectangle 1060"/>
            <p:cNvSpPr>
              <a:spLocks noChangeArrowheads="1"/>
            </p:cNvSpPr>
            <p:nvPr/>
          </p:nvSpPr>
          <p:spPr bwMode="auto">
            <a:xfrm>
              <a:off x="4912" y="1968"/>
              <a:ext cx="171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 i="1">
                  <a:solidFill>
                    <a:srgbClr val="000000"/>
                  </a:solidFill>
                  <a:latin typeface="Times-Roman"/>
                </a:rPr>
                <a:t>f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5682" name="Rectangle 1061"/>
            <p:cNvSpPr>
              <a:spLocks noChangeArrowheads="1"/>
            </p:cNvSpPr>
            <p:nvPr/>
          </p:nvSpPr>
          <p:spPr bwMode="auto">
            <a:xfrm>
              <a:off x="3170" y="1477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5683" name="Rectangle 1062"/>
            <p:cNvSpPr>
              <a:spLocks noChangeArrowheads="1"/>
            </p:cNvSpPr>
            <p:nvPr/>
          </p:nvSpPr>
          <p:spPr bwMode="auto">
            <a:xfrm>
              <a:off x="3229" y="1558"/>
              <a:ext cx="342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5684" name="Rectangle 1063"/>
            <p:cNvSpPr>
              <a:spLocks noChangeArrowheads="1"/>
            </p:cNvSpPr>
            <p:nvPr/>
          </p:nvSpPr>
          <p:spPr bwMode="auto">
            <a:xfrm>
              <a:off x="3170" y="1770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5685" name="Rectangle 1064"/>
            <p:cNvSpPr>
              <a:spLocks noChangeArrowheads="1"/>
            </p:cNvSpPr>
            <p:nvPr/>
          </p:nvSpPr>
          <p:spPr bwMode="auto">
            <a:xfrm>
              <a:off x="3229" y="1846"/>
              <a:ext cx="342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5686" name="Rectangle 1065"/>
            <p:cNvSpPr>
              <a:spLocks noChangeArrowheads="1"/>
            </p:cNvSpPr>
            <p:nvPr/>
          </p:nvSpPr>
          <p:spPr bwMode="auto">
            <a:xfrm>
              <a:off x="3170" y="2063"/>
              <a:ext cx="292" cy="276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5687" name="Rectangle 1066"/>
            <p:cNvSpPr>
              <a:spLocks noChangeArrowheads="1"/>
            </p:cNvSpPr>
            <p:nvPr/>
          </p:nvSpPr>
          <p:spPr bwMode="auto">
            <a:xfrm>
              <a:off x="3229" y="2134"/>
              <a:ext cx="342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5688" name="Rectangle 1067"/>
            <p:cNvSpPr>
              <a:spLocks noChangeArrowheads="1"/>
            </p:cNvSpPr>
            <p:nvPr/>
          </p:nvSpPr>
          <p:spPr bwMode="auto">
            <a:xfrm>
              <a:off x="3170" y="2339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5689" name="Line 1068"/>
            <p:cNvSpPr>
              <a:spLocks noChangeShapeType="1"/>
            </p:cNvSpPr>
            <p:nvPr/>
          </p:nvSpPr>
          <p:spPr bwMode="auto">
            <a:xfrm flipH="1">
              <a:off x="3820" y="2339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0" name="Freeform 1069"/>
            <p:cNvSpPr>
              <a:spLocks/>
            </p:cNvSpPr>
            <p:nvPr/>
          </p:nvSpPr>
          <p:spPr bwMode="auto">
            <a:xfrm>
              <a:off x="3625" y="2112"/>
              <a:ext cx="195" cy="471"/>
            </a:xfrm>
            <a:custGeom>
              <a:avLst/>
              <a:gdLst>
                <a:gd name="T0" fmla="*/ 1 w 390"/>
                <a:gd name="T1" fmla="*/ 0 h 944"/>
                <a:gd name="T2" fmla="*/ 1 w 390"/>
                <a:gd name="T3" fmla="*/ 0 h 944"/>
                <a:gd name="T4" fmla="*/ 0 w 390"/>
                <a:gd name="T5" fmla="*/ 0 h 944"/>
                <a:gd name="T6" fmla="*/ 0 w 390"/>
                <a:gd name="T7" fmla="*/ 0 h 944"/>
                <a:gd name="T8" fmla="*/ 1 w 390"/>
                <a:gd name="T9" fmla="*/ 0 h 9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44"/>
                <a:gd name="T17" fmla="*/ 390 w 390"/>
                <a:gd name="T18" fmla="*/ 944 h 9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44">
                  <a:moveTo>
                    <a:pt x="390" y="195"/>
                  </a:moveTo>
                  <a:lnTo>
                    <a:pt x="390" y="748"/>
                  </a:lnTo>
                  <a:lnTo>
                    <a:pt x="0" y="944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1" name="Line 1070"/>
            <p:cNvSpPr>
              <a:spLocks noChangeShapeType="1"/>
            </p:cNvSpPr>
            <p:nvPr/>
          </p:nvSpPr>
          <p:spPr bwMode="auto">
            <a:xfrm flipV="1">
              <a:off x="3739" y="2518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2" name="Line 1071"/>
            <p:cNvSpPr>
              <a:spLocks noChangeShapeType="1"/>
            </p:cNvSpPr>
            <p:nvPr/>
          </p:nvSpPr>
          <p:spPr bwMode="auto">
            <a:xfrm>
              <a:off x="4145" y="2209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3" name="Line 1072"/>
            <p:cNvSpPr>
              <a:spLocks noChangeShapeType="1"/>
            </p:cNvSpPr>
            <p:nvPr/>
          </p:nvSpPr>
          <p:spPr bwMode="auto">
            <a:xfrm>
              <a:off x="4145" y="1916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4" name="Line 1073"/>
            <p:cNvSpPr>
              <a:spLocks noChangeShapeType="1"/>
            </p:cNvSpPr>
            <p:nvPr/>
          </p:nvSpPr>
          <p:spPr bwMode="auto">
            <a:xfrm flipH="1">
              <a:off x="4503" y="2063"/>
              <a:ext cx="341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5" name="Freeform 1074"/>
            <p:cNvSpPr>
              <a:spLocks/>
            </p:cNvSpPr>
            <p:nvPr/>
          </p:nvSpPr>
          <p:spPr bwMode="auto">
            <a:xfrm>
              <a:off x="4324" y="1835"/>
              <a:ext cx="179" cy="456"/>
            </a:xfrm>
            <a:custGeom>
              <a:avLst/>
              <a:gdLst>
                <a:gd name="T0" fmla="*/ 1 w 358"/>
                <a:gd name="T1" fmla="*/ 1 h 911"/>
                <a:gd name="T2" fmla="*/ 1 w 358"/>
                <a:gd name="T3" fmla="*/ 1 h 911"/>
                <a:gd name="T4" fmla="*/ 0 w 358"/>
                <a:gd name="T5" fmla="*/ 1 h 911"/>
                <a:gd name="T6" fmla="*/ 0 w 358"/>
                <a:gd name="T7" fmla="*/ 0 h 911"/>
                <a:gd name="T8" fmla="*/ 1 w 358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8"/>
                <a:gd name="T16" fmla="*/ 0 h 911"/>
                <a:gd name="T17" fmla="*/ 358 w 358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8" h="911">
                  <a:moveTo>
                    <a:pt x="358" y="163"/>
                  </a:moveTo>
                  <a:lnTo>
                    <a:pt x="358" y="716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58" y="163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6" name="Line 1075"/>
            <p:cNvSpPr>
              <a:spLocks noChangeShapeType="1"/>
            </p:cNvSpPr>
            <p:nvPr/>
          </p:nvSpPr>
          <p:spPr bwMode="auto">
            <a:xfrm flipV="1">
              <a:off x="4145" y="2209"/>
              <a:ext cx="1" cy="13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7" name="Line 1076"/>
            <p:cNvSpPr>
              <a:spLocks noChangeShapeType="1"/>
            </p:cNvSpPr>
            <p:nvPr/>
          </p:nvSpPr>
          <p:spPr bwMode="auto">
            <a:xfrm>
              <a:off x="4145" y="1770"/>
              <a:ext cx="1" cy="146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8" name="Freeform 1077"/>
            <p:cNvSpPr>
              <a:spLocks/>
            </p:cNvSpPr>
            <p:nvPr/>
          </p:nvSpPr>
          <p:spPr bwMode="auto">
            <a:xfrm>
              <a:off x="2828" y="1315"/>
              <a:ext cx="1610" cy="569"/>
            </a:xfrm>
            <a:custGeom>
              <a:avLst/>
              <a:gdLst>
                <a:gd name="T0" fmla="*/ 0 w 3220"/>
                <a:gd name="T1" fmla="*/ 0 h 1139"/>
                <a:gd name="T2" fmla="*/ 1 w 3220"/>
                <a:gd name="T3" fmla="*/ 0 h 1139"/>
                <a:gd name="T4" fmla="*/ 1 w 3220"/>
                <a:gd name="T5" fmla="*/ 0 h 1139"/>
                <a:gd name="T6" fmla="*/ 0 60000 65536"/>
                <a:gd name="T7" fmla="*/ 0 60000 65536"/>
                <a:gd name="T8" fmla="*/ 0 60000 65536"/>
                <a:gd name="T9" fmla="*/ 0 w 3220"/>
                <a:gd name="T10" fmla="*/ 0 h 1139"/>
                <a:gd name="T11" fmla="*/ 3220 w 3220"/>
                <a:gd name="T12" fmla="*/ 1139 h 11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0" h="1139">
                  <a:moveTo>
                    <a:pt x="0" y="0"/>
                  </a:moveTo>
                  <a:lnTo>
                    <a:pt x="3220" y="0"/>
                  </a:lnTo>
                  <a:lnTo>
                    <a:pt x="3220" y="1139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99" name="Rectangle 1078"/>
            <p:cNvSpPr>
              <a:spLocks noChangeArrowheads="1"/>
            </p:cNvSpPr>
            <p:nvPr/>
          </p:nvSpPr>
          <p:spPr bwMode="auto">
            <a:xfrm>
              <a:off x="3229" y="2422"/>
              <a:ext cx="342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Group 1079"/>
            <p:cNvGrpSpPr>
              <a:grpSpLocks/>
            </p:cNvGrpSpPr>
            <p:nvPr/>
          </p:nvGrpSpPr>
          <p:grpSpPr bwMode="auto">
            <a:xfrm>
              <a:off x="2640" y="1206"/>
              <a:ext cx="206" cy="236"/>
              <a:chOff x="1612" y="626"/>
              <a:chExt cx="206" cy="236"/>
            </a:xfrm>
          </p:grpSpPr>
          <p:sp>
            <p:nvSpPr>
              <p:cNvPr id="25708" name="Rectangle 1080"/>
              <p:cNvSpPr>
                <a:spLocks noChangeArrowheads="1"/>
              </p:cNvSpPr>
              <p:nvPr/>
            </p:nvSpPr>
            <p:spPr bwMode="auto">
              <a:xfrm>
                <a:off x="1612" y="626"/>
                <a:ext cx="171" cy="2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900" i="1">
                    <a:solidFill>
                      <a:srgbClr val="000000"/>
                    </a:solidFill>
                    <a:latin typeface="Times-Roman"/>
                  </a:rPr>
                  <a:t>x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25709" name="Rectangle 1081"/>
              <p:cNvSpPr>
                <a:spLocks noChangeArrowheads="1"/>
              </p:cNvSpPr>
              <p:nvPr/>
            </p:nvSpPr>
            <p:spPr bwMode="auto">
              <a:xfrm>
                <a:off x="1683" y="704"/>
                <a:ext cx="135" cy="1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500">
                    <a:solidFill>
                      <a:srgbClr val="000000"/>
                    </a:solidFill>
                    <a:latin typeface="Times-Roman"/>
                  </a:rPr>
                  <a:t>1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</p:grpSp>
        <p:sp>
          <p:nvSpPr>
            <p:cNvPr id="25701" name="Rectangle 1082"/>
            <p:cNvSpPr>
              <a:spLocks noChangeArrowheads="1"/>
            </p:cNvSpPr>
            <p:nvPr/>
          </p:nvSpPr>
          <p:spPr bwMode="auto">
            <a:xfrm>
              <a:off x="2640" y="2736"/>
              <a:ext cx="171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 i="1">
                  <a:solidFill>
                    <a:srgbClr val="000000"/>
                  </a:solidFill>
                  <a:latin typeface="Times-Roman"/>
                </a:rPr>
                <a:t>x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5702" name="Rectangle 1083"/>
            <p:cNvSpPr>
              <a:spLocks noChangeArrowheads="1"/>
            </p:cNvSpPr>
            <p:nvPr/>
          </p:nvSpPr>
          <p:spPr bwMode="auto">
            <a:xfrm>
              <a:off x="2713" y="2810"/>
              <a:ext cx="135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/>
                </a:rPr>
                <a:t>2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5703" name="Line 1084"/>
            <p:cNvSpPr>
              <a:spLocks noChangeShapeType="1"/>
            </p:cNvSpPr>
            <p:nvPr/>
          </p:nvSpPr>
          <p:spPr bwMode="auto">
            <a:xfrm>
              <a:off x="2824" y="2832"/>
              <a:ext cx="11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04" name="Line 1085"/>
            <p:cNvSpPr>
              <a:spLocks noChangeShapeType="1"/>
            </p:cNvSpPr>
            <p:nvPr/>
          </p:nvSpPr>
          <p:spPr bwMode="auto">
            <a:xfrm>
              <a:off x="3736" y="2544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05" name="Line 1086"/>
            <p:cNvSpPr>
              <a:spLocks noChangeShapeType="1"/>
            </p:cNvSpPr>
            <p:nvPr/>
          </p:nvSpPr>
          <p:spPr bwMode="auto">
            <a:xfrm flipV="1">
              <a:off x="3968" y="2064"/>
              <a:ext cx="0" cy="7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06" name="Line 1087"/>
            <p:cNvSpPr>
              <a:spLocks noChangeShapeType="1"/>
            </p:cNvSpPr>
            <p:nvPr/>
          </p:nvSpPr>
          <p:spPr bwMode="auto">
            <a:xfrm flipH="1">
              <a:off x="3736" y="2064"/>
              <a:ext cx="2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07" name="Oval 1088"/>
            <p:cNvSpPr>
              <a:spLocks noChangeArrowheads="1"/>
            </p:cNvSpPr>
            <p:nvPr/>
          </p:nvSpPr>
          <p:spPr bwMode="auto">
            <a:xfrm>
              <a:off x="3712" y="2808"/>
              <a:ext cx="48" cy="48"/>
            </a:xfrm>
            <a:prstGeom prst="ellipse">
              <a:avLst/>
            </a:prstGeom>
            <a:solidFill>
              <a:schemeClr val="tx2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150" y="533400"/>
            <a:ext cx="8229600" cy="6096000"/>
          </a:xfrm>
        </p:spPr>
        <p:txBody>
          <a:bodyPr/>
          <a:lstStyle/>
          <a:p>
            <a:r>
              <a:rPr lang="en-US" altLang="en-US" smtClean="0"/>
              <a:t>Example 2 Input LUT</a:t>
            </a:r>
          </a:p>
          <a:p>
            <a:pPr lvl="1"/>
            <a:endParaRPr lang="en-US" altLang="en-US" sz="2400" smtClean="0"/>
          </a:p>
          <a:p>
            <a:pPr lvl="1"/>
            <a:endParaRPr lang="en-US" altLang="en-US" sz="2400" smtClean="0"/>
          </a:p>
        </p:txBody>
      </p:sp>
      <p:sp>
        <p:nvSpPr>
          <p:cNvPr id="26627" name="Freeform 4"/>
          <p:cNvSpPr>
            <a:spLocks/>
          </p:cNvSpPr>
          <p:nvPr/>
        </p:nvSpPr>
        <p:spPr bwMode="auto">
          <a:xfrm>
            <a:off x="4133851" y="2787650"/>
            <a:ext cx="1222772" cy="1588"/>
          </a:xfrm>
          <a:custGeom>
            <a:avLst/>
            <a:gdLst>
              <a:gd name="T0" fmla="*/ 2147483647 w 848"/>
              <a:gd name="T1" fmla="*/ 0 h 1588"/>
              <a:gd name="T2" fmla="*/ 0 w 848"/>
              <a:gd name="T3" fmla="*/ 0 h 1588"/>
              <a:gd name="T4" fmla="*/ 2147483647 w 848"/>
              <a:gd name="T5" fmla="*/ 0 h 1588"/>
              <a:gd name="T6" fmla="*/ 0 60000 65536"/>
              <a:gd name="T7" fmla="*/ 0 60000 65536"/>
              <a:gd name="T8" fmla="*/ 0 60000 65536"/>
              <a:gd name="T9" fmla="*/ 0 w 848"/>
              <a:gd name="T10" fmla="*/ 0 h 1588"/>
              <a:gd name="T11" fmla="*/ 848 w 84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8" h="1588">
                <a:moveTo>
                  <a:pt x="848" y="0"/>
                </a:moveTo>
                <a:lnTo>
                  <a:pt x="0" y="0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28" name="Freeform 5"/>
          <p:cNvSpPr>
            <a:spLocks/>
          </p:cNvSpPr>
          <p:nvPr/>
        </p:nvSpPr>
        <p:spPr bwMode="auto">
          <a:xfrm>
            <a:off x="3384947" y="2532063"/>
            <a:ext cx="1971675" cy="0"/>
          </a:xfrm>
          <a:custGeom>
            <a:avLst/>
            <a:gdLst>
              <a:gd name="T0" fmla="*/ 2147483647 w 1368"/>
              <a:gd name="T1" fmla="*/ 0 w 1368"/>
              <a:gd name="T2" fmla="*/ 2147483647 w 1368"/>
              <a:gd name="T3" fmla="*/ 0 60000 65536"/>
              <a:gd name="T4" fmla="*/ 0 60000 65536"/>
              <a:gd name="T5" fmla="*/ 0 60000 65536"/>
              <a:gd name="T6" fmla="*/ 0 w 1368"/>
              <a:gd name="T7" fmla="*/ 1368 w 1368"/>
            </a:gdLst>
            <a:ahLst/>
            <a:cxnLst>
              <a:cxn ang="T3">
                <a:pos x="T0" y="0"/>
              </a:cxn>
              <a:cxn ang="T4">
                <a:pos x="T1" y="0"/>
              </a:cxn>
              <a:cxn ang="T5">
                <a:pos x="T2" y="0"/>
              </a:cxn>
            </a:cxnLst>
            <a:rect l="T6" t="0" r="T7" b="0"/>
            <a:pathLst>
              <a:path w="136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29" name="Freeform 6"/>
          <p:cNvSpPr>
            <a:spLocks/>
          </p:cNvSpPr>
          <p:nvPr/>
        </p:nvSpPr>
        <p:spPr bwMode="auto">
          <a:xfrm>
            <a:off x="3384947" y="4238625"/>
            <a:ext cx="1971675" cy="1588"/>
          </a:xfrm>
          <a:custGeom>
            <a:avLst/>
            <a:gdLst>
              <a:gd name="T0" fmla="*/ 2147483647 w 1368"/>
              <a:gd name="T1" fmla="*/ 0 h 1588"/>
              <a:gd name="T2" fmla="*/ 0 w 1368"/>
              <a:gd name="T3" fmla="*/ 0 h 1588"/>
              <a:gd name="T4" fmla="*/ 2147483647 w 1368"/>
              <a:gd name="T5" fmla="*/ 0 h 1588"/>
              <a:gd name="T6" fmla="*/ 0 60000 65536"/>
              <a:gd name="T7" fmla="*/ 0 60000 65536"/>
              <a:gd name="T8" fmla="*/ 0 60000 65536"/>
              <a:gd name="T9" fmla="*/ 0 w 1368"/>
              <a:gd name="T10" fmla="*/ 0 h 1588"/>
              <a:gd name="T11" fmla="*/ 1368 w 136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58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347781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347781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2" name="Rectangle 9"/>
          <p:cNvSpPr>
            <a:spLocks noChangeArrowheads="1"/>
          </p:cNvSpPr>
          <p:nvPr/>
        </p:nvSpPr>
        <p:spPr bwMode="auto">
          <a:xfrm>
            <a:off x="3618310" y="4659313"/>
            <a:ext cx="11906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320516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4" name="Rectangle 11"/>
          <p:cNvSpPr>
            <a:spLocks noChangeArrowheads="1"/>
          </p:cNvSpPr>
          <p:nvPr/>
        </p:nvSpPr>
        <p:spPr bwMode="auto">
          <a:xfrm>
            <a:off x="320516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5" name="Rectangle 12"/>
          <p:cNvSpPr>
            <a:spLocks noChangeArrowheads="1"/>
          </p:cNvSpPr>
          <p:nvPr/>
        </p:nvSpPr>
        <p:spPr bwMode="auto">
          <a:xfrm>
            <a:off x="3890963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6" name="Rectangle 13"/>
          <p:cNvSpPr>
            <a:spLocks noChangeArrowheads="1"/>
          </p:cNvSpPr>
          <p:nvPr/>
        </p:nvSpPr>
        <p:spPr bwMode="auto">
          <a:xfrm>
            <a:off x="3890963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7" name="Rectangle 14"/>
          <p:cNvSpPr>
            <a:spLocks noChangeArrowheads="1"/>
          </p:cNvSpPr>
          <p:nvPr/>
        </p:nvSpPr>
        <p:spPr bwMode="auto">
          <a:xfrm>
            <a:off x="40243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8" name="Rectangle 15"/>
          <p:cNvSpPr>
            <a:spLocks noChangeArrowheads="1"/>
          </p:cNvSpPr>
          <p:nvPr/>
        </p:nvSpPr>
        <p:spPr bwMode="auto">
          <a:xfrm>
            <a:off x="40243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39" name="Rectangle 16"/>
          <p:cNvSpPr>
            <a:spLocks noChangeArrowheads="1"/>
          </p:cNvSpPr>
          <p:nvPr/>
        </p:nvSpPr>
        <p:spPr bwMode="auto">
          <a:xfrm>
            <a:off x="429696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0" name="Rectangle 17"/>
          <p:cNvSpPr>
            <a:spLocks noChangeArrowheads="1"/>
          </p:cNvSpPr>
          <p:nvPr/>
        </p:nvSpPr>
        <p:spPr bwMode="auto">
          <a:xfrm>
            <a:off x="429696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1" name="Rectangle 18"/>
          <p:cNvSpPr>
            <a:spLocks noChangeArrowheads="1"/>
          </p:cNvSpPr>
          <p:nvPr/>
        </p:nvSpPr>
        <p:spPr bwMode="auto">
          <a:xfrm>
            <a:off x="4437460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2" name="Rectangle 19"/>
          <p:cNvSpPr>
            <a:spLocks noChangeArrowheads="1"/>
          </p:cNvSpPr>
          <p:nvPr/>
        </p:nvSpPr>
        <p:spPr bwMode="auto">
          <a:xfrm>
            <a:off x="4437460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3" name="Rectangle 20"/>
          <p:cNvSpPr>
            <a:spLocks noChangeArrowheads="1"/>
          </p:cNvSpPr>
          <p:nvPr/>
        </p:nvSpPr>
        <p:spPr bwMode="auto">
          <a:xfrm>
            <a:off x="47101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4" name="Rectangle 21"/>
          <p:cNvSpPr>
            <a:spLocks noChangeArrowheads="1"/>
          </p:cNvSpPr>
          <p:nvPr/>
        </p:nvSpPr>
        <p:spPr bwMode="auto">
          <a:xfrm>
            <a:off x="47101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5" name="Rectangle 22"/>
          <p:cNvSpPr>
            <a:spLocks noChangeArrowheads="1"/>
          </p:cNvSpPr>
          <p:nvPr/>
        </p:nvSpPr>
        <p:spPr bwMode="auto">
          <a:xfrm>
            <a:off x="48482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6" name="Rectangle 23"/>
          <p:cNvSpPr>
            <a:spLocks noChangeArrowheads="1"/>
          </p:cNvSpPr>
          <p:nvPr/>
        </p:nvSpPr>
        <p:spPr bwMode="auto">
          <a:xfrm>
            <a:off x="48482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7" name="Rectangle 24"/>
          <p:cNvSpPr>
            <a:spLocks noChangeArrowheads="1"/>
          </p:cNvSpPr>
          <p:nvPr/>
        </p:nvSpPr>
        <p:spPr bwMode="auto">
          <a:xfrm>
            <a:off x="3618310" y="5137151"/>
            <a:ext cx="11906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8" name="Rectangle 25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49" name="Rectangle 26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0" name="Rectangle 27"/>
          <p:cNvSpPr>
            <a:spLocks noChangeArrowheads="1"/>
          </p:cNvSpPr>
          <p:nvPr/>
        </p:nvSpPr>
        <p:spPr bwMode="auto">
          <a:xfrm>
            <a:off x="320516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1" name="Rectangle 28"/>
          <p:cNvSpPr>
            <a:spLocks noChangeArrowheads="1"/>
          </p:cNvSpPr>
          <p:nvPr/>
        </p:nvSpPr>
        <p:spPr bwMode="auto">
          <a:xfrm>
            <a:off x="40243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2" name="Rectangle 29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3" name="Rectangle 30"/>
          <p:cNvSpPr>
            <a:spLocks noChangeArrowheads="1"/>
          </p:cNvSpPr>
          <p:nvPr/>
        </p:nvSpPr>
        <p:spPr bwMode="auto">
          <a:xfrm>
            <a:off x="3890963" y="5646738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4" name="Rectangle 31"/>
          <p:cNvSpPr>
            <a:spLocks noChangeArrowheads="1"/>
          </p:cNvSpPr>
          <p:nvPr/>
        </p:nvSpPr>
        <p:spPr bwMode="auto">
          <a:xfrm>
            <a:off x="429696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5" name="Rectangle 32"/>
          <p:cNvSpPr>
            <a:spLocks noChangeArrowheads="1"/>
          </p:cNvSpPr>
          <p:nvPr/>
        </p:nvSpPr>
        <p:spPr bwMode="auto">
          <a:xfrm>
            <a:off x="47101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6" name="Rectangle 33"/>
          <p:cNvSpPr>
            <a:spLocks noChangeArrowheads="1"/>
          </p:cNvSpPr>
          <p:nvPr/>
        </p:nvSpPr>
        <p:spPr bwMode="auto">
          <a:xfrm>
            <a:off x="4437460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7" name="Rectangle 34"/>
          <p:cNvSpPr>
            <a:spLocks noChangeArrowheads="1"/>
          </p:cNvSpPr>
          <p:nvPr/>
        </p:nvSpPr>
        <p:spPr bwMode="auto">
          <a:xfrm>
            <a:off x="4848225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8" name="Rectangle 35"/>
          <p:cNvSpPr>
            <a:spLocks noChangeArrowheads="1"/>
          </p:cNvSpPr>
          <p:nvPr/>
        </p:nvSpPr>
        <p:spPr bwMode="auto">
          <a:xfrm>
            <a:off x="2658666" y="31226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59" name="Rectangle 36"/>
          <p:cNvSpPr>
            <a:spLocks noChangeArrowheads="1"/>
          </p:cNvSpPr>
          <p:nvPr/>
        </p:nvSpPr>
        <p:spPr bwMode="auto">
          <a:xfrm>
            <a:off x="30706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0" name="Rectangle 37"/>
          <p:cNvSpPr>
            <a:spLocks noChangeArrowheads="1"/>
          </p:cNvSpPr>
          <p:nvPr/>
        </p:nvSpPr>
        <p:spPr bwMode="auto">
          <a:xfrm>
            <a:off x="30706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1" name="Rectangle 38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2" name="Rectangle 39"/>
          <p:cNvSpPr>
            <a:spLocks noChangeArrowheads="1"/>
          </p:cNvSpPr>
          <p:nvPr/>
        </p:nvSpPr>
        <p:spPr bwMode="auto">
          <a:xfrm>
            <a:off x="2658666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3" name="Rectangle 40"/>
          <p:cNvSpPr>
            <a:spLocks noChangeArrowheads="1"/>
          </p:cNvSpPr>
          <p:nvPr/>
        </p:nvSpPr>
        <p:spPr bwMode="auto">
          <a:xfrm>
            <a:off x="2658666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4" name="Rectangle 41"/>
          <p:cNvSpPr>
            <a:spLocks noChangeArrowheads="1"/>
          </p:cNvSpPr>
          <p:nvPr/>
        </p:nvSpPr>
        <p:spPr bwMode="auto">
          <a:xfrm>
            <a:off x="27967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5" name="Rectangle 42"/>
          <p:cNvSpPr>
            <a:spLocks noChangeArrowheads="1"/>
          </p:cNvSpPr>
          <p:nvPr/>
        </p:nvSpPr>
        <p:spPr bwMode="auto">
          <a:xfrm>
            <a:off x="27967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6" name="Rectangle 43"/>
          <p:cNvSpPr>
            <a:spLocks noChangeArrowheads="1"/>
          </p:cNvSpPr>
          <p:nvPr/>
        </p:nvSpPr>
        <p:spPr bwMode="auto">
          <a:xfrm>
            <a:off x="6016228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7" name="Rectangle 44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8" name="Rectangle 45"/>
          <p:cNvSpPr>
            <a:spLocks noChangeArrowheads="1"/>
          </p:cNvSpPr>
          <p:nvPr/>
        </p:nvSpPr>
        <p:spPr bwMode="auto">
          <a:xfrm>
            <a:off x="571500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69" name="Rectangle 46"/>
          <p:cNvSpPr>
            <a:spLocks noChangeArrowheads="1"/>
          </p:cNvSpPr>
          <p:nvPr/>
        </p:nvSpPr>
        <p:spPr bwMode="auto">
          <a:xfrm>
            <a:off x="6016228" y="51371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0" name="Rectangle 47"/>
          <p:cNvSpPr>
            <a:spLocks noChangeArrowheads="1"/>
          </p:cNvSpPr>
          <p:nvPr/>
        </p:nvSpPr>
        <p:spPr bwMode="auto">
          <a:xfrm>
            <a:off x="6562725" y="31226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1" name="Rectangle 48"/>
          <p:cNvSpPr>
            <a:spLocks noChangeArrowheads="1"/>
          </p:cNvSpPr>
          <p:nvPr/>
        </p:nvSpPr>
        <p:spPr bwMode="auto">
          <a:xfrm>
            <a:off x="61495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2" name="Rectangle 49"/>
          <p:cNvSpPr>
            <a:spLocks noChangeArrowheads="1"/>
          </p:cNvSpPr>
          <p:nvPr/>
        </p:nvSpPr>
        <p:spPr bwMode="auto">
          <a:xfrm>
            <a:off x="61495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3" name="Rectangle 50"/>
          <p:cNvSpPr>
            <a:spLocks noChangeArrowheads="1"/>
          </p:cNvSpPr>
          <p:nvPr/>
        </p:nvSpPr>
        <p:spPr bwMode="auto">
          <a:xfrm>
            <a:off x="619125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4" name="Rectangle 51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5" name="Rectangle 52"/>
          <p:cNvSpPr>
            <a:spLocks noChangeArrowheads="1"/>
          </p:cNvSpPr>
          <p:nvPr/>
        </p:nvSpPr>
        <p:spPr bwMode="auto">
          <a:xfrm>
            <a:off x="65627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6" name="Rectangle 53"/>
          <p:cNvSpPr>
            <a:spLocks noChangeArrowheads="1"/>
          </p:cNvSpPr>
          <p:nvPr/>
        </p:nvSpPr>
        <p:spPr bwMode="auto">
          <a:xfrm>
            <a:off x="65627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7" name="Rectangle 54"/>
          <p:cNvSpPr>
            <a:spLocks noChangeArrowheads="1"/>
          </p:cNvSpPr>
          <p:nvPr/>
        </p:nvSpPr>
        <p:spPr bwMode="auto">
          <a:xfrm>
            <a:off x="64234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8" name="Rectangle 55"/>
          <p:cNvSpPr>
            <a:spLocks noChangeArrowheads="1"/>
          </p:cNvSpPr>
          <p:nvPr/>
        </p:nvSpPr>
        <p:spPr bwMode="auto">
          <a:xfrm>
            <a:off x="64234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79" name="Rectangle 56"/>
          <p:cNvSpPr>
            <a:spLocks noChangeArrowheads="1"/>
          </p:cNvSpPr>
          <p:nvPr/>
        </p:nvSpPr>
        <p:spPr bwMode="auto">
          <a:xfrm>
            <a:off x="6016228" y="354806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0" name="Rectangle 57"/>
          <p:cNvSpPr>
            <a:spLocks noChangeArrowheads="1"/>
          </p:cNvSpPr>
          <p:nvPr/>
        </p:nvSpPr>
        <p:spPr bwMode="auto">
          <a:xfrm>
            <a:off x="6016228" y="28860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1" name="Rectangle 58"/>
          <p:cNvSpPr>
            <a:spLocks noChangeArrowheads="1"/>
          </p:cNvSpPr>
          <p:nvPr/>
        </p:nvSpPr>
        <p:spPr bwMode="auto">
          <a:xfrm>
            <a:off x="3618310" y="6024563"/>
            <a:ext cx="11906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2" name="Rectangle 59"/>
          <p:cNvSpPr>
            <a:spLocks noChangeArrowheads="1"/>
          </p:cNvSpPr>
          <p:nvPr/>
        </p:nvSpPr>
        <p:spPr bwMode="auto">
          <a:xfrm>
            <a:off x="6016228" y="6024563"/>
            <a:ext cx="13097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3" name="Rectangle 60"/>
          <p:cNvSpPr>
            <a:spLocks noChangeArrowheads="1"/>
          </p:cNvSpPr>
          <p:nvPr/>
        </p:nvSpPr>
        <p:spPr bwMode="auto">
          <a:xfrm>
            <a:off x="61495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4" name="Rectangle 61"/>
          <p:cNvSpPr>
            <a:spLocks noChangeArrowheads="1"/>
          </p:cNvSpPr>
          <p:nvPr/>
        </p:nvSpPr>
        <p:spPr bwMode="auto">
          <a:xfrm>
            <a:off x="2658666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5" name="Rectangle 62"/>
          <p:cNvSpPr>
            <a:spLocks noChangeArrowheads="1"/>
          </p:cNvSpPr>
          <p:nvPr/>
        </p:nvSpPr>
        <p:spPr bwMode="auto">
          <a:xfrm>
            <a:off x="27967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6" name="Rectangle 63"/>
          <p:cNvSpPr>
            <a:spLocks noChangeArrowheads="1"/>
          </p:cNvSpPr>
          <p:nvPr/>
        </p:nvSpPr>
        <p:spPr bwMode="auto">
          <a:xfrm>
            <a:off x="30706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7" name="Rectangle 64"/>
          <p:cNvSpPr>
            <a:spLocks noChangeArrowheads="1"/>
          </p:cNvSpPr>
          <p:nvPr/>
        </p:nvSpPr>
        <p:spPr bwMode="auto">
          <a:xfrm>
            <a:off x="320516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8" name="Rectangle 65"/>
          <p:cNvSpPr>
            <a:spLocks noChangeArrowheads="1"/>
          </p:cNvSpPr>
          <p:nvPr/>
        </p:nvSpPr>
        <p:spPr bwMode="auto">
          <a:xfrm>
            <a:off x="347781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89" name="Rectangle 66"/>
          <p:cNvSpPr>
            <a:spLocks noChangeArrowheads="1"/>
          </p:cNvSpPr>
          <p:nvPr/>
        </p:nvSpPr>
        <p:spPr bwMode="auto">
          <a:xfrm>
            <a:off x="3890963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90" name="Rectangle 67"/>
          <p:cNvSpPr>
            <a:spLocks noChangeArrowheads="1"/>
          </p:cNvSpPr>
          <p:nvPr/>
        </p:nvSpPr>
        <p:spPr bwMode="auto">
          <a:xfrm>
            <a:off x="40243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91" name="Rectangle 68"/>
          <p:cNvSpPr>
            <a:spLocks noChangeArrowheads="1"/>
          </p:cNvSpPr>
          <p:nvPr/>
        </p:nvSpPr>
        <p:spPr bwMode="auto">
          <a:xfrm>
            <a:off x="429696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92" name="Rectangle 69"/>
          <p:cNvSpPr>
            <a:spLocks noChangeArrowheads="1"/>
          </p:cNvSpPr>
          <p:nvPr/>
        </p:nvSpPr>
        <p:spPr bwMode="auto">
          <a:xfrm>
            <a:off x="4437460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93" name="Rectangle 70"/>
          <p:cNvSpPr>
            <a:spLocks noChangeArrowheads="1"/>
          </p:cNvSpPr>
          <p:nvPr/>
        </p:nvSpPr>
        <p:spPr bwMode="auto">
          <a:xfrm>
            <a:off x="47101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94" name="Rectangle 71"/>
          <p:cNvSpPr>
            <a:spLocks noChangeArrowheads="1"/>
          </p:cNvSpPr>
          <p:nvPr/>
        </p:nvSpPr>
        <p:spPr bwMode="auto">
          <a:xfrm>
            <a:off x="48482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95" name="Rectangle 72"/>
          <p:cNvSpPr>
            <a:spLocks noChangeArrowheads="1"/>
          </p:cNvSpPr>
          <p:nvPr/>
        </p:nvSpPr>
        <p:spPr bwMode="auto">
          <a:xfrm>
            <a:off x="64234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6696" name="Rectangle 73"/>
          <p:cNvSpPr>
            <a:spLocks noChangeArrowheads="1"/>
          </p:cNvSpPr>
          <p:nvPr/>
        </p:nvSpPr>
        <p:spPr bwMode="auto">
          <a:xfrm>
            <a:off x="65627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graphicFrame>
        <p:nvGraphicFramePr>
          <p:cNvPr id="574610" name="Group 146"/>
          <p:cNvGraphicFramePr>
            <a:graphicFrameLocks noGrp="1"/>
          </p:cNvGraphicFramePr>
          <p:nvPr/>
        </p:nvGraphicFramePr>
        <p:xfrm>
          <a:off x="838200" y="1752600"/>
          <a:ext cx="1943100" cy="1422402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715" name="Text Box 147"/>
          <p:cNvSpPr txBox="1">
            <a:spLocks noChangeArrowheads="1"/>
          </p:cNvSpPr>
          <p:nvPr/>
        </p:nvSpPr>
        <p:spPr bwMode="auto">
          <a:xfrm>
            <a:off x="3429000" y="2057401"/>
            <a:ext cx="5410200" cy="969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 = x</a:t>
            </a:r>
            <a:r>
              <a:rPr lang="en-US" altLang="en-US" baseline="-25000"/>
              <a:t>1</a:t>
            </a:r>
            <a:r>
              <a:rPr lang="en-US" altLang="en-US"/>
              <a:t>'x</a:t>
            </a:r>
            <a:r>
              <a:rPr lang="en-US" altLang="en-US" baseline="-25000"/>
              <a:t>2</a:t>
            </a:r>
            <a:r>
              <a:rPr lang="en-US" altLang="en-US"/>
              <a:t>' + x</a:t>
            </a:r>
            <a:r>
              <a:rPr lang="en-US" altLang="en-US" baseline="-25000"/>
              <a:t>1</a:t>
            </a:r>
            <a:r>
              <a:rPr lang="en-US" altLang="en-US"/>
              <a:t>x</a:t>
            </a:r>
            <a:r>
              <a:rPr lang="en-US" altLang="en-US" baseline="-25000"/>
              <a:t>2</a:t>
            </a:r>
            <a:r>
              <a:rPr lang="en-US" altLang="en-US"/>
              <a:t>, or using Shannon's expansion: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f = x</a:t>
            </a:r>
            <a:r>
              <a:rPr lang="en-US" altLang="en-US" baseline="-25000"/>
              <a:t>1</a:t>
            </a:r>
            <a:r>
              <a:rPr lang="en-US" altLang="en-US"/>
              <a:t>'(x</a:t>
            </a:r>
            <a:r>
              <a:rPr lang="en-US" altLang="en-US" baseline="-25000"/>
              <a:t>2</a:t>
            </a:r>
            <a:r>
              <a:rPr lang="en-US" altLang="en-US"/>
              <a:t>') + x</a:t>
            </a:r>
            <a:r>
              <a:rPr lang="en-US" altLang="en-US" baseline="-25000"/>
              <a:t>1</a:t>
            </a:r>
            <a:r>
              <a:rPr lang="en-US" altLang="en-US"/>
              <a:t>(x</a:t>
            </a:r>
            <a:r>
              <a:rPr lang="en-US" altLang="en-US" baseline="-25000"/>
              <a:t>2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/>
              <a:t>  = x</a:t>
            </a:r>
            <a:r>
              <a:rPr lang="en-US" altLang="en-US" baseline="-25000"/>
              <a:t>1</a:t>
            </a:r>
            <a:r>
              <a:rPr lang="en-US" altLang="en-US"/>
              <a:t>'(x</a:t>
            </a:r>
            <a:r>
              <a:rPr lang="en-US" altLang="en-US" baseline="-25000"/>
              <a:t>2</a:t>
            </a:r>
            <a:r>
              <a:rPr lang="en-US" altLang="en-US"/>
              <a:t>'(1) + x</a:t>
            </a:r>
            <a:r>
              <a:rPr lang="en-US" altLang="en-US" baseline="-25000"/>
              <a:t>2</a:t>
            </a:r>
            <a:r>
              <a:rPr lang="en-US" altLang="en-US"/>
              <a:t>(0)) + x</a:t>
            </a:r>
            <a:r>
              <a:rPr lang="en-US" altLang="en-US" baseline="-25000"/>
              <a:t>1</a:t>
            </a:r>
            <a:r>
              <a:rPr lang="en-US" altLang="en-US"/>
              <a:t>(x</a:t>
            </a:r>
            <a:r>
              <a:rPr lang="en-US" altLang="en-US" baseline="-25000"/>
              <a:t>2</a:t>
            </a:r>
            <a:r>
              <a:rPr lang="en-US" altLang="en-US"/>
              <a:t>'(0) + x</a:t>
            </a:r>
            <a:r>
              <a:rPr lang="en-US" altLang="en-US" baseline="-25000"/>
              <a:t>2</a:t>
            </a:r>
            <a:r>
              <a:rPr lang="en-US" altLang="en-US"/>
              <a:t>(1))</a:t>
            </a:r>
          </a:p>
        </p:txBody>
      </p:sp>
      <p:grpSp>
        <p:nvGrpSpPr>
          <p:cNvPr id="2" name="Group 148"/>
          <p:cNvGrpSpPr>
            <a:grpSpLocks/>
          </p:cNvGrpSpPr>
          <p:nvPr/>
        </p:nvGrpSpPr>
        <p:grpSpPr bwMode="auto">
          <a:xfrm>
            <a:off x="2889648" y="3702050"/>
            <a:ext cx="3850450" cy="2776538"/>
            <a:chOff x="2640" y="1206"/>
            <a:chExt cx="2426" cy="1749"/>
          </a:xfrm>
        </p:grpSpPr>
        <p:sp>
          <p:nvSpPr>
            <p:cNvPr id="26717" name="Line 149"/>
            <p:cNvSpPr>
              <a:spLocks noChangeShapeType="1"/>
            </p:cNvSpPr>
            <p:nvPr/>
          </p:nvSpPr>
          <p:spPr bwMode="auto">
            <a:xfrm>
              <a:off x="3462" y="2209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Line 150"/>
            <p:cNvSpPr>
              <a:spLocks noChangeShapeType="1"/>
            </p:cNvSpPr>
            <p:nvPr/>
          </p:nvSpPr>
          <p:spPr bwMode="auto">
            <a:xfrm>
              <a:off x="3462" y="2486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Line 151"/>
            <p:cNvSpPr>
              <a:spLocks noChangeShapeType="1"/>
            </p:cNvSpPr>
            <p:nvPr/>
          </p:nvSpPr>
          <p:spPr bwMode="auto">
            <a:xfrm>
              <a:off x="3462" y="1916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Line 152"/>
            <p:cNvSpPr>
              <a:spLocks noChangeShapeType="1"/>
            </p:cNvSpPr>
            <p:nvPr/>
          </p:nvSpPr>
          <p:spPr bwMode="auto">
            <a:xfrm>
              <a:off x="3462" y="1624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Line 153"/>
            <p:cNvSpPr>
              <a:spLocks noChangeShapeType="1"/>
            </p:cNvSpPr>
            <p:nvPr/>
          </p:nvSpPr>
          <p:spPr bwMode="auto">
            <a:xfrm flipH="1">
              <a:off x="3820" y="1770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Freeform 154"/>
            <p:cNvSpPr>
              <a:spLocks/>
            </p:cNvSpPr>
            <p:nvPr/>
          </p:nvSpPr>
          <p:spPr bwMode="auto">
            <a:xfrm>
              <a:off x="3625" y="1542"/>
              <a:ext cx="195" cy="456"/>
            </a:xfrm>
            <a:custGeom>
              <a:avLst/>
              <a:gdLst>
                <a:gd name="T0" fmla="*/ 1 w 390"/>
                <a:gd name="T1" fmla="*/ 1 h 911"/>
                <a:gd name="T2" fmla="*/ 1 w 390"/>
                <a:gd name="T3" fmla="*/ 1 h 911"/>
                <a:gd name="T4" fmla="*/ 0 w 390"/>
                <a:gd name="T5" fmla="*/ 1 h 911"/>
                <a:gd name="T6" fmla="*/ 0 w 390"/>
                <a:gd name="T7" fmla="*/ 0 h 911"/>
                <a:gd name="T8" fmla="*/ 1 w 390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11"/>
                <a:gd name="T17" fmla="*/ 390 w 390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11">
                  <a:moveTo>
                    <a:pt x="390" y="195"/>
                  </a:moveTo>
                  <a:lnTo>
                    <a:pt x="390" y="748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Line 155"/>
            <p:cNvSpPr>
              <a:spLocks noChangeShapeType="1"/>
            </p:cNvSpPr>
            <p:nvPr/>
          </p:nvSpPr>
          <p:spPr bwMode="auto">
            <a:xfrm flipV="1">
              <a:off x="3739" y="1949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Rectangle 156"/>
            <p:cNvSpPr>
              <a:spLocks noChangeArrowheads="1"/>
            </p:cNvSpPr>
            <p:nvPr/>
          </p:nvSpPr>
          <p:spPr bwMode="auto">
            <a:xfrm>
              <a:off x="4912" y="1968"/>
              <a:ext cx="15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 i="1">
                  <a:solidFill>
                    <a:srgbClr val="000000"/>
                  </a:solidFill>
                  <a:latin typeface="Times-Roman"/>
                </a:rPr>
                <a:t>f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6725" name="Rectangle 157"/>
            <p:cNvSpPr>
              <a:spLocks noChangeArrowheads="1"/>
            </p:cNvSpPr>
            <p:nvPr/>
          </p:nvSpPr>
          <p:spPr bwMode="auto">
            <a:xfrm>
              <a:off x="3170" y="1477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6726" name="Rectangle 158"/>
            <p:cNvSpPr>
              <a:spLocks noChangeArrowheads="1"/>
            </p:cNvSpPr>
            <p:nvPr/>
          </p:nvSpPr>
          <p:spPr bwMode="auto">
            <a:xfrm>
              <a:off x="3229" y="1558"/>
              <a:ext cx="15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6727" name="Rectangle 159"/>
            <p:cNvSpPr>
              <a:spLocks noChangeArrowheads="1"/>
            </p:cNvSpPr>
            <p:nvPr/>
          </p:nvSpPr>
          <p:spPr bwMode="auto">
            <a:xfrm>
              <a:off x="3170" y="1770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6728" name="Rectangle 160"/>
            <p:cNvSpPr>
              <a:spLocks noChangeArrowheads="1"/>
            </p:cNvSpPr>
            <p:nvPr/>
          </p:nvSpPr>
          <p:spPr bwMode="auto">
            <a:xfrm>
              <a:off x="3229" y="1846"/>
              <a:ext cx="15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6729" name="Rectangle 161"/>
            <p:cNvSpPr>
              <a:spLocks noChangeArrowheads="1"/>
            </p:cNvSpPr>
            <p:nvPr/>
          </p:nvSpPr>
          <p:spPr bwMode="auto">
            <a:xfrm>
              <a:off x="3170" y="2063"/>
              <a:ext cx="292" cy="276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6730" name="Rectangle 162"/>
            <p:cNvSpPr>
              <a:spLocks noChangeArrowheads="1"/>
            </p:cNvSpPr>
            <p:nvPr/>
          </p:nvSpPr>
          <p:spPr bwMode="auto">
            <a:xfrm>
              <a:off x="3229" y="2134"/>
              <a:ext cx="15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6731" name="Rectangle 163"/>
            <p:cNvSpPr>
              <a:spLocks noChangeArrowheads="1"/>
            </p:cNvSpPr>
            <p:nvPr/>
          </p:nvSpPr>
          <p:spPr bwMode="auto">
            <a:xfrm>
              <a:off x="3170" y="2339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6732" name="Line 164"/>
            <p:cNvSpPr>
              <a:spLocks noChangeShapeType="1"/>
            </p:cNvSpPr>
            <p:nvPr/>
          </p:nvSpPr>
          <p:spPr bwMode="auto">
            <a:xfrm flipH="1">
              <a:off x="3820" y="2339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Freeform 165"/>
            <p:cNvSpPr>
              <a:spLocks/>
            </p:cNvSpPr>
            <p:nvPr/>
          </p:nvSpPr>
          <p:spPr bwMode="auto">
            <a:xfrm>
              <a:off x="3625" y="2112"/>
              <a:ext cx="195" cy="471"/>
            </a:xfrm>
            <a:custGeom>
              <a:avLst/>
              <a:gdLst>
                <a:gd name="T0" fmla="*/ 1 w 390"/>
                <a:gd name="T1" fmla="*/ 0 h 944"/>
                <a:gd name="T2" fmla="*/ 1 w 390"/>
                <a:gd name="T3" fmla="*/ 0 h 944"/>
                <a:gd name="T4" fmla="*/ 0 w 390"/>
                <a:gd name="T5" fmla="*/ 0 h 944"/>
                <a:gd name="T6" fmla="*/ 0 w 390"/>
                <a:gd name="T7" fmla="*/ 0 h 944"/>
                <a:gd name="T8" fmla="*/ 1 w 390"/>
                <a:gd name="T9" fmla="*/ 0 h 9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44"/>
                <a:gd name="T17" fmla="*/ 390 w 390"/>
                <a:gd name="T18" fmla="*/ 944 h 9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44">
                  <a:moveTo>
                    <a:pt x="390" y="195"/>
                  </a:moveTo>
                  <a:lnTo>
                    <a:pt x="390" y="748"/>
                  </a:lnTo>
                  <a:lnTo>
                    <a:pt x="0" y="944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Line 166"/>
            <p:cNvSpPr>
              <a:spLocks noChangeShapeType="1"/>
            </p:cNvSpPr>
            <p:nvPr/>
          </p:nvSpPr>
          <p:spPr bwMode="auto">
            <a:xfrm flipV="1">
              <a:off x="3739" y="2518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Line 167"/>
            <p:cNvSpPr>
              <a:spLocks noChangeShapeType="1"/>
            </p:cNvSpPr>
            <p:nvPr/>
          </p:nvSpPr>
          <p:spPr bwMode="auto">
            <a:xfrm>
              <a:off x="4145" y="2209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Line 168"/>
            <p:cNvSpPr>
              <a:spLocks noChangeShapeType="1"/>
            </p:cNvSpPr>
            <p:nvPr/>
          </p:nvSpPr>
          <p:spPr bwMode="auto">
            <a:xfrm>
              <a:off x="4145" y="1916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Line 169"/>
            <p:cNvSpPr>
              <a:spLocks noChangeShapeType="1"/>
            </p:cNvSpPr>
            <p:nvPr/>
          </p:nvSpPr>
          <p:spPr bwMode="auto">
            <a:xfrm flipH="1">
              <a:off x="4503" y="2063"/>
              <a:ext cx="341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8" name="Freeform 170"/>
            <p:cNvSpPr>
              <a:spLocks/>
            </p:cNvSpPr>
            <p:nvPr/>
          </p:nvSpPr>
          <p:spPr bwMode="auto">
            <a:xfrm>
              <a:off x="4324" y="1835"/>
              <a:ext cx="179" cy="456"/>
            </a:xfrm>
            <a:custGeom>
              <a:avLst/>
              <a:gdLst>
                <a:gd name="T0" fmla="*/ 1 w 358"/>
                <a:gd name="T1" fmla="*/ 1 h 911"/>
                <a:gd name="T2" fmla="*/ 1 w 358"/>
                <a:gd name="T3" fmla="*/ 1 h 911"/>
                <a:gd name="T4" fmla="*/ 0 w 358"/>
                <a:gd name="T5" fmla="*/ 1 h 911"/>
                <a:gd name="T6" fmla="*/ 0 w 358"/>
                <a:gd name="T7" fmla="*/ 0 h 911"/>
                <a:gd name="T8" fmla="*/ 1 w 358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8"/>
                <a:gd name="T16" fmla="*/ 0 h 911"/>
                <a:gd name="T17" fmla="*/ 358 w 358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8" h="911">
                  <a:moveTo>
                    <a:pt x="358" y="163"/>
                  </a:moveTo>
                  <a:lnTo>
                    <a:pt x="358" y="716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58" y="163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Line 171"/>
            <p:cNvSpPr>
              <a:spLocks noChangeShapeType="1"/>
            </p:cNvSpPr>
            <p:nvPr/>
          </p:nvSpPr>
          <p:spPr bwMode="auto">
            <a:xfrm flipV="1">
              <a:off x="4145" y="2209"/>
              <a:ext cx="1" cy="13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0" name="Line 172"/>
            <p:cNvSpPr>
              <a:spLocks noChangeShapeType="1"/>
            </p:cNvSpPr>
            <p:nvPr/>
          </p:nvSpPr>
          <p:spPr bwMode="auto">
            <a:xfrm>
              <a:off x="4145" y="1770"/>
              <a:ext cx="1" cy="146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1" name="Freeform 173"/>
            <p:cNvSpPr>
              <a:spLocks/>
            </p:cNvSpPr>
            <p:nvPr/>
          </p:nvSpPr>
          <p:spPr bwMode="auto">
            <a:xfrm>
              <a:off x="2828" y="1315"/>
              <a:ext cx="1610" cy="569"/>
            </a:xfrm>
            <a:custGeom>
              <a:avLst/>
              <a:gdLst>
                <a:gd name="T0" fmla="*/ 0 w 3220"/>
                <a:gd name="T1" fmla="*/ 0 h 1139"/>
                <a:gd name="T2" fmla="*/ 1 w 3220"/>
                <a:gd name="T3" fmla="*/ 0 h 1139"/>
                <a:gd name="T4" fmla="*/ 1 w 3220"/>
                <a:gd name="T5" fmla="*/ 0 h 1139"/>
                <a:gd name="T6" fmla="*/ 0 60000 65536"/>
                <a:gd name="T7" fmla="*/ 0 60000 65536"/>
                <a:gd name="T8" fmla="*/ 0 60000 65536"/>
                <a:gd name="T9" fmla="*/ 0 w 3220"/>
                <a:gd name="T10" fmla="*/ 0 h 1139"/>
                <a:gd name="T11" fmla="*/ 3220 w 3220"/>
                <a:gd name="T12" fmla="*/ 1139 h 11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0" h="1139">
                  <a:moveTo>
                    <a:pt x="0" y="0"/>
                  </a:moveTo>
                  <a:lnTo>
                    <a:pt x="3220" y="0"/>
                  </a:lnTo>
                  <a:lnTo>
                    <a:pt x="3220" y="1139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Rectangle 174"/>
            <p:cNvSpPr>
              <a:spLocks noChangeArrowheads="1"/>
            </p:cNvSpPr>
            <p:nvPr/>
          </p:nvSpPr>
          <p:spPr bwMode="auto">
            <a:xfrm>
              <a:off x="3229" y="2422"/>
              <a:ext cx="15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Group 175"/>
            <p:cNvGrpSpPr>
              <a:grpSpLocks/>
            </p:cNvGrpSpPr>
            <p:nvPr/>
          </p:nvGrpSpPr>
          <p:grpSpPr bwMode="auto">
            <a:xfrm>
              <a:off x="2640" y="1206"/>
              <a:ext cx="193" cy="223"/>
              <a:chOff x="1612" y="626"/>
              <a:chExt cx="193" cy="223"/>
            </a:xfrm>
          </p:grpSpPr>
          <p:sp>
            <p:nvSpPr>
              <p:cNvPr id="26751" name="Rectangle 176"/>
              <p:cNvSpPr>
                <a:spLocks noChangeArrowheads="1"/>
              </p:cNvSpPr>
              <p:nvPr/>
            </p:nvSpPr>
            <p:spPr bwMode="auto">
              <a:xfrm>
                <a:off x="1612" y="626"/>
                <a:ext cx="154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900" i="1">
                    <a:solidFill>
                      <a:srgbClr val="000000"/>
                    </a:solidFill>
                    <a:latin typeface="Times-Roman"/>
                  </a:rPr>
                  <a:t>x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26752" name="Rectangle 177"/>
              <p:cNvSpPr>
                <a:spLocks noChangeArrowheads="1"/>
              </p:cNvSpPr>
              <p:nvPr/>
            </p:nvSpPr>
            <p:spPr bwMode="auto">
              <a:xfrm>
                <a:off x="1684" y="704"/>
                <a:ext cx="121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500">
                    <a:solidFill>
                      <a:srgbClr val="000000"/>
                    </a:solidFill>
                    <a:latin typeface="Times-Roman"/>
                  </a:rPr>
                  <a:t>1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</p:grpSp>
        <p:sp>
          <p:nvSpPr>
            <p:cNvPr id="26744" name="Rectangle 178"/>
            <p:cNvSpPr>
              <a:spLocks noChangeArrowheads="1"/>
            </p:cNvSpPr>
            <p:nvPr/>
          </p:nvSpPr>
          <p:spPr bwMode="auto">
            <a:xfrm>
              <a:off x="2640" y="2736"/>
              <a:ext cx="15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 i="1">
                  <a:solidFill>
                    <a:srgbClr val="000000"/>
                  </a:solidFill>
                  <a:latin typeface="Times-Roman"/>
                </a:rPr>
                <a:t>x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6745" name="Rectangle 179"/>
            <p:cNvSpPr>
              <a:spLocks noChangeArrowheads="1"/>
            </p:cNvSpPr>
            <p:nvPr/>
          </p:nvSpPr>
          <p:spPr bwMode="auto">
            <a:xfrm>
              <a:off x="2712" y="2810"/>
              <a:ext cx="12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/>
                </a:rPr>
                <a:t>2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6746" name="Line 180"/>
            <p:cNvSpPr>
              <a:spLocks noChangeShapeType="1"/>
            </p:cNvSpPr>
            <p:nvPr/>
          </p:nvSpPr>
          <p:spPr bwMode="auto">
            <a:xfrm>
              <a:off x="2824" y="2832"/>
              <a:ext cx="11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7" name="Line 181"/>
            <p:cNvSpPr>
              <a:spLocks noChangeShapeType="1"/>
            </p:cNvSpPr>
            <p:nvPr/>
          </p:nvSpPr>
          <p:spPr bwMode="auto">
            <a:xfrm>
              <a:off x="3736" y="2544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8" name="Line 182"/>
            <p:cNvSpPr>
              <a:spLocks noChangeShapeType="1"/>
            </p:cNvSpPr>
            <p:nvPr/>
          </p:nvSpPr>
          <p:spPr bwMode="auto">
            <a:xfrm flipV="1">
              <a:off x="3968" y="2064"/>
              <a:ext cx="0" cy="7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9" name="Line 183"/>
            <p:cNvSpPr>
              <a:spLocks noChangeShapeType="1"/>
            </p:cNvSpPr>
            <p:nvPr/>
          </p:nvSpPr>
          <p:spPr bwMode="auto">
            <a:xfrm flipH="1">
              <a:off x="3736" y="2064"/>
              <a:ext cx="2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50" name="Oval 184"/>
            <p:cNvSpPr>
              <a:spLocks noChangeArrowheads="1"/>
            </p:cNvSpPr>
            <p:nvPr/>
          </p:nvSpPr>
          <p:spPr bwMode="auto">
            <a:xfrm>
              <a:off x="3712" y="2808"/>
              <a:ext cx="48" cy="48"/>
            </a:xfrm>
            <a:prstGeom prst="ellipse">
              <a:avLst/>
            </a:prstGeom>
            <a:solidFill>
              <a:schemeClr val="tx2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3 Input LUT</a:t>
            </a:r>
          </a:p>
          <a:p>
            <a:pPr lvl="1"/>
            <a:endParaRPr lang="en-US" altLang="en-US" sz="2400" smtClean="0"/>
          </a:p>
          <a:p>
            <a:pPr lvl="1"/>
            <a:r>
              <a:rPr lang="en-US" altLang="en-US" sz="2400" smtClean="0"/>
              <a:t>7 2x1 MUXes and</a:t>
            </a:r>
            <a:br>
              <a:rPr lang="en-US" altLang="en-US" sz="2400" smtClean="0"/>
            </a:br>
            <a:r>
              <a:rPr lang="en-US" altLang="en-US" sz="2400" smtClean="0"/>
              <a:t>8 storage cells are</a:t>
            </a:r>
            <a:br>
              <a:rPr lang="en-US" altLang="en-US" sz="2400" smtClean="0"/>
            </a:br>
            <a:r>
              <a:rPr lang="en-US" altLang="en-US" sz="2400" smtClean="0"/>
              <a:t>required</a:t>
            </a:r>
          </a:p>
          <a:p>
            <a:pPr lvl="1"/>
            <a:endParaRPr lang="en-US" altLang="en-US" sz="2400" smtClean="0"/>
          </a:p>
          <a:p>
            <a:pPr lvl="1"/>
            <a:r>
              <a:rPr lang="en-US" altLang="en-US" sz="2400" smtClean="0"/>
              <a:t>Commercial LUTs have</a:t>
            </a:r>
            <a:br>
              <a:rPr lang="en-US" altLang="en-US" sz="2400" smtClean="0"/>
            </a:br>
            <a:r>
              <a:rPr lang="en-US" altLang="en-US" sz="2400" smtClean="0"/>
              <a:t>4-5 inputs, and 16-32 </a:t>
            </a:r>
            <a:br>
              <a:rPr lang="en-US" altLang="en-US" sz="2400" smtClean="0"/>
            </a:br>
            <a:r>
              <a:rPr lang="en-US" altLang="en-US" sz="2400" smtClean="0"/>
              <a:t>storage cells</a:t>
            </a:r>
          </a:p>
        </p:txBody>
      </p:sp>
      <p:sp>
        <p:nvSpPr>
          <p:cNvPr id="27651" name="Freeform 3"/>
          <p:cNvSpPr>
            <a:spLocks/>
          </p:cNvSpPr>
          <p:nvPr/>
        </p:nvSpPr>
        <p:spPr bwMode="auto">
          <a:xfrm>
            <a:off x="4133851" y="2787650"/>
            <a:ext cx="1222772" cy="1588"/>
          </a:xfrm>
          <a:custGeom>
            <a:avLst/>
            <a:gdLst>
              <a:gd name="T0" fmla="*/ 2147483647 w 848"/>
              <a:gd name="T1" fmla="*/ 0 h 1588"/>
              <a:gd name="T2" fmla="*/ 0 w 848"/>
              <a:gd name="T3" fmla="*/ 0 h 1588"/>
              <a:gd name="T4" fmla="*/ 2147483647 w 848"/>
              <a:gd name="T5" fmla="*/ 0 h 1588"/>
              <a:gd name="T6" fmla="*/ 0 60000 65536"/>
              <a:gd name="T7" fmla="*/ 0 60000 65536"/>
              <a:gd name="T8" fmla="*/ 0 60000 65536"/>
              <a:gd name="T9" fmla="*/ 0 w 848"/>
              <a:gd name="T10" fmla="*/ 0 h 1588"/>
              <a:gd name="T11" fmla="*/ 848 w 84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8" h="1588">
                <a:moveTo>
                  <a:pt x="848" y="0"/>
                </a:moveTo>
                <a:lnTo>
                  <a:pt x="0" y="0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2" name="Freeform 4"/>
          <p:cNvSpPr>
            <a:spLocks/>
          </p:cNvSpPr>
          <p:nvPr/>
        </p:nvSpPr>
        <p:spPr bwMode="auto">
          <a:xfrm>
            <a:off x="3384947" y="2532063"/>
            <a:ext cx="1971675" cy="0"/>
          </a:xfrm>
          <a:custGeom>
            <a:avLst/>
            <a:gdLst>
              <a:gd name="T0" fmla="*/ 2147483647 w 1368"/>
              <a:gd name="T1" fmla="*/ 0 w 1368"/>
              <a:gd name="T2" fmla="*/ 2147483647 w 1368"/>
              <a:gd name="T3" fmla="*/ 0 60000 65536"/>
              <a:gd name="T4" fmla="*/ 0 60000 65536"/>
              <a:gd name="T5" fmla="*/ 0 60000 65536"/>
              <a:gd name="T6" fmla="*/ 0 w 1368"/>
              <a:gd name="T7" fmla="*/ 1368 w 1368"/>
            </a:gdLst>
            <a:ahLst/>
            <a:cxnLst>
              <a:cxn ang="T3">
                <a:pos x="T0" y="0"/>
              </a:cxn>
              <a:cxn ang="T4">
                <a:pos x="T1" y="0"/>
              </a:cxn>
              <a:cxn ang="T5">
                <a:pos x="T2" y="0"/>
              </a:cxn>
            </a:cxnLst>
            <a:rect l="T6" t="0" r="T7" b="0"/>
            <a:pathLst>
              <a:path w="136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3" name="Freeform 5"/>
          <p:cNvSpPr>
            <a:spLocks/>
          </p:cNvSpPr>
          <p:nvPr/>
        </p:nvSpPr>
        <p:spPr bwMode="auto">
          <a:xfrm>
            <a:off x="3384947" y="4238625"/>
            <a:ext cx="1971675" cy="1588"/>
          </a:xfrm>
          <a:custGeom>
            <a:avLst/>
            <a:gdLst>
              <a:gd name="T0" fmla="*/ 2147483647 w 1368"/>
              <a:gd name="T1" fmla="*/ 0 h 1588"/>
              <a:gd name="T2" fmla="*/ 0 w 1368"/>
              <a:gd name="T3" fmla="*/ 0 h 1588"/>
              <a:gd name="T4" fmla="*/ 2147483647 w 1368"/>
              <a:gd name="T5" fmla="*/ 0 h 1588"/>
              <a:gd name="T6" fmla="*/ 0 60000 65536"/>
              <a:gd name="T7" fmla="*/ 0 60000 65536"/>
              <a:gd name="T8" fmla="*/ 0 60000 65536"/>
              <a:gd name="T9" fmla="*/ 0 w 1368"/>
              <a:gd name="T10" fmla="*/ 0 h 1588"/>
              <a:gd name="T11" fmla="*/ 1368 w 136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58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347781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347781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3618310" y="4659313"/>
            <a:ext cx="11906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320516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320516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890963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3890963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40243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40243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429696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429696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4437460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4437460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47101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47101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48482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48482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3618310" y="5137151"/>
            <a:ext cx="11906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320516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5" name="Rectangle 27"/>
          <p:cNvSpPr>
            <a:spLocks noChangeArrowheads="1"/>
          </p:cNvSpPr>
          <p:nvPr/>
        </p:nvSpPr>
        <p:spPr bwMode="auto">
          <a:xfrm>
            <a:off x="40243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7" name="Rectangle 29"/>
          <p:cNvSpPr>
            <a:spLocks noChangeArrowheads="1"/>
          </p:cNvSpPr>
          <p:nvPr/>
        </p:nvSpPr>
        <p:spPr bwMode="auto">
          <a:xfrm>
            <a:off x="3890963" y="5646738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429696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79" name="Rectangle 31"/>
          <p:cNvSpPr>
            <a:spLocks noChangeArrowheads="1"/>
          </p:cNvSpPr>
          <p:nvPr/>
        </p:nvSpPr>
        <p:spPr bwMode="auto">
          <a:xfrm>
            <a:off x="47101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0" name="Rectangle 32"/>
          <p:cNvSpPr>
            <a:spLocks noChangeArrowheads="1"/>
          </p:cNvSpPr>
          <p:nvPr/>
        </p:nvSpPr>
        <p:spPr bwMode="auto">
          <a:xfrm>
            <a:off x="4437460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1" name="Rectangle 33"/>
          <p:cNvSpPr>
            <a:spLocks noChangeArrowheads="1"/>
          </p:cNvSpPr>
          <p:nvPr/>
        </p:nvSpPr>
        <p:spPr bwMode="auto">
          <a:xfrm>
            <a:off x="4848225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2" name="Rectangle 34"/>
          <p:cNvSpPr>
            <a:spLocks noChangeArrowheads="1"/>
          </p:cNvSpPr>
          <p:nvPr/>
        </p:nvSpPr>
        <p:spPr bwMode="auto">
          <a:xfrm>
            <a:off x="2658666" y="31226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3" name="Rectangle 35"/>
          <p:cNvSpPr>
            <a:spLocks noChangeArrowheads="1"/>
          </p:cNvSpPr>
          <p:nvPr/>
        </p:nvSpPr>
        <p:spPr bwMode="auto">
          <a:xfrm>
            <a:off x="30706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4" name="Rectangle 36"/>
          <p:cNvSpPr>
            <a:spLocks noChangeArrowheads="1"/>
          </p:cNvSpPr>
          <p:nvPr/>
        </p:nvSpPr>
        <p:spPr bwMode="auto">
          <a:xfrm>
            <a:off x="30706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5" name="Rectangle 37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6" name="Rectangle 38"/>
          <p:cNvSpPr>
            <a:spLocks noChangeArrowheads="1"/>
          </p:cNvSpPr>
          <p:nvPr/>
        </p:nvSpPr>
        <p:spPr bwMode="auto">
          <a:xfrm>
            <a:off x="2658666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7" name="Rectangle 39"/>
          <p:cNvSpPr>
            <a:spLocks noChangeArrowheads="1"/>
          </p:cNvSpPr>
          <p:nvPr/>
        </p:nvSpPr>
        <p:spPr bwMode="auto">
          <a:xfrm>
            <a:off x="2658666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8" name="Rectangle 40"/>
          <p:cNvSpPr>
            <a:spLocks noChangeArrowheads="1"/>
          </p:cNvSpPr>
          <p:nvPr/>
        </p:nvSpPr>
        <p:spPr bwMode="auto">
          <a:xfrm>
            <a:off x="27967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89" name="Rectangle 41"/>
          <p:cNvSpPr>
            <a:spLocks noChangeArrowheads="1"/>
          </p:cNvSpPr>
          <p:nvPr/>
        </p:nvSpPr>
        <p:spPr bwMode="auto">
          <a:xfrm>
            <a:off x="27967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0" name="Rectangle 42"/>
          <p:cNvSpPr>
            <a:spLocks noChangeArrowheads="1"/>
          </p:cNvSpPr>
          <p:nvPr/>
        </p:nvSpPr>
        <p:spPr bwMode="auto">
          <a:xfrm>
            <a:off x="6016228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1" name="Rectangle 43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2" name="Rectangle 44"/>
          <p:cNvSpPr>
            <a:spLocks noChangeArrowheads="1"/>
          </p:cNvSpPr>
          <p:nvPr/>
        </p:nvSpPr>
        <p:spPr bwMode="auto">
          <a:xfrm>
            <a:off x="571500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3" name="Rectangle 45"/>
          <p:cNvSpPr>
            <a:spLocks noChangeArrowheads="1"/>
          </p:cNvSpPr>
          <p:nvPr/>
        </p:nvSpPr>
        <p:spPr bwMode="auto">
          <a:xfrm>
            <a:off x="6016228" y="51371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4" name="Rectangle 46"/>
          <p:cNvSpPr>
            <a:spLocks noChangeArrowheads="1"/>
          </p:cNvSpPr>
          <p:nvPr/>
        </p:nvSpPr>
        <p:spPr bwMode="auto">
          <a:xfrm>
            <a:off x="6562725" y="31226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5" name="Rectangle 47"/>
          <p:cNvSpPr>
            <a:spLocks noChangeArrowheads="1"/>
          </p:cNvSpPr>
          <p:nvPr/>
        </p:nvSpPr>
        <p:spPr bwMode="auto">
          <a:xfrm>
            <a:off x="61495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6" name="Rectangle 48"/>
          <p:cNvSpPr>
            <a:spLocks noChangeArrowheads="1"/>
          </p:cNvSpPr>
          <p:nvPr/>
        </p:nvSpPr>
        <p:spPr bwMode="auto">
          <a:xfrm>
            <a:off x="61495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7" name="Rectangle 49"/>
          <p:cNvSpPr>
            <a:spLocks noChangeArrowheads="1"/>
          </p:cNvSpPr>
          <p:nvPr/>
        </p:nvSpPr>
        <p:spPr bwMode="auto">
          <a:xfrm>
            <a:off x="619125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8" name="Rectangle 50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699" name="Rectangle 51"/>
          <p:cNvSpPr>
            <a:spLocks noChangeArrowheads="1"/>
          </p:cNvSpPr>
          <p:nvPr/>
        </p:nvSpPr>
        <p:spPr bwMode="auto">
          <a:xfrm>
            <a:off x="65627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0" name="Rectangle 52"/>
          <p:cNvSpPr>
            <a:spLocks noChangeArrowheads="1"/>
          </p:cNvSpPr>
          <p:nvPr/>
        </p:nvSpPr>
        <p:spPr bwMode="auto">
          <a:xfrm>
            <a:off x="65627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1" name="Rectangle 53"/>
          <p:cNvSpPr>
            <a:spLocks noChangeArrowheads="1"/>
          </p:cNvSpPr>
          <p:nvPr/>
        </p:nvSpPr>
        <p:spPr bwMode="auto">
          <a:xfrm>
            <a:off x="64234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2" name="Rectangle 54"/>
          <p:cNvSpPr>
            <a:spLocks noChangeArrowheads="1"/>
          </p:cNvSpPr>
          <p:nvPr/>
        </p:nvSpPr>
        <p:spPr bwMode="auto">
          <a:xfrm>
            <a:off x="64234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3" name="Rectangle 55"/>
          <p:cNvSpPr>
            <a:spLocks noChangeArrowheads="1"/>
          </p:cNvSpPr>
          <p:nvPr/>
        </p:nvSpPr>
        <p:spPr bwMode="auto">
          <a:xfrm>
            <a:off x="6016228" y="354806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4" name="Rectangle 56"/>
          <p:cNvSpPr>
            <a:spLocks noChangeArrowheads="1"/>
          </p:cNvSpPr>
          <p:nvPr/>
        </p:nvSpPr>
        <p:spPr bwMode="auto">
          <a:xfrm>
            <a:off x="6016228" y="28860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5" name="Rectangle 57"/>
          <p:cNvSpPr>
            <a:spLocks noChangeArrowheads="1"/>
          </p:cNvSpPr>
          <p:nvPr/>
        </p:nvSpPr>
        <p:spPr bwMode="auto">
          <a:xfrm>
            <a:off x="3618310" y="6024563"/>
            <a:ext cx="11906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6" name="Rectangle 58"/>
          <p:cNvSpPr>
            <a:spLocks noChangeArrowheads="1"/>
          </p:cNvSpPr>
          <p:nvPr/>
        </p:nvSpPr>
        <p:spPr bwMode="auto">
          <a:xfrm>
            <a:off x="6016228" y="6024563"/>
            <a:ext cx="13097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7" name="Rectangle 59"/>
          <p:cNvSpPr>
            <a:spLocks noChangeArrowheads="1"/>
          </p:cNvSpPr>
          <p:nvPr/>
        </p:nvSpPr>
        <p:spPr bwMode="auto">
          <a:xfrm>
            <a:off x="61495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8" name="Rectangle 60"/>
          <p:cNvSpPr>
            <a:spLocks noChangeArrowheads="1"/>
          </p:cNvSpPr>
          <p:nvPr/>
        </p:nvSpPr>
        <p:spPr bwMode="auto">
          <a:xfrm>
            <a:off x="2658666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09" name="Rectangle 61"/>
          <p:cNvSpPr>
            <a:spLocks noChangeArrowheads="1"/>
          </p:cNvSpPr>
          <p:nvPr/>
        </p:nvSpPr>
        <p:spPr bwMode="auto">
          <a:xfrm>
            <a:off x="27967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0" name="Rectangle 62"/>
          <p:cNvSpPr>
            <a:spLocks noChangeArrowheads="1"/>
          </p:cNvSpPr>
          <p:nvPr/>
        </p:nvSpPr>
        <p:spPr bwMode="auto">
          <a:xfrm>
            <a:off x="30706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1" name="Rectangle 63"/>
          <p:cNvSpPr>
            <a:spLocks noChangeArrowheads="1"/>
          </p:cNvSpPr>
          <p:nvPr/>
        </p:nvSpPr>
        <p:spPr bwMode="auto">
          <a:xfrm>
            <a:off x="320516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2" name="Rectangle 64"/>
          <p:cNvSpPr>
            <a:spLocks noChangeArrowheads="1"/>
          </p:cNvSpPr>
          <p:nvPr/>
        </p:nvSpPr>
        <p:spPr bwMode="auto">
          <a:xfrm>
            <a:off x="347781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3" name="Rectangle 65"/>
          <p:cNvSpPr>
            <a:spLocks noChangeArrowheads="1"/>
          </p:cNvSpPr>
          <p:nvPr/>
        </p:nvSpPr>
        <p:spPr bwMode="auto">
          <a:xfrm>
            <a:off x="3890963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4" name="Rectangle 66"/>
          <p:cNvSpPr>
            <a:spLocks noChangeArrowheads="1"/>
          </p:cNvSpPr>
          <p:nvPr/>
        </p:nvSpPr>
        <p:spPr bwMode="auto">
          <a:xfrm>
            <a:off x="40243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5" name="Rectangle 67"/>
          <p:cNvSpPr>
            <a:spLocks noChangeArrowheads="1"/>
          </p:cNvSpPr>
          <p:nvPr/>
        </p:nvSpPr>
        <p:spPr bwMode="auto">
          <a:xfrm>
            <a:off x="429696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6" name="Rectangle 68"/>
          <p:cNvSpPr>
            <a:spLocks noChangeArrowheads="1"/>
          </p:cNvSpPr>
          <p:nvPr/>
        </p:nvSpPr>
        <p:spPr bwMode="auto">
          <a:xfrm>
            <a:off x="4437460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7" name="Rectangle 69"/>
          <p:cNvSpPr>
            <a:spLocks noChangeArrowheads="1"/>
          </p:cNvSpPr>
          <p:nvPr/>
        </p:nvSpPr>
        <p:spPr bwMode="auto">
          <a:xfrm>
            <a:off x="47101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8" name="Rectangle 70"/>
          <p:cNvSpPr>
            <a:spLocks noChangeArrowheads="1"/>
          </p:cNvSpPr>
          <p:nvPr/>
        </p:nvSpPr>
        <p:spPr bwMode="auto">
          <a:xfrm>
            <a:off x="48482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19" name="Rectangle 71"/>
          <p:cNvSpPr>
            <a:spLocks noChangeArrowheads="1"/>
          </p:cNvSpPr>
          <p:nvPr/>
        </p:nvSpPr>
        <p:spPr bwMode="auto">
          <a:xfrm>
            <a:off x="64234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7720" name="Rectangle 72"/>
          <p:cNvSpPr>
            <a:spLocks noChangeArrowheads="1"/>
          </p:cNvSpPr>
          <p:nvPr/>
        </p:nvSpPr>
        <p:spPr bwMode="auto">
          <a:xfrm>
            <a:off x="65627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grpSp>
        <p:nvGrpSpPr>
          <p:cNvPr id="2" name="Group 189"/>
          <p:cNvGrpSpPr>
            <a:grpSpLocks/>
          </p:cNvGrpSpPr>
          <p:nvPr/>
        </p:nvGrpSpPr>
        <p:grpSpPr bwMode="auto">
          <a:xfrm>
            <a:off x="4191001" y="1606550"/>
            <a:ext cx="5040721" cy="4870450"/>
            <a:chOff x="2640" y="1012"/>
            <a:chExt cx="3175" cy="3068"/>
          </a:xfrm>
        </p:grpSpPr>
        <p:sp>
          <p:nvSpPr>
            <p:cNvPr id="27722" name="Line 109"/>
            <p:cNvSpPr>
              <a:spLocks noChangeShapeType="1"/>
            </p:cNvSpPr>
            <p:nvPr/>
          </p:nvSpPr>
          <p:spPr bwMode="auto">
            <a:xfrm>
              <a:off x="3462" y="2209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Line 110"/>
            <p:cNvSpPr>
              <a:spLocks noChangeShapeType="1"/>
            </p:cNvSpPr>
            <p:nvPr/>
          </p:nvSpPr>
          <p:spPr bwMode="auto">
            <a:xfrm>
              <a:off x="3462" y="2486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Line 111"/>
            <p:cNvSpPr>
              <a:spLocks noChangeShapeType="1"/>
            </p:cNvSpPr>
            <p:nvPr/>
          </p:nvSpPr>
          <p:spPr bwMode="auto">
            <a:xfrm>
              <a:off x="3462" y="3071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Line 112"/>
            <p:cNvSpPr>
              <a:spLocks noChangeShapeType="1"/>
            </p:cNvSpPr>
            <p:nvPr/>
          </p:nvSpPr>
          <p:spPr bwMode="auto">
            <a:xfrm>
              <a:off x="3462" y="2779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Line 113"/>
            <p:cNvSpPr>
              <a:spLocks noChangeShapeType="1"/>
            </p:cNvSpPr>
            <p:nvPr/>
          </p:nvSpPr>
          <p:spPr bwMode="auto">
            <a:xfrm>
              <a:off x="3462" y="3641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Line 114"/>
            <p:cNvSpPr>
              <a:spLocks noChangeShapeType="1"/>
            </p:cNvSpPr>
            <p:nvPr/>
          </p:nvSpPr>
          <p:spPr bwMode="auto">
            <a:xfrm>
              <a:off x="3462" y="3348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Line 115"/>
            <p:cNvSpPr>
              <a:spLocks noChangeShapeType="1"/>
            </p:cNvSpPr>
            <p:nvPr/>
          </p:nvSpPr>
          <p:spPr bwMode="auto">
            <a:xfrm>
              <a:off x="3462" y="1916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Line 116"/>
            <p:cNvSpPr>
              <a:spLocks noChangeShapeType="1"/>
            </p:cNvSpPr>
            <p:nvPr/>
          </p:nvSpPr>
          <p:spPr bwMode="auto">
            <a:xfrm>
              <a:off x="3462" y="1624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Line 117"/>
            <p:cNvSpPr>
              <a:spLocks noChangeShapeType="1"/>
            </p:cNvSpPr>
            <p:nvPr/>
          </p:nvSpPr>
          <p:spPr bwMode="auto">
            <a:xfrm flipH="1">
              <a:off x="3820" y="1770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Freeform 118"/>
            <p:cNvSpPr>
              <a:spLocks/>
            </p:cNvSpPr>
            <p:nvPr/>
          </p:nvSpPr>
          <p:spPr bwMode="auto">
            <a:xfrm>
              <a:off x="3625" y="1542"/>
              <a:ext cx="195" cy="456"/>
            </a:xfrm>
            <a:custGeom>
              <a:avLst/>
              <a:gdLst>
                <a:gd name="T0" fmla="*/ 1 w 390"/>
                <a:gd name="T1" fmla="*/ 1 h 911"/>
                <a:gd name="T2" fmla="*/ 1 w 390"/>
                <a:gd name="T3" fmla="*/ 1 h 911"/>
                <a:gd name="T4" fmla="*/ 0 w 390"/>
                <a:gd name="T5" fmla="*/ 1 h 911"/>
                <a:gd name="T6" fmla="*/ 0 w 390"/>
                <a:gd name="T7" fmla="*/ 0 h 911"/>
                <a:gd name="T8" fmla="*/ 1 w 390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11"/>
                <a:gd name="T17" fmla="*/ 390 w 390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11">
                  <a:moveTo>
                    <a:pt x="390" y="195"/>
                  </a:moveTo>
                  <a:lnTo>
                    <a:pt x="390" y="748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Line 119"/>
            <p:cNvSpPr>
              <a:spLocks noChangeShapeType="1"/>
            </p:cNvSpPr>
            <p:nvPr/>
          </p:nvSpPr>
          <p:spPr bwMode="auto">
            <a:xfrm flipV="1">
              <a:off x="3739" y="1949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Rectangle 120"/>
            <p:cNvSpPr>
              <a:spLocks noChangeArrowheads="1"/>
            </p:cNvSpPr>
            <p:nvPr/>
          </p:nvSpPr>
          <p:spPr bwMode="auto">
            <a:xfrm>
              <a:off x="5662" y="2541"/>
              <a:ext cx="153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 i="1">
                  <a:solidFill>
                    <a:srgbClr val="000000"/>
                  </a:solidFill>
                  <a:latin typeface="Times-Roman"/>
                </a:rPr>
                <a:t>f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7734" name="Rectangle 121"/>
            <p:cNvSpPr>
              <a:spLocks noChangeArrowheads="1"/>
            </p:cNvSpPr>
            <p:nvPr/>
          </p:nvSpPr>
          <p:spPr bwMode="auto">
            <a:xfrm>
              <a:off x="3170" y="1477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35" name="Rectangle 122"/>
            <p:cNvSpPr>
              <a:spLocks noChangeArrowheads="1"/>
            </p:cNvSpPr>
            <p:nvPr/>
          </p:nvSpPr>
          <p:spPr bwMode="auto">
            <a:xfrm>
              <a:off x="3229" y="1558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7736" name="Rectangle 123"/>
            <p:cNvSpPr>
              <a:spLocks noChangeArrowheads="1"/>
            </p:cNvSpPr>
            <p:nvPr/>
          </p:nvSpPr>
          <p:spPr bwMode="auto">
            <a:xfrm>
              <a:off x="3170" y="1770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37" name="Rectangle 124"/>
            <p:cNvSpPr>
              <a:spLocks noChangeArrowheads="1"/>
            </p:cNvSpPr>
            <p:nvPr/>
          </p:nvSpPr>
          <p:spPr bwMode="auto">
            <a:xfrm>
              <a:off x="3229" y="1846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7738" name="Rectangle 125"/>
            <p:cNvSpPr>
              <a:spLocks noChangeArrowheads="1"/>
            </p:cNvSpPr>
            <p:nvPr/>
          </p:nvSpPr>
          <p:spPr bwMode="auto">
            <a:xfrm>
              <a:off x="3170" y="2063"/>
              <a:ext cx="292" cy="276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39" name="Rectangle 126"/>
            <p:cNvSpPr>
              <a:spLocks noChangeArrowheads="1"/>
            </p:cNvSpPr>
            <p:nvPr/>
          </p:nvSpPr>
          <p:spPr bwMode="auto">
            <a:xfrm>
              <a:off x="3229" y="2134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7740" name="Rectangle 127"/>
            <p:cNvSpPr>
              <a:spLocks noChangeArrowheads="1"/>
            </p:cNvSpPr>
            <p:nvPr/>
          </p:nvSpPr>
          <p:spPr bwMode="auto">
            <a:xfrm>
              <a:off x="3170" y="2339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41" name="Line 128"/>
            <p:cNvSpPr>
              <a:spLocks noChangeShapeType="1"/>
            </p:cNvSpPr>
            <p:nvPr/>
          </p:nvSpPr>
          <p:spPr bwMode="auto">
            <a:xfrm flipH="1">
              <a:off x="3820" y="2339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129"/>
            <p:cNvSpPr>
              <a:spLocks/>
            </p:cNvSpPr>
            <p:nvPr/>
          </p:nvSpPr>
          <p:spPr bwMode="auto">
            <a:xfrm>
              <a:off x="3625" y="2112"/>
              <a:ext cx="195" cy="471"/>
            </a:xfrm>
            <a:custGeom>
              <a:avLst/>
              <a:gdLst>
                <a:gd name="T0" fmla="*/ 1 w 390"/>
                <a:gd name="T1" fmla="*/ 0 h 944"/>
                <a:gd name="T2" fmla="*/ 1 w 390"/>
                <a:gd name="T3" fmla="*/ 0 h 944"/>
                <a:gd name="T4" fmla="*/ 0 w 390"/>
                <a:gd name="T5" fmla="*/ 0 h 944"/>
                <a:gd name="T6" fmla="*/ 0 w 390"/>
                <a:gd name="T7" fmla="*/ 0 h 944"/>
                <a:gd name="T8" fmla="*/ 1 w 390"/>
                <a:gd name="T9" fmla="*/ 0 h 9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44"/>
                <a:gd name="T17" fmla="*/ 390 w 390"/>
                <a:gd name="T18" fmla="*/ 944 h 9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44">
                  <a:moveTo>
                    <a:pt x="390" y="195"/>
                  </a:moveTo>
                  <a:lnTo>
                    <a:pt x="390" y="748"/>
                  </a:lnTo>
                  <a:lnTo>
                    <a:pt x="0" y="944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Line 130"/>
            <p:cNvSpPr>
              <a:spLocks noChangeShapeType="1"/>
            </p:cNvSpPr>
            <p:nvPr/>
          </p:nvSpPr>
          <p:spPr bwMode="auto">
            <a:xfrm flipV="1">
              <a:off x="3739" y="2518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Line 131"/>
            <p:cNvSpPr>
              <a:spLocks noChangeShapeType="1"/>
            </p:cNvSpPr>
            <p:nvPr/>
          </p:nvSpPr>
          <p:spPr bwMode="auto">
            <a:xfrm>
              <a:off x="4145" y="2209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Line 132"/>
            <p:cNvSpPr>
              <a:spLocks noChangeShapeType="1"/>
            </p:cNvSpPr>
            <p:nvPr/>
          </p:nvSpPr>
          <p:spPr bwMode="auto">
            <a:xfrm>
              <a:off x="4145" y="1916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Line 133"/>
            <p:cNvSpPr>
              <a:spLocks noChangeShapeType="1"/>
            </p:cNvSpPr>
            <p:nvPr/>
          </p:nvSpPr>
          <p:spPr bwMode="auto">
            <a:xfrm flipH="1">
              <a:off x="4503" y="2063"/>
              <a:ext cx="341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134"/>
            <p:cNvSpPr>
              <a:spLocks/>
            </p:cNvSpPr>
            <p:nvPr/>
          </p:nvSpPr>
          <p:spPr bwMode="auto">
            <a:xfrm>
              <a:off x="4324" y="1835"/>
              <a:ext cx="179" cy="456"/>
            </a:xfrm>
            <a:custGeom>
              <a:avLst/>
              <a:gdLst>
                <a:gd name="T0" fmla="*/ 1 w 358"/>
                <a:gd name="T1" fmla="*/ 1 h 911"/>
                <a:gd name="T2" fmla="*/ 1 w 358"/>
                <a:gd name="T3" fmla="*/ 1 h 911"/>
                <a:gd name="T4" fmla="*/ 0 w 358"/>
                <a:gd name="T5" fmla="*/ 1 h 911"/>
                <a:gd name="T6" fmla="*/ 0 w 358"/>
                <a:gd name="T7" fmla="*/ 0 h 911"/>
                <a:gd name="T8" fmla="*/ 1 w 358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8"/>
                <a:gd name="T16" fmla="*/ 0 h 911"/>
                <a:gd name="T17" fmla="*/ 358 w 358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8" h="911">
                  <a:moveTo>
                    <a:pt x="358" y="163"/>
                  </a:moveTo>
                  <a:lnTo>
                    <a:pt x="358" y="716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58" y="163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Line 135"/>
            <p:cNvSpPr>
              <a:spLocks noChangeShapeType="1"/>
            </p:cNvSpPr>
            <p:nvPr/>
          </p:nvSpPr>
          <p:spPr bwMode="auto">
            <a:xfrm flipV="1">
              <a:off x="4145" y="2209"/>
              <a:ext cx="1" cy="13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Line 136"/>
            <p:cNvSpPr>
              <a:spLocks noChangeShapeType="1"/>
            </p:cNvSpPr>
            <p:nvPr/>
          </p:nvSpPr>
          <p:spPr bwMode="auto">
            <a:xfrm>
              <a:off x="4145" y="1770"/>
              <a:ext cx="1" cy="146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137"/>
            <p:cNvSpPr>
              <a:spLocks/>
            </p:cNvSpPr>
            <p:nvPr/>
          </p:nvSpPr>
          <p:spPr bwMode="auto">
            <a:xfrm>
              <a:off x="2828" y="1315"/>
              <a:ext cx="1610" cy="569"/>
            </a:xfrm>
            <a:custGeom>
              <a:avLst/>
              <a:gdLst>
                <a:gd name="T0" fmla="*/ 0 w 3220"/>
                <a:gd name="T1" fmla="*/ 0 h 1139"/>
                <a:gd name="T2" fmla="*/ 1 w 3220"/>
                <a:gd name="T3" fmla="*/ 0 h 1139"/>
                <a:gd name="T4" fmla="*/ 1 w 3220"/>
                <a:gd name="T5" fmla="*/ 0 h 1139"/>
                <a:gd name="T6" fmla="*/ 0 60000 65536"/>
                <a:gd name="T7" fmla="*/ 0 60000 65536"/>
                <a:gd name="T8" fmla="*/ 0 60000 65536"/>
                <a:gd name="T9" fmla="*/ 0 w 3220"/>
                <a:gd name="T10" fmla="*/ 0 h 1139"/>
                <a:gd name="T11" fmla="*/ 3220 w 3220"/>
                <a:gd name="T12" fmla="*/ 1139 h 11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0" h="1139">
                  <a:moveTo>
                    <a:pt x="0" y="0"/>
                  </a:moveTo>
                  <a:lnTo>
                    <a:pt x="3220" y="0"/>
                  </a:lnTo>
                  <a:lnTo>
                    <a:pt x="3220" y="1139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Rectangle 138"/>
            <p:cNvSpPr>
              <a:spLocks noChangeArrowheads="1"/>
            </p:cNvSpPr>
            <p:nvPr/>
          </p:nvSpPr>
          <p:spPr bwMode="auto">
            <a:xfrm>
              <a:off x="3056" y="1022"/>
              <a:ext cx="2260" cy="3058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52" name="Line 139"/>
            <p:cNvSpPr>
              <a:spLocks noChangeShapeType="1"/>
            </p:cNvSpPr>
            <p:nvPr/>
          </p:nvSpPr>
          <p:spPr bwMode="auto">
            <a:xfrm flipH="1">
              <a:off x="3820" y="2925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Freeform 140"/>
            <p:cNvSpPr>
              <a:spLocks/>
            </p:cNvSpPr>
            <p:nvPr/>
          </p:nvSpPr>
          <p:spPr bwMode="auto">
            <a:xfrm>
              <a:off x="3625" y="2697"/>
              <a:ext cx="195" cy="456"/>
            </a:xfrm>
            <a:custGeom>
              <a:avLst/>
              <a:gdLst>
                <a:gd name="T0" fmla="*/ 1 w 390"/>
                <a:gd name="T1" fmla="*/ 1 h 911"/>
                <a:gd name="T2" fmla="*/ 1 w 390"/>
                <a:gd name="T3" fmla="*/ 1 h 911"/>
                <a:gd name="T4" fmla="*/ 0 w 390"/>
                <a:gd name="T5" fmla="*/ 1 h 911"/>
                <a:gd name="T6" fmla="*/ 0 w 390"/>
                <a:gd name="T7" fmla="*/ 0 h 911"/>
                <a:gd name="T8" fmla="*/ 1 w 390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11"/>
                <a:gd name="T17" fmla="*/ 390 w 390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11">
                  <a:moveTo>
                    <a:pt x="390" y="163"/>
                  </a:moveTo>
                  <a:lnTo>
                    <a:pt x="390" y="716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90" y="163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Line 141"/>
            <p:cNvSpPr>
              <a:spLocks noChangeShapeType="1"/>
            </p:cNvSpPr>
            <p:nvPr/>
          </p:nvSpPr>
          <p:spPr bwMode="auto">
            <a:xfrm flipV="1">
              <a:off x="3739" y="3104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Rectangle 142"/>
            <p:cNvSpPr>
              <a:spLocks noChangeArrowheads="1"/>
            </p:cNvSpPr>
            <p:nvPr/>
          </p:nvSpPr>
          <p:spPr bwMode="auto">
            <a:xfrm>
              <a:off x="3229" y="2422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7756" name="Rectangle 143"/>
            <p:cNvSpPr>
              <a:spLocks noChangeArrowheads="1"/>
            </p:cNvSpPr>
            <p:nvPr/>
          </p:nvSpPr>
          <p:spPr bwMode="auto">
            <a:xfrm>
              <a:off x="3170" y="2632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57" name="Rectangle 144"/>
            <p:cNvSpPr>
              <a:spLocks noChangeArrowheads="1"/>
            </p:cNvSpPr>
            <p:nvPr/>
          </p:nvSpPr>
          <p:spPr bwMode="auto">
            <a:xfrm>
              <a:off x="3229" y="2711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7758" name="Rectangle 145"/>
            <p:cNvSpPr>
              <a:spLocks noChangeArrowheads="1"/>
            </p:cNvSpPr>
            <p:nvPr/>
          </p:nvSpPr>
          <p:spPr bwMode="auto">
            <a:xfrm>
              <a:off x="3170" y="2925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59" name="Rectangle 146"/>
            <p:cNvSpPr>
              <a:spLocks noChangeArrowheads="1"/>
            </p:cNvSpPr>
            <p:nvPr/>
          </p:nvSpPr>
          <p:spPr bwMode="auto">
            <a:xfrm>
              <a:off x="3229" y="2999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7760" name="Rectangle 147"/>
            <p:cNvSpPr>
              <a:spLocks noChangeArrowheads="1"/>
            </p:cNvSpPr>
            <p:nvPr/>
          </p:nvSpPr>
          <p:spPr bwMode="auto">
            <a:xfrm>
              <a:off x="3170" y="3218"/>
              <a:ext cx="292" cy="276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61" name="Rectangle 148"/>
            <p:cNvSpPr>
              <a:spLocks noChangeArrowheads="1"/>
            </p:cNvSpPr>
            <p:nvPr/>
          </p:nvSpPr>
          <p:spPr bwMode="auto">
            <a:xfrm>
              <a:off x="3229" y="3287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27762" name="Rectangle 149"/>
            <p:cNvSpPr>
              <a:spLocks noChangeArrowheads="1"/>
            </p:cNvSpPr>
            <p:nvPr/>
          </p:nvSpPr>
          <p:spPr bwMode="auto">
            <a:xfrm>
              <a:off x="3170" y="3494"/>
              <a:ext cx="292" cy="293"/>
            </a:xfrm>
            <a:prstGeom prst="rect">
              <a:avLst/>
            </a:prstGeom>
            <a:noFill/>
            <a:ln w="23813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7763" name="Line 150"/>
            <p:cNvSpPr>
              <a:spLocks noChangeShapeType="1"/>
            </p:cNvSpPr>
            <p:nvPr/>
          </p:nvSpPr>
          <p:spPr bwMode="auto">
            <a:xfrm flipH="1">
              <a:off x="3820" y="3494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151"/>
            <p:cNvSpPr>
              <a:spLocks/>
            </p:cNvSpPr>
            <p:nvPr/>
          </p:nvSpPr>
          <p:spPr bwMode="auto">
            <a:xfrm>
              <a:off x="3625" y="3267"/>
              <a:ext cx="195" cy="471"/>
            </a:xfrm>
            <a:custGeom>
              <a:avLst/>
              <a:gdLst>
                <a:gd name="T0" fmla="*/ 1 w 390"/>
                <a:gd name="T1" fmla="*/ 0 h 944"/>
                <a:gd name="T2" fmla="*/ 1 w 390"/>
                <a:gd name="T3" fmla="*/ 0 h 944"/>
                <a:gd name="T4" fmla="*/ 0 w 390"/>
                <a:gd name="T5" fmla="*/ 0 h 944"/>
                <a:gd name="T6" fmla="*/ 0 w 390"/>
                <a:gd name="T7" fmla="*/ 0 h 944"/>
                <a:gd name="T8" fmla="*/ 1 w 390"/>
                <a:gd name="T9" fmla="*/ 0 h 9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44"/>
                <a:gd name="T17" fmla="*/ 390 w 390"/>
                <a:gd name="T18" fmla="*/ 944 h 9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44">
                  <a:moveTo>
                    <a:pt x="390" y="195"/>
                  </a:moveTo>
                  <a:lnTo>
                    <a:pt x="390" y="748"/>
                  </a:lnTo>
                  <a:lnTo>
                    <a:pt x="0" y="944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Line 152"/>
            <p:cNvSpPr>
              <a:spLocks noChangeShapeType="1"/>
            </p:cNvSpPr>
            <p:nvPr/>
          </p:nvSpPr>
          <p:spPr bwMode="auto">
            <a:xfrm>
              <a:off x="4145" y="3348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Line 153"/>
            <p:cNvSpPr>
              <a:spLocks noChangeShapeType="1"/>
            </p:cNvSpPr>
            <p:nvPr/>
          </p:nvSpPr>
          <p:spPr bwMode="auto">
            <a:xfrm>
              <a:off x="4145" y="3071"/>
              <a:ext cx="17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Line 154"/>
            <p:cNvSpPr>
              <a:spLocks noChangeShapeType="1"/>
            </p:cNvSpPr>
            <p:nvPr/>
          </p:nvSpPr>
          <p:spPr bwMode="auto">
            <a:xfrm flipH="1">
              <a:off x="4503" y="3218"/>
              <a:ext cx="341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Freeform 155"/>
            <p:cNvSpPr>
              <a:spLocks/>
            </p:cNvSpPr>
            <p:nvPr/>
          </p:nvSpPr>
          <p:spPr bwMode="auto">
            <a:xfrm>
              <a:off x="4324" y="2974"/>
              <a:ext cx="179" cy="471"/>
            </a:xfrm>
            <a:custGeom>
              <a:avLst/>
              <a:gdLst>
                <a:gd name="T0" fmla="*/ 1 w 358"/>
                <a:gd name="T1" fmla="*/ 0 h 944"/>
                <a:gd name="T2" fmla="*/ 1 w 358"/>
                <a:gd name="T3" fmla="*/ 0 h 944"/>
                <a:gd name="T4" fmla="*/ 0 w 358"/>
                <a:gd name="T5" fmla="*/ 0 h 944"/>
                <a:gd name="T6" fmla="*/ 0 w 358"/>
                <a:gd name="T7" fmla="*/ 0 h 944"/>
                <a:gd name="T8" fmla="*/ 1 w 358"/>
                <a:gd name="T9" fmla="*/ 0 h 9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8"/>
                <a:gd name="T16" fmla="*/ 0 h 944"/>
                <a:gd name="T17" fmla="*/ 358 w 358"/>
                <a:gd name="T18" fmla="*/ 944 h 9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8" h="944">
                  <a:moveTo>
                    <a:pt x="358" y="196"/>
                  </a:moveTo>
                  <a:lnTo>
                    <a:pt x="358" y="749"/>
                  </a:lnTo>
                  <a:lnTo>
                    <a:pt x="0" y="944"/>
                  </a:lnTo>
                  <a:lnTo>
                    <a:pt x="0" y="0"/>
                  </a:lnTo>
                  <a:lnTo>
                    <a:pt x="358" y="196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69" name="Line 156"/>
            <p:cNvSpPr>
              <a:spLocks noChangeShapeType="1"/>
            </p:cNvSpPr>
            <p:nvPr/>
          </p:nvSpPr>
          <p:spPr bwMode="auto">
            <a:xfrm flipV="1">
              <a:off x="4145" y="3348"/>
              <a:ext cx="1" cy="146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Line 157"/>
            <p:cNvSpPr>
              <a:spLocks noChangeShapeType="1"/>
            </p:cNvSpPr>
            <p:nvPr/>
          </p:nvSpPr>
          <p:spPr bwMode="auto">
            <a:xfrm>
              <a:off x="4145" y="2925"/>
              <a:ext cx="1" cy="146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1" name="Line 158"/>
            <p:cNvSpPr>
              <a:spLocks noChangeShapeType="1"/>
            </p:cNvSpPr>
            <p:nvPr/>
          </p:nvSpPr>
          <p:spPr bwMode="auto">
            <a:xfrm flipV="1">
              <a:off x="3739" y="3673"/>
              <a:ext cx="1" cy="29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159"/>
            <p:cNvSpPr>
              <a:spLocks/>
            </p:cNvSpPr>
            <p:nvPr/>
          </p:nvSpPr>
          <p:spPr bwMode="auto">
            <a:xfrm>
              <a:off x="2844" y="2063"/>
              <a:ext cx="1155" cy="1903"/>
            </a:xfrm>
            <a:custGeom>
              <a:avLst/>
              <a:gdLst>
                <a:gd name="T0" fmla="*/ 0 w 2309"/>
                <a:gd name="T1" fmla="*/ 1 h 3806"/>
                <a:gd name="T2" fmla="*/ 1 w 2309"/>
                <a:gd name="T3" fmla="*/ 1 h 3806"/>
                <a:gd name="T4" fmla="*/ 1 w 2309"/>
                <a:gd name="T5" fmla="*/ 0 h 3806"/>
                <a:gd name="T6" fmla="*/ 1 w 2309"/>
                <a:gd name="T7" fmla="*/ 0 h 38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09"/>
                <a:gd name="T13" fmla="*/ 0 h 3806"/>
                <a:gd name="T14" fmla="*/ 2309 w 2309"/>
                <a:gd name="T15" fmla="*/ 3806 h 38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09" h="3806">
                  <a:moveTo>
                    <a:pt x="0" y="3806"/>
                  </a:moveTo>
                  <a:lnTo>
                    <a:pt x="2309" y="3806"/>
                  </a:lnTo>
                  <a:lnTo>
                    <a:pt x="2309" y="0"/>
                  </a:lnTo>
                  <a:lnTo>
                    <a:pt x="1788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Line 160"/>
            <p:cNvSpPr>
              <a:spLocks noChangeShapeType="1"/>
            </p:cNvSpPr>
            <p:nvPr/>
          </p:nvSpPr>
          <p:spPr bwMode="auto">
            <a:xfrm flipH="1">
              <a:off x="3739" y="3218"/>
              <a:ext cx="260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Line 161"/>
            <p:cNvSpPr>
              <a:spLocks noChangeShapeType="1"/>
            </p:cNvSpPr>
            <p:nvPr/>
          </p:nvSpPr>
          <p:spPr bwMode="auto">
            <a:xfrm flipH="1">
              <a:off x="3739" y="2632"/>
              <a:ext cx="260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162"/>
            <p:cNvSpPr>
              <a:spLocks/>
            </p:cNvSpPr>
            <p:nvPr/>
          </p:nvSpPr>
          <p:spPr bwMode="auto">
            <a:xfrm>
              <a:off x="3983" y="2616"/>
              <a:ext cx="32" cy="32"/>
            </a:xfrm>
            <a:custGeom>
              <a:avLst/>
              <a:gdLst>
                <a:gd name="T0" fmla="*/ 0 w 65"/>
                <a:gd name="T1" fmla="*/ 0 h 65"/>
                <a:gd name="T2" fmla="*/ 0 w 65"/>
                <a:gd name="T3" fmla="*/ 0 h 65"/>
                <a:gd name="T4" fmla="*/ 0 w 65"/>
                <a:gd name="T5" fmla="*/ 0 h 65"/>
                <a:gd name="T6" fmla="*/ 0 w 65"/>
                <a:gd name="T7" fmla="*/ 0 h 65"/>
                <a:gd name="T8" fmla="*/ 0 w 65"/>
                <a:gd name="T9" fmla="*/ 0 h 65"/>
                <a:gd name="T10" fmla="*/ 0 w 65"/>
                <a:gd name="T11" fmla="*/ 0 h 65"/>
                <a:gd name="T12" fmla="*/ 0 w 65"/>
                <a:gd name="T13" fmla="*/ 0 h 65"/>
                <a:gd name="T14" fmla="*/ 0 w 65"/>
                <a:gd name="T15" fmla="*/ 0 h 65"/>
                <a:gd name="T16" fmla="*/ 0 w 65"/>
                <a:gd name="T17" fmla="*/ 0 h 65"/>
                <a:gd name="T18" fmla="*/ 0 w 65"/>
                <a:gd name="T19" fmla="*/ 0 h 65"/>
                <a:gd name="T20" fmla="*/ 0 w 65"/>
                <a:gd name="T21" fmla="*/ 0 h 65"/>
                <a:gd name="T22" fmla="*/ 0 w 65"/>
                <a:gd name="T23" fmla="*/ 0 h 65"/>
                <a:gd name="T24" fmla="*/ 0 w 65"/>
                <a:gd name="T25" fmla="*/ 0 h 65"/>
                <a:gd name="T26" fmla="*/ 0 w 65"/>
                <a:gd name="T27" fmla="*/ 0 h 65"/>
                <a:gd name="T28" fmla="*/ 0 w 65"/>
                <a:gd name="T29" fmla="*/ 0 h 65"/>
                <a:gd name="T30" fmla="*/ 0 w 65"/>
                <a:gd name="T31" fmla="*/ 0 h 65"/>
                <a:gd name="T32" fmla="*/ 0 w 65"/>
                <a:gd name="T33" fmla="*/ 0 h 65"/>
                <a:gd name="T34" fmla="*/ 0 w 65"/>
                <a:gd name="T35" fmla="*/ 0 h 65"/>
                <a:gd name="T36" fmla="*/ 0 w 65"/>
                <a:gd name="T37" fmla="*/ 0 h 65"/>
                <a:gd name="T38" fmla="*/ 0 w 65"/>
                <a:gd name="T39" fmla="*/ 0 h 65"/>
                <a:gd name="T40" fmla="*/ 0 w 65"/>
                <a:gd name="T41" fmla="*/ 0 h 65"/>
                <a:gd name="T42" fmla="*/ 0 w 65"/>
                <a:gd name="T43" fmla="*/ 0 h 65"/>
                <a:gd name="T44" fmla="*/ 0 w 65"/>
                <a:gd name="T45" fmla="*/ 0 h 65"/>
                <a:gd name="T46" fmla="*/ 0 w 65"/>
                <a:gd name="T47" fmla="*/ 0 h 65"/>
                <a:gd name="T48" fmla="*/ 0 w 65"/>
                <a:gd name="T49" fmla="*/ 0 h 65"/>
                <a:gd name="T50" fmla="*/ 0 w 65"/>
                <a:gd name="T51" fmla="*/ 0 h 65"/>
                <a:gd name="T52" fmla="*/ 0 w 65"/>
                <a:gd name="T53" fmla="*/ 0 h 65"/>
                <a:gd name="T54" fmla="*/ 0 w 65"/>
                <a:gd name="T55" fmla="*/ 0 h 65"/>
                <a:gd name="T56" fmla="*/ 0 w 65"/>
                <a:gd name="T57" fmla="*/ 0 h 65"/>
                <a:gd name="T58" fmla="*/ 0 w 65"/>
                <a:gd name="T59" fmla="*/ 0 h 65"/>
                <a:gd name="T60" fmla="*/ 0 w 65"/>
                <a:gd name="T61" fmla="*/ 0 h 65"/>
                <a:gd name="T62" fmla="*/ 0 w 65"/>
                <a:gd name="T63" fmla="*/ 0 h 65"/>
                <a:gd name="T64" fmla="*/ 0 w 65"/>
                <a:gd name="T65" fmla="*/ 0 h 65"/>
                <a:gd name="T66" fmla="*/ 0 w 65"/>
                <a:gd name="T67" fmla="*/ 0 h 65"/>
                <a:gd name="T68" fmla="*/ 0 w 65"/>
                <a:gd name="T69" fmla="*/ 0 h 65"/>
                <a:gd name="T70" fmla="*/ 0 w 65"/>
                <a:gd name="T71" fmla="*/ 0 h 65"/>
                <a:gd name="T72" fmla="*/ 0 w 65"/>
                <a:gd name="T73" fmla="*/ 0 h 65"/>
                <a:gd name="T74" fmla="*/ 0 w 65"/>
                <a:gd name="T75" fmla="*/ 0 h 65"/>
                <a:gd name="T76" fmla="*/ 0 w 65"/>
                <a:gd name="T77" fmla="*/ 0 h 65"/>
                <a:gd name="T78" fmla="*/ 0 w 65"/>
                <a:gd name="T79" fmla="*/ 0 h 65"/>
                <a:gd name="T80" fmla="*/ 0 w 65"/>
                <a:gd name="T81" fmla="*/ 0 h 65"/>
                <a:gd name="T82" fmla="*/ 0 w 65"/>
                <a:gd name="T83" fmla="*/ 0 h 65"/>
                <a:gd name="T84" fmla="*/ 0 w 65"/>
                <a:gd name="T85" fmla="*/ 0 h 65"/>
                <a:gd name="T86" fmla="*/ 0 w 65"/>
                <a:gd name="T87" fmla="*/ 0 h 65"/>
                <a:gd name="T88" fmla="*/ 0 w 65"/>
                <a:gd name="T89" fmla="*/ 0 h 6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5"/>
                <a:gd name="T136" fmla="*/ 0 h 65"/>
                <a:gd name="T137" fmla="*/ 65 w 65"/>
                <a:gd name="T138" fmla="*/ 65 h 6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5" h="65">
                  <a:moveTo>
                    <a:pt x="33" y="32"/>
                  </a:moveTo>
                  <a:lnTo>
                    <a:pt x="33" y="0"/>
                  </a:lnTo>
                  <a:lnTo>
                    <a:pt x="31" y="0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2" y="8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7" y="52"/>
                  </a:lnTo>
                  <a:lnTo>
                    <a:pt x="7" y="53"/>
                  </a:lnTo>
                  <a:lnTo>
                    <a:pt x="8" y="55"/>
                  </a:lnTo>
                  <a:lnTo>
                    <a:pt x="10" y="57"/>
                  </a:lnTo>
                  <a:lnTo>
                    <a:pt x="12" y="58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2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1" y="63"/>
                  </a:lnTo>
                  <a:lnTo>
                    <a:pt x="23" y="65"/>
                  </a:lnTo>
                  <a:lnTo>
                    <a:pt x="25" y="65"/>
                  </a:lnTo>
                  <a:lnTo>
                    <a:pt x="26" y="65"/>
                  </a:lnTo>
                  <a:lnTo>
                    <a:pt x="28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9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6" y="62"/>
                  </a:lnTo>
                  <a:lnTo>
                    <a:pt x="47" y="62"/>
                  </a:lnTo>
                  <a:lnTo>
                    <a:pt x="49" y="62"/>
                  </a:lnTo>
                  <a:lnTo>
                    <a:pt x="51" y="60"/>
                  </a:lnTo>
                  <a:lnTo>
                    <a:pt x="52" y="58"/>
                  </a:lnTo>
                  <a:lnTo>
                    <a:pt x="54" y="57"/>
                  </a:lnTo>
                  <a:lnTo>
                    <a:pt x="55" y="57"/>
                  </a:lnTo>
                  <a:lnTo>
                    <a:pt x="55" y="55"/>
                  </a:lnTo>
                  <a:lnTo>
                    <a:pt x="57" y="53"/>
                  </a:lnTo>
                  <a:lnTo>
                    <a:pt x="59" y="52"/>
                  </a:lnTo>
                  <a:lnTo>
                    <a:pt x="60" y="50"/>
                  </a:lnTo>
                  <a:lnTo>
                    <a:pt x="60" y="49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4"/>
                  </a:lnTo>
                  <a:lnTo>
                    <a:pt x="64" y="42"/>
                  </a:lnTo>
                  <a:lnTo>
                    <a:pt x="64" y="40"/>
                  </a:lnTo>
                  <a:lnTo>
                    <a:pt x="64" y="39"/>
                  </a:lnTo>
                  <a:lnTo>
                    <a:pt x="64" y="37"/>
                  </a:lnTo>
                  <a:lnTo>
                    <a:pt x="65" y="36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4" y="27"/>
                  </a:lnTo>
                  <a:lnTo>
                    <a:pt x="64" y="26"/>
                  </a:lnTo>
                  <a:lnTo>
                    <a:pt x="64" y="24"/>
                  </a:lnTo>
                  <a:lnTo>
                    <a:pt x="64" y="23"/>
                  </a:lnTo>
                  <a:lnTo>
                    <a:pt x="62" y="23"/>
                  </a:lnTo>
                  <a:lnTo>
                    <a:pt x="62" y="21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60" y="16"/>
                  </a:lnTo>
                  <a:lnTo>
                    <a:pt x="59" y="14"/>
                  </a:lnTo>
                  <a:lnTo>
                    <a:pt x="59" y="13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5" y="10"/>
                  </a:lnTo>
                  <a:lnTo>
                    <a:pt x="54" y="10"/>
                  </a:lnTo>
                  <a:lnTo>
                    <a:pt x="52" y="8"/>
                  </a:lnTo>
                  <a:lnTo>
                    <a:pt x="52" y="6"/>
                  </a:lnTo>
                  <a:lnTo>
                    <a:pt x="51" y="6"/>
                  </a:lnTo>
                  <a:lnTo>
                    <a:pt x="49" y="5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6" y="1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3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163"/>
            <p:cNvSpPr>
              <a:spLocks/>
            </p:cNvSpPr>
            <p:nvPr/>
          </p:nvSpPr>
          <p:spPr bwMode="auto">
            <a:xfrm>
              <a:off x="3972" y="2622"/>
              <a:ext cx="40" cy="40"/>
            </a:xfrm>
            <a:custGeom>
              <a:avLst/>
              <a:gdLst>
                <a:gd name="T0" fmla="*/ 1 w 80"/>
                <a:gd name="T1" fmla="*/ 0 h 79"/>
                <a:gd name="T2" fmla="*/ 1 w 80"/>
                <a:gd name="T3" fmla="*/ 1 h 79"/>
                <a:gd name="T4" fmla="*/ 1 w 80"/>
                <a:gd name="T5" fmla="*/ 1 h 79"/>
                <a:gd name="T6" fmla="*/ 1 w 80"/>
                <a:gd name="T7" fmla="*/ 1 h 79"/>
                <a:gd name="T8" fmla="*/ 1 w 80"/>
                <a:gd name="T9" fmla="*/ 1 h 79"/>
                <a:gd name="T10" fmla="*/ 1 w 80"/>
                <a:gd name="T11" fmla="*/ 1 h 79"/>
                <a:gd name="T12" fmla="*/ 1 w 80"/>
                <a:gd name="T13" fmla="*/ 1 h 79"/>
                <a:gd name="T14" fmla="*/ 1 w 80"/>
                <a:gd name="T15" fmla="*/ 1 h 79"/>
                <a:gd name="T16" fmla="*/ 1 w 80"/>
                <a:gd name="T17" fmla="*/ 1 h 79"/>
                <a:gd name="T18" fmla="*/ 1 w 80"/>
                <a:gd name="T19" fmla="*/ 1 h 79"/>
                <a:gd name="T20" fmla="*/ 0 w 80"/>
                <a:gd name="T21" fmla="*/ 1 h 79"/>
                <a:gd name="T22" fmla="*/ 1 w 80"/>
                <a:gd name="T23" fmla="*/ 1 h 79"/>
                <a:gd name="T24" fmla="*/ 1 w 80"/>
                <a:gd name="T25" fmla="*/ 1 h 79"/>
                <a:gd name="T26" fmla="*/ 1 w 80"/>
                <a:gd name="T27" fmla="*/ 1 h 79"/>
                <a:gd name="T28" fmla="*/ 1 w 80"/>
                <a:gd name="T29" fmla="*/ 1 h 79"/>
                <a:gd name="T30" fmla="*/ 1 w 80"/>
                <a:gd name="T31" fmla="*/ 1 h 79"/>
                <a:gd name="T32" fmla="*/ 1 w 80"/>
                <a:gd name="T33" fmla="*/ 1 h 79"/>
                <a:gd name="T34" fmla="*/ 1 w 80"/>
                <a:gd name="T35" fmla="*/ 1 h 79"/>
                <a:gd name="T36" fmla="*/ 1 w 80"/>
                <a:gd name="T37" fmla="*/ 1 h 79"/>
                <a:gd name="T38" fmla="*/ 1 w 80"/>
                <a:gd name="T39" fmla="*/ 1 h 79"/>
                <a:gd name="T40" fmla="*/ 1 w 80"/>
                <a:gd name="T41" fmla="*/ 1 h 79"/>
                <a:gd name="T42" fmla="*/ 1 w 80"/>
                <a:gd name="T43" fmla="*/ 1 h 79"/>
                <a:gd name="T44" fmla="*/ 1 w 80"/>
                <a:gd name="T45" fmla="*/ 1 h 79"/>
                <a:gd name="T46" fmla="*/ 1 w 80"/>
                <a:gd name="T47" fmla="*/ 1 h 79"/>
                <a:gd name="T48" fmla="*/ 1 w 80"/>
                <a:gd name="T49" fmla="*/ 1 h 79"/>
                <a:gd name="T50" fmla="*/ 1 w 80"/>
                <a:gd name="T51" fmla="*/ 1 h 79"/>
                <a:gd name="T52" fmla="*/ 1 w 80"/>
                <a:gd name="T53" fmla="*/ 1 h 79"/>
                <a:gd name="T54" fmla="*/ 1 w 80"/>
                <a:gd name="T55" fmla="*/ 1 h 79"/>
                <a:gd name="T56" fmla="*/ 1 w 80"/>
                <a:gd name="T57" fmla="*/ 1 h 79"/>
                <a:gd name="T58" fmla="*/ 1 w 80"/>
                <a:gd name="T59" fmla="*/ 1 h 79"/>
                <a:gd name="T60" fmla="*/ 1 w 80"/>
                <a:gd name="T61" fmla="*/ 1 h 79"/>
                <a:gd name="T62" fmla="*/ 1 w 80"/>
                <a:gd name="T63" fmla="*/ 1 h 79"/>
                <a:gd name="T64" fmla="*/ 1 w 80"/>
                <a:gd name="T65" fmla="*/ 1 h 79"/>
                <a:gd name="T66" fmla="*/ 1 w 80"/>
                <a:gd name="T67" fmla="*/ 1 h 79"/>
                <a:gd name="T68" fmla="*/ 1 w 80"/>
                <a:gd name="T69" fmla="*/ 1 h 79"/>
                <a:gd name="T70" fmla="*/ 1 w 80"/>
                <a:gd name="T71" fmla="*/ 1 h 79"/>
                <a:gd name="T72" fmla="*/ 1 w 80"/>
                <a:gd name="T73" fmla="*/ 1 h 79"/>
                <a:gd name="T74" fmla="*/ 1 w 80"/>
                <a:gd name="T75" fmla="*/ 1 h 79"/>
                <a:gd name="T76" fmla="*/ 1 w 80"/>
                <a:gd name="T77" fmla="*/ 1 h 79"/>
                <a:gd name="T78" fmla="*/ 1 w 80"/>
                <a:gd name="T79" fmla="*/ 1 h 79"/>
                <a:gd name="T80" fmla="*/ 1 w 80"/>
                <a:gd name="T81" fmla="*/ 1 h 79"/>
                <a:gd name="T82" fmla="*/ 1 w 80"/>
                <a:gd name="T83" fmla="*/ 1 h 79"/>
                <a:gd name="T84" fmla="*/ 1 w 80"/>
                <a:gd name="T85" fmla="*/ 1 h 79"/>
                <a:gd name="T86" fmla="*/ 1 w 80"/>
                <a:gd name="T87" fmla="*/ 0 h 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0"/>
                <a:gd name="T133" fmla="*/ 0 h 79"/>
                <a:gd name="T134" fmla="*/ 80 w 80"/>
                <a:gd name="T135" fmla="*/ 79 h 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0" h="79">
                  <a:moveTo>
                    <a:pt x="41" y="0"/>
                  </a:moveTo>
                  <a:lnTo>
                    <a:pt x="39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4" y="3"/>
                  </a:lnTo>
                  <a:lnTo>
                    <a:pt x="23" y="5"/>
                  </a:lnTo>
                  <a:lnTo>
                    <a:pt x="21" y="5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5" y="10"/>
                  </a:lnTo>
                  <a:lnTo>
                    <a:pt x="13" y="11"/>
                  </a:lnTo>
                  <a:lnTo>
                    <a:pt x="11" y="13"/>
                  </a:lnTo>
                  <a:lnTo>
                    <a:pt x="10" y="14"/>
                  </a:lnTo>
                  <a:lnTo>
                    <a:pt x="8" y="16"/>
                  </a:lnTo>
                  <a:lnTo>
                    <a:pt x="8" y="18"/>
                  </a:lnTo>
                  <a:lnTo>
                    <a:pt x="7" y="19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0" y="40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49"/>
                  </a:lnTo>
                  <a:lnTo>
                    <a:pt x="2" y="50"/>
                  </a:lnTo>
                  <a:lnTo>
                    <a:pt x="3" y="52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5" y="57"/>
                  </a:lnTo>
                  <a:lnTo>
                    <a:pt x="5" y="58"/>
                  </a:lnTo>
                  <a:lnTo>
                    <a:pt x="7" y="60"/>
                  </a:lnTo>
                  <a:lnTo>
                    <a:pt x="8" y="62"/>
                  </a:lnTo>
                  <a:lnTo>
                    <a:pt x="8" y="63"/>
                  </a:lnTo>
                  <a:lnTo>
                    <a:pt x="10" y="65"/>
                  </a:lnTo>
                  <a:lnTo>
                    <a:pt x="11" y="66"/>
                  </a:lnTo>
                  <a:lnTo>
                    <a:pt x="13" y="68"/>
                  </a:lnTo>
                  <a:lnTo>
                    <a:pt x="13" y="70"/>
                  </a:lnTo>
                  <a:lnTo>
                    <a:pt x="15" y="70"/>
                  </a:lnTo>
                  <a:lnTo>
                    <a:pt x="16" y="71"/>
                  </a:lnTo>
                  <a:lnTo>
                    <a:pt x="18" y="73"/>
                  </a:lnTo>
                  <a:lnTo>
                    <a:pt x="20" y="75"/>
                  </a:lnTo>
                  <a:lnTo>
                    <a:pt x="21" y="75"/>
                  </a:lnTo>
                  <a:lnTo>
                    <a:pt x="23" y="76"/>
                  </a:lnTo>
                  <a:lnTo>
                    <a:pt x="24" y="76"/>
                  </a:lnTo>
                  <a:lnTo>
                    <a:pt x="26" y="78"/>
                  </a:lnTo>
                  <a:lnTo>
                    <a:pt x="29" y="78"/>
                  </a:lnTo>
                  <a:lnTo>
                    <a:pt x="31" y="78"/>
                  </a:lnTo>
                  <a:lnTo>
                    <a:pt x="33" y="79"/>
                  </a:lnTo>
                  <a:lnTo>
                    <a:pt x="34" y="79"/>
                  </a:lnTo>
                  <a:lnTo>
                    <a:pt x="36" y="79"/>
                  </a:lnTo>
                  <a:lnTo>
                    <a:pt x="39" y="79"/>
                  </a:lnTo>
                  <a:lnTo>
                    <a:pt x="41" y="79"/>
                  </a:lnTo>
                  <a:lnTo>
                    <a:pt x="42" y="79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2" y="78"/>
                  </a:lnTo>
                  <a:lnTo>
                    <a:pt x="54" y="78"/>
                  </a:lnTo>
                  <a:lnTo>
                    <a:pt x="55" y="76"/>
                  </a:lnTo>
                  <a:lnTo>
                    <a:pt x="57" y="76"/>
                  </a:lnTo>
                  <a:lnTo>
                    <a:pt x="60" y="75"/>
                  </a:lnTo>
                  <a:lnTo>
                    <a:pt x="62" y="75"/>
                  </a:lnTo>
                  <a:lnTo>
                    <a:pt x="63" y="73"/>
                  </a:lnTo>
                  <a:lnTo>
                    <a:pt x="63" y="71"/>
                  </a:lnTo>
                  <a:lnTo>
                    <a:pt x="65" y="70"/>
                  </a:lnTo>
                  <a:lnTo>
                    <a:pt x="67" y="70"/>
                  </a:lnTo>
                  <a:lnTo>
                    <a:pt x="68" y="68"/>
                  </a:lnTo>
                  <a:lnTo>
                    <a:pt x="70" y="66"/>
                  </a:lnTo>
                  <a:lnTo>
                    <a:pt x="72" y="65"/>
                  </a:lnTo>
                  <a:lnTo>
                    <a:pt x="72" y="63"/>
                  </a:lnTo>
                  <a:lnTo>
                    <a:pt x="73" y="62"/>
                  </a:lnTo>
                  <a:lnTo>
                    <a:pt x="75" y="60"/>
                  </a:lnTo>
                  <a:lnTo>
                    <a:pt x="75" y="58"/>
                  </a:lnTo>
                  <a:lnTo>
                    <a:pt x="76" y="57"/>
                  </a:lnTo>
                  <a:lnTo>
                    <a:pt x="76" y="55"/>
                  </a:lnTo>
                  <a:lnTo>
                    <a:pt x="78" y="53"/>
                  </a:lnTo>
                  <a:lnTo>
                    <a:pt x="78" y="52"/>
                  </a:lnTo>
                  <a:lnTo>
                    <a:pt x="80" y="50"/>
                  </a:lnTo>
                  <a:lnTo>
                    <a:pt x="80" y="49"/>
                  </a:lnTo>
                  <a:lnTo>
                    <a:pt x="80" y="45"/>
                  </a:lnTo>
                  <a:lnTo>
                    <a:pt x="80" y="44"/>
                  </a:lnTo>
                  <a:lnTo>
                    <a:pt x="80" y="42"/>
                  </a:lnTo>
                  <a:lnTo>
                    <a:pt x="80" y="40"/>
                  </a:lnTo>
                  <a:lnTo>
                    <a:pt x="80" y="37"/>
                  </a:lnTo>
                  <a:lnTo>
                    <a:pt x="80" y="36"/>
                  </a:lnTo>
                  <a:lnTo>
                    <a:pt x="80" y="34"/>
                  </a:lnTo>
                  <a:lnTo>
                    <a:pt x="80" y="32"/>
                  </a:lnTo>
                  <a:lnTo>
                    <a:pt x="80" y="31"/>
                  </a:lnTo>
                  <a:lnTo>
                    <a:pt x="78" y="27"/>
                  </a:lnTo>
                  <a:lnTo>
                    <a:pt x="78" y="26"/>
                  </a:lnTo>
                  <a:lnTo>
                    <a:pt x="76" y="24"/>
                  </a:lnTo>
                  <a:lnTo>
                    <a:pt x="76" y="23"/>
                  </a:lnTo>
                  <a:lnTo>
                    <a:pt x="75" y="21"/>
                  </a:lnTo>
                  <a:lnTo>
                    <a:pt x="75" y="19"/>
                  </a:lnTo>
                  <a:lnTo>
                    <a:pt x="73" y="18"/>
                  </a:lnTo>
                  <a:lnTo>
                    <a:pt x="72" y="16"/>
                  </a:lnTo>
                  <a:lnTo>
                    <a:pt x="72" y="14"/>
                  </a:lnTo>
                  <a:lnTo>
                    <a:pt x="70" y="13"/>
                  </a:lnTo>
                  <a:lnTo>
                    <a:pt x="68" y="11"/>
                  </a:lnTo>
                  <a:lnTo>
                    <a:pt x="67" y="11"/>
                  </a:lnTo>
                  <a:lnTo>
                    <a:pt x="65" y="10"/>
                  </a:lnTo>
                  <a:lnTo>
                    <a:pt x="63" y="8"/>
                  </a:lnTo>
                  <a:lnTo>
                    <a:pt x="63" y="6"/>
                  </a:lnTo>
                  <a:lnTo>
                    <a:pt x="62" y="6"/>
                  </a:lnTo>
                  <a:lnTo>
                    <a:pt x="60" y="5"/>
                  </a:lnTo>
                  <a:lnTo>
                    <a:pt x="57" y="5"/>
                  </a:lnTo>
                  <a:lnTo>
                    <a:pt x="55" y="3"/>
                  </a:lnTo>
                  <a:lnTo>
                    <a:pt x="54" y="3"/>
                  </a:lnTo>
                  <a:lnTo>
                    <a:pt x="52" y="1"/>
                  </a:lnTo>
                  <a:lnTo>
                    <a:pt x="50" y="1"/>
                  </a:lnTo>
                  <a:lnTo>
                    <a:pt x="49" y="1"/>
                  </a:lnTo>
                  <a:lnTo>
                    <a:pt x="47" y="1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Freeform 164"/>
            <p:cNvSpPr>
              <a:spLocks/>
            </p:cNvSpPr>
            <p:nvPr/>
          </p:nvSpPr>
          <p:spPr bwMode="auto">
            <a:xfrm>
              <a:off x="3983" y="3201"/>
              <a:ext cx="32" cy="33"/>
            </a:xfrm>
            <a:custGeom>
              <a:avLst/>
              <a:gdLst>
                <a:gd name="T0" fmla="*/ 0 w 65"/>
                <a:gd name="T1" fmla="*/ 0 h 65"/>
                <a:gd name="T2" fmla="*/ 0 w 65"/>
                <a:gd name="T3" fmla="*/ 1 h 65"/>
                <a:gd name="T4" fmla="*/ 0 w 65"/>
                <a:gd name="T5" fmla="*/ 1 h 65"/>
                <a:gd name="T6" fmla="*/ 0 w 65"/>
                <a:gd name="T7" fmla="*/ 1 h 65"/>
                <a:gd name="T8" fmla="*/ 0 w 65"/>
                <a:gd name="T9" fmla="*/ 1 h 65"/>
                <a:gd name="T10" fmla="*/ 0 w 65"/>
                <a:gd name="T11" fmla="*/ 1 h 65"/>
                <a:gd name="T12" fmla="*/ 0 w 65"/>
                <a:gd name="T13" fmla="*/ 1 h 65"/>
                <a:gd name="T14" fmla="*/ 0 w 65"/>
                <a:gd name="T15" fmla="*/ 1 h 65"/>
                <a:gd name="T16" fmla="*/ 0 w 65"/>
                <a:gd name="T17" fmla="*/ 1 h 65"/>
                <a:gd name="T18" fmla="*/ 0 w 65"/>
                <a:gd name="T19" fmla="*/ 1 h 65"/>
                <a:gd name="T20" fmla="*/ 0 w 65"/>
                <a:gd name="T21" fmla="*/ 1 h 65"/>
                <a:gd name="T22" fmla="*/ 0 w 65"/>
                <a:gd name="T23" fmla="*/ 1 h 65"/>
                <a:gd name="T24" fmla="*/ 0 w 65"/>
                <a:gd name="T25" fmla="*/ 1 h 65"/>
                <a:gd name="T26" fmla="*/ 0 w 65"/>
                <a:gd name="T27" fmla="*/ 1 h 65"/>
                <a:gd name="T28" fmla="*/ 0 w 65"/>
                <a:gd name="T29" fmla="*/ 1 h 65"/>
                <a:gd name="T30" fmla="*/ 0 w 65"/>
                <a:gd name="T31" fmla="*/ 1 h 65"/>
                <a:gd name="T32" fmla="*/ 0 w 65"/>
                <a:gd name="T33" fmla="*/ 1 h 65"/>
                <a:gd name="T34" fmla="*/ 0 w 65"/>
                <a:gd name="T35" fmla="*/ 1 h 65"/>
                <a:gd name="T36" fmla="*/ 0 w 65"/>
                <a:gd name="T37" fmla="*/ 1 h 65"/>
                <a:gd name="T38" fmla="*/ 0 w 65"/>
                <a:gd name="T39" fmla="*/ 1 h 65"/>
                <a:gd name="T40" fmla="*/ 0 w 65"/>
                <a:gd name="T41" fmla="*/ 1 h 65"/>
                <a:gd name="T42" fmla="*/ 0 w 65"/>
                <a:gd name="T43" fmla="*/ 1 h 65"/>
                <a:gd name="T44" fmla="*/ 0 w 65"/>
                <a:gd name="T45" fmla="*/ 1 h 65"/>
                <a:gd name="T46" fmla="*/ 0 w 65"/>
                <a:gd name="T47" fmla="*/ 1 h 65"/>
                <a:gd name="T48" fmla="*/ 0 w 65"/>
                <a:gd name="T49" fmla="*/ 1 h 65"/>
                <a:gd name="T50" fmla="*/ 0 w 65"/>
                <a:gd name="T51" fmla="*/ 1 h 65"/>
                <a:gd name="T52" fmla="*/ 0 w 65"/>
                <a:gd name="T53" fmla="*/ 1 h 65"/>
                <a:gd name="T54" fmla="*/ 0 w 65"/>
                <a:gd name="T55" fmla="*/ 1 h 65"/>
                <a:gd name="T56" fmla="*/ 0 w 65"/>
                <a:gd name="T57" fmla="*/ 1 h 65"/>
                <a:gd name="T58" fmla="*/ 0 w 65"/>
                <a:gd name="T59" fmla="*/ 1 h 65"/>
                <a:gd name="T60" fmla="*/ 0 w 65"/>
                <a:gd name="T61" fmla="*/ 1 h 65"/>
                <a:gd name="T62" fmla="*/ 0 w 65"/>
                <a:gd name="T63" fmla="*/ 1 h 65"/>
                <a:gd name="T64" fmla="*/ 0 w 65"/>
                <a:gd name="T65" fmla="*/ 1 h 65"/>
                <a:gd name="T66" fmla="*/ 0 w 65"/>
                <a:gd name="T67" fmla="*/ 1 h 65"/>
                <a:gd name="T68" fmla="*/ 0 w 65"/>
                <a:gd name="T69" fmla="*/ 1 h 65"/>
                <a:gd name="T70" fmla="*/ 0 w 65"/>
                <a:gd name="T71" fmla="*/ 1 h 65"/>
                <a:gd name="T72" fmla="*/ 0 w 65"/>
                <a:gd name="T73" fmla="*/ 1 h 65"/>
                <a:gd name="T74" fmla="*/ 0 w 65"/>
                <a:gd name="T75" fmla="*/ 1 h 65"/>
                <a:gd name="T76" fmla="*/ 0 w 65"/>
                <a:gd name="T77" fmla="*/ 1 h 65"/>
                <a:gd name="T78" fmla="*/ 0 w 65"/>
                <a:gd name="T79" fmla="*/ 1 h 65"/>
                <a:gd name="T80" fmla="*/ 0 w 65"/>
                <a:gd name="T81" fmla="*/ 1 h 65"/>
                <a:gd name="T82" fmla="*/ 0 w 65"/>
                <a:gd name="T83" fmla="*/ 1 h 65"/>
                <a:gd name="T84" fmla="*/ 0 w 65"/>
                <a:gd name="T85" fmla="*/ 1 h 65"/>
                <a:gd name="T86" fmla="*/ 0 w 65"/>
                <a:gd name="T87" fmla="*/ 0 h 65"/>
                <a:gd name="T88" fmla="*/ 0 w 65"/>
                <a:gd name="T89" fmla="*/ 1 h 6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5"/>
                <a:gd name="T136" fmla="*/ 0 h 65"/>
                <a:gd name="T137" fmla="*/ 65 w 65"/>
                <a:gd name="T138" fmla="*/ 65 h 6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5" h="65">
                  <a:moveTo>
                    <a:pt x="33" y="32"/>
                  </a:move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3" y="2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2" y="8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8" y="55"/>
                  </a:lnTo>
                  <a:lnTo>
                    <a:pt x="10" y="57"/>
                  </a:lnTo>
                  <a:lnTo>
                    <a:pt x="12" y="59"/>
                  </a:lnTo>
                  <a:lnTo>
                    <a:pt x="13" y="59"/>
                  </a:lnTo>
                  <a:lnTo>
                    <a:pt x="15" y="60"/>
                  </a:lnTo>
                  <a:lnTo>
                    <a:pt x="15" y="62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1" y="63"/>
                  </a:lnTo>
                  <a:lnTo>
                    <a:pt x="23" y="65"/>
                  </a:lnTo>
                  <a:lnTo>
                    <a:pt x="25" y="65"/>
                  </a:lnTo>
                  <a:lnTo>
                    <a:pt x="26" y="65"/>
                  </a:lnTo>
                  <a:lnTo>
                    <a:pt x="28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9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6" y="62"/>
                  </a:lnTo>
                  <a:lnTo>
                    <a:pt x="47" y="62"/>
                  </a:lnTo>
                  <a:lnTo>
                    <a:pt x="49" y="62"/>
                  </a:lnTo>
                  <a:lnTo>
                    <a:pt x="51" y="60"/>
                  </a:lnTo>
                  <a:lnTo>
                    <a:pt x="52" y="59"/>
                  </a:lnTo>
                  <a:lnTo>
                    <a:pt x="54" y="57"/>
                  </a:lnTo>
                  <a:lnTo>
                    <a:pt x="55" y="57"/>
                  </a:lnTo>
                  <a:lnTo>
                    <a:pt x="55" y="55"/>
                  </a:lnTo>
                  <a:lnTo>
                    <a:pt x="57" y="54"/>
                  </a:lnTo>
                  <a:lnTo>
                    <a:pt x="59" y="52"/>
                  </a:lnTo>
                  <a:lnTo>
                    <a:pt x="60" y="50"/>
                  </a:lnTo>
                  <a:lnTo>
                    <a:pt x="60" y="49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4"/>
                  </a:lnTo>
                  <a:lnTo>
                    <a:pt x="64" y="42"/>
                  </a:lnTo>
                  <a:lnTo>
                    <a:pt x="64" y="41"/>
                  </a:lnTo>
                  <a:lnTo>
                    <a:pt x="64" y="39"/>
                  </a:lnTo>
                  <a:lnTo>
                    <a:pt x="64" y="37"/>
                  </a:lnTo>
                  <a:lnTo>
                    <a:pt x="65" y="36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29"/>
                  </a:lnTo>
                  <a:lnTo>
                    <a:pt x="64" y="28"/>
                  </a:lnTo>
                  <a:lnTo>
                    <a:pt x="64" y="26"/>
                  </a:lnTo>
                  <a:lnTo>
                    <a:pt x="64" y="24"/>
                  </a:lnTo>
                  <a:lnTo>
                    <a:pt x="64" y="23"/>
                  </a:lnTo>
                  <a:lnTo>
                    <a:pt x="62" y="23"/>
                  </a:lnTo>
                  <a:lnTo>
                    <a:pt x="62" y="21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60" y="16"/>
                  </a:lnTo>
                  <a:lnTo>
                    <a:pt x="59" y="15"/>
                  </a:lnTo>
                  <a:lnTo>
                    <a:pt x="59" y="13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5" y="10"/>
                  </a:lnTo>
                  <a:lnTo>
                    <a:pt x="54" y="10"/>
                  </a:lnTo>
                  <a:lnTo>
                    <a:pt x="52" y="8"/>
                  </a:lnTo>
                  <a:lnTo>
                    <a:pt x="52" y="6"/>
                  </a:lnTo>
                  <a:lnTo>
                    <a:pt x="51" y="6"/>
                  </a:lnTo>
                  <a:lnTo>
                    <a:pt x="49" y="5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3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165"/>
            <p:cNvSpPr>
              <a:spLocks/>
            </p:cNvSpPr>
            <p:nvPr/>
          </p:nvSpPr>
          <p:spPr bwMode="auto">
            <a:xfrm>
              <a:off x="3972" y="3192"/>
              <a:ext cx="40" cy="40"/>
            </a:xfrm>
            <a:custGeom>
              <a:avLst/>
              <a:gdLst>
                <a:gd name="T0" fmla="*/ 1 w 80"/>
                <a:gd name="T1" fmla="*/ 0 h 80"/>
                <a:gd name="T2" fmla="*/ 1 w 80"/>
                <a:gd name="T3" fmla="*/ 1 h 80"/>
                <a:gd name="T4" fmla="*/ 1 w 80"/>
                <a:gd name="T5" fmla="*/ 1 h 80"/>
                <a:gd name="T6" fmla="*/ 1 w 80"/>
                <a:gd name="T7" fmla="*/ 1 h 80"/>
                <a:gd name="T8" fmla="*/ 1 w 80"/>
                <a:gd name="T9" fmla="*/ 1 h 80"/>
                <a:gd name="T10" fmla="*/ 1 w 80"/>
                <a:gd name="T11" fmla="*/ 1 h 80"/>
                <a:gd name="T12" fmla="*/ 1 w 80"/>
                <a:gd name="T13" fmla="*/ 1 h 80"/>
                <a:gd name="T14" fmla="*/ 1 w 80"/>
                <a:gd name="T15" fmla="*/ 1 h 80"/>
                <a:gd name="T16" fmla="*/ 1 w 80"/>
                <a:gd name="T17" fmla="*/ 1 h 80"/>
                <a:gd name="T18" fmla="*/ 1 w 80"/>
                <a:gd name="T19" fmla="*/ 1 h 80"/>
                <a:gd name="T20" fmla="*/ 0 w 80"/>
                <a:gd name="T21" fmla="*/ 1 h 80"/>
                <a:gd name="T22" fmla="*/ 1 w 80"/>
                <a:gd name="T23" fmla="*/ 1 h 80"/>
                <a:gd name="T24" fmla="*/ 1 w 80"/>
                <a:gd name="T25" fmla="*/ 1 h 80"/>
                <a:gd name="T26" fmla="*/ 1 w 80"/>
                <a:gd name="T27" fmla="*/ 1 h 80"/>
                <a:gd name="T28" fmla="*/ 1 w 80"/>
                <a:gd name="T29" fmla="*/ 1 h 80"/>
                <a:gd name="T30" fmla="*/ 1 w 80"/>
                <a:gd name="T31" fmla="*/ 1 h 80"/>
                <a:gd name="T32" fmla="*/ 1 w 80"/>
                <a:gd name="T33" fmla="*/ 1 h 80"/>
                <a:gd name="T34" fmla="*/ 1 w 80"/>
                <a:gd name="T35" fmla="*/ 1 h 80"/>
                <a:gd name="T36" fmla="*/ 1 w 80"/>
                <a:gd name="T37" fmla="*/ 1 h 80"/>
                <a:gd name="T38" fmla="*/ 1 w 80"/>
                <a:gd name="T39" fmla="*/ 1 h 80"/>
                <a:gd name="T40" fmla="*/ 1 w 80"/>
                <a:gd name="T41" fmla="*/ 1 h 80"/>
                <a:gd name="T42" fmla="*/ 1 w 80"/>
                <a:gd name="T43" fmla="*/ 1 h 80"/>
                <a:gd name="T44" fmla="*/ 1 w 80"/>
                <a:gd name="T45" fmla="*/ 1 h 80"/>
                <a:gd name="T46" fmla="*/ 1 w 80"/>
                <a:gd name="T47" fmla="*/ 1 h 80"/>
                <a:gd name="T48" fmla="*/ 1 w 80"/>
                <a:gd name="T49" fmla="*/ 1 h 80"/>
                <a:gd name="T50" fmla="*/ 1 w 80"/>
                <a:gd name="T51" fmla="*/ 1 h 80"/>
                <a:gd name="T52" fmla="*/ 1 w 80"/>
                <a:gd name="T53" fmla="*/ 1 h 80"/>
                <a:gd name="T54" fmla="*/ 1 w 80"/>
                <a:gd name="T55" fmla="*/ 1 h 80"/>
                <a:gd name="T56" fmla="*/ 1 w 80"/>
                <a:gd name="T57" fmla="*/ 1 h 80"/>
                <a:gd name="T58" fmla="*/ 1 w 80"/>
                <a:gd name="T59" fmla="*/ 1 h 80"/>
                <a:gd name="T60" fmla="*/ 1 w 80"/>
                <a:gd name="T61" fmla="*/ 1 h 80"/>
                <a:gd name="T62" fmla="*/ 1 w 80"/>
                <a:gd name="T63" fmla="*/ 1 h 80"/>
                <a:gd name="T64" fmla="*/ 1 w 80"/>
                <a:gd name="T65" fmla="*/ 1 h 80"/>
                <a:gd name="T66" fmla="*/ 1 w 80"/>
                <a:gd name="T67" fmla="*/ 1 h 80"/>
                <a:gd name="T68" fmla="*/ 1 w 80"/>
                <a:gd name="T69" fmla="*/ 1 h 80"/>
                <a:gd name="T70" fmla="*/ 1 w 80"/>
                <a:gd name="T71" fmla="*/ 1 h 80"/>
                <a:gd name="T72" fmla="*/ 1 w 80"/>
                <a:gd name="T73" fmla="*/ 1 h 80"/>
                <a:gd name="T74" fmla="*/ 1 w 80"/>
                <a:gd name="T75" fmla="*/ 1 h 80"/>
                <a:gd name="T76" fmla="*/ 1 w 80"/>
                <a:gd name="T77" fmla="*/ 1 h 80"/>
                <a:gd name="T78" fmla="*/ 1 w 80"/>
                <a:gd name="T79" fmla="*/ 1 h 80"/>
                <a:gd name="T80" fmla="*/ 1 w 80"/>
                <a:gd name="T81" fmla="*/ 1 h 80"/>
                <a:gd name="T82" fmla="*/ 1 w 80"/>
                <a:gd name="T83" fmla="*/ 1 h 80"/>
                <a:gd name="T84" fmla="*/ 1 w 80"/>
                <a:gd name="T85" fmla="*/ 1 h 80"/>
                <a:gd name="T86" fmla="*/ 1 w 80"/>
                <a:gd name="T87" fmla="*/ 0 h 8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0"/>
                <a:gd name="T133" fmla="*/ 0 h 80"/>
                <a:gd name="T134" fmla="*/ 80 w 80"/>
                <a:gd name="T135" fmla="*/ 80 h 8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0" h="80">
                  <a:moveTo>
                    <a:pt x="41" y="0"/>
                  </a:moveTo>
                  <a:lnTo>
                    <a:pt x="39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1" y="5"/>
                  </a:lnTo>
                  <a:lnTo>
                    <a:pt x="20" y="7"/>
                  </a:lnTo>
                  <a:lnTo>
                    <a:pt x="18" y="7"/>
                  </a:lnTo>
                  <a:lnTo>
                    <a:pt x="16" y="9"/>
                  </a:lnTo>
                  <a:lnTo>
                    <a:pt x="15" y="10"/>
                  </a:lnTo>
                  <a:lnTo>
                    <a:pt x="13" y="12"/>
                  </a:lnTo>
                  <a:lnTo>
                    <a:pt x="11" y="13"/>
                  </a:lnTo>
                  <a:lnTo>
                    <a:pt x="10" y="15"/>
                  </a:lnTo>
                  <a:lnTo>
                    <a:pt x="8" y="17"/>
                  </a:lnTo>
                  <a:lnTo>
                    <a:pt x="8" y="18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3" y="25"/>
                  </a:lnTo>
                  <a:lnTo>
                    <a:pt x="3" y="26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0" y="41"/>
                  </a:lnTo>
                  <a:lnTo>
                    <a:pt x="2" y="43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3" y="56"/>
                  </a:lnTo>
                  <a:lnTo>
                    <a:pt x="5" y="57"/>
                  </a:lnTo>
                  <a:lnTo>
                    <a:pt x="5" y="59"/>
                  </a:lnTo>
                  <a:lnTo>
                    <a:pt x="7" y="61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10" y="65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3" y="70"/>
                  </a:lnTo>
                  <a:lnTo>
                    <a:pt x="15" y="70"/>
                  </a:lnTo>
                  <a:lnTo>
                    <a:pt x="16" y="72"/>
                  </a:lnTo>
                  <a:lnTo>
                    <a:pt x="18" y="74"/>
                  </a:lnTo>
                  <a:lnTo>
                    <a:pt x="20" y="75"/>
                  </a:lnTo>
                  <a:lnTo>
                    <a:pt x="21" y="75"/>
                  </a:lnTo>
                  <a:lnTo>
                    <a:pt x="23" y="77"/>
                  </a:lnTo>
                  <a:lnTo>
                    <a:pt x="24" y="77"/>
                  </a:lnTo>
                  <a:lnTo>
                    <a:pt x="26" y="79"/>
                  </a:lnTo>
                  <a:lnTo>
                    <a:pt x="29" y="79"/>
                  </a:lnTo>
                  <a:lnTo>
                    <a:pt x="31" y="79"/>
                  </a:lnTo>
                  <a:lnTo>
                    <a:pt x="33" y="80"/>
                  </a:lnTo>
                  <a:lnTo>
                    <a:pt x="34" y="80"/>
                  </a:lnTo>
                  <a:lnTo>
                    <a:pt x="36" y="80"/>
                  </a:lnTo>
                  <a:lnTo>
                    <a:pt x="39" y="80"/>
                  </a:lnTo>
                  <a:lnTo>
                    <a:pt x="41" y="80"/>
                  </a:lnTo>
                  <a:lnTo>
                    <a:pt x="42" y="80"/>
                  </a:lnTo>
                  <a:lnTo>
                    <a:pt x="44" y="80"/>
                  </a:lnTo>
                  <a:lnTo>
                    <a:pt x="47" y="80"/>
                  </a:lnTo>
                  <a:lnTo>
                    <a:pt x="49" y="80"/>
                  </a:lnTo>
                  <a:lnTo>
                    <a:pt x="50" y="79"/>
                  </a:lnTo>
                  <a:lnTo>
                    <a:pt x="52" y="79"/>
                  </a:lnTo>
                  <a:lnTo>
                    <a:pt x="54" y="79"/>
                  </a:lnTo>
                  <a:lnTo>
                    <a:pt x="55" y="77"/>
                  </a:lnTo>
                  <a:lnTo>
                    <a:pt x="57" y="77"/>
                  </a:lnTo>
                  <a:lnTo>
                    <a:pt x="60" y="75"/>
                  </a:lnTo>
                  <a:lnTo>
                    <a:pt x="62" y="75"/>
                  </a:lnTo>
                  <a:lnTo>
                    <a:pt x="63" y="74"/>
                  </a:lnTo>
                  <a:lnTo>
                    <a:pt x="63" y="72"/>
                  </a:lnTo>
                  <a:lnTo>
                    <a:pt x="65" y="70"/>
                  </a:lnTo>
                  <a:lnTo>
                    <a:pt x="67" y="70"/>
                  </a:lnTo>
                  <a:lnTo>
                    <a:pt x="68" y="69"/>
                  </a:lnTo>
                  <a:lnTo>
                    <a:pt x="70" y="67"/>
                  </a:lnTo>
                  <a:lnTo>
                    <a:pt x="72" y="65"/>
                  </a:lnTo>
                  <a:lnTo>
                    <a:pt x="72" y="64"/>
                  </a:lnTo>
                  <a:lnTo>
                    <a:pt x="73" y="62"/>
                  </a:lnTo>
                  <a:lnTo>
                    <a:pt x="75" y="61"/>
                  </a:lnTo>
                  <a:lnTo>
                    <a:pt x="75" y="59"/>
                  </a:lnTo>
                  <a:lnTo>
                    <a:pt x="76" y="57"/>
                  </a:lnTo>
                  <a:lnTo>
                    <a:pt x="76" y="56"/>
                  </a:lnTo>
                  <a:lnTo>
                    <a:pt x="78" y="54"/>
                  </a:lnTo>
                  <a:lnTo>
                    <a:pt x="78" y="52"/>
                  </a:lnTo>
                  <a:lnTo>
                    <a:pt x="80" y="51"/>
                  </a:lnTo>
                  <a:lnTo>
                    <a:pt x="80" y="49"/>
                  </a:lnTo>
                  <a:lnTo>
                    <a:pt x="80" y="46"/>
                  </a:lnTo>
                  <a:lnTo>
                    <a:pt x="80" y="44"/>
                  </a:lnTo>
                  <a:lnTo>
                    <a:pt x="80" y="43"/>
                  </a:lnTo>
                  <a:lnTo>
                    <a:pt x="80" y="41"/>
                  </a:lnTo>
                  <a:lnTo>
                    <a:pt x="80" y="38"/>
                  </a:lnTo>
                  <a:lnTo>
                    <a:pt x="80" y="36"/>
                  </a:lnTo>
                  <a:lnTo>
                    <a:pt x="80" y="35"/>
                  </a:lnTo>
                  <a:lnTo>
                    <a:pt x="80" y="33"/>
                  </a:lnTo>
                  <a:lnTo>
                    <a:pt x="80" y="31"/>
                  </a:lnTo>
                  <a:lnTo>
                    <a:pt x="78" y="28"/>
                  </a:lnTo>
                  <a:lnTo>
                    <a:pt x="78" y="26"/>
                  </a:lnTo>
                  <a:lnTo>
                    <a:pt x="76" y="25"/>
                  </a:lnTo>
                  <a:lnTo>
                    <a:pt x="76" y="23"/>
                  </a:lnTo>
                  <a:lnTo>
                    <a:pt x="75" y="22"/>
                  </a:lnTo>
                  <a:lnTo>
                    <a:pt x="75" y="20"/>
                  </a:lnTo>
                  <a:lnTo>
                    <a:pt x="73" y="18"/>
                  </a:lnTo>
                  <a:lnTo>
                    <a:pt x="72" y="17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8" y="12"/>
                  </a:lnTo>
                  <a:lnTo>
                    <a:pt x="67" y="12"/>
                  </a:lnTo>
                  <a:lnTo>
                    <a:pt x="65" y="10"/>
                  </a:lnTo>
                  <a:lnTo>
                    <a:pt x="63" y="9"/>
                  </a:lnTo>
                  <a:lnTo>
                    <a:pt x="63" y="7"/>
                  </a:lnTo>
                  <a:lnTo>
                    <a:pt x="62" y="7"/>
                  </a:lnTo>
                  <a:lnTo>
                    <a:pt x="60" y="5"/>
                  </a:lnTo>
                  <a:lnTo>
                    <a:pt x="57" y="5"/>
                  </a:lnTo>
                  <a:lnTo>
                    <a:pt x="55" y="4"/>
                  </a:lnTo>
                  <a:lnTo>
                    <a:pt x="54" y="4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9" y="2"/>
                  </a:lnTo>
                  <a:lnTo>
                    <a:pt x="47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166"/>
            <p:cNvSpPr>
              <a:spLocks/>
            </p:cNvSpPr>
            <p:nvPr/>
          </p:nvSpPr>
          <p:spPr bwMode="auto">
            <a:xfrm>
              <a:off x="3722" y="3950"/>
              <a:ext cx="33" cy="32"/>
            </a:xfrm>
            <a:custGeom>
              <a:avLst/>
              <a:gdLst>
                <a:gd name="T0" fmla="*/ 1 w 65"/>
                <a:gd name="T1" fmla="*/ 0 h 66"/>
                <a:gd name="T2" fmla="*/ 1 w 65"/>
                <a:gd name="T3" fmla="*/ 0 h 66"/>
                <a:gd name="T4" fmla="*/ 1 w 65"/>
                <a:gd name="T5" fmla="*/ 0 h 66"/>
                <a:gd name="T6" fmla="*/ 1 w 65"/>
                <a:gd name="T7" fmla="*/ 0 h 66"/>
                <a:gd name="T8" fmla="*/ 1 w 65"/>
                <a:gd name="T9" fmla="*/ 0 h 66"/>
                <a:gd name="T10" fmla="*/ 1 w 65"/>
                <a:gd name="T11" fmla="*/ 0 h 66"/>
                <a:gd name="T12" fmla="*/ 1 w 65"/>
                <a:gd name="T13" fmla="*/ 0 h 66"/>
                <a:gd name="T14" fmla="*/ 1 w 65"/>
                <a:gd name="T15" fmla="*/ 0 h 66"/>
                <a:gd name="T16" fmla="*/ 1 w 65"/>
                <a:gd name="T17" fmla="*/ 0 h 66"/>
                <a:gd name="T18" fmla="*/ 0 w 65"/>
                <a:gd name="T19" fmla="*/ 0 h 66"/>
                <a:gd name="T20" fmla="*/ 0 w 65"/>
                <a:gd name="T21" fmla="*/ 0 h 66"/>
                <a:gd name="T22" fmla="*/ 0 w 65"/>
                <a:gd name="T23" fmla="*/ 0 h 66"/>
                <a:gd name="T24" fmla="*/ 0 w 65"/>
                <a:gd name="T25" fmla="*/ 0 h 66"/>
                <a:gd name="T26" fmla="*/ 1 w 65"/>
                <a:gd name="T27" fmla="*/ 0 h 66"/>
                <a:gd name="T28" fmla="*/ 1 w 65"/>
                <a:gd name="T29" fmla="*/ 0 h 66"/>
                <a:gd name="T30" fmla="*/ 1 w 65"/>
                <a:gd name="T31" fmla="*/ 0 h 66"/>
                <a:gd name="T32" fmla="*/ 1 w 65"/>
                <a:gd name="T33" fmla="*/ 0 h 66"/>
                <a:gd name="T34" fmla="*/ 1 w 65"/>
                <a:gd name="T35" fmla="*/ 0 h 66"/>
                <a:gd name="T36" fmla="*/ 1 w 65"/>
                <a:gd name="T37" fmla="*/ 0 h 66"/>
                <a:gd name="T38" fmla="*/ 1 w 65"/>
                <a:gd name="T39" fmla="*/ 0 h 66"/>
                <a:gd name="T40" fmla="*/ 1 w 65"/>
                <a:gd name="T41" fmla="*/ 0 h 66"/>
                <a:gd name="T42" fmla="*/ 1 w 65"/>
                <a:gd name="T43" fmla="*/ 0 h 66"/>
                <a:gd name="T44" fmla="*/ 1 w 65"/>
                <a:gd name="T45" fmla="*/ 0 h 66"/>
                <a:gd name="T46" fmla="*/ 1 w 65"/>
                <a:gd name="T47" fmla="*/ 0 h 66"/>
                <a:gd name="T48" fmla="*/ 1 w 65"/>
                <a:gd name="T49" fmla="*/ 0 h 66"/>
                <a:gd name="T50" fmla="*/ 1 w 65"/>
                <a:gd name="T51" fmla="*/ 0 h 66"/>
                <a:gd name="T52" fmla="*/ 1 w 65"/>
                <a:gd name="T53" fmla="*/ 0 h 66"/>
                <a:gd name="T54" fmla="*/ 1 w 65"/>
                <a:gd name="T55" fmla="*/ 0 h 66"/>
                <a:gd name="T56" fmla="*/ 1 w 65"/>
                <a:gd name="T57" fmla="*/ 0 h 66"/>
                <a:gd name="T58" fmla="*/ 1 w 65"/>
                <a:gd name="T59" fmla="*/ 0 h 66"/>
                <a:gd name="T60" fmla="*/ 1 w 65"/>
                <a:gd name="T61" fmla="*/ 0 h 66"/>
                <a:gd name="T62" fmla="*/ 1 w 65"/>
                <a:gd name="T63" fmla="*/ 0 h 66"/>
                <a:gd name="T64" fmla="*/ 1 w 65"/>
                <a:gd name="T65" fmla="*/ 0 h 66"/>
                <a:gd name="T66" fmla="*/ 1 w 65"/>
                <a:gd name="T67" fmla="*/ 0 h 66"/>
                <a:gd name="T68" fmla="*/ 1 w 65"/>
                <a:gd name="T69" fmla="*/ 0 h 66"/>
                <a:gd name="T70" fmla="*/ 1 w 65"/>
                <a:gd name="T71" fmla="*/ 0 h 66"/>
                <a:gd name="T72" fmla="*/ 1 w 65"/>
                <a:gd name="T73" fmla="*/ 0 h 66"/>
                <a:gd name="T74" fmla="*/ 1 w 65"/>
                <a:gd name="T75" fmla="*/ 0 h 66"/>
                <a:gd name="T76" fmla="*/ 1 w 65"/>
                <a:gd name="T77" fmla="*/ 0 h 66"/>
                <a:gd name="T78" fmla="*/ 1 w 65"/>
                <a:gd name="T79" fmla="*/ 0 h 66"/>
                <a:gd name="T80" fmla="*/ 1 w 65"/>
                <a:gd name="T81" fmla="*/ 0 h 66"/>
                <a:gd name="T82" fmla="*/ 1 w 65"/>
                <a:gd name="T83" fmla="*/ 0 h 66"/>
                <a:gd name="T84" fmla="*/ 1 w 65"/>
                <a:gd name="T85" fmla="*/ 0 h 66"/>
                <a:gd name="T86" fmla="*/ 1 w 65"/>
                <a:gd name="T87" fmla="*/ 0 h 66"/>
                <a:gd name="T88" fmla="*/ 1 w 65"/>
                <a:gd name="T89" fmla="*/ 0 h 6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5"/>
                <a:gd name="T136" fmla="*/ 0 h 66"/>
                <a:gd name="T137" fmla="*/ 65 w 65"/>
                <a:gd name="T138" fmla="*/ 66 h 6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5" h="66">
                  <a:moveTo>
                    <a:pt x="32" y="33"/>
                  </a:moveTo>
                  <a:lnTo>
                    <a:pt x="32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3" y="2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8" y="4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3" y="7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1"/>
                  </a:lnTo>
                  <a:lnTo>
                    <a:pt x="2" y="43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3" y="48"/>
                  </a:lnTo>
                  <a:lnTo>
                    <a:pt x="3" y="49"/>
                  </a:lnTo>
                  <a:lnTo>
                    <a:pt x="5" y="51"/>
                  </a:lnTo>
                  <a:lnTo>
                    <a:pt x="5" y="53"/>
                  </a:lnTo>
                  <a:lnTo>
                    <a:pt x="6" y="53"/>
                  </a:lnTo>
                  <a:lnTo>
                    <a:pt x="6" y="54"/>
                  </a:lnTo>
                  <a:lnTo>
                    <a:pt x="8" y="56"/>
                  </a:lnTo>
                  <a:lnTo>
                    <a:pt x="10" y="57"/>
                  </a:lnTo>
                  <a:lnTo>
                    <a:pt x="11" y="59"/>
                  </a:lnTo>
                  <a:lnTo>
                    <a:pt x="13" y="59"/>
                  </a:lnTo>
                  <a:lnTo>
                    <a:pt x="15" y="61"/>
                  </a:lnTo>
                  <a:lnTo>
                    <a:pt x="15" y="62"/>
                  </a:lnTo>
                  <a:lnTo>
                    <a:pt x="16" y="62"/>
                  </a:lnTo>
                  <a:lnTo>
                    <a:pt x="18" y="62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3" y="66"/>
                  </a:lnTo>
                  <a:lnTo>
                    <a:pt x="24" y="66"/>
                  </a:lnTo>
                  <a:lnTo>
                    <a:pt x="26" y="66"/>
                  </a:lnTo>
                  <a:lnTo>
                    <a:pt x="28" y="66"/>
                  </a:lnTo>
                  <a:lnTo>
                    <a:pt x="29" y="66"/>
                  </a:lnTo>
                  <a:lnTo>
                    <a:pt x="31" y="66"/>
                  </a:lnTo>
                  <a:lnTo>
                    <a:pt x="32" y="66"/>
                  </a:lnTo>
                  <a:lnTo>
                    <a:pt x="34" y="66"/>
                  </a:lnTo>
                  <a:lnTo>
                    <a:pt x="36" y="66"/>
                  </a:lnTo>
                  <a:lnTo>
                    <a:pt x="37" y="66"/>
                  </a:lnTo>
                  <a:lnTo>
                    <a:pt x="39" y="66"/>
                  </a:lnTo>
                  <a:lnTo>
                    <a:pt x="41" y="66"/>
                  </a:lnTo>
                  <a:lnTo>
                    <a:pt x="42" y="66"/>
                  </a:lnTo>
                  <a:lnTo>
                    <a:pt x="44" y="64"/>
                  </a:lnTo>
                  <a:lnTo>
                    <a:pt x="45" y="62"/>
                  </a:lnTo>
                  <a:lnTo>
                    <a:pt x="47" y="62"/>
                  </a:lnTo>
                  <a:lnTo>
                    <a:pt x="49" y="62"/>
                  </a:lnTo>
                  <a:lnTo>
                    <a:pt x="50" y="61"/>
                  </a:lnTo>
                  <a:lnTo>
                    <a:pt x="52" y="59"/>
                  </a:lnTo>
                  <a:lnTo>
                    <a:pt x="54" y="57"/>
                  </a:lnTo>
                  <a:lnTo>
                    <a:pt x="55" y="57"/>
                  </a:lnTo>
                  <a:lnTo>
                    <a:pt x="55" y="56"/>
                  </a:lnTo>
                  <a:lnTo>
                    <a:pt x="57" y="54"/>
                  </a:lnTo>
                  <a:lnTo>
                    <a:pt x="58" y="53"/>
                  </a:lnTo>
                  <a:lnTo>
                    <a:pt x="60" y="51"/>
                  </a:lnTo>
                  <a:lnTo>
                    <a:pt x="60" y="49"/>
                  </a:lnTo>
                  <a:lnTo>
                    <a:pt x="62" y="48"/>
                  </a:lnTo>
                  <a:lnTo>
                    <a:pt x="62" y="46"/>
                  </a:lnTo>
                  <a:lnTo>
                    <a:pt x="62" y="44"/>
                  </a:lnTo>
                  <a:lnTo>
                    <a:pt x="63" y="43"/>
                  </a:lnTo>
                  <a:lnTo>
                    <a:pt x="63" y="41"/>
                  </a:lnTo>
                  <a:lnTo>
                    <a:pt x="63" y="40"/>
                  </a:lnTo>
                  <a:lnTo>
                    <a:pt x="63" y="38"/>
                  </a:lnTo>
                  <a:lnTo>
                    <a:pt x="65" y="36"/>
                  </a:lnTo>
                  <a:lnTo>
                    <a:pt x="65" y="35"/>
                  </a:lnTo>
                  <a:lnTo>
                    <a:pt x="65" y="33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3" y="28"/>
                  </a:lnTo>
                  <a:lnTo>
                    <a:pt x="63" y="26"/>
                  </a:lnTo>
                  <a:lnTo>
                    <a:pt x="63" y="25"/>
                  </a:lnTo>
                  <a:lnTo>
                    <a:pt x="63" y="23"/>
                  </a:lnTo>
                  <a:lnTo>
                    <a:pt x="62" y="23"/>
                  </a:lnTo>
                  <a:lnTo>
                    <a:pt x="62" y="22"/>
                  </a:lnTo>
                  <a:lnTo>
                    <a:pt x="62" y="20"/>
                  </a:lnTo>
                  <a:lnTo>
                    <a:pt x="60" y="18"/>
                  </a:lnTo>
                  <a:lnTo>
                    <a:pt x="60" y="17"/>
                  </a:lnTo>
                  <a:lnTo>
                    <a:pt x="58" y="15"/>
                  </a:lnTo>
                  <a:lnTo>
                    <a:pt x="58" y="13"/>
                  </a:lnTo>
                  <a:lnTo>
                    <a:pt x="57" y="13"/>
                  </a:lnTo>
                  <a:lnTo>
                    <a:pt x="55" y="12"/>
                  </a:lnTo>
                  <a:lnTo>
                    <a:pt x="55" y="10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2" y="7"/>
                  </a:lnTo>
                  <a:lnTo>
                    <a:pt x="50" y="7"/>
                  </a:lnTo>
                  <a:lnTo>
                    <a:pt x="49" y="5"/>
                  </a:lnTo>
                  <a:lnTo>
                    <a:pt x="47" y="5"/>
                  </a:lnTo>
                  <a:lnTo>
                    <a:pt x="45" y="4"/>
                  </a:lnTo>
                  <a:lnTo>
                    <a:pt x="44" y="4"/>
                  </a:lnTo>
                  <a:lnTo>
                    <a:pt x="42" y="2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Freeform 167"/>
            <p:cNvSpPr>
              <a:spLocks/>
            </p:cNvSpPr>
            <p:nvPr/>
          </p:nvSpPr>
          <p:spPr bwMode="auto">
            <a:xfrm>
              <a:off x="3728" y="3940"/>
              <a:ext cx="40" cy="40"/>
            </a:xfrm>
            <a:custGeom>
              <a:avLst/>
              <a:gdLst>
                <a:gd name="T0" fmla="*/ 1 w 80"/>
                <a:gd name="T1" fmla="*/ 0 h 80"/>
                <a:gd name="T2" fmla="*/ 1 w 80"/>
                <a:gd name="T3" fmla="*/ 1 h 80"/>
                <a:gd name="T4" fmla="*/ 1 w 80"/>
                <a:gd name="T5" fmla="*/ 1 h 80"/>
                <a:gd name="T6" fmla="*/ 1 w 80"/>
                <a:gd name="T7" fmla="*/ 1 h 80"/>
                <a:gd name="T8" fmla="*/ 1 w 80"/>
                <a:gd name="T9" fmla="*/ 1 h 80"/>
                <a:gd name="T10" fmla="*/ 1 w 80"/>
                <a:gd name="T11" fmla="*/ 1 h 80"/>
                <a:gd name="T12" fmla="*/ 1 w 80"/>
                <a:gd name="T13" fmla="*/ 1 h 80"/>
                <a:gd name="T14" fmla="*/ 1 w 80"/>
                <a:gd name="T15" fmla="*/ 1 h 80"/>
                <a:gd name="T16" fmla="*/ 1 w 80"/>
                <a:gd name="T17" fmla="*/ 1 h 80"/>
                <a:gd name="T18" fmla="*/ 1 w 80"/>
                <a:gd name="T19" fmla="*/ 1 h 80"/>
                <a:gd name="T20" fmla="*/ 0 w 80"/>
                <a:gd name="T21" fmla="*/ 1 h 80"/>
                <a:gd name="T22" fmla="*/ 1 w 80"/>
                <a:gd name="T23" fmla="*/ 1 h 80"/>
                <a:gd name="T24" fmla="*/ 1 w 80"/>
                <a:gd name="T25" fmla="*/ 1 h 80"/>
                <a:gd name="T26" fmla="*/ 1 w 80"/>
                <a:gd name="T27" fmla="*/ 1 h 80"/>
                <a:gd name="T28" fmla="*/ 1 w 80"/>
                <a:gd name="T29" fmla="*/ 1 h 80"/>
                <a:gd name="T30" fmla="*/ 1 w 80"/>
                <a:gd name="T31" fmla="*/ 1 h 80"/>
                <a:gd name="T32" fmla="*/ 1 w 80"/>
                <a:gd name="T33" fmla="*/ 1 h 80"/>
                <a:gd name="T34" fmla="*/ 1 w 80"/>
                <a:gd name="T35" fmla="*/ 1 h 80"/>
                <a:gd name="T36" fmla="*/ 1 w 80"/>
                <a:gd name="T37" fmla="*/ 1 h 80"/>
                <a:gd name="T38" fmla="*/ 1 w 80"/>
                <a:gd name="T39" fmla="*/ 1 h 80"/>
                <a:gd name="T40" fmla="*/ 1 w 80"/>
                <a:gd name="T41" fmla="*/ 1 h 80"/>
                <a:gd name="T42" fmla="*/ 1 w 80"/>
                <a:gd name="T43" fmla="*/ 1 h 80"/>
                <a:gd name="T44" fmla="*/ 1 w 80"/>
                <a:gd name="T45" fmla="*/ 1 h 80"/>
                <a:gd name="T46" fmla="*/ 1 w 80"/>
                <a:gd name="T47" fmla="*/ 1 h 80"/>
                <a:gd name="T48" fmla="*/ 1 w 80"/>
                <a:gd name="T49" fmla="*/ 1 h 80"/>
                <a:gd name="T50" fmla="*/ 1 w 80"/>
                <a:gd name="T51" fmla="*/ 1 h 80"/>
                <a:gd name="T52" fmla="*/ 1 w 80"/>
                <a:gd name="T53" fmla="*/ 1 h 80"/>
                <a:gd name="T54" fmla="*/ 1 w 80"/>
                <a:gd name="T55" fmla="*/ 1 h 80"/>
                <a:gd name="T56" fmla="*/ 1 w 80"/>
                <a:gd name="T57" fmla="*/ 1 h 80"/>
                <a:gd name="T58" fmla="*/ 1 w 80"/>
                <a:gd name="T59" fmla="*/ 1 h 80"/>
                <a:gd name="T60" fmla="*/ 1 w 80"/>
                <a:gd name="T61" fmla="*/ 1 h 80"/>
                <a:gd name="T62" fmla="*/ 1 w 80"/>
                <a:gd name="T63" fmla="*/ 1 h 80"/>
                <a:gd name="T64" fmla="*/ 1 w 80"/>
                <a:gd name="T65" fmla="*/ 1 h 80"/>
                <a:gd name="T66" fmla="*/ 1 w 80"/>
                <a:gd name="T67" fmla="*/ 1 h 80"/>
                <a:gd name="T68" fmla="*/ 1 w 80"/>
                <a:gd name="T69" fmla="*/ 1 h 80"/>
                <a:gd name="T70" fmla="*/ 1 w 80"/>
                <a:gd name="T71" fmla="*/ 1 h 80"/>
                <a:gd name="T72" fmla="*/ 1 w 80"/>
                <a:gd name="T73" fmla="*/ 1 h 80"/>
                <a:gd name="T74" fmla="*/ 1 w 80"/>
                <a:gd name="T75" fmla="*/ 1 h 80"/>
                <a:gd name="T76" fmla="*/ 1 w 80"/>
                <a:gd name="T77" fmla="*/ 1 h 80"/>
                <a:gd name="T78" fmla="*/ 1 w 80"/>
                <a:gd name="T79" fmla="*/ 1 h 80"/>
                <a:gd name="T80" fmla="*/ 1 w 80"/>
                <a:gd name="T81" fmla="*/ 1 h 80"/>
                <a:gd name="T82" fmla="*/ 1 w 80"/>
                <a:gd name="T83" fmla="*/ 1 h 80"/>
                <a:gd name="T84" fmla="*/ 1 w 80"/>
                <a:gd name="T85" fmla="*/ 1 h 80"/>
                <a:gd name="T86" fmla="*/ 1 w 80"/>
                <a:gd name="T87" fmla="*/ 0 h 8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0"/>
                <a:gd name="T133" fmla="*/ 0 h 80"/>
                <a:gd name="T134" fmla="*/ 80 w 80"/>
                <a:gd name="T135" fmla="*/ 80 h 8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0" h="80">
                  <a:moveTo>
                    <a:pt x="41" y="0"/>
                  </a:moveTo>
                  <a:lnTo>
                    <a:pt x="39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8" y="3"/>
                  </a:lnTo>
                  <a:lnTo>
                    <a:pt x="25" y="3"/>
                  </a:lnTo>
                  <a:lnTo>
                    <a:pt x="23" y="5"/>
                  </a:lnTo>
                  <a:lnTo>
                    <a:pt x="21" y="5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7" y="8"/>
                  </a:lnTo>
                  <a:lnTo>
                    <a:pt x="15" y="10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5"/>
                  </a:lnTo>
                  <a:lnTo>
                    <a:pt x="8" y="16"/>
                  </a:lnTo>
                  <a:lnTo>
                    <a:pt x="8" y="18"/>
                  </a:lnTo>
                  <a:lnTo>
                    <a:pt x="7" y="19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28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0" y="41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49"/>
                  </a:lnTo>
                  <a:lnTo>
                    <a:pt x="2" y="50"/>
                  </a:lnTo>
                  <a:lnTo>
                    <a:pt x="4" y="52"/>
                  </a:lnTo>
                  <a:lnTo>
                    <a:pt x="4" y="54"/>
                  </a:lnTo>
                  <a:lnTo>
                    <a:pt x="4" y="55"/>
                  </a:lnTo>
                  <a:lnTo>
                    <a:pt x="5" y="57"/>
                  </a:lnTo>
                  <a:lnTo>
                    <a:pt x="5" y="59"/>
                  </a:lnTo>
                  <a:lnTo>
                    <a:pt x="7" y="60"/>
                  </a:lnTo>
                  <a:lnTo>
                    <a:pt x="8" y="62"/>
                  </a:lnTo>
                  <a:lnTo>
                    <a:pt x="8" y="63"/>
                  </a:lnTo>
                  <a:lnTo>
                    <a:pt x="10" y="65"/>
                  </a:lnTo>
                  <a:lnTo>
                    <a:pt x="12" y="67"/>
                  </a:lnTo>
                  <a:lnTo>
                    <a:pt x="13" y="68"/>
                  </a:lnTo>
                  <a:lnTo>
                    <a:pt x="13" y="70"/>
                  </a:lnTo>
                  <a:lnTo>
                    <a:pt x="15" y="70"/>
                  </a:lnTo>
                  <a:lnTo>
                    <a:pt x="17" y="72"/>
                  </a:lnTo>
                  <a:lnTo>
                    <a:pt x="18" y="73"/>
                  </a:lnTo>
                  <a:lnTo>
                    <a:pt x="20" y="75"/>
                  </a:lnTo>
                  <a:lnTo>
                    <a:pt x="21" y="75"/>
                  </a:lnTo>
                  <a:lnTo>
                    <a:pt x="23" y="76"/>
                  </a:lnTo>
                  <a:lnTo>
                    <a:pt x="25" y="76"/>
                  </a:lnTo>
                  <a:lnTo>
                    <a:pt x="28" y="78"/>
                  </a:lnTo>
                  <a:lnTo>
                    <a:pt x="30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4" y="80"/>
                  </a:lnTo>
                  <a:lnTo>
                    <a:pt x="36" y="80"/>
                  </a:lnTo>
                  <a:lnTo>
                    <a:pt x="39" y="80"/>
                  </a:lnTo>
                  <a:lnTo>
                    <a:pt x="41" y="80"/>
                  </a:lnTo>
                  <a:lnTo>
                    <a:pt x="43" y="80"/>
                  </a:lnTo>
                  <a:lnTo>
                    <a:pt x="44" y="80"/>
                  </a:lnTo>
                  <a:lnTo>
                    <a:pt x="47" y="80"/>
                  </a:lnTo>
                  <a:lnTo>
                    <a:pt x="49" y="80"/>
                  </a:lnTo>
                  <a:lnTo>
                    <a:pt x="51" y="78"/>
                  </a:lnTo>
                  <a:lnTo>
                    <a:pt x="52" y="78"/>
                  </a:lnTo>
                  <a:lnTo>
                    <a:pt x="54" y="78"/>
                  </a:lnTo>
                  <a:lnTo>
                    <a:pt x="56" y="76"/>
                  </a:lnTo>
                  <a:lnTo>
                    <a:pt x="57" y="76"/>
                  </a:lnTo>
                  <a:lnTo>
                    <a:pt x="60" y="75"/>
                  </a:lnTo>
                  <a:lnTo>
                    <a:pt x="62" y="75"/>
                  </a:lnTo>
                  <a:lnTo>
                    <a:pt x="64" y="73"/>
                  </a:lnTo>
                  <a:lnTo>
                    <a:pt x="64" y="72"/>
                  </a:lnTo>
                  <a:lnTo>
                    <a:pt x="65" y="70"/>
                  </a:lnTo>
                  <a:lnTo>
                    <a:pt x="67" y="70"/>
                  </a:lnTo>
                  <a:lnTo>
                    <a:pt x="69" y="68"/>
                  </a:lnTo>
                  <a:lnTo>
                    <a:pt x="70" y="67"/>
                  </a:lnTo>
                  <a:lnTo>
                    <a:pt x="72" y="65"/>
                  </a:lnTo>
                  <a:lnTo>
                    <a:pt x="72" y="63"/>
                  </a:lnTo>
                  <a:lnTo>
                    <a:pt x="73" y="62"/>
                  </a:lnTo>
                  <a:lnTo>
                    <a:pt x="75" y="60"/>
                  </a:lnTo>
                  <a:lnTo>
                    <a:pt x="75" y="59"/>
                  </a:lnTo>
                  <a:lnTo>
                    <a:pt x="77" y="57"/>
                  </a:lnTo>
                  <a:lnTo>
                    <a:pt x="77" y="55"/>
                  </a:lnTo>
                  <a:lnTo>
                    <a:pt x="78" y="54"/>
                  </a:lnTo>
                  <a:lnTo>
                    <a:pt x="78" y="52"/>
                  </a:lnTo>
                  <a:lnTo>
                    <a:pt x="80" y="50"/>
                  </a:lnTo>
                  <a:lnTo>
                    <a:pt x="80" y="49"/>
                  </a:lnTo>
                  <a:lnTo>
                    <a:pt x="80" y="45"/>
                  </a:lnTo>
                  <a:lnTo>
                    <a:pt x="80" y="44"/>
                  </a:lnTo>
                  <a:lnTo>
                    <a:pt x="80" y="42"/>
                  </a:lnTo>
                  <a:lnTo>
                    <a:pt x="80" y="41"/>
                  </a:lnTo>
                  <a:lnTo>
                    <a:pt x="80" y="37"/>
                  </a:lnTo>
                  <a:lnTo>
                    <a:pt x="80" y="36"/>
                  </a:lnTo>
                  <a:lnTo>
                    <a:pt x="80" y="34"/>
                  </a:lnTo>
                  <a:lnTo>
                    <a:pt x="80" y="32"/>
                  </a:lnTo>
                  <a:lnTo>
                    <a:pt x="80" y="31"/>
                  </a:lnTo>
                  <a:lnTo>
                    <a:pt x="78" y="28"/>
                  </a:lnTo>
                  <a:lnTo>
                    <a:pt x="78" y="26"/>
                  </a:lnTo>
                  <a:lnTo>
                    <a:pt x="77" y="24"/>
                  </a:lnTo>
                  <a:lnTo>
                    <a:pt x="77" y="23"/>
                  </a:lnTo>
                  <a:lnTo>
                    <a:pt x="75" y="21"/>
                  </a:lnTo>
                  <a:lnTo>
                    <a:pt x="75" y="19"/>
                  </a:lnTo>
                  <a:lnTo>
                    <a:pt x="73" y="18"/>
                  </a:lnTo>
                  <a:lnTo>
                    <a:pt x="72" y="16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9" y="11"/>
                  </a:lnTo>
                  <a:lnTo>
                    <a:pt x="67" y="11"/>
                  </a:lnTo>
                  <a:lnTo>
                    <a:pt x="65" y="10"/>
                  </a:lnTo>
                  <a:lnTo>
                    <a:pt x="64" y="8"/>
                  </a:lnTo>
                  <a:lnTo>
                    <a:pt x="64" y="6"/>
                  </a:lnTo>
                  <a:lnTo>
                    <a:pt x="62" y="6"/>
                  </a:lnTo>
                  <a:lnTo>
                    <a:pt x="60" y="5"/>
                  </a:lnTo>
                  <a:lnTo>
                    <a:pt x="57" y="5"/>
                  </a:lnTo>
                  <a:lnTo>
                    <a:pt x="56" y="3"/>
                  </a:lnTo>
                  <a:lnTo>
                    <a:pt x="54" y="3"/>
                  </a:lnTo>
                  <a:lnTo>
                    <a:pt x="52" y="2"/>
                  </a:lnTo>
                  <a:lnTo>
                    <a:pt x="51" y="2"/>
                  </a:lnTo>
                  <a:lnTo>
                    <a:pt x="49" y="2"/>
                  </a:lnTo>
                  <a:lnTo>
                    <a:pt x="47" y="2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1" name="Line 168"/>
            <p:cNvSpPr>
              <a:spLocks noChangeShapeType="1"/>
            </p:cNvSpPr>
            <p:nvPr/>
          </p:nvSpPr>
          <p:spPr bwMode="auto">
            <a:xfrm>
              <a:off x="4844" y="2779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Line 169"/>
            <p:cNvSpPr>
              <a:spLocks noChangeShapeType="1"/>
            </p:cNvSpPr>
            <p:nvPr/>
          </p:nvSpPr>
          <p:spPr bwMode="auto">
            <a:xfrm>
              <a:off x="4844" y="2486"/>
              <a:ext cx="163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Line 170"/>
            <p:cNvSpPr>
              <a:spLocks noChangeShapeType="1"/>
            </p:cNvSpPr>
            <p:nvPr/>
          </p:nvSpPr>
          <p:spPr bwMode="auto">
            <a:xfrm flipH="1">
              <a:off x="5202" y="2632"/>
              <a:ext cx="32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171"/>
            <p:cNvSpPr>
              <a:spLocks/>
            </p:cNvSpPr>
            <p:nvPr/>
          </p:nvSpPr>
          <p:spPr bwMode="auto">
            <a:xfrm>
              <a:off x="5007" y="2404"/>
              <a:ext cx="195" cy="456"/>
            </a:xfrm>
            <a:custGeom>
              <a:avLst/>
              <a:gdLst>
                <a:gd name="T0" fmla="*/ 1 w 390"/>
                <a:gd name="T1" fmla="*/ 1 h 911"/>
                <a:gd name="T2" fmla="*/ 1 w 390"/>
                <a:gd name="T3" fmla="*/ 1 h 911"/>
                <a:gd name="T4" fmla="*/ 0 w 390"/>
                <a:gd name="T5" fmla="*/ 1 h 911"/>
                <a:gd name="T6" fmla="*/ 0 w 390"/>
                <a:gd name="T7" fmla="*/ 0 h 911"/>
                <a:gd name="T8" fmla="*/ 1 w 390"/>
                <a:gd name="T9" fmla="*/ 1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0"/>
                <a:gd name="T16" fmla="*/ 0 h 911"/>
                <a:gd name="T17" fmla="*/ 390 w 390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0" h="911">
                  <a:moveTo>
                    <a:pt x="390" y="195"/>
                  </a:moveTo>
                  <a:lnTo>
                    <a:pt x="390" y="748"/>
                  </a:lnTo>
                  <a:lnTo>
                    <a:pt x="0" y="911"/>
                  </a:lnTo>
                  <a:lnTo>
                    <a:pt x="0" y="0"/>
                  </a:lnTo>
                  <a:lnTo>
                    <a:pt x="390" y="195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Line 172"/>
            <p:cNvSpPr>
              <a:spLocks noChangeShapeType="1"/>
            </p:cNvSpPr>
            <p:nvPr/>
          </p:nvSpPr>
          <p:spPr bwMode="auto">
            <a:xfrm flipV="1">
              <a:off x="4844" y="2063"/>
              <a:ext cx="1" cy="42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6" name="Line 173"/>
            <p:cNvSpPr>
              <a:spLocks noChangeShapeType="1"/>
            </p:cNvSpPr>
            <p:nvPr/>
          </p:nvSpPr>
          <p:spPr bwMode="auto">
            <a:xfrm flipV="1">
              <a:off x="4844" y="2779"/>
              <a:ext cx="1" cy="43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7" name="Line 174"/>
            <p:cNvSpPr>
              <a:spLocks noChangeShapeType="1"/>
            </p:cNvSpPr>
            <p:nvPr/>
          </p:nvSpPr>
          <p:spPr bwMode="auto">
            <a:xfrm flipV="1">
              <a:off x="4438" y="2925"/>
              <a:ext cx="1" cy="11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175"/>
            <p:cNvSpPr>
              <a:spLocks/>
            </p:cNvSpPr>
            <p:nvPr/>
          </p:nvSpPr>
          <p:spPr bwMode="auto">
            <a:xfrm>
              <a:off x="4438" y="1315"/>
              <a:ext cx="244" cy="1610"/>
            </a:xfrm>
            <a:custGeom>
              <a:avLst/>
              <a:gdLst>
                <a:gd name="T0" fmla="*/ 0 w 487"/>
                <a:gd name="T1" fmla="*/ 0 h 3221"/>
                <a:gd name="T2" fmla="*/ 1 w 487"/>
                <a:gd name="T3" fmla="*/ 0 h 3221"/>
                <a:gd name="T4" fmla="*/ 1 w 487"/>
                <a:gd name="T5" fmla="*/ 0 h 3221"/>
                <a:gd name="T6" fmla="*/ 1 w 487"/>
                <a:gd name="T7" fmla="*/ 0 h 3221"/>
                <a:gd name="T8" fmla="*/ 1 w 487"/>
                <a:gd name="T9" fmla="*/ 0 h 3221"/>
                <a:gd name="T10" fmla="*/ 0 w 487"/>
                <a:gd name="T11" fmla="*/ 0 h 32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7"/>
                <a:gd name="T19" fmla="*/ 0 h 3221"/>
                <a:gd name="T20" fmla="*/ 487 w 487"/>
                <a:gd name="T21" fmla="*/ 3221 h 32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7" h="3221">
                  <a:moveTo>
                    <a:pt x="0" y="0"/>
                  </a:moveTo>
                  <a:lnTo>
                    <a:pt x="487" y="0"/>
                  </a:lnTo>
                  <a:lnTo>
                    <a:pt x="487" y="683"/>
                  </a:lnTo>
                  <a:lnTo>
                    <a:pt x="487" y="3221"/>
                  </a:lnTo>
                  <a:lnTo>
                    <a:pt x="390" y="3221"/>
                  </a:lnTo>
                  <a:lnTo>
                    <a:pt x="0" y="3221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176"/>
            <p:cNvSpPr>
              <a:spLocks/>
            </p:cNvSpPr>
            <p:nvPr/>
          </p:nvSpPr>
          <p:spPr bwMode="auto">
            <a:xfrm>
              <a:off x="4422" y="1298"/>
              <a:ext cx="32" cy="33"/>
            </a:xfrm>
            <a:custGeom>
              <a:avLst/>
              <a:gdLst>
                <a:gd name="T0" fmla="*/ 0 w 65"/>
                <a:gd name="T1" fmla="*/ 0 h 65"/>
                <a:gd name="T2" fmla="*/ 0 w 65"/>
                <a:gd name="T3" fmla="*/ 1 h 65"/>
                <a:gd name="T4" fmla="*/ 0 w 65"/>
                <a:gd name="T5" fmla="*/ 1 h 65"/>
                <a:gd name="T6" fmla="*/ 0 w 65"/>
                <a:gd name="T7" fmla="*/ 1 h 65"/>
                <a:gd name="T8" fmla="*/ 0 w 65"/>
                <a:gd name="T9" fmla="*/ 1 h 65"/>
                <a:gd name="T10" fmla="*/ 0 w 65"/>
                <a:gd name="T11" fmla="*/ 1 h 65"/>
                <a:gd name="T12" fmla="*/ 0 w 65"/>
                <a:gd name="T13" fmla="*/ 1 h 65"/>
                <a:gd name="T14" fmla="*/ 0 w 65"/>
                <a:gd name="T15" fmla="*/ 1 h 65"/>
                <a:gd name="T16" fmla="*/ 0 w 65"/>
                <a:gd name="T17" fmla="*/ 1 h 65"/>
                <a:gd name="T18" fmla="*/ 0 w 65"/>
                <a:gd name="T19" fmla="*/ 1 h 65"/>
                <a:gd name="T20" fmla="*/ 0 w 65"/>
                <a:gd name="T21" fmla="*/ 1 h 65"/>
                <a:gd name="T22" fmla="*/ 0 w 65"/>
                <a:gd name="T23" fmla="*/ 1 h 65"/>
                <a:gd name="T24" fmla="*/ 0 w 65"/>
                <a:gd name="T25" fmla="*/ 1 h 65"/>
                <a:gd name="T26" fmla="*/ 0 w 65"/>
                <a:gd name="T27" fmla="*/ 1 h 65"/>
                <a:gd name="T28" fmla="*/ 0 w 65"/>
                <a:gd name="T29" fmla="*/ 1 h 65"/>
                <a:gd name="T30" fmla="*/ 0 w 65"/>
                <a:gd name="T31" fmla="*/ 1 h 65"/>
                <a:gd name="T32" fmla="*/ 0 w 65"/>
                <a:gd name="T33" fmla="*/ 1 h 65"/>
                <a:gd name="T34" fmla="*/ 0 w 65"/>
                <a:gd name="T35" fmla="*/ 1 h 65"/>
                <a:gd name="T36" fmla="*/ 0 w 65"/>
                <a:gd name="T37" fmla="*/ 1 h 65"/>
                <a:gd name="T38" fmla="*/ 0 w 65"/>
                <a:gd name="T39" fmla="*/ 1 h 65"/>
                <a:gd name="T40" fmla="*/ 0 w 65"/>
                <a:gd name="T41" fmla="*/ 1 h 65"/>
                <a:gd name="T42" fmla="*/ 0 w 65"/>
                <a:gd name="T43" fmla="*/ 1 h 65"/>
                <a:gd name="T44" fmla="*/ 0 w 65"/>
                <a:gd name="T45" fmla="*/ 1 h 65"/>
                <a:gd name="T46" fmla="*/ 0 w 65"/>
                <a:gd name="T47" fmla="*/ 1 h 65"/>
                <a:gd name="T48" fmla="*/ 0 w 65"/>
                <a:gd name="T49" fmla="*/ 1 h 65"/>
                <a:gd name="T50" fmla="*/ 0 w 65"/>
                <a:gd name="T51" fmla="*/ 1 h 65"/>
                <a:gd name="T52" fmla="*/ 0 w 65"/>
                <a:gd name="T53" fmla="*/ 1 h 65"/>
                <a:gd name="T54" fmla="*/ 0 w 65"/>
                <a:gd name="T55" fmla="*/ 1 h 65"/>
                <a:gd name="T56" fmla="*/ 0 w 65"/>
                <a:gd name="T57" fmla="*/ 1 h 65"/>
                <a:gd name="T58" fmla="*/ 0 w 65"/>
                <a:gd name="T59" fmla="*/ 1 h 65"/>
                <a:gd name="T60" fmla="*/ 0 w 65"/>
                <a:gd name="T61" fmla="*/ 1 h 65"/>
                <a:gd name="T62" fmla="*/ 0 w 65"/>
                <a:gd name="T63" fmla="*/ 1 h 65"/>
                <a:gd name="T64" fmla="*/ 0 w 65"/>
                <a:gd name="T65" fmla="*/ 1 h 65"/>
                <a:gd name="T66" fmla="*/ 0 w 65"/>
                <a:gd name="T67" fmla="*/ 1 h 65"/>
                <a:gd name="T68" fmla="*/ 0 w 65"/>
                <a:gd name="T69" fmla="*/ 1 h 65"/>
                <a:gd name="T70" fmla="*/ 0 w 65"/>
                <a:gd name="T71" fmla="*/ 1 h 65"/>
                <a:gd name="T72" fmla="*/ 0 w 65"/>
                <a:gd name="T73" fmla="*/ 1 h 65"/>
                <a:gd name="T74" fmla="*/ 0 w 65"/>
                <a:gd name="T75" fmla="*/ 1 h 65"/>
                <a:gd name="T76" fmla="*/ 0 w 65"/>
                <a:gd name="T77" fmla="*/ 1 h 65"/>
                <a:gd name="T78" fmla="*/ 0 w 65"/>
                <a:gd name="T79" fmla="*/ 1 h 65"/>
                <a:gd name="T80" fmla="*/ 0 w 65"/>
                <a:gd name="T81" fmla="*/ 1 h 65"/>
                <a:gd name="T82" fmla="*/ 0 w 65"/>
                <a:gd name="T83" fmla="*/ 1 h 65"/>
                <a:gd name="T84" fmla="*/ 0 w 65"/>
                <a:gd name="T85" fmla="*/ 1 h 65"/>
                <a:gd name="T86" fmla="*/ 0 w 65"/>
                <a:gd name="T87" fmla="*/ 0 h 65"/>
                <a:gd name="T88" fmla="*/ 0 w 65"/>
                <a:gd name="T89" fmla="*/ 1 h 6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5"/>
                <a:gd name="T136" fmla="*/ 0 h 65"/>
                <a:gd name="T137" fmla="*/ 65 w 65"/>
                <a:gd name="T138" fmla="*/ 65 h 6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5" h="65">
                  <a:moveTo>
                    <a:pt x="33" y="32"/>
                  </a:moveTo>
                  <a:lnTo>
                    <a:pt x="33" y="0"/>
                  </a:lnTo>
                  <a:lnTo>
                    <a:pt x="31" y="0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6" y="4"/>
                  </a:lnTo>
                  <a:lnTo>
                    <a:pt x="15" y="4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2" y="8"/>
                  </a:lnTo>
                  <a:lnTo>
                    <a:pt x="10" y="9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3" y="47"/>
                  </a:lnTo>
                  <a:lnTo>
                    <a:pt x="3" y="48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7" y="52"/>
                  </a:lnTo>
                  <a:lnTo>
                    <a:pt x="7" y="53"/>
                  </a:lnTo>
                  <a:lnTo>
                    <a:pt x="8" y="55"/>
                  </a:lnTo>
                  <a:lnTo>
                    <a:pt x="10" y="57"/>
                  </a:lnTo>
                  <a:lnTo>
                    <a:pt x="12" y="58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1"/>
                  </a:lnTo>
                  <a:lnTo>
                    <a:pt x="16" y="61"/>
                  </a:lnTo>
                  <a:lnTo>
                    <a:pt x="18" y="61"/>
                  </a:lnTo>
                  <a:lnTo>
                    <a:pt x="20" y="63"/>
                  </a:lnTo>
                  <a:lnTo>
                    <a:pt x="21" y="63"/>
                  </a:lnTo>
                  <a:lnTo>
                    <a:pt x="23" y="65"/>
                  </a:lnTo>
                  <a:lnTo>
                    <a:pt x="25" y="65"/>
                  </a:lnTo>
                  <a:lnTo>
                    <a:pt x="26" y="65"/>
                  </a:lnTo>
                  <a:lnTo>
                    <a:pt x="28" y="65"/>
                  </a:lnTo>
                  <a:lnTo>
                    <a:pt x="29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6" y="65"/>
                  </a:lnTo>
                  <a:lnTo>
                    <a:pt x="38" y="65"/>
                  </a:lnTo>
                  <a:lnTo>
                    <a:pt x="39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4" y="63"/>
                  </a:lnTo>
                  <a:lnTo>
                    <a:pt x="46" y="61"/>
                  </a:lnTo>
                  <a:lnTo>
                    <a:pt x="47" y="61"/>
                  </a:lnTo>
                  <a:lnTo>
                    <a:pt x="49" y="61"/>
                  </a:lnTo>
                  <a:lnTo>
                    <a:pt x="51" y="60"/>
                  </a:lnTo>
                  <a:lnTo>
                    <a:pt x="52" y="58"/>
                  </a:lnTo>
                  <a:lnTo>
                    <a:pt x="54" y="57"/>
                  </a:lnTo>
                  <a:lnTo>
                    <a:pt x="55" y="57"/>
                  </a:lnTo>
                  <a:lnTo>
                    <a:pt x="55" y="55"/>
                  </a:lnTo>
                  <a:lnTo>
                    <a:pt x="57" y="53"/>
                  </a:lnTo>
                  <a:lnTo>
                    <a:pt x="59" y="52"/>
                  </a:lnTo>
                  <a:lnTo>
                    <a:pt x="60" y="50"/>
                  </a:lnTo>
                  <a:lnTo>
                    <a:pt x="60" y="48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4"/>
                  </a:lnTo>
                  <a:lnTo>
                    <a:pt x="64" y="42"/>
                  </a:lnTo>
                  <a:lnTo>
                    <a:pt x="64" y="40"/>
                  </a:lnTo>
                  <a:lnTo>
                    <a:pt x="64" y="39"/>
                  </a:lnTo>
                  <a:lnTo>
                    <a:pt x="64" y="37"/>
                  </a:lnTo>
                  <a:lnTo>
                    <a:pt x="65" y="35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0"/>
                  </a:lnTo>
                  <a:lnTo>
                    <a:pt x="65" y="29"/>
                  </a:lnTo>
                  <a:lnTo>
                    <a:pt x="64" y="27"/>
                  </a:lnTo>
                  <a:lnTo>
                    <a:pt x="64" y="26"/>
                  </a:lnTo>
                  <a:lnTo>
                    <a:pt x="64" y="24"/>
                  </a:lnTo>
                  <a:lnTo>
                    <a:pt x="64" y="22"/>
                  </a:lnTo>
                  <a:lnTo>
                    <a:pt x="62" y="22"/>
                  </a:lnTo>
                  <a:lnTo>
                    <a:pt x="62" y="21"/>
                  </a:lnTo>
                  <a:lnTo>
                    <a:pt x="62" y="19"/>
                  </a:lnTo>
                  <a:lnTo>
                    <a:pt x="60" y="17"/>
                  </a:lnTo>
                  <a:lnTo>
                    <a:pt x="60" y="16"/>
                  </a:lnTo>
                  <a:lnTo>
                    <a:pt x="59" y="14"/>
                  </a:lnTo>
                  <a:lnTo>
                    <a:pt x="59" y="13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4" y="9"/>
                  </a:lnTo>
                  <a:lnTo>
                    <a:pt x="52" y="8"/>
                  </a:lnTo>
                  <a:lnTo>
                    <a:pt x="52" y="6"/>
                  </a:lnTo>
                  <a:lnTo>
                    <a:pt x="51" y="6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1"/>
                  </a:lnTo>
                  <a:lnTo>
                    <a:pt x="36" y="1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3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177"/>
            <p:cNvSpPr>
              <a:spLocks/>
            </p:cNvSpPr>
            <p:nvPr/>
          </p:nvSpPr>
          <p:spPr bwMode="auto">
            <a:xfrm>
              <a:off x="4411" y="1289"/>
              <a:ext cx="40" cy="39"/>
            </a:xfrm>
            <a:custGeom>
              <a:avLst/>
              <a:gdLst>
                <a:gd name="T0" fmla="*/ 1 w 80"/>
                <a:gd name="T1" fmla="*/ 0 h 80"/>
                <a:gd name="T2" fmla="*/ 1 w 80"/>
                <a:gd name="T3" fmla="*/ 0 h 80"/>
                <a:gd name="T4" fmla="*/ 1 w 80"/>
                <a:gd name="T5" fmla="*/ 0 h 80"/>
                <a:gd name="T6" fmla="*/ 1 w 80"/>
                <a:gd name="T7" fmla="*/ 0 h 80"/>
                <a:gd name="T8" fmla="*/ 1 w 80"/>
                <a:gd name="T9" fmla="*/ 0 h 80"/>
                <a:gd name="T10" fmla="*/ 1 w 80"/>
                <a:gd name="T11" fmla="*/ 0 h 80"/>
                <a:gd name="T12" fmla="*/ 1 w 80"/>
                <a:gd name="T13" fmla="*/ 0 h 80"/>
                <a:gd name="T14" fmla="*/ 1 w 80"/>
                <a:gd name="T15" fmla="*/ 0 h 80"/>
                <a:gd name="T16" fmla="*/ 1 w 80"/>
                <a:gd name="T17" fmla="*/ 0 h 80"/>
                <a:gd name="T18" fmla="*/ 1 w 80"/>
                <a:gd name="T19" fmla="*/ 0 h 80"/>
                <a:gd name="T20" fmla="*/ 0 w 80"/>
                <a:gd name="T21" fmla="*/ 0 h 80"/>
                <a:gd name="T22" fmla="*/ 1 w 80"/>
                <a:gd name="T23" fmla="*/ 0 h 80"/>
                <a:gd name="T24" fmla="*/ 1 w 80"/>
                <a:gd name="T25" fmla="*/ 0 h 80"/>
                <a:gd name="T26" fmla="*/ 1 w 80"/>
                <a:gd name="T27" fmla="*/ 0 h 80"/>
                <a:gd name="T28" fmla="*/ 1 w 80"/>
                <a:gd name="T29" fmla="*/ 0 h 80"/>
                <a:gd name="T30" fmla="*/ 1 w 80"/>
                <a:gd name="T31" fmla="*/ 0 h 80"/>
                <a:gd name="T32" fmla="*/ 1 w 80"/>
                <a:gd name="T33" fmla="*/ 0 h 80"/>
                <a:gd name="T34" fmla="*/ 1 w 80"/>
                <a:gd name="T35" fmla="*/ 0 h 80"/>
                <a:gd name="T36" fmla="*/ 1 w 80"/>
                <a:gd name="T37" fmla="*/ 0 h 80"/>
                <a:gd name="T38" fmla="*/ 1 w 80"/>
                <a:gd name="T39" fmla="*/ 0 h 80"/>
                <a:gd name="T40" fmla="*/ 1 w 80"/>
                <a:gd name="T41" fmla="*/ 0 h 80"/>
                <a:gd name="T42" fmla="*/ 1 w 80"/>
                <a:gd name="T43" fmla="*/ 0 h 80"/>
                <a:gd name="T44" fmla="*/ 1 w 80"/>
                <a:gd name="T45" fmla="*/ 0 h 80"/>
                <a:gd name="T46" fmla="*/ 1 w 80"/>
                <a:gd name="T47" fmla="*/ 0 h 80"/>
                <a:gd name="T48" fmla="*/ 1 w 80"/>
                <a:gd name="T49" fmla="*/ 0 h 80"/>
                <a:gd name="T50" fmla="*/ 1 w 80"/>
                <a:gd name="T51" fmla="*/ 0 h 80"/>
                <a:gd name="T52" fmla="*/ 1 w 80"/>
                <a:gd name="T53" fmla="*/ 0 h 80"/>
                <a:gd name="T54" fmla="*/ 1 w 80"/>
                <a:gd name="T55" fmla="*/ 0 h 80"/>
                <a:gd name="T56" fmla="*/ 1 w 80"/>
                <a:gd name="T57" fmla="*/ 0 h 80"/>
                <a:gd name="T58" fmla="*/ 1 w 80"/>
                <a:gd name="T59" fmla="*/ 0 h 80"/>
                <a:gd name="T60" fmla="*/ 1 w 80"/>
                <a:gd name="T61" fmla="*/ 0 h 80"/>
                <a:gd name="T62" fmla="*/ 1 w 80"/>
                <a:gd name="T63" fmla="*/ 0 h 80"/>
                <a:gd name="T64" fmla="*/ 1 w 80"/>
                <a:gd name="T65" fmla="*/ 0 h 80"/>
                <a:gd name="T66" fmla="*/ 1 w 80"/>
                <a:gd name="T67" fmla="*/ 0 h 80"/>
                <a:gd name="T68" fmla="*/ 1 w 80"/>
                <a:gd name="T69" fmla="*/ 0 h 80"/>
                <a:gd name="T70" fmla="*/ 1 w 80"/>
                <a:gd name="T71" fmla="*/ 0 h 80"/>
                <a:gd name="T72" fmla="*/ 1 w 80"/>
                <a:gd name="T73" fmla="*/ 0 h 80"/>
                <a:gd name="T74" fmla="*/ 1 w 80"/>
                <a:gd name="T75" fmla="*/ 0 h 80"/>
                <a:gd name="T76" fmla="*/ 1 w 80"/>
                <a:gd name="T77" fmla="*/ 0 h 80"/>
                <a:gd name="T78" fmla="*/ 1 w 80"/>
                <a:gd name="T79" fmla="*/ 0 h 80"/>
                <a:gd name="T80" fmla="*/ 1 w 80"/>
                <a:gd name="T81" fmla="*/ 0 h 80"/>
                <a:gd name="T82" fmla="*/ 1 w 80"/>
                <a:gd name="T83" fmla="*/ 0 h 80"/>
                <a:gd name="T84" fmla="*/ 1 w 80"/>
                <a:gd name="T85" fmla="*/ 0 h 80"/>
                <a:gd name="T86" fmla="*/ 1 w 80"/>
                <a:gd name="T87" fmla="*/ 0 h 8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0"/>
                <a:gd name="T133" fmla="*/ 0 h 80"/>
                <a:gd name="T134" fmla="*/ 80 w 80"/>
                <a:gd name="T135" fmla="*/ 80 h 8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0" h="80">
                  <a:moveTo>
                    <a:pt x="41" y="0"/>
                  </a:moveTo>
                  <a:lnTo>
                    <a:pt x="39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29" y="2"/>
                  </a:lnTo>
                  <a:lnTo>
                    <a:pt x="26" y="3"/>
                  </a:lnTo>
                  <a:lnTo>
                    <a:pt x="24" y="3"/>
                  </a:lnTo>
                  <a:lnTo>
                    <a:pt x="23" y="5"/>
                  </a:lnTo>
                  <a:lnTo>
                    <a:pt x="21" y="5"/>
                  </a:lnTo>
                  <a:lnTo>
                    <a:pt x="20" y="7"/>
                  </a:lnTo>
                  <a:lnTo>
                    <a:pt x="18" y="7"/>
                  </a:lnTo>
                  <a:lnTo>
                    <a:pt x="16" y="8"/>
                  </a:lnTo>
                  <a:lnTo>
                    <a:pt x="15" y="10"/>
                  </a:lnTo>
                  <a:lnTo>
                    <a:pt x="13" y="11"/>
                  </a:lnTo>
                  <a:lnTo>
                    <a:pt x="11" y="13"/>
                  </a:lnTo>
                  <a:lnTo>
                    <a:pt x="10" y="15"/>
                  </a:lnTo>
                  <a:lnTo>
                    <a:pt x="8" y="16"/>
                  </a:lnTo>
                  <a:lnTo>
                    <a:pt x="8" y="18"/>
                  </a:lnTo>
                  <a:lnTo>
                    <a:pt x="7" y="20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0" y="41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2" y="49"/>
                  </a:lnTo>
                  <a:lnTo>
                    <a:pt x="2" y="50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3" y="55"/>
                  </a:lnTo>
                  <a:lnTo>
                    <a:pt x="5" y="57"/>
                  </a:lnTo>
                  <a:lnTo>
                    <a:pt x="5" y="59"/>
                  </a:lnTo>
                  <a:lnTo>
                    <a:pt x="7" y="60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10" y="65"/>
                  </a:lnTo>
                  <a:lnTo>
                    <a:pt x="11" y="67"/>
                  </a:lnTo>
                  <a:lnTo>
                    <a:pt x="13" y="68"/>
                  </a:lnTo>
                  <a:lnTo>
                    <a:pt x="13" y="70"/>
                  </a:lnTo>
                  <a:lnTo>
                    <a:pt x="15" y="70"/>
                  </a:lnTo>
                  <a:lnTo>
                    <a:pt x="16" y="72"/>
                  </a:lnTo>
                  <a:lnTo>
                    <a:pt x="18" y="73"/>
                  </a:lnTo>
                  <a:lnTo>
                    <a:pt x="20" y="75"/>
                  </a:lnTo>
                  <a:lnTo>
                    <a:pt x="21" y="75"/>
                  </a:lnTo>
                  <a:lnTo>
                    <a:pt x="23" y="77"/>
                  </a:lnTo>
                  <a:lnTo>
                    <a:pt x="24" y="77"/>
                  </a:lnTo>
                  <a:lnTo>
                    <a:pt x="26" y="78"/>
                  </a:lnTo>
                  <a:lnTo>
                    <a:pt x="29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4" y="80"/>
                  </a:lnTo>
                  <a:lnTo>
                    <a:pt x="36" y="80"/>
                  </a:lnTo>
                  <a:lnTo>
                    <a:pt x="39" y="80"/>
                  </a:lnTo>
                  <a:lnTo>
                    <a:pt x="41" y="80"/>
                  </a:lnTo>
                  <a:lnTo>
                    <a:pt x="42" y="80"/>
                  </a:lnTo>
                  <a:lnTo>
                    <a:pt x="44" y="80"/>
                  </a:lnTo>
                  <a:lnTo>
                    <a:pt x="47" y="80"/>
                  </a:lnTo>
                  <a:lnTo>
                    <a:pt x="49" y="80"/>
                  </a:lnTo>
                  <a:lnTo>
                    <a:pt x="50" y="78"/>
                  </a:lnTo>
                  <a:lnTo>
                    <a:pt x="52" y="78"/>
                  </a:lnTo>
                  <a:lnTo>
                    <a:pt x="54" y="78"/>
                  </a:lnTo>
                  <a:lnTo>
                    <a:pt x="55" y="77"/>
                  </a:lnTo>
                  <a:lnTo>
                    <a:pt x="57" y="77"/>
                  </a:lnTo>
                  <a:lnTo>
                    <a:pt x="60" y="75"/>
                  </a:lnTo>
                  <a:lnTo>
                    <a:pt x="62" y="75"/>
                  </a:lnTo>
                  <a:lnTo>
                    <a:pt x="63" y="73"/>
                  </a:lnTo>
                  <a:lnTo>
                    <a:pt x="63" y="72"/>
                  </a:lnTo>
                  <a:lnTo>
                    <a:pt x="65" y="70"/>
                  </a:lnTo>
                  <a:lnTo>
                    <a:pt x="67" y="70"/>
                  </a:lnTo>
                  <a:lnTo>
                    <a:pt x="68" y="68"/>
                  </a:lnTo>
                  <a:lnTo>
                    <a:pt x="70" y="67"/>
                  </a:lnTo>
                  <a:lnTo>
                    <a:pt x="72" y="65"/>
                  </a:lnTo>
                  <a:lnTo>
                    <a:pt x="72" y="64"/>
                  </a:lnTo>
                  <a:lnTo>
                    <a:pt x="73" y="62"/>
                  </a:lnTo>
                  <a:lnTo>
                    <a:pt x="75" y="60"/>
                  </a:lnTo>
                  <a:lnTo>
                    <a:pt x="75" y="59"/>
                  </a:lnTo>
                  <a:lnTo>
                    <a:pt x="76" y="57"/>
                  </a:lnTo>
                  <a:lnTo>
                    <a:pt x="76" y="55"/>
                  </a:lnTo>
                  <a:lnTo>
                    <a:pt x="78" y="54"/>
                  </a:lnTo>
                  <a:lnTo>
                    <a:pt x="78" y="52"/>
                  </a:lnTo>
                  <a:lnTo>
                    <a:pt x="80" y="50"/>
                  </a:lnTo>
                  <a:lnTo>
                    <a:pt x="80" y="49"/>
                  </a:lnTo>
                  <a:lnTo>
                    <a:pt x="80" y="46"/>
                  </a:lnTo>
                  <a:lnTo>
                    <a:pt x="80" y="44"/>
                  </a:lnTo>
                  <a:lnTo>
                    <a:pt x="80" y="42"/>
                  </a:lnTo>
                  <a:lnTo>
                    <a:pt x="80" y="41"/>
                  </a:lnTo>
                  <a:lnTo>
                    <a:pt x="80" y="37"/>
                  </a:lnTo>
                  <a:lnTo>
                    <a:pt x="80" y="36"/>
                  </a:lnTo>
                  <a:lnTo>
                    <a:pt x="80" y="34"/>
                  </a:lnTo>
                  <a:lnTo>
                    <a:pt x="80" y="33"/>
                  </a:lnTo>
                  <a:lnTo>
                    <a:pt x="80" y="31"/>
                  </a:lnTo>
                  <a:lnTo>
                    <a:pt x="78" y="28"/>
                  </a:lnTo>
                  <a:lnTo>
                    <a:pt x="78" y="26"/>
                  </a:lnTo>
                  <a:lnTo>
                    <a:pt x="76" y="24"/>
                  </a:lnTo>
                  <a:lnTo>
                    <a:pt x="76" y="23"/>
                  </a:lnTo>
                  <a:lnTo>
                    <a:pt x="75" y="21"/>
                  </a:lnTo>
                  <a:lnTo>
                    <a:pt x="75" y="20"/>
                  </a:lnTo>
                  <a:lnTo>
                    <a:pt x="73" y="18"/>
                  </a:lnTo>
                  <a:lnTo>
                    <a:pt x="72" y="16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8" y="11"/>
                  </a:lnTo>
                  <a:lnTo>
                    <a:pt x="67" y="11"/>
                  </a:lnTo>
                  <a:lnTo>
                    <a:pt x="65" y="10"/>
                  </a:lnTo>
                  <a:lnTo>
                    <a:pt x="63" y="8"/>
                  </a:lnTo>
                  <a:lnTo>
                    <a:pt x="63" y="7"/>
                  </a:lnTo>
                  <a:lnTo>
                    <a:pt x="62" y="7"/>
                  </a:lnTo>
                  <a:lnTo>
                    <a:pt x="60" y="5"/>
                  </a:lnTo>
                  <a:lnTo>
                    <a:pt x="57" y="5"/>
                  </a:lnTo>
                  <a:lnTo>
                    <a:pt x="55" y="3"/>
                  </a:lnTo>
                  <a:lnTo>
                    <a:pt x="54" y="3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9" y="2"/>
                  </a:lnTo>
                  <a:lnTo>
                    <a:pt x="47" y="2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178"/>
            <p:cNvSpPr>
              <a:spLocks/>
            </p:cNvSpPr>
            <p:nvPr/>
          </p:nvSpPr>
          <p:spPr bwMode="auto">
            <a:xfrm>
              <a:off x="2828" y="1136"/>
              <a:ext cx="2293" cy="1333"/>
            </a:xfrm>
            <a:custGeom>
              <a:avLst/>
              <a:gdLst>
                <a:gd name="T0" fmla="*/ 0 w 4585"/>
                <a:gd name="T1" fmla="*/ 0 h 2668"/>
                <a:gd name="T2" fmla="*/ 2 w 4585"/>
                <a:gd name="T3" fmla="*/ 0 h 2668"/>
                <a:gd name="T4" fmla="*/ 2 w 4585"/>
                <a:gd name="T5" fmla="*/ 0 h 2668"/>
                <a:gd name="T6" fmla="*/ 0 60000 65536"/>
                <a:gd name="T7" fmla="*/ 0 60000 65536"/>
                <a:gd name="T8" fmla="*/ 0 60000 65536"/>
                <a:gd name="T9" fmla="*/ 0 w 4585"/>
                <a:gd name="T10" fmla="*/ 0 h 2668"/>
                <a:gd name="T11" fmla="*/ 4585 w 4585"/>
                <a:gd name="T12" fmla="*/ 2668 h 26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85" h="2668">
                  <a:moveTo>
                    <a:pt x="0" y="0"/>
                  </a:moveTo>
                  <a:lnTo>
                    <a:pt x="4585" y="0"/>
                  </a:lnTo>
                  <a:lnTo>
                    <a:pt x="4585" y="2668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Rectangle 179"/>
            <p:cNvSpPr>
              <a:spLocks noChangeArrowheads="1"/>
            </p:cNvSpPr>
            <p:nvPr/>
          </p:nvSpPr>
          <p:spPr bwMode="auto">
            <a:xfrm>
              <a:off x="3229" y="3576"/>
              <a:ext cx="30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>
                  <a:solidFill>
                    <a:srgbClr val="FF3300"/>
                  </a:solidFill>
                  <a:latin typeface="Times-Roman"/>
                </a:rPr>
                <a:t>0/1 </a:t>
              </a:r>
              <a:endParaRPr lang="en-US" altLang="en-US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Group 180"/>
            <p:cNvGrpSpPr>
              <a:grpSpLocks/>
            </p:cNvGrpSpPr>
            <p:nvPr/>
          </p:nvGrpSpPr>
          <p:grpSpPr bwMode="auto">
            <a:xfrm>
              <a:off x="2640" y="1206"/>
              <a:ext cx="193" cy="223"/>
              <a:chOff x="1612" y="626"/>
              <a:chExt cx="193" cy="223"/>
            </a:xfrm>
          </p:grpSpPr>
          <p:sp>
            <p:nvSpPr>
              <p:cNvPr id="27799" name="Rectangle 181"/>
              <p:cNvSpPr>
                <a:spLocks noChangeArrowheads="1"/>
              </p:cNvSpPr>
              <p:nvPr/>
            </p:nvSpPr>
            <p:spPr bwMode="auto">
              <a:xfrm>
                <a:off x="1612" y="626"/>
                <a:ext cx="153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900" i="1">
                    <a:solidFill>
                      <a:srgbClr val="000000"/>
                    </a:solidFill>
                    <a:latin typeface="Times-Roman"/>
                  </a:rPr>
                  <a:t>x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27800" name="Rectangle 182"/>
              <p:cNvSpPr>
                <a:spLocks noChangeArrowheads="1"/>
              </p:cNvSpPr>
              <p:nvPr/>
            </p:nvSpPr>
            <p:spPr bwMode="auto">
              <a:xfrm>
                <a:off x="1684" y="704"/>
                <a:ext cx="121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500">
                    <a:solidFill>
                      <a:srgbClr val="000000"/>
                    </a:solidFill>
                    <a:latin typeface="Times-Roman"/>
                  </a:rPr>
                  <a:t>2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</p:grpSp>
        <p:sp>
          <p:nvSpPr>
            <p:cNvPr id="27794" name="Rectangle 183"/>
            <p:cNvSpPr>
              <a:spLocks noChangeArrowheads="1"/>
            </p:cNvSpPr>
            <p:nvPr/>
          </p:nvSpPr>
          <p:spPr bwMode="auto">
            <a:xfrm>
              <a:off x="2640" y="3850"/>
              <a:ext cx="153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900" i="1">
                  <a:solidFill>
                    <a:srgbClr val="000000"/>
                  </a:solidFill>
                  <a:latin typeface="Times-Roman"/>
                </a:rPr>
                <a:t>x 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7795" name="Rectangle 184"/>
            <p:cNvSpPr>
              <a:spLocks noChangeArrowheads="1"/>
            </p:cNvSpPr>
            <p:nvPr/>
          </p:nvSpPr>
          <p:spPr bwMode="auto">
            <a:xfrm>
              <a:off x="2712" y="3924"/>
              <a:ext cx="12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Times-Roman"/>
                </a:rPr>
                <a:t>3 </a:t>
              </a: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4" name="Group 185"/>
            <p:cNvGrpSpPr>
              <a:grpSpLocks/>
            </p:cNvGrpSpPr>
            <p:nvPr/>
          </p:nvGrpSpPr>
          <p:grpSpPr bwMode="auto">
            <a:xfrm>
              <a:off x="2642" y="1012"/>
              <a:ext cx="193" cy="223"/>
              <a:chOff x="1612" y="626"/>
              <a:chExt cx="193" cy="223"/>
            </a:xfrm>
          </p:grpSpPr>
          <p:sp>
            <p:nvSpPr>
              <p:cNvPr id="27797" name="Rectangle 186"/>
              <p:cNvSpPr>
                <a:spLocks noChangeArrowheads="1"/>
              </p:cNvSpPr>
              <p:nvPr/>
            </p:nvSpPr>
            <p:spPr bwMode="auto">
              <a:xfrm>
                <a:off x="1612" y="626"/>
                <a:ext cx="153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900" i="1">
                    <a:solidFill>
                      <a:srgbClr val="000000"/>
                    </a:solidFill>
                    <a:latin typeface="Times-Roman"/>
                  </a:rPr>
                  <a:t>x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27798" name="Rectangle 187"/>
              <p:cNvSpPr>
                <a:spLocks noChangeArrowheads="1"/>
              </p:cNvSpPr>
              <p:nvPr/>
            </p:nvSpPr>
            <p:spPr bwMode="auto">
              <a:xfrm>
                <a:off x="1684" y="704"/>
                <a:ext cx="121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500">
                    <a:solidFill>
                      <a:srgbClr val="000000"/>
                    </a:solidFill>
                    <a:latin typeface="Times-Roman"/>
                  </a:rPr>
                  <a:t>1 </a:t>
                </a: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8229600" cy="4525963"/>
          </a:xfrm>
        </p:spPr>
        <p:txBody>
          <a:bodyPr/>
          <a:lstStyle/>
          <a:p>
            <a:r>
              <a:rPr lang="en-US" altLang="en-US" dirty="0" smtClean="0"/>
              <a:t>Example FPGA</a:t>
            </a:r>
          </a:p>
          <a:p>
            <a:pPr lvl="1"/>
            <a:endParaRPr lang="en-US" altLang="en-US" sz="2400" dirty="0" smtClean="0"/>
          </a:p>
          <a:p>
            <a:pPr lvl="1"/>
            <a:r>
              <a:rPr lang="en-US" altLang="en-US" sz="2400" dirty="0" smtClean="0"/>
              <a:t>Use an FPGA with 2 input LUTS to implement the function f = x</a:t>
            </a:r>
            <a:r>
              <a:rPr lang="en-US" altLang="en-US" sz="2400" baseline="-25000" dirty="0" smtClean="0"/>
              <a:t>1</a:t>
            </a:r>
            <a:r>
              <a:rPr lang="en-US" altLang="en-US" sz="2400" dirty="0" smtClean="0"/>
              <a:t>x</a:t>
            </a:r>
            <a:r>
              <a:rPr lang="en-US" altLang="en-US" sz="2400" baseline="-25000" dirty="0" smtClean="0"/>
              <a:t>2</a:t>
            </a:r>
            <a:r>
              <a:rPr lang="en-US" altLang="en-US" sz="2400" dirty="0" smtClean="0"/>
              <a:t> + x</a:t>
            </a:r>
            <a:r>
              <a:rPr lang="en-US" altLang="en-US" sz="2400" baseline="-25000" dirty="0" smtClean="0"/>
              <a:t>2</a:t>
            </a:r>
            <a:r>
              <a:rPr lang="en-US" altLang="en-US" sz="2400" dirty="0" smtClean="0"/>
              <a:t>'x</a:t>
            </a:r>
            <a:r>
              <a:rPr lang="en-US" altLang="en-US" sz="2400" baseline="-25000" dirty="0" smtClean="0"/>
              <a:t>3</a:t>
            </a:r>
          </a:p>
          <a:p>
            <a:pPr lvl="1"/>
            <a:endParaRPr lang="en-US" altLang="en-US" sz="2400" dirty="0" smtClean="0"/>
          </a:p>
          <a:p>
            <a:pPr lvl="2"/>
            <a:r>
              <a:rPr lang="en-US" altLang="en-US" sz="2000" dirty="0" smtClean="0"/>
              <a:t>f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 = x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x</a:t>
            </a:r>
            <a:r>
              <a:rPr lang="en-US" altLang="en-US" sz="2000" baseline="-25000" dirty="0" smtClean="0"/>
              <a:t>2</a:t>
            </a:r>
          </a:p>
          <a:p>
            <a:pPr lvl="2"/>
            <a:r>
              <a:rPr lang="en-US" altLang="en-US" sz="2000" dirty="0" smtClean="0"/>
              <a:t>f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 = x</a:t>
            </a:r>
            <a:r>
              <a:rPr lang="en-US" altLang="en-US" sz="2000" baseline="-25000" dirty="0" smtClean="0"/>
              <a:t>2</a:t>
            </a:r>
            <a:r>
              <a:rPr lang="en-US" altLang="en-US" sz="2000" dirty="0" smtClean="0"/>
              <a:t>'x</a:t>
            </a:r>
            <a:r>
              <a:rPr lang="en-US" altLang="en-US" sz="2000" baseline="-25000" dirty="0" smtClean="0"/>
              <a:t>3</a:t>
            </a:r>
          </a:p>
          <a:p>
            <a:pPr lvl="2"/>
            <a:r>
              <a:rPr lang="en-US" altLang="en-US" sz="2000" dirty="0" smtClean="0"/>
              <a:t>f = f</a:t>
            </a:r>
            <a:r>
              <a:rPr lang="en-US" altLang="en-US" sz="2000" baseline="-25000" dirty="0" smtClean="0"/>
              <a:t>1</a:t>
            </a:r>
            <a:r>
              <a:rPr lang="en-US" altLang="en-US" sz="2000" dirty="0" smtClean="0"/>
              <a:t> + f</a:t>
            </a:r>
            <a:r>
              <a:rPr lang="en-US" altLang="en-US" sz="2000" baseline="-25000" dirty="0" smtClean="0"/>
              <a:t>2</a:t>
            </a:r>
          </a:p>
        </p:txBody>
      </p:sp>
      <p:sp>
        <p:nvSpPr>
          <p:cNvPr id="28675" name="Freeform 3"/>
          <p:cNvSpPr>
            <a:spLocks/>
          </p:cNvSpPr>
          <p:nvPr/>
        </p:nvSpPr>
        <p:spPr bwMode="auto">
          <a:xfrm>
            <a:off x="4133851" y="2787650"/>
            <a:ext cx="1222772" cy="1588"/>
          </a:xfrm>
          <a:custGeom>
            <a:avLst/>
            <a:gdLst>
              <a:gd name="T0" fmla="*/ 2147483647 w 848"/>
              <a:gd name="T1" fmla="*/ 0 h 1588"/>
              <a:gd name="T2" fmla="*/ 0 w 848"/>
              <a:gd name="T3" fmla="*/ 0 h 1588"/>
              <a:gd name="T4" fmla="*/ 2147483647 w 848"/>
              <a:gd name="T5" fmla="*/ 0 h 1588"/>
              <a:gd name="T6" fmla="*/ 0 60000 65536"/>
              <a:gd name="T7" fmla="*/ 0 60000 65536"/>
              <a:gd name="T8" fmla="*/ 0 60000 65536"/>
              <a:gd name="T9" fmla="*/ 0 w 848"/>
              <a:gd name="T10" fmla="*/ 0 h 1588"/>
              <a:gd name="T11" fmla="*/ 848 w 84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8" h="1588">
                <a:moveTo>
                  <a:pt x="848" y="0"/>
                </a:moveTo>
                <a:lnTo>
                  <a:pt x="0" y="0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6" name="Freeform 4"/>
          <p:cNvSpPr>
            <a:spLocks/>
          </p:cNvSpPr>
          <p:nvPr/>
        </p:nvSpPr>
        <p:spPr bwMode="auto">
          <a:xfrm>
            <a:off x="3384947" y="2532063"/>
            <a:ext cx="1971675" cy="0"/>
          </a:xfrm>
          <a:custGeom>
            <a:avLst/>
            <a:gdLst>
              <a:gd name="T0" fmla="*/ 2147483647 w 1368"/>
              <a:gd name="T1" fmla="*/ 0 w 1368"/>
              <a:gd name="T2" fmla="*/ 2147483647 w 1368"/>
              <a:gd name="T3" fmla="*/ 0 60000 65536"/>
              <a:gd name="T4" fmla="*/ 0 60000 65536"/>
              <a:gd name="T5" fmla="*/ 0 60000 65536"/>
              <a:gd name="T6" fmla="*/ 0 w 1368"/>
              <a:gd name="T7" fmla="*/ 1368 w 1368"/>
            </a:gdLst>
            <a:ahLst/>
            <a:cxnLst>
              <a:cxn ang="T3">
                <a:pos x="T0" y="0"/>
              </a:cxn>
              <a:cxn ang="T4">
                <a:pos x="T1" y="0"/>
              </a:cxn>
              <a:cxn ang="T5">
                <a:pos x="T2" y="0"/>
              </a:cxn>
            </a:cxnLst>
            <a:rect l="T6" t="0" r="T7" b="0"/>
            <a:pathLst>
              <a:path w="136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7" name="Freeform 5"/>
          <p:cNvSpPr>
            <a:spLocks/>
          </p:cNvSpPr>
          <p:nvPr/>
        </p:nvSpPr>
        <p:spPr bwMode="auto">
          <a:xfrm>
            <a:off x="3384947" y="4238625"/>
            <a:ext cx="1971675" cy="1588"/>
          </a:xfrm>
          <a:custGeom>
            <a:avLst/>
            <a:gdLst>
              <a:gd name="T0" fmla="*/ 2147483647 w 1368"/>
              <a:gd name="T1" fmla="*/ 0 h 1588"/>
              <a:gd name="T2" fmla="*/ 0 w 1368"/>
              <a:gd name="T3" fmla="*/ 0 h 1588"/>
              <a:gd name="T4" fmla="*/ 2147483647 w 1368"/>
              <a:gd name="T5" fmla="*/ 0 h 1588"/>
              <a:gd name="T6" fmla="*/ 0 60000 65536"/>
              <a:gd name="T7" fmla="*/ 0 60000 65536"/>
              <a:gd name="T8" fmla="*/ 0 60000 65536"/>
              <a:gd name="T9" fmla="*/ 0 w 1368"/>
              <a:gd name="T10" fmla="*/ 0 h 1588"/>
              <a:gd name="T11" fmla="*/ 1368 w 136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58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347781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47781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3618310" y="4659313"/>
            <a:ext cx="11906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320516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320516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3890963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3890963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40243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40243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429696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429696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4437460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4437460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47101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47101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48482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48482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3618310" y="5137151"/>
            <a:ext cx="11906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6" name="Rectangle 24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7" name="Rectangle 25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320516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699" name="Rectangle 27"/>
          <p:cNvSpPr>
            <a:spLocks noChangeArrowheads="1"/>
          </p:cNvSpPr>
          <p:nvPr/>
        </p:nvSpPr>
        <p:spPr bwMode="auto">
          <a:xfrm>
            <a:off x="40243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1" name="Rectangle 29"/>
          <p:cNvSpPr>
            <a:spLocks noChangeArrowheads="1"/>
          </p:cNvSpPr>
          <p:nvPr/>
        </p:nvSpPr>
        <p:spPr bwMode="auto">
          <a:xfrm>
            <a:off x="3890963" y="5646738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2" name="Rectangle 30"/>
          <p:cNvSpPr>
            <a:spLocks noChangeArrowheads="1"/>
          </p:cNvSpPr>
          <p:nvPr/>
        </p:nvSpPr>
        <p:spPr bwMode="auto">
          <a:xfrm>
            <a:off x="429696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3" name="Rectangle 31"/>
          <p:cNvSpPr>
            <a:spLocks noChangeArrowheads="1"/>
          </p:cNvSpPr>
          <p:nvPr/>
        </p:nvSpPr>
        <p:spPr bwMode="auto">
          <a:xfrm>
            <a:off x="47101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4" name="Rectangle 32"/>
          <p:cNvSpPr>
            <a:spLocks noChangeArrowheads="1"/>
          </p:cNvSpPr>
          <p:nvPr/>
        </p:nvSpPr>
        <p:spPr bwMode="auto">
          <a:xfrm>
            <a:off x="4437460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5" name="Rectangle 33"/>
          <p:cNvSpPr>
            <a:spLocks noChangeArrowheads="1"/>
          </p:cNvSpPr>
          <p:nvPr/>
        </p:nvSpPr>
        <p:spPr bwMode="auto">
          <a:xfrm>
            <a:off x="4848225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6" name="Rectangle 34"/>
          <p:cNvSpPr>
            <a:spLocks noChangeArrowheads="1"/>
          </p:cNvSpPr>
          <p:nvPr/>
        </p:nvSpPr>
        <p:spPr bwMode="auto">
          <a:xfrm>
            <a:off x="2658666" y="31226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7" name="Rectangle 35"/>
          <p:cNvSpPr>
            <a:spLocks noChangeArrowheads="1"/>
          </p:cNvSpPr>
          <p:nvPr/>
        </p:nvSpPr>
        <p:spPr bwMode="auto">
          <a:xfrm>
            <a:off x="30706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8" name="Rectangle 36"/>
          <p:cNvSpPr>
            <a:spLocks noChangeArrowheads="1"/>
          </p:cNvSpPr>
          <p:nvPr/>
        </p:nvSpPr>
        <p:spPr bwMode="auto">
          <a:xfrm>
            <a:off x="30706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09" name="Rectangle 37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0" name="Rectangle 38"/>
          <p:cNvSpPr>
            <a:spLocks noChangeArrowheads="1"/>
          </p:cNvSpPr>
          <p:nvPr/>
        </p:nvSpPr>
        <p:spPr bwMode="auto">
          <a:xfrm>
            <a:off x="2658666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1" name="Rectangle 39"/>
          <p:cNvSpPr>
            <a:spLocks noChangeArrowheads="1"/>
          </p:cNvSpPr>
          <p:nvPr/>
        </p:nvSpPr>
        <p:spPr bwMode="auto">
          <a:xfrm>
            <a:off x="2658666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2" name="Rectangle 40"/>
          <p:cNvSpPr>
            <a:spLocks noChangeArrowheads="1"/>
          </p:cNvSpPr>
          <p:nvPr/>
        </p:nvSpPr>
        <p:spPr bwMode="auto">
          <a:xfrm>
            <a:off x="27967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3" name="Rectangle 41"/>
          <p:cNvSpPr>
            <a:spLocks noChangeArrowheads="1"/>
          </p:cNvSpPr>
          <p:nvPr/>
        </p:nvSpPr>
        <p:spPr bwMode="auto">
          <a:xfrm>
            <a:off x="27967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4" name="Rectangle 42"/>
          <p:cNvSpPr>
            <a:spLocks noChangeArrowheads="1"/>
          </p:cNvSpPr>
          <p:nvPr/>
        </p:nvSpPr>
        <p:spPr bwMode="auto">
          <a:xfrm>
            <a:off x="6016228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5" name="Rectangle 43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6" name="Rectangle 44"/>
          <p:cNvSpPr>
            <a:spLocks noChangeArrowheads="1"/>
          </p:cNvSpPr>
          <p:nvPr/>
        </p:nvSpPr>
        <p:spPr bwMode="auto">
          <a:xfrm>
            <a:off x="571500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7" name="Rectangle 45"/>
          <p:cNvSpPr>
            <a:spLocks noChangeArrowheads="1"/>
          </p:cNvSpPr>
          <p:nvPr/>
        </p:nvSpPr>
        <p:spPr bwMode="auto">
          <a:xfrm>
            <a:off x="6016228" y="51371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8" name="Rectangle 46"/>
          <p:cNvSpPr>
            <a:spLocks noChangeArrowheads="1"/>
          </p:cNvSpPr>
          <p:nvPr/>
        </p:nvSpPr>
        <p:spPr bwMode="auto">
          <a:xfrm>
            <a:off x="6562725" y="31226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19" name="Rectangle 47"/>
          <p:cNvSpPr>
            <a:spLocks noChangeArrowheads="1"/>
          </p:cNvSpPr>
          <p:nvPr/>
        </p:nvSpPr>
        <p:spPr bwMode="auto">
          <a:xfrm>
            <a:off x="61495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0" name="Rectangle 48"/>
          <p:cNvSpPr>
            <a:spLocks noChangeArrowheads="1"/>
          </p:cNvSpPr>
          <p:nvPr/>
        </p:nvSpPr>
        <p:spPr bwMode="auto">
          <a:xfrm>
            <a:off x="61495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1" name="Rectangle 49"/>
          <p:cNvSpPr>
            <a:spLocks noChangeArrowheads="1"/>
          </p:cNvSpPr>
          <p:nvPr/>
        </p:nvSpPr>
        <p:spPr bwMode="auto">
          <a:xfrm>
            <a:off x="619125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2" name="Rectangle 50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3" name="Rectangle 51"/>
          <p:cNvSpPr>
            <a:spLocks noChangeArrowheads="1"/>
          </p:cNvSpPr>
          <p:nvPr/>
        </p:nvSpPr>
        <p:spPr bwMode="auto">
          <a:xfrm>
            <a:off x="65627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4" name="Rectangle 52"/>
          <p:cNvSpPr>
            <a:spLocks noChangeArrowheads="1"/>
          </p:cNvSpPr>
          <p:nvPr/>
        </p:nvSpPr>
        <p:spPr bwMode="auto">
          <a:xfrm>
            <a:off x="65627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5" name="Rectangle 53"/>
          <p:cNvSpPr>
            <a:spLocks noChangeArrowheads="1"/>
          </p:cNvSpPr>
          <p:nvPr/>
        </p:nvSpPr>
        <p:spPr bwMode="auto">
          <a:xfrm>
            <a:off x="64234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6" name="Rectangle 54"/>
          <p:cNvSpPr>
            <a:spLocks noChangeArrowheads="1"/>
          </p:cNvSpPr>
          <p:nvPr/>
        </p:nvSpPr>
        <p:spPr bwMode="auto">
          <a:xfrm>
            <a:off x="64234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7" name="Rectangle 55"/>
          <p:cNvSpPr>
            <a:spLocks noChangeArrowheads="1"/>
          </p:cNvSpPr>
          <p:nvPr/>
        </p:nvSpPr>
        <p:spPr bwMode="auto">
          <a:xfrm>
            <a:off x="6016228" y="354806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8" name="Rectangle 56"/>
          <p:cNvSpPr>
            <a:spLocks noChangeArrowheads="1"/>
          </p:cNvSpPr>
          <p:nvPr/>
        </p:nvSpPr>
        <p:spPr bwMode="auto">
          <a:xfrm>
            <a:off x="6016228" y="28860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29" name="Rectangle 57"/>
          <p:cNvSpPr>
            <a:spLocks noChangeArrowheads="1"/>
          </p:cNvSpPr>
          <p:nvPr/>
        </p:nvSpPr>
        <p:spPr bwMode="auto">
          <a:xfrm>
            <a:off x="3618310" y="6024563"/>
            <a:ext cx="11906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0" name="Rectangle 58"/>
          <p:cNvSpPr>
            <a:spLocks noChangeArrowheads="1"/>
          </p:cNvSpPr>
          <p:nvPr/>
        </p:nvSpPr>
        <p:spPr bwMode="auto">
          <a:xfrm>
            <a:off x="6016228" y="6024563"/>
            <a:ext cx="13097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1" name="Rectangle 59"/>
          <p:cNvSpPr>
            <a:spLocks noChangeArrowheads="1"/>
          </p:cNvSpPr>
          <p:nvPr/>
        </p:nvSpPr>
        <p:spPr bwMode="auto">
          <a:xfrm>
            <a:off x="61495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2" name="Rectangle 60"/>
          <p:cNvSpPr>
            <a:spLocks noChangeArrowheads="1"/>
          </p:cNvSpPr>
          <p:nvPr/>
        </p:nvSpPr>
        <p:spPr bwMode="auto">
          <a:xfrm>
            <a:off x="2658666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3" name="Rectangle 61"/>
          <p:cNvSpPr>
            <a:spLocks noChangeArrowheads="1"/>
          </p:cNvSpPr>
          <p:nvPr/>
        </p:nvSpPr>
        <p:spPr bwMode="auto">
          <a:xfrm>
            <a:off x="27967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4" name="Rectangle 62"/>
          <p:cNvSpPr>
            <a:spLocks noChangeArrowheads="1"/>
          </p:cNvSpPr>
          <p:nvPr/>
        </p:nvSpPr>
        <p:spPr bwMode="auto">
          <a:xfrm>
            <a:off x="30706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5" name="Rectangle 63"/>
          <p:cNvSpPr>
            <a:spLocks noChangeArrowheads="1"/>
          </p:cNvSpPr>
          <p:nvPr/>
        </p:nvSpPr>
        <p:spPr bwMode="auto">
          <a:xfrm>
            <a:off x="320516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6" name="Rectangle 64"/>
          <p:cNvSpPr>
            <a:spLocks noChangeArrowheads="1"/>
          </p:cNvSpPr>
          <p:nvPr/>
        </p:nvSpPr>
        <p:spPr bwMode="auto">
          <a:xfrm>
            <a:off x="347781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7" name="Rectangle 65"/>
          <p:cNvSpPr>
            <a:spLocks noChangeArrowheads="1"/>
          </p:cNvSpPr>
          <p:nvPr/>
        </p:nvSpPr>
        <p:spPr bwMode="auto">
          <a:xfrm>
            <a:off x="3890963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8" name="Rectangle 66"/>
          <p:cNvSpPr>
            <a:spLocks noChangeArrowheads="1"/>
          </p:cNvSpPr>
          <p:nvPr/>
        </p:nvSpPr>
        <p:spPr bwMode="auto">
          <a:xfrm>
            <a:off x="40243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39" name="Rectangle 67"/>
          <p:cNvSpPr>
            <a:spLocks noChangeArrowheads="1"/>
          </p:cNvSpPr>
          <p:nvPr/>
        </p:nvSpPr>
        <p:spPr bwMode="auto">
          <a:xfrm>
            <a:off x="429696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40" name="Rectangle 68"/>
          <p:cNvSpPr>
            <a:spLocks noChangeArrowheads="1"/>
          </p:cNvSpPr>
          <p:nvPr/>
        </p:nvSpPr>
        <p:spPr bwMode="auto">
          <a:xfrm>
            <a:off x="4437460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41" name="Rectangle 69"/>
          <p:cNvSpPr>
            <a:spLocks noChangeArrowheads="1"/>
          </p:cNvSpPr>
          <p:nvPr/>
        </p:nvSpPr>
        <p:spPr bwMode="auto">
          <a:xfrm>
            <a:off x="47101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42" name="Rectangle 70"/>
          <p:cNvSpPr>
            <a:spLocks noChangeArrowheads="1"/>
          </p:cNvSpPr>
          <p:nvPr/>
        </p:nvSpPr>
        <p:spPr bwMode="auto">
          <a:xfrm>
            <a:off x="48482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43" name="Rectangle 71"/>
          <p:cNvSpPr>
            <a:spLocks noChangeArrowheads="1"/>
          </p:cNvSpPr>
          <p:nvPr/>
        </p:nvSpPr>
        <p:spPr bwMode="auto">
          <a:xfrm>
            <a:off x="64234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8744" name="Rectangle 72"/>
          <p:cNvSpPr>
            <a:spLocks noChangeArrowheads="1"/>
          </p:cNvSpPr>
          <p:nvPr/>
        </p:nvSpPr>
        <p:spPr bwMode="auto">
          <a:xfrm>
            <a:off x="65627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pic>
        <p:nvPicPr>
          <p:cNvPr id="28745" name="Picture 73" descr="Fig3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8791" y="2273300"/>
            <a:ext cx="5028009" cy="427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73" descr="figure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828800"/>
            <a:ext cx="6781800" cy="481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229600" cy="4525963"/>
          </a:xfrm>
        </p:spPr>
        <p:txBody>
          <a:bodyPr/>
          <a:lstStyle/>
          <a:p>
            <a:r>
              <a:rPr lang="en-US" altLang="en-US" dirty="0" smtClean="0"/>
              <a:t>FPGA Implementation</a:t>
            </a:r>
          </a:p>
          <a:p>
            <a:pPr lvl="1">
              <a:buNone/>
            </a:pPr>
            <a:r>
              <a:rPr lang="en-US" altLang="en-US" sz="2400" dirty="0" smtClean="0"/>
              <a:t>f = (x</a:t>
            </a:r>
            <a:r>
              <a:rPr lang="en-US" altLang="en-US" sz="2400" baseline="-25000" dirty="0" smtClean="0"/>
              <a:t>1</a:t>
            </a:r>
            <a:r>
              <a:rPr lang="en-US" altLang="en-US" sz="2400" dirty="0" smtClean="0"/>
              <a:t>x</a:t>
            </a:r>
            <a:r>
              <a:rPr lang="en-US" altLang="en-US" sz="2400" baseline="-25000" dirty="0" smtClean="0"/>
              <a:t>6</a:t>
            </a:r>
            <a:r>
              <a:rPr lang="en-US" altLang="en-US" sz="2400" dirty="0" smtClean="0"/>
              <a:t>' + x</a:t>
            </a:r>
            <a:r>
              <a:rPr lang="en-US" altLang="en-US" sz="2400" baseline="-25000" dirty="0" smtClean="0"/>
              <a:t>2</a:t>
            </a:r>
            <a:r>
              <a:rPr lang="en-US" altLang="en-US" sz="2400" dirty="0" smtClean="0"/>
              <a:t>x</a:t>
            </a:r>
            <a:r>
              <a:rPr lang="en-US" altLang="en-US" sz="2400" baseline="-25000" dirty="0" smtClean="0"/>
              <a:t>7</a:t>
            </a:r>
            <a:r>
              <a:rPr lang="en-US" altLang="en-US" sz="2400" dirty="0" smtClean="0"/>
              <a:t>)(x</a:t>
            </a:r>
            <a:r>
              <a:rPr lang="en-US" altLang="en-US" sz="2400" baseline="-25000" dirty="0" smtClean="0"/>
              <a:t>3</a:t>
            </a:r>
            <a:r>
              <a:rPr lang="en-US" altLang="en-US" sz="2400" dirty="0" smtClean="0"/>
              <a:t> + x</a:t>
            </a:r>
            <a:r>
              <a:rPr lang="en-US" altLang="en-US" sz="2400" baseline="-25000" dirty="0" smtClean="0"/>
              <a:t>4</a:t>
            </a:r>
            <a:r>
              <a:rPr lang="en-US" altLang="en-US" sz="2400" dirty="0" smtClean="0"/>
              <a:t>x</a:t>
            </a:r>
            <a:r>
              <a:rPr lang="en-US" altLang="en-US" sz="2400" baseline="-25000" dirty="0" smtClean="0"/>
              <a:t>5</a:t>
            </a:r>
            <a:r>
              <a:rPr lang="en-US" altLang="en-US" sz="2400" dirty="0" smtClean="0"/>
              <a:t>)</a:t>
            </a:r>
          </a:p>
        </p:txBody>
      </p:sp>
      <p:sp>
        <p:nvSpPr>
          <p:cNvPr id="30724" name="Freeform 3"/>
          <p:cNvSpPr>
            <a:spLocks/>
          </p:cNvSpPr>
          <p:nvPr/>
        </p:nvSpPr>
        <p:spPr bwMode="auto">
          <a:xfrm>
            <a:off x="4133851" y="2787650"/>
            <a:ext cx="1222772" cy="1588"/>
          </a:xfrm>
          <a:custGeom>
            <a:avLst/>
            <a:gdLst>
              <a:gd name="T0" fmla="*/ 2147483647 w 848"/>
              <a:gd name="T1" fmla="*/ 0 h 1588"/>
              <a:gd name="T2" fmla="*/ 0 w 848"/>
              <a:gd name="T3" fmla="*/ 0 h 1588"/>
              <a:gd name="T4" fmla="*/ 2147483647 w 848"/>
              <a:gd name="T5" fmla="*/ 0 h 1588"/>
              <a:gd name="T6" fmla="*/ 0 60000 65536"/>
              <a:gd name="T7" fmla="*/ 0 60000 65536"/>
              <a:gd name="T8" fmla="*/ 0 60000 65536"/>
              <a:gd name="T9" fmla="*/ 0 w 848"/>
              <a:gd name="T10" fmla="*/ 0 h 1588"/>
              <a:gd name="T11" fmla="*/ 848 w 84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8" h="1588">
                <a:moveTo>
                  <a:pt x="848" y="0"/>
                </a:moveTo>
                <a:lnTo>
                  <a:pt x="0" y="0"/>
                </a:lnTo>
                <a:lnTo>
                  <a:pt x="84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5" name="Freeform 4"/>
          <p:cNvSpPr>
            <a:spLocks/>
          </p:cNvSpPr>
          <p:nvPr/>
        </p:nvSpPr>
        <p:spPr bwMode="auto">
          <a:xfrm>
            <a:off x="3384947" y="2532063"/>
            <a:ext cx="1971675" cy="0"/>
          </a:xfrm>
          <a:custGeom>
            <a:avLst/>
            <a:gdLst>
              <a:gd name="T0" fmla="*/ 2147483647 w 1368"/>
              <a:gd name="T1" fmla="*/ 0 w 1368"/>
              <a:gd name="T2" fmla="*/ 2147483647 w 1368"/>
              <a:gd name="T3" fmla="*/ 0 60000 65536"/>
              <a:gd name="T4" fmla="*/ 0 60000 65536"/>
              <a:gd name="T5" fmla="*/ 0 60000 65536"/>
              <a:gd name="T6" fmla="*/ 0 w 1368"/>
              <a:gd name="T7" fmla="*/ 1368 w 1368"/>
            </a:gdLst>
            <a:ahLst/>
            <a:cxnLst>
              <a:cxn ang="T3">
                <a:pos x="T0" y="0"/>
              </a:cxn>
              <a:cxn ang="T4">
                <a:pos x="T1" y="0"/>
              </a:cxn>
              <a:cxn ang="T5">
                <a:pos x="T2" y="0"/>
              </a:cxn>
            </a:cxnLst>
            <a:rect l="T6" t="0" r="T7" b="0"/>
            <a:pathLst>
              <a:path w="136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6" name="Freeform 5"/>
          <p:cNvSpPr>
            <a:spLocks/>
          </p:cNvSpPr>
          <p:nvPr/>
        </p:nvSpPr>
        <p:spPr bwMode="auto">
          <a:xfrm>
            <a:off x="3384947" y="4238625"/>
            <a:ext cx="1971675" cy="1588"/>
          </a:xfrm>
          <a:custGeom>
            <a:avLst/>
            <a:gdLst>
              <a:gd name="T0" fmla="*/ 2147483647 w 1368"/>
              <a:gd name="T1" fmla="*/ 0 h 1588"/>
              <a:gd name="T2" fmla="*/ 0 w 1368"/>
              <a:gd name="T3" fmla="*/ 0 h 1588"/>
              <a:gd name="T4" fmla="*/ 2147483647 w 1368"/>
              <a:gd name="T5" fmla="*/ 0 h 1588"/>
              <a:gd name="T6" fmla="*/ 0 60000 65536"/>
              <a:gd name="T7" fmla="*/ 0 60000 65536"/>
              <a:gd name="T8" fmla="*/ 0 60000 65536"/>
              <a:gd name="T9" fmla="*/ 0 w 1368"/>
              <a:gd name="T10" fmla="*/ 0 h 1588"/>
              <a:gd name="T11" fmla="*/ 1368 w 1368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8" h="1588">
                <a:moveTo>
                  <a:pt x="1368" y="0"/>
                </a:moveTo>
                <a:lnTo>
                  <a:pt x="0" y="0"/>
                </a:lnTo>
                <a:lnTo>
                  <a:pt x="1368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347781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347781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29" name="Rectangle 8"/>
          <p:cNvSpPr>
            <a:spLocks noChangeArrowheads="1"/>
          </p:cNvSpPr>
          <p:nvPr/>
        </p:nvSpPr>
        <p:spPr bwMode="auto">
          <a:xfrm>
            <a:off x="3618310" y="4659313"/>
            <a:ext cx="11906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0" name="Rectangle 9"/>
          <p:cNvSpPr>
            <a:spLocks noChangeArrowheads="1"/>
          </p:cNvSpPr>
          <p:nvPr/>
        </p:nvSpPr>
        <p:spPr bwMode="auto">
          <a:xfrm>
            <a:off x="320516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1" name="Rectangle 10"/>
          <p:cNvSpPr>
            <a:spLocks noChangeArrowheads="1"/>
          </p:cNvSpPr>
          <p:nvPr/>
        </p:nvSpPr>
        <p:spPr bwMode="auto">
          <a:xfrm>
            <a:off x="320516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2" name="Rectangle 11"/>
          <p:cNvSpPr>
            <a:spLocks noChangeArrowheads="1"/>
          </p:cNvSpPr>
          <p:nvPr/>
        </p:nvSpPr>
        <p:spPr bwMode="auto">
          <a:xfrm>
            <a:off x="3890963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3" name="Rectangle 12"/>
          <p:cNvSpPr>
            <a:spLocks noChangeArrowheads="1"/>
          </p:cNvSpPr>
          <p:nvPr/>
        </p:nvSpPr>
        <p:spPr bwMode="auto">
          <a:xfrm>
            <a:off x="3890963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4" name="Rectangle 13"/>
          <p:cNvSpPr>
            <a:spLocks noChangeArrowheads="1"/>
          </p:cNvSpPr>
          <p:nvPr/>
        </p:nvSpPr>
        <p:spPr bwMode="auto">
          <a:xfrm>
            <a:off x="40243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5" name="Rectangle 14"/>
          <p:cNvSpPr>
            <a:spLocks noChangeArrowheads="1"/>
          </p:cNvSpPr>
          <p:nvPr/>
        </p:nvSpPr>
        <p:spPr bwMode="auto">
          <a:xfrm>
            <a:off x="40243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6" name="Rectangle 15"/>
          <p:cNvSpPr>
            <a:spLocks noChangeArrowheads="1"/>
          </p:cNvSpPr>
          <p:nvPr/>
        </p:nvSpPr>
        <p:spPr bwMode="auto">
          <a:xfrm>
            <a:off x="4296966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7" name="Rectangle 16"/>
          <p:cNvSpPr>
            <a:spLocks noChangeArrowheads="1"/>
          </p:cNvSpPr>
          <p:nvPr/>
        </p:nvSpPr>
        <p:spPr bwMode="auto">
          <a:xfrm>
            <a:off x="4296966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8" name="Rectangle 17"/>
          <p:cNvSpPr>
            <a:spLocks noChangeArrowheads="1"/>
          </p:cNvSpPr>
          <p:nvPr/>
        </p:nvSpPr>
        <p:spPr bwMode="auto">
          <a:xfrm>
            <a:off x="4437460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39" name="Rectangle 18"/>
          <p:cNvSpPr>
            <a:spLocks noChangeArrowheads="1"/>
          </p:cNvSpPr>
          <p:nvPr/>
        </p:nvSpPr>
        <p:spPr bwMode="auto">
          <a:xfrm>
            <a:off x="4437460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0" name="Rectangle 19"/>
          <p:cNvSpPr>
            <a:spLocks noChangeArrowheads="1"/>
          </p:cNvSpPr>
          <p:nvPr/>
        </p:nvSpPr>
        <p:spPr bwMode="auto">
          <a:xfrm>
            <a:off x="471011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1" name="Rectangle 20"/>
          <p:cNvSpPr>
            <a:spLocks noChangeArrowheads="1"/>
          </p:cNvSpPr>
          <p:nvPr/>
        </p:nvSpPr>
        <p:spPr bwMode="auto">
          <a:xfrm>
            <a:off x="471011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2" name="Rectangle 21"/>
          <p:cNvSpPr>
            <a:spLocks noChangeArrowheads="1"/>
          </p:cNvSpPr>
          <p:nvPr/>
        </p:nvSpPr>
        <p:spPr bwMode="auto">
          <a:xfrm>
            <a:off x="48482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3" name="Rectangle 22"/>
          <p:cNvSpPr>
            <a:spLocks noChangeArrowheads="1"/>
          </p:cNvSpPr>
          <p:nvPr/>
        </p:nvSpPr>
        <p:spPr bwMode="auto">
          <a:xfrm>
            <a:off x="48482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4" name="Rectangle 23"/>
          <p:cNvSpPr>
            <a:spLocks noChangeArrowheads="1"/>
          </p:cNvSpPr>
          <p:nvPr/>
        </p:nvSpPr>
        <p:spPr bwMode="auto">
          <a:xfrm>
            <a:off x="3618310" y="5137151"/>
            <a:ext cx="11906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5" name="Rectangle 24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6" name="Rectangle 25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7" name="Rectangle 26"/>
          <p:cNvSpPr>
            <a:spLocks noChangeArrowheads="1"/>
          </p:cNvSpPr>
          <p:nvPr/>
        </p:nvSpPr>
        <p:spPr bwMode="auto">
          <a:xfrm>
            <a:off x="320516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8" name="Rectangle 27"/>
          <p:cNvSpPr>
            <a:spLocks noChangeArrowheads="1"/>
          </p:cNvSpPr>
          <p:nvPr/>
        </p:nvSpPr>
        <p:spPr bwMode="auto">
          <a:xfrm>
            <a:off x="40243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49" name="Rectangle 28"/>
          <p:cNvSpPr>
            <a:spLocks noChangeArrowheads="1"/>
          </p:cNvSpPr>
          <p:nvPr/>
        </p:nvSpPr>
        <p:spPr bwMode="auto">
          <a:xfrm>
            <a:off x="347781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0" name="Rectangle 29"/>
          <p:cNvSpPr>
            <a:spLocks noChangeArrowheads="1"/>
          </p:cNvSpPr>
          <p:nvPr/>
        </p:nvSpPr>
        <p:spPr bwMode="auto">
          <a:xfrm>
            <a:off x="3890963" y="5646738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1" name="Rectangle 30"/>
          <p:cNvSpPr>
            <a:spLocks noChangeArrowheads="1"/>
          </p:cNvSpPr>
          <p:nvPr/>
        </p:nvSpPr>
        <p:spPr bwMode="auto">
          <a:xfrm>
            <a:off x="4296966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2" name="Rectangle 31"/>
          <p:cNvSpPr>
            <a:spLocks noChangeArrowheads="1"/>
          </p:cNvSpPr>
          <p:nvPr/>
        </p:nvSpPr>
        <p:spPr bwMode="auto">
          <a:xfrm>
            <a:off x="471011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3" name="Rectangle 32"/>
          <p:cNvSpPr>
            <a:spLocks noChangeArrowheads="1"/>
          </p:cNvSpPr>
          <p:nvPr/>
        </p:nvSpPr>
        <p:spPr bwMode="auto">
          <a:xfrm>
            <a:off x="4437460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4" name="Rectangle 33"/>
          <p:cNvSpPr>
            <a:spLocks noChangeArrowheads="1"/>
          </p:cNvSpPr>
          <p:nvPr/>
        </p:nvSpPr>
        <p:spPr bwMode="auto">
          <a:xfrm>
            <a:off x="4848225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5" name="Rectangle 34"/>
          <p:cNvSpPr>
            <a:spLocks noChangeArrowheads="1"/>
          </p:cNvSpPr>
          <p:nvPr/>
        </p:nvSpPr>
        <p:spPr bwMode="auto">
          <a:xfrm>
            <a:off x="2658666" y="31226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6" name="Rectangle 35"/>
          <p:cNvSpPr>
            <a:spLocks noChangeArrowheads="1"/>
          </p:cNvSpPr>
          <p:nvPr/>
        </p:nvSpPr>
        <p:spPr bwMode="auto">
          <a:xfrm>
            <a:off x="30706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7" name="Rectangle 36"/>
          <p:cNvSpPr>
            <a:spLocks noChangeArrowheads="1"/>
          </p:cNvSpPr>
          <p:nvPr/>
        </p:nvSpPr>
        <p:spPr bwMode="auto">
          <a:xfrm>
            <a:off x="30706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8" name="Rectangle 37"/>
          <p:cNvSpPr>
            <a:spLocks noChangeArrowheads="1"/>
          </p:cNvSpPr>
          <p:nvPr/>
        </p:nvSpPr>
        <p:spPr bwMode="auto">
          <a:xfrm>
            <a:off x="3070622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59" name="Rectangle 38"/>
          <p:cNvSpPr>
            <a:spLocks noChangeArrowheads="1"/>
          </p:cNvSpPr>
          <p:nvPr/>
        </p:nvSpPr>
        <p:spPr bwMode="auto">
          <a:xfrm>
            <a:off x="2658666" y="44005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0" name="Rectangle 39"/>
          <p:cNvSpPr>
            <a:spLocks noChangeArrowheads="1"/>
          </p:cNvSpPr>
          <p:nvPr/>
        </p:nvSpPr>
        <p:spPr bwMode="auto">
          <a:xfrm>
            <a:off x="2658666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1" name="Rectangle 40"/>
          <p:cNvSpPr>
            <a:spLocks noChangeArrowheads="1"/>
          </p:cNvSpPr>
          <p:nvPr/>
        </p:nvSpPr>
        <p:spPr bwMode="auto">
          <a:xfrm>
            <a:off x="27967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2" name="Rectangle 41"/>
          <p:cNvSpPr>
            <a:spLocks noChangeArrowheads="1"/>
          </p:cNvSpPr>
          <p:nvPr/>
        </p:nvSpPr>
        <p:spPr bwMode="auto">
          <a:xfrm>
            <a:off x="27967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3" name="Rectangle 42"/>
          <p:cNvSpPr>
            <a:spLocks noChangeArrowheads="1"/>
          </p:cNvSpPr>
          <p:nvPr/>
        </p:nvSpPr>
        <p:spPr bwMode="auto">
          <a:xfrm>
            <a:off x="6016228" y="465931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4" name="Rectangle 43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5" name="Rectangle 44"/>
          <p:cNvSpPr>
            <a:spLocks noChangeArrowheads="1"/>
          </p:cNvSpPr>
          <p:nvPr/>
        </p:nvSpPr>
        <p:spPr bwMode="auto">
          <a:xfrm>
            <a:off x="571500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6" name="Rectangle 45"/>
          <p:cNvSpPr>
            <a:spLocks noChangeArrowheads="1"/>
          </p:cNvSpPr>
          <p:nvPr/>
        </p:nvSpPr>
        <p:spPr bwMode="auto">
          <a:xfrm>
            <a:off x="6016228" y="5137151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7" name="Rectangle 46"/>
          <p:cNvSpPr>
            <a:spLocks noChangeArrowheads="1"/>
          </p:cNvSpPr>
          <p:nvPr/>
        </p:nvSpPr>
        <p:spPr bwMode="auto">
          <a:xfrm>
            <a:off x="6562725" y="31226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8" name="Rectangle 47"/>
          <p:cNvSpPr>
            <a:spLocks noChangeArrowheads="1"/>
          </p:cNvSpPr>
          <p:nvPr/>
        </p:nvSpPr>
        <p:spPr bwMode="auto">
          <a:xfrm>
            <a:off x="6149578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69" name="Rectangle 48"/>
          <p:cNvSpPr>
            <a:spLocks noChangeArrowheads="1"/>
          </p:cNvSpPr>
          <p:nvPr/>
        </p:nvSpPr>
        <p:spPr bwMode="auto">
          <a:xfrm>
            <a:off x="6149578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0" name="Rectangle 49"/>
          <p:cNvSpPr>
            <a:spLocks noChangeArrowheads="1"/>
          </p:cNvSpPr>
          <p:nvPr/>
        </p:nvSpPr>
        <p:spPr bwMode="auto">
          <a:xfrm>
            <a:off x="6191250" y="5824538"/>
            <a:ext cx="4763" cy="1270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1" name="Rectangle 50"/>
          <p:cNvSpPr>
            <a:spLocks noChangeArrowheads="1"/>
          </p:cNvSpPr>
          <p:nvPr/>
        </p:nvSpPr>
        <p:spPr bwMode="auto">
          <a:xfrm>
            <a:off x="6149578" y="5646738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2" name="Rectangle 51"/>
          <p:cNvSpPr>
            <a:spLocks noChangeArrowheads="1"/>
          </p:cNvSpPr>
          <p:nvPr/>
        </p:nvSpPr>
        <p:spPr bwMode="auto">
          <a:xfrm>
            <a:off x="6562725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3" name="Rectangle 52"/>
          <p:cNvSpPr>
            <a:spLocks noChangeArrowheads="1"/>
          </p:cNvSpPr>
          <p:nvPr/>
        </p:nvSpPr>
        <p:spPr bwMode="auto">
          <a:xfrm>
            <a:off x="6562725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4" name="Rectangle 53"/>
          <p:cNvSpPr>
            <a:spLocks noChangeArrowheads="1"/>
          </p:cNvSpPr>
          <p:nvPr/>
        </p:nvSpPr>
        <p:spPr bwMode="auto">
          <a:xfrm>
            <a:off x="6423422" y="4400551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5" name="Rectangle 54"/>
          <p:cNvSpPr>
            <a:spLocks noChangeArrowheads="1"/>
          </p:cNvSpPr>
          <p:nvPr/>
        </p:nvSpPr>
        <p:spPr bwMode="auto">
          <a:xfrm>
            <a:off x="6423422" y="4659313"/>
            <a:ext cx="14288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6" name="Rectangle 55"/>
          <p:cNvSpPr>
            <a:spLocks noChangeArrowheads="1"/>
          </p:cNvSpPr>
          <p:nvPr/>
        </p:nvSpPr>
        <p:spPr bwMode="auto">
          <a:xfrm>
            <a:off x="6016228" y="3548063"/>
            <a:ext cx="13097" cy="4762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7" name="Rectangle 56"/>
          <p:cNvSpPr>
            <a:spLocks noChangeArrowheads="1"/>
          </p:cNvSpPr>
          <p:nvPr/>
        </p:nvSpPr>
        <p:spPr bwMode="auto">
          <a:xfrm>
            <a:off x="6016228" y="28860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8" name="Rectangle 57"/>
          <p:cNvSpPr>
            <a:spLocks noChangeArrowheads="1"/>
          </p:cNvSpPr>
          <p:nvPr/>
        </p:nvSpPr>
        <p:spPr bwMode="auto">
          <a:xfrm>
            <a:off x="3618310" y="6024563"/>
            <a:ext cx="11906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79" name="Rectangle 58"/>
          <p:cNvSpPr>
            <a:spLocks noChangeArrowheads="1"/>
          </p:cNvSpPr>
          <p:nvPr/>
        </p:nvSpPr>
        <p:spPr bwMode="auto">
          <a:xfrm>
            <a:off x="6016228" y="6024563"/>
            <a:ext cx="13097" cy="6350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0" name="Rectangle 59"/>
          <p:cNvSpPr>
            <a:spLocks noChangeArrowheads="1"/>
          </p:cNvSpPr>
          <p:nvPr/>
        </p:nvSpPr>
        <p:spPr bwMode="auto">
          <a:xfrm>
            <a:off x="61495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1" name="Rectangle 60"/>
          <p:cNvSpPr>
            <a:spLocks noChangeArrowheads="1"/>
          </p:cNvSpPr>
          <p:nvPr/>
        </p:nvSpPr>
        <p:spPr bwMode="auto">
          <a:xfrm>
            <a:off x="2658666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2" name="Rectangle 61"/>
          <p:cNvSpPr>
            <a:spLocks noChangeArrowheads="1"/>
          </p:cNvSpPr>
          <p:nvPr/>
        </p:nvSpPr>
        <p:spPr bwMode="auto">
          <a:xfrm>
            <a:off x="2796778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3" name="Rectangle 62"/>
          <p:cNvSpPr>
            <a:spLocks noChangeArrowheads="1"/>
          </p:cNvSpPr>
          <p:nvPr/>
        </p:nvSpPr>
        <p:spPr bwMode="auto">
          <a:xfrm>
            <a:off x="30706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4" name="Rectangle 63"/>
          <p:cNvSpPr>
            <a:spLocks noChangeArrowheads="1"/>
          </p:cNvSpPr>
          <p:nvPr/>
        </p:nvSpPr>
        <p:spPr bwMode="auto">
          <a:xfrm>
            <a:off x="320516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5" name="Rectangle 64"/>
          <p:cNvSpPr>
            <a:spLocks noChangeArrowheads="1"/>
          </p:cNvSpPr>
          <p:nvPr/>
        </p:nvSpPr>
        <p:spPr bwMode="auto">
          <a:xfrm>
            <a:off x="347781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6" name="Rectangle 65"/>
          <p:cNvSpPr>
            <a:spLocks noChangeArrowheads="1"/>
          </p:cNvSpPr>
          <p:nvPr/>
        </p:nvSpPr>
        <p:spPr bwMode="auto">
          <a:xfrm>
            <a:off x="3890963" y="2492376"/>
            <a:ext cx="13097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7" name="Rectangle 66"/>
          <p:cNvSpPr>
            <a:spLocks noChangeArrowheads="1"/>
          </p:cNvSpPr>
          <p:nvPr/>
        </p:nvSpPr>
        <p:spPr bwMode="auto">
          <a:xfrm>
            <a:off x="40243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8" name="Rectangle 67"/>
          <p:cNvSpPr>
            <a:spLocks noChangeArrowheads="1"/>
          </p:cNvSpPr>
          <p:nvPr/>
        </p:nvSpPr>
        <p:spPr bwMode="auto">
          <a:xfrm>
            <a:off x="4296966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89" name="Rectangle 68"/>
          <p:cNvSpPr>
            <a:spLocks noChangeArrowheads="1"/>
          </p:cNvSpPr>
          <p:nvPr/>
        </p:nvSpPr>
        <p:spPr bwMode="auto">
          <a:xfrm>
            <a:off x="4437460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90" name="Rectangle 69"/>
          <p:cNvSpPr>
            <a:spLocks noChangeArrowheads="1"/>
          </p:cNvSpPr>
          <p:nvPr/>
        </p:nvSpPr>
        <p:spPr bwMode="auto">
          <a:xfrm>
            <a:off x="471011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91" name="Rectangle 70"/>
          <p:cNvSpPr>
            <a:spLocks noChangeArrowheads="1"/>
          </p:cNvSpPr>
          <p:nvPr/>
        </p:nvSpPr>
        <p:spPr bwMode="auto">
          <a:xfrm>
            <a:off x="48482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92" name="Rectangle 71"/>
          <p:cNvSpPr>
            <a:spLocks noChangeArrowheads="1"/>
          </p:cNvSpPr>
          <p:nvPr/>
        </p:nvSpPr>
        <p:spPr bwMode="auto">
          <a:xfrm>
            <a:off x="6423422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0793" name="Rectangle 72"/>
          <p:cNvSpPr>
            <a:spLocks noChangeArrowheads="1"/>
          </p:cNvSpPr>
          <p:nvPr/>
        </p:nvSpPr>
        <p:spPr bwMode="auto">
          <a:xfrm>
            <a:off x="6562725" y="2492376"/>
            <a:ext cx="14288" cy="4763"/>
          </a:xfrm>
          <a:prstGeom prst="rect">
            <a:avLst/>
          </a:prstGeom>
          <a:solidFill>
            <a:srgbClr val="00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_______________ based designs must be sent  for expensive and time  consuming fabrication  in semiconductor foundry</a:t>
            </a:r>
          </a:p>
          <a:p>
            <a:pPr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pPr marL="457200" indent="-457200" fontAlgn="t">
              <a:buFont typeface="+mj-lt"/>
              <a:buAutoNum type="alphaUcPeriod"/>
            </a:pPr>
            <a:r>
              <a:rPr lang="en-US" sz="2400" dirty="0" smtClean="0"/>
              <a:t>ASIC</a:t>
            </a:r>
          </a:p>
          <a:p>
            <a:pPr marL="457200" indent="-457200" fontAlgn="t">
              <a:buFont typeface="+mj-lt"/>
              <a:buAutoNum type="alphaUcPeriod"/>
            </a:pPr>
            <a:r>
              <a:rPr lang="en-US" sz="2400" dirty="0" smtClean="0"/>
              <a:t>FPGA</a:t>
            </a:r>
          </a:p>
          <a:p>
            <a:pPr marL="457200" indent="-457200" fontAlgn="t">
              <a:buFont typeface="+mj-lt"/>
              <a:buAutoNum type="alphaUcPeriod"/>
            </a:pPr>
            <a:r>
              <a:rPr lang="en-US" sz="2400" dirty="0" smtClean="0"/>
              <a:t>Both</a:t>
            </a:r>
          </a:p>
          <a:p>
            <a:pPr marL="457200" indent="-457200" fontAlgn="t">
              <a:buFont typeface="+mj-lt"/>
              <a:buAutoNum type="alphaUcPeriod"/>
            </a:pPr>
            <a:r>
              <a:rPr lang="en-US" sz="2400" dirty="0" smtClean="0"/>
              <a:t>None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_______________ based designs bought off the shelf (ready to use)  and reconfigured by  designers themselves</a:t>
            </a:r>
          </a:p>
          <a:p>
            <a:pPr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 fontAlgn="t">
              <a:buFont typeface="+mj-lt"/>
              <a:buAutoNum type="alphaUcPeriod"/>
            </a:pPr>
            <a:r>
              <a:rPr lang="en-US" sz="2000" dirty="0" smtClean="0"/>
              <a:t>ASIC</a:t>
            </a:r>
          </a:p>
          <a:p>
            <a:pPr marL="457200" indent="-457200" fontAlgn="t">
              <a:buFont typeface="+mj-lt"/>
              <a:buAutoNum type="alphaUcPeriod"/>
            </a:pPr>
            <a:r>
              <a:rPr lang="en-US" sz="2000" dirty="0" smtClean="0"/>
              <a:t>FPGA</a:t>
            </a:r>
          </a:p>
          <a:p>
            <a:pPr marL="457200" indent="-457200" fontAlgn="t">
              <a:buFont typeface="+mj-lt"/>
              <a:buAutoNum type="alphaUcPeriod"/>
            </a:pPr>
            <a:r>
              <a:rPr lang="en-US" sz="2000" dirty="0" smtClean="0"/>
              <a:t>Both</a:t>
            </a:r>
          </a:p>
          <a:p>
            <a:pPr marL="457200" indent="-457200" fontAlgn="t">
              <a:buFont typeface="+mj-lt"/>
              <a:buAutoNum type="alphaUcPeriod"/>
            </a:pPr>
            <a:r>
              <a:rPr lang="en-US" sz="2000" dirty="0" smtClean="0"/>
              <a:t>None</a:t>
            </a:r>
            <a:endParaRPr lang="en-US" sz="2000" b="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Internal component of FPGA are</a:t>
            </a:r>
          </a:p>
          <a:p>
            <a:pPr fontAlgn="t">
              <a:buNone/>
            </a:pPr>
            <a:endParaRPr lang="en-US" dirty="0" smtClean="0"/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CLB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IOB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BRAM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dirty="0" smtClean="0"/>
              <a:t>All of the above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Look-up-table (LUT) are composed of</a:t>
            </a:r>
          </a:p>
          <a:p>
            <a:pPr fontAlgn="t">
              <a:buNone/>
            </a:pPr>
            <a:endParaRPr lang="en-US" sz="2800" dirty="0" smtClean="0"/>
          </a:p>
          <a:p>
            <a:pPr marL="514350" indent="-514350" fontAlgn="t">
              <a:buFont typeface="+mj-lt"/>
              <a:buAutoNum type="alphaUcPeriod"/>
            </a:pPr>
            <a:r>
              <a:rPr lang="en-US" sz="2800" dirty="0" smtClean="0"/>
              <a:t>multiplexer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sz="2800" dirty="0" smtClean="0"/>
              <a:t>decoder</a:t>
            </a:r>
          </a:p>
          <a:p>
            <a:pPr marL="514350" indent="-514350" fontAlgn="t">
              <a:buFont typeface="+mj-lt"/>
              <a:buAutoNum type="alphaUcPeriod"/>
            </a:pPr>
            <a:r>
              <a:rPr lang="en-US" sz="2800" dirty="0" err="1" smtClean="0"/>
              <a:t>demultiplexer</a:t>
            </a:r>
            <a:endParaRPr lang="en-US" sz="2800" dirty="0" smtClean="0"/>
          </a:p>
          <a:p>
            <a:pPr marL="514350" indent="-514350" fontAlgn="t">
              <a:buFont typeface="+mj-lt"/>
              <a:buAutoNum type="alphaUcPeriod"/>
            </a:pPr>
            <a:r>
              <a:rPr lang="en-US" sz="2800" dirty="0" smtClean="0"/>
              <a:t>encoder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5520</Words>
  <Application>Microsoft Office PowerPoint</Application>
  <PresentationFormat>On-screen Show (4:3)</PresentationFormat>
  <Paragraphs>1290</Paragraphs>
  <Slides>189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189</vt:i4>
      </vt:variant>
    </vt:vector>
  </HeadingPairs>
  <TitlesOfParts>
    <vt:vector size="191" baseType="lpstr">
      <vt:lpstr>Office Theme</vt:lpstr>
      <vt:lpstr>Equation</vt:lpstr>
      <vt:lpstr>Verilog</vt:lpstr>
      <vt:lpstr>Introduction</vt:lpstr>
      <vt:lpstr>VHDL vs Verilog</vt:lpstr>
      <vt:lpstr>VLSI Design Flow</vt:lpstr>
      <vt:lpstr>Design Methodologies</vt:lpstr>
      <vt:lpstr>Slide 6</vt:lpstr>
      <vt:lpstr>Slide 7</vt:lpstr>
      <vt:lpstr>Slide 8</vt:lpstr>
      <vt:lpstr>Lexical Conventions</vt:lpstr>
      <vt:lpstr>Slide 10</vt:lpstr>
      <vt:lpstr>Slide 11</vt:lpstr>
      <vt:lpstr>Verilog Logic Value</vt:lpstr>
      <vt:lpstr>Slide 13</vt:lpstr>
      <vt:lpstr>Slide 14</vt:lpstr>
      <vt:lpstr>Slide 15</vt:lpstr>
      <vt:lpstr>QUIZ</vt:lpstr>
      <vt:lpstr>QUIZ</vt:lpstr>
      <vt:lpstr>Slide 18</vt:lpstr>
      <vt:lpstr>Slide 19</vt:lpstr>
      <vt:lpstr>Practice</vt:lpstr>
      <vt:lpstr>Practice</vt:lpstr>
      <vt:lpstr>Practice</vt:lpstr>
      <vt:lpstr>System Tasks  $&lt;keyword&gt;</vt:lpstr>
      <vt:lpstr>Slide 24</vt:lpstr>
      <vt:lpstr>Slide 25</vt:lpstr>
      <vt:lpstr>Slide 26</vt:lpstr>
      <vt:lpstr>QUIZ</vt:lpstr>
      <vt:lpstr>Example</vt:lpstr>
      <vt:lpstr>QUIZ</vt:lpstr>
      <vt:lpstr>Slide 30</vt:lpstr>
      <vt:lpstr>Slide 31</vt:lpstr>
      <vt:lpstr>QUIZ</vt:lpstr>
      <vt:lpstr>Slide 33</vt:lpstr>
      <vt:lpstr> Components of a Simulation  </vt:lpstr>
      <vt:lpstr>Slide 35</vt:lpstr>
      <vt:lpstr> Components of a Verilog Module  </vt:lpstr>
      <vt:lpstr>Slide 37</vt:lpstr>
      <vt:lpstr>Gate Level Modeling</vt:lpstr>
      <vt:lpstr>Slide 39</vt:lpstr>
      <vt:lpstr>Slide 40</vt:lpstr>
      <vt:lpstr> Gate Delays  </vt:lpstr>
      <vt:lpstr>Slide 42</vt:lpstr>
      <vt:lpstr>Slide 43</vt:lpstr>
      <vt:lpstr>Slide 44</vt:lpstr>
      <vt:lpstr>Example</vt:lpstr>
      <vt:lpstr> Min/Typ/Max Values  of Delay </vt:lpstr>
      <vt:lpstr>QUIZ</vt:lpstr>
      <vt:lpstr>Verilog Program</vt:lpstr>
      <vt:lpstr>Slide 49</vt:lpstr>
      <vt:lpstr>Slide 50</vt:lpstr>
      <vt:lpstr>Slide 51</vt:lpstr>
      <vt:lpstr>Subtractor</vt:lpstr>
      <vt:lpstr>4:1 mux using 2:1 mux</vt:lpstr>
      <vt:lpstr>2:4 Decoder</vt:lpstr>
      <vt:lpstr>3:8 Decoder using 2:4 Decoder</vt:lpstr>
      <vt:lpstr>4:16 Decoder using 2:4 Decoder</vt:lpstr>
      <vt:lpstr>4 bit Ripple Carry Adder</vt:lpstr>
      <vt:lpstr>Carry Look ahead Adder</vt:lpstr>
      <vt:lpstr>CLA </vt:lpstr>
      <vt:lpstr>Carry Save Adder</vt:lpstr>
      <vt:lpstr>Dataflow Modeling</vt:lpstr>
      <vt:lpstr>Delay (# value) ns</vt:lpstr>
      <vt:lpstr>            Operator  --  Operand Operands can be any one of the data types  Operators act on the operands to produce desired results    </vt:lpstr>
      <vt:lpstr>Slide 64</vt:lpstr>
      <vt:lpstr>Slide 65</vt:lpstr>
      <vt:lpstr>Slide 66</vt:lpstr>
      <vt:lpstr>Slide 67</vt:lpstr>
      <vt:lpstr>Slide 68</vt:lpstr>
      <vt:lpstr>Slide 69</vt:lpstr>
      <vt:lpstr>Practice</vt:lpstr>
      <vt:lpstr>FSM (Finite State Machine)</vt:lpstr>
      <vt:lpstr>Sequence Detector</vt:lpstr>
      <vt:lpstr>QUIZ</vt:lpstr>
      <vt:lpstr>Slide 74</vt:lpstr>
      <vt:lpstr>Mealy sequence Detector 1010</vt:lpstr>
      <vt:lpstr>QUIZ</vt:lpstr>
      <vt:lpstr>Slide 77</vt:lpstr>
      <vt:lpstr>QUIZ</vt:lpstr>
      <vt:lpstr>Slide 79</vt:lpstr>
      <vt:lpstr>Sequence Detector</vt:lpstr>
      <vt:lpstr>Slide 81</vt:lpstr>
      <vt:lpstr>Revision</vt:lpstr>
      <vt:lpstr>QUIZ</vt:lpstr>
      <vt:lpstr> Behavioral Modeling  </vt:lpstr>
      <vt:lpstr> Behavioral Modeling  </vt:lpstr>
      <vt:lpstr>Slide 86</vt:lpstr>
      <vt:lpstr>QUIZ</vt:lpstr>
      <vt:lpstr>Slide 88</vt:lpstr>
      <vt:lpstr>Clock Generator with Duty Cycle</vt:lpstr>
      <vt:lpstr>Procedural Assignment</vt:lpstr>
      <vt:lpstr>Slide 91</vt:lpstr>
      <vt:lpstr>Example</vt:lpstr>
      <vt:lpstr>QUIZ</vt:lpstr>
      <vt:lpstr>Slide 94</vt:lpstr>
      <vt:lpstr>Slide 95</vt:lpstr>
      <vt:lpstr>Slide 96</vt:lpstr>
      <vt:lpstr>Slide 97</vt:lpstr>
      <vt:lpstr>Swapping Example</vt:lpstr>
      <vt:lpstr>Slide 99</vt:lpstr>
      <vt:lpstr>QUIZ</vt:lpstr>
      <vt:lpstr>Slide 101</vt:lpstr>
      <vt:lpstr>Slide 102</vt:lpstr>
      <vt:lpstr> Event-Based Timing Control  </vt:lpstr>
      <vt:lpstr>Slide 104</vt:lpstr>
      <vt:lpstr>Conditional Statements </vt:lpstr>
      <vt:lpstr>Multiway Branching </vt:lpstr>
      <vt:lpstr>Example</vt:lpstr>
      <vt:lpstr>Slide 108</vt:lpstr>
      <vt:lpstr>casez and casex statement</vt:lpstr>
      <vt:lpstr>TFF     DFF</vt:lpstr>
      <vt:lpstr>UP Down Counter</vt:lpstr>
      <vt:lpstr>Shift Register</vt:lpstr>
      <vt:lpstr>LFSR</vt:lpstr>
      <vt:lpstr>Slide 114</vt:lpstr>
      <vt:lpstr>Slide 115</vt:lpstr>
      <vt:lpstr>FSM Programming</vt:lpstr>
      <vt:lpstr>Slide 117</vt:lpstr>
      <vt:lpstr>LOOP</vt:lpstr>
      <vt:lpstr>Slide 119</vt:lpstr>
      <vt:lpstr>Slide 120</vt:lpstr>
      <vt:lpstr>Slide 121</vt:lpstr>
      <vt:lpstr>Slide 122</vt:lpstr>
      <vt:lpstr>Slide 123</vt:lpstr>
      <vt:lpstr>Loop Example</vt:lpstr>
      <vt:lpstr>4-bit Comparator in verilog</vt:lpstr>
      <vt:lpstr>Slide 126</vt:lpstr>
      <vt:lpstr>Slide 127</vt:lpstr>
      <vt:lpstr>Memories in Verilog</vt:lpstr>
      <vt:lpstr>Create RAM of 256 bytes and fill with number 0-255</vt:lpstr>
      <vt:lpstr>Verilog ROM Program</vt:lpstr>
      <vt:lpstr>Slide 131</vt:lpstr>
      <vt:lpstr>Slide 132</vt:lpstr>
      <vt:lpstr>Slide 133</vt:lpstr>
      <vt:lpstr>Switch Level Modelling</vt:lpstr>
      <vt:lpstr>CMOS NOT GATE</vt:lpstr>
      <vt:lpstr>Slide 136</vt:lpstr>
      <vt:lpstr>CMOS NOR GATE </vt:lpstr>
      <vt:lpstr>CMOS Switch</vt:lpstr>
      <vt:lpstr>Slide 139</vt:lpstr>
      <vt:lpstr>Bidirectional Switches </vt:lpstr>
      <vt:lpstr>Slide 141</vt:lpstr>
      <vt:lpstr>Slide 142</vt:lpstr>
      <vt:lpstr>Switch with Delay</vt:lpstr>
      <vt:lpstr>Tasks and Functions </vt:lpstr>
      <vt:lpstr>Slide 145</vt:lpstr>
      <vt:lpstr>QUIZ</vt:lpstr>
      <vt:lpstr>Tasks- keywords task and endtask </vt:lpstr>
      <vt:lpstr>Automatic (Re-entrant) Task</vt:lpstr>
      <vt:lpstr>Functions </vt:lpstr>
      <vt:lpstr>Slide 150</vt:lpstr>
      <vt:lpstr>Slide 151</vt:lpstr>
      <vt:lpstr>Slide 152</vt:lpstr>
      <vt:lpstr>User-Defined Primitives </vt:lpstr>
      <vt:lpstr>Combinational UDP</vt:lpstr>
      <vt:lpstr>UDP Rules</vt:lpstr>
      <vt:lpstr>Slide 156</vt:lpstr>
      <vt:lpstr>Slide 157</vt:lpstr>
      <vt:lpstr>UDP_OR</vt:lpstr>
      <vt:lpstr>UDP_MUX4:1</vt:lpstr>
      <vt:lpstr>Slide 160</vt:lpstr>
      <vt:lpstr>Sequential UDP</vt:lpstr>
      <vt:lpstr>Slide 162</vt:lpstr>
      <vt:lpstr>Slide 163</vt:lpstr>
      <vt:lpstr>Slide 164</vt:lpstr>
      <vt:lpstr>Slide 165</vt:lpstr>
      <vt:lpstr>Synthesis</vt:lpstr>
      <vt:lpstr>Slide 167</vt:lpstr>
      <vt:lpstr>Slide 168</vt:lpstr>
      <vt:lpstr>Slide 169</vt:lpstr>
      <vt:lpstr>Slide 170</vt:lpstr>
      <vt:lpstr>Slide 171</vt:lpstr>
      <vt:lpstr>Introduction to FPGA &amp; CPLD Devices</vt:lpstr>
      <vt:lpstr>Hierarchy of Logic Implementations</vt:lpstr>
      <vt:lpstr>Slide 174</vt:lpstr>
      <vt:lpstr>Slide 175</vt:lpstr>
      <vt:lpstr>Other FPGA Advantages</vt:lpstr>
      <vt:lpstr>Major FPGA Vendors</vt:lpstr>
      <vt:lpstr>Xilinx FPGA Families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</dc:title>
  <dc:creator>HP</dc:creator>
  <cp:lastModifiedBy>HP</cp:lastModifiedBy>
  <cp:revision>226</cp:revision>
  <dcterms:created xsi:type="dcterms:W3CDTF">2016-02-02T04:21:29Z</dcterms:created>
  <dcterms:modified xsi:type="dcterms:W3CDTF">2024-10-11T04:02:28Z</dcterms:modified>
</cp:coreProperties>
</file>