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7" r:id="rId6"/>
    <p:sldId id="268" r:id="rId7"/>
    <p:sldId id="259" r:id="rId8"/>
    <p:sldId id="269" r:id="rId9"/>
    <p:sldId id="270" r:id="rId10"/>
    <p:sldId id="271" r:id="rId11"/>
    <p:sldId id="276" r:id="rId12"/>
    <p:sldId id="272" r:id="rId13"/>
    <p:sldId id="273" r:id="rId14"/>
    <p:sldId id="274" r:id="rId15"/>
    <p:sldId id="275" r:id="rId16"/>
    <p:sldId id="278" r:id="rId17"/>
    <p:sldId id="265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" y="26035"/>
            <a:ext cx="9112250" cy="703580"/>
          </a:xfrm>
        </p:spPr>
        <p:txBody>
          <a:bodyPr>
            <a:normAutofit fontScale="90000"/>
          </a:bodyPr>
          <a:lstStyle/>
          <a:p>
            <a:r>
              <a:rPr>
                <a:highlight>
                  <a:srgbClr val="FFFF00"/>
                </a:highlight>
              </a:rPr>
              <a:t>Lookup Table (LUT) in VLSI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" y="1203960"/>
            <a:ext cx="9078595" cy="5259070"/>
          </a:xfrm>
        </p:spPr>
        <p:txBody>
          <a:bodyPr/>
          <a:lstStyle/>
          <a:p>
            <a:pPr marL="0" indent="0">
              <a:buNone/>
            </a:pPr>
            <a:r>
              <a:rPr sz="2400"/>
              <a:t>• Memory-based logic implementation</a:t>
            </a:r>
            <a:endParaRPr sz="2400"/>
          </a:p>
          <a:p>
            <a:pPr marL="0" indent="0">
              <a:buNone/>
            </a:pPr>
            <a:r>
              <a:rPr sz="2400"/>
              <a:t>• Widely used in FPGA and ASIC</a:t>
            </a:r>
            <a:endParaRPr sz="2400"/>
          </a:p>
          <a:p>
            <a:pPr marL="0" indent="0">
              <a:buNone/>
            </a:pPr>
            <a:r>
              <a:rPr sz="2400"/>
              <a:t>• Implements Boolean functions using stored values</a:t>
            </a:r>
            <a:endParaRPr sz="2400"/>
          </a:p>
          <a:p>
            <a:pPr marL="0" indent="0">
              <a:buNone/>
            </a:pPr>
            <a:endParaRPr sz="2400"/>
          </a:p>
          <a:p>
            <a:pPr marL="0" indent="0">
              <a:buNone/>
            </a:pPr>
            <a:r>
              <a:rPr lang="en-GB" altLang="en-US" sz="2400"/>
              <a:t>M</a:t>
            </a:r>
            <a:r>
              <a:rPr lang="en-US" altLang="en-GB" sz="2400"/>
              <a:t>emory-based way to implement digital logic. 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Instead of building a Boolean function using</a:t>
            </a:r>
            <a:r>
              <a:rPr lang="en-GB" altLang="en-US" sz="2400">
                <a:highlight>
                  <a:srgbClr val="FFFF00"/>
                </a:highlight>
              </a:rPr>
              <a:t> </a:t>
            </a:r>
            <a:r>
              <a:rPr lang="en-US" altLang="en-GB" sz="2400">
                <a:highlight>
                  <a:srgbClr val="FFFF00"/>
                </a:highlight>
              </a:rPr>
              <a:t>logic gates</a:t>
            </a:r>
            <a:r>
              <a:rPr lang="en-US" altLang="en-GB" sz="2400"/>
              <a:t>, function’s </a:t>
            </a:r>
            <a:r>
              <a:rPr lang="en-US" altLang="en-GB" sz="2400">
                <a:highlight>
                  <a:srgbClr val="FFFF00"/>
                </a:highlight>
              </a:rPr>
              <a:t>truth table</a:t>
            </a:r>
            <a:r>
              <a:rPr lang="en-US" altLang="en-GB" sz="2400"/>
              <a:t> is stored in memory, and the inputs “</a:t>
            </a:r>
            <a:r>
              <a:rPr lang="en-US" altLang="en-GB" sz="2400" b="1">
                <a:solidFill>
                  <a:srgbClr val="FF0000"/>
                </a:solidFill>
              </a:rPr>
              <a:t>look up</a:t>
            </a:r>
            <a:r>
              <a:rPr lang="en-US" altLang="en-GB" sz="2400"/>
              <a:t>” correct output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1699895" y="566229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2800"/>
              <a:t>output = table[input]</a:t>
            </a:r>
            <a:endParaRPr lang="en-US" altLang="en-GB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21445" cy="570865"/>
          </a:xfrm>
        </p:spPr>
        <p:txBody>
          <a:bodyPr>
            <a:normAutofit fontScale="90000"/>
          </a:bodyPr>
          <a:lstStyle/>
          <a:p>
            <a:r>
              <a:rPr>
                <a:highlight>
                  <a:srgbClr val="FFFF00"/>
                </a:highlight>
              </a:rPr>
              <a:t>What is a LUT?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3970" y="1614170"/>
            <a:ext cx="9008745" cy="5053330"/>
          </a:xfrm>
        </p:spPr>
        <p:txBody>
          <a:bodyPr/>
          <a:lstStyle/>
          <a:p>
            <a:pPr marL="0" indent="0">
              <a:buNone/>
            </a:pPr>
            <a:r>
              <a:rPr sz="2000"/>
              <a:t> LUT stores truth table values</a:t>
            </a:r>
            <a:endParaRPr sz="2000"/>
          </a:p>
          <a:p>
            <a:pPr marL="0" indent="0">
              <a:buNone/>
            </a:pPr>
            <a:r>
              <a:rPr sz="2000"/>
              <a:t> Inputs act as address</a:t>
            </a:r>
            <a:endParaRPr sz="2000"/>
          </a:p>
          <a:p>
            <a:pPr marL="0" indent="0">
              <a:buNone/>
            </a:pPr>
            <a:r>
              <a:rPr sz="2000"/>
              <a:t> Output is selected stored bit</a:t>
            </a:r>
            <a:endParaRPr sz="2000"/>
          </a:p>
          <a:p>
            <a:pPr marL="0" indent="0">
              <a:buNone/>
            </a:pPr>
            <a:endParaRPr sz="2000"/>
          </a:p>
          <a:p>
            <a:pPr marL="0" indent="0">
              <a:buNone/>
            </a:pPr>
            <a:endParaRPr sz="2000"/>
          </a:p>
          <a:p>
            <a:pPr marL="0" indent="0">
              <a:buNone/>
            </a:pPr>
            <a:endParaRPr sz="2000"/>
          </a:p>
          <a:p>
            <a:pPr marL="0" indent="0">
              <a:buNone/>
            </a:pPr>
            <a:endParaRPr sz="2000"/>
          </a:p>
          <a:p>
            <a:pPr marL="0" indent="0">
              <a:buNone/>
            </a:pPr>
            <a:endParaRPr sz="2000"/>
          </a:p>
          <a:p>
            <a:pPr marL="0" indent="0">
              <a:buNone/>
            </a:pPr>
            <a:r>
              <a:rPr lang="en-US" altLang="en-GB" sz="2000"/>
              <a:t>Inputs A and B are the address pins and C is the data pin. 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Every time your address pins are changing pointing at a different address entry and they are “reading out” result </a:t>
            </a:r>
            <a:r>
              <a:rPr lang="en-GB" altLang="en-US" sz="2000"/>
              <a:t> </a:t>
            </a:r>
            <a:endParaRPr lang="en-GB" altLang="en-US" sz="200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4712018" y="1381125"/>
            <a:ext cx="290512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305" y="0"/>
            <a:ext cx="8229600" cy="732790"/>
          </a:xfrm>
        </p:spPr>
        <p:txBody>
          <a:bodyPr>
            <a:normAutofit fontScale="90000"/>
          </a:bodyPr>
          <a:lstStyle/>
          <a:p>
            <a:r>
              <a:rPr>
                <a:highlight>
                  <a:srgbClr val="FFFF00"/>
                </a:highlight>
              </a:rPr>
              <a:t>LUT Size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70" y="1145540"/>
            <a:ext cx="8380730" cy="4980940"/>
          </a:xfrm>
        </p:spPr>
        <p:txBody>
          <a:bodyPr/>
          <a:lstStyle/>
          <a:p>
            <a:r>
              <a:rPr sz="2800"/>
              <a:t>N-input LUT requires 2^N memory bits</a:t>
            </a:r>
            <a:endParaRPr sz="2800"/>
          </a:p>
          <a:p>
            <a:pPr marL="0" indent="0">
              <a:buNone/>
            </a:pPr>
            <a:r>
              <a:rPr sz="2800"/>
              <a:t>2-LUT → 4 bits</a:t>
            </a:r>
            <a:endParaRPr sz="2800"/>
          </a:p>
          <a:p>
            <a:pPr marL="0" indent="0">
              <a:buNone/>
            </a:pPr>
            <a:r>
              <a:rPr sz="2800"/>
              <a:t>3-LUT → 8 bits</a:t>
            </a:r>
            <a:endParaRPr sz="2800"/>
          </a:p>
          <a:p>
            <a:pPr marL="0" indent="0">
              <a:buNone/>
            </a:pPr>
            <a:r>
              <a:rPr sz="2800"/>
              <a:t>6-LUT → 64 bits</a:t>
            </a:r>
            <a:endParaRPr sz="2800"/>
          </a:p>
          <a:p>
            <a:pPr marL="0" indent="0">
              <a:buNone/>
            </a:pPr>
            <a:endParaRPr lang="en-US" altLang="en-GB" sz="2800"/>
          </a:p>
          <a:p>
            <a:pPr marL="0" indent="0">
              <a:buNone/>
            </a:pPr>
            <a:endParaRPr lang="en-US" altLang="en-GB" sz="2800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2499995" y="3830320"/>
          <a:ext cx="4475480" cy="2603500"/>
        </p:xfrm>
        <a:graphic>
          <a:graphicData uri="http://schemas.openxmlformats.org/drawingml/2006/table">
            <a:tbl>
              <a:tblPr/>
              <a:tblGrid>
                <a:gridCol w="708660"/>
                <a:gridCol w="591185"/>
                <a:gridCol w="1205865"/>
                <a:gridCol w="1969770"/>
              </a:tblGrid>
              <a:tr h="868045">
                <a:tc>
                  <a:txBody>
                    <a:bodyPr/>
                    <a:p>
                      <a:pPr algn="ctr"/>
                      <a:r>
                        <a:rPr sz="2400"/>
                        <a:t>A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B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Address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Output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</a:tr>
              <a:tr h="433705">
                <a:tc>
                  <a:txBody>
                    <a:bodyPr/>
                    <a:p>
                      <a:pPr algn="ctr"/>
                      <a:r>
                        <a:rPr sz="2400"/>
                        <a:t>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00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f(0,0)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</a:tr>
              <a:tr h="433705">
                <a:tc>
                  <a:txBody>
                    <a:bodyPr/>
                    <a:p>
                      <a:pPr algn="ctr"/>
                      <a:r>
                        <a:rPr sz="2400"/>
                        <a:t>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1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01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f(0,1)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</a:tr>
              <a:tr h="433705">
                <a:tc>
                  <a:txBody>
                    <a:bodyPr/>
                    <a:p>
                      <a:pPr algn="ctr"/>
                      <a:r>
                        <a:rPr sz="2400"/>
                        <a:t>1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10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f(1,0)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</a:tr>
              <a:tr h="434340">
                <a:tc>
                  <a:txBody>
                    <a:bodyPr/>
                    <a:p>
                      <a:pPr algn="ctr"/>
                      <a:r>
                        <a:rPr sz="2400"/>
                        <a:t>1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1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11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p>
                      <a:pPr algn="ctr"/>
                      <a:r>
                        <a:rPr sz="2400"/>
                        <a:t>f(1,1)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5">
                      <a:fgClr>
                        <a:srgbClr val="4F81BD"/>
                      </a:fgClr>
                      <a:bgClr>
                        <a:srgbClr val="FFFFFF"/>
                      </a:bgClr>
                    </a:pattFil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4972685" y="2082165"/>
            <a:ext cx="4171315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GB" sz="2400">
                <a:highlight>
                  <a:srgbClr val="FFFF00"/>
                </a:highlight>
              </a:rPr>
              <a:t>R</a:t>
            </a:r>
            <a:r>
              <a:rPr sz="2400">
                <a:highlight>
                  <a:srgbClr val="FFFF00"/>
                </a:highlight>
              </a:rPr>
              <a:t>ealizes Boolean functions by mapping input combinations to pre-stored output values.</a:t>
            </a:r>
            <a:endParaRPr sz="2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3025"/>
            <a:ext cx="9144000" cy="937260"/>
          </a:xfrm>
        </p:spPr>
        <p:txBody>
          <a:bodyPr/>
          <a:p>
            <a:r>
              <a:rPr lang="en-GB" altLang="en-US">
                <a:highlight>
                  <a:srgbClr val="FFFF00"/>
                </a:highlight>
              </a:rPr>
              <a:t>Decoder-Mux based LUT</a:t>
            </a:r>
            <a:endParaRPr lang="en-GB" altLang="en-US">
              <a:highlight>
                <a:srgbClr val="FFFF00"/>
              </a:highligh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64417" t="34029" r="13163" b="32053"/>
          <a:stretch>
            <a:fillRect/>
          </a:stretch>
        </p:blipFill>
        <p:spPr>
          <a:xfrm>
            <a:off x="0" y="1050290"/>
            <a:ext cx="4117340" cy="3502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27659" t="45356" r="53987" b="26915"/>
          <a:stretch>
            <a:fillRect/>
          </a:stretch>
        </p:blipFill>
        <p:spPr>
          <a:xfrm rot="16200000">
            <a:off x="4808220" y="1435735"/>
            <a:ext cx="3674745" cy="31216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22046" t="60196" r="72388" b="34073"/>
          <a:stretch>
            <a:fillRect/>
          </a:stretch>
        </p:blipFill>
        <p:spPr>
          <a:xfrm>
            <a:off x="6402705" y="4834255"/>
            <a:ext cx="1114425" cy="6451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47297" t="66316" r="46338" b="27304"/>
          <a:stretch>
            <a:fillRect/>
          </a:stretch>
        </p:blipFill>
        <p:spPr>
          <a:xfrm>
            <a:off x="7690485" y="918210"/>
            <a:ext cx="1274445" cy="71818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45085" y="4702810"/>
            <a:ext cx="382524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/>
              <a:t>Inputs </a:t>
            </a:r>
            <a:r>
              <a:rPr lang="en-US" altLang="en-US"/>
              <a:t>──►</a:t>
            </a:r>
            <a:r>
              <a:rPr lang="en-US" altLang="en-GB"/>
              <a:t> Decoder </a:t>
            </a:r>
            <a:r>
              <a:rPr lang="en-US" altLang="en-US"/>
              <a:t>──►</a:t>
            </a:r>
            <a:r>
              <a:rPr lang="en-US" altLang="en-GB"/>
              <a:t> Wordlines</a:t>
            </a:r>
            <a:endParaRPr lang="en-US" altLang="en-GB"/>
          </a:p>
          <a:p>
            <a:r>
              <a:rPr lang="en-US" altLang="en-GB"/>
              <a:t>                      |</a:t>
            </a:r>
            <a:endParaRPr lang="en-US" altLang="en-GB"/>
          </a:p>
          <a:p>
            <a:r>
              <a:rPr lang="en-US" altLang="en-GB"/>
              <a:t>                Memory Cells (SRAM/ROM)</a:t>
            </a:r>
            <a:endParaRPr lang="en-US" altLang="en-GB"/>
          </a:p>
          <a:p>
            <a:r>
              <a:rPr lang="en-US" altLang="en-GB"/>
              <a:t>                      |</a:t>
            </a:r>
            <a:endParaRPr lang="en-US" altLang="en-GB"/>
          </a:p>
          <a:p>
            <a:r>
              <a:rPr lang="en-US" altLang="en-GB"/>
              <a:t>                   Output</a:t>
            </a:r>
            <a:endParaRPr lang="en-GB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5450840" y="5479415"/>
            <a:ext cx="36931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/>
              <a:t>Inputs </a:t>
            </a:r>
            <a:r>
              <a:rPr lang="en-US" altLang="en-US"/>
              <a:t>──►</a:t>
            </a:r>
            <a:r>
              <a:rPr lang="en-US" altLang="en-GB"/>
              <a:t> MUX Tree </a:t>
            </a:r>
            <a:r>
              <a:rPr lang="en-US" altLang="en-US"/>
              <a:t>──►</a:t>
            </a:r>
            <a:r>
              <a:rPr lang="en-US" altLang="en-GB"/>
              <a:t> Output</a:t>
            </a:r>
            <a:endParaRPr lang="en-US" altLang="en-GB"/>
          </a:p>
          <a:p>
            <a:r>
              <a:rPr lang="en-US" altLang="en-GB"/>
              <a:t>             </a:t>
            </a:r>
            <a:r>
              <a:rPr lang="en-GB" altLang="en-US"/>
              <a:t>             </a:t>
            </a:r>
            <a:r>
              <a:rPr lang="en-US" altLang="en-US"/>
              <a:t>▲</a:t>
            </a:r>
            <a:endParaRPr lang="en-US" altLang="en-US"/>
          </a:p>
          <a:p>
            <a:r>
              <a:rPr lang="en-US" altLang="en-GB"/>
              <a:t>         </a:t>
            </a:r>
            <a:r>
              <a:rPr lang="en-GB" altLang="en-US"/>
              <a:t>            </a:t>
            </a:r>
            <a:r>
              <a:rPr lang="en-US" altLang="en-GB"/>
              <a:t>Stored bits</a:t>
            </a:r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65542" t="34881" r="13146" b="42601"/>
          <a:stretch>
            <a:fillRect/>
          </a:stretch>
        </p:blipFill>
        <p:spPr>
          <a:xfrm rot="16200000">
            <a:off x="-796925" y="1643380"/>
            <a:ext cx="5224145" cy="3103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9975"/>
          </a:xfrm>
        </p:spPr>
        <p:txBody>
          <a:bodyPr/>
          <a:lstStyle/>
          <a:p>
            <a:r>
              <a:rPr sz="4000">
                <a:highlight>
                  <a:srgbClr val="FFFF00"/>
                </a:highlight>
              </a:rPr>
              <a:t>2-Input LUT (XOR)</a:t>
            </a:r>
            <a:endParaRPr sz="400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3015"/>
            <a:ext cx="8229600" cy="164020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t>• Function: A ⊕ B</a:t>
            </a:r>
          </a:p>
          <a:p>
            <a:pPr marL="0" indent="0">
              <a:buNone/>
            </a:pPr>
            <a:r>
              <a:t>• Truth Table: 00→0, 01→1, 10→1, 11→0</a:t>
            </a:r>
          </a:p>
          <a:p>
            <a:pPr marL="0" indent="0">
              <a:buNone/>
            </a:pPr>
            <a:r>
              <a:t>• Implement</a:t>
            </a:r>
            <a:r>
              <a:rPr lang="en-GB"/>
              <a:t> </a:t>
            </a:r>
            <a:r>
              <a:t>using 4-bit memory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55370" y="2903855"/>
            <a:ext cx="5641340" cy="5356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module lut2_xor (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    input  wire A,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    input  wire B,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    output wire Y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);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    // 2^2 = 4 bits LUT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    wire [3:0] lut_mem = 4'b0110;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    assign Y = lut_mem[{A, B}];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  <a:p>
            <a:r>
              <a:rPr lang="en-US" altLang="en-GB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ighlight>
                  <a:srgbClr val="C0C0C0"/>
                </a:highlight>
              </a:rPr>
              <a:t>endmodule</a:t>
            </a:r>
            <a:endParaRPr lang="en-US" altLang="en-GB" sz="28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376680"/>
          </a:xfrm>
        </p:spPr>
        <p:txBody>
          <a:bodyPr>
            <a:normAutofit fontScale="90000"/>
          </a:bodyPr>
          <a:p>
            <a:pPr algn="ctr"/>
            <a:r>
              <a:rPr lang="en-US" altLang="en-GB">
                <a:highlight>
                  <a:srgbClr val="C0C0C0"/>
                </a:highlight>
              </a:rPr>
              <a:t>3-Input LUT (Majority Function)</a:t>
            </a:r>
            <a:br>
              <a:rPr lang="en-US" altLang="en-GB">
                <a:highlight>
                  <a:srgbClr val="C0C0C0"/>
                </a:highlight>
              </a:rPr>
            </a:br>
            <a:r>
              <a:rPr lang="en-US" altLang="en-GB">
                <a:highlight>
                  <a:srgbClr val="C0C0C0"/>
                </a:highlight>
              </a:rPr>
              <a:t>F=AB+BC+AC</a:t>
            </a:r>
            <a:endParaRPr lang="en-US" altLang="en-GB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955"/>
          </a:xfrm>
        </p:spPr>
        <p:txBody>
          <a:bodyPr>
            <a:normAutofit fontScale="90000"/>
          </a:bodyPr>
          <a:p>
            <a:r>
              <a:rPr lang="en-US" altLang="en-GB">
                <a:highlight>
                  <a:srgbClr val="C0C0C0"/>
                </a:highlight>
              </a:rPr>
              <a:t>4-Input LUT (Custom Boolean Function)</a:t>
            </a:r>
            <a:br>
              <a:rPr lang="en-US" altLang="en-GB">
                <a:highlight>
                  <a:srgbClr val="C0C0C0"/>
                </a:highlight>
              </a:rPr>
            </a:br>
            <a:r>
              <a:rPr lang="en-US" altLang="en-GB">
                <a:highlight>
                  <a:srgbClr val="C0C0C0"/>
                </a:highlight>
              </a:rPr>
              <a:t>F=(A&amp;B)</a:t>
            </a:r>
            <a:r>
              <a:rPr lang="en-GB" altLang="en-US">
                <a:highlight>
                  <a:srgbClr val="C0C0C0"/>
                </a:highlight>
              </a:rPr>
              <a:t> </a:t>
            </a:r>
            <a:r>
              <a:rPr lang="en-US" altLang="en-GB">
                <a:highlight>
                  <a:srgbClr val="C0C0C0"/>
                </a:highlight>
              </a:rPr>
              <a:t>⊕(C∣D)</a:t>
            </a:r>
            <a:endParaRPr lang="en-US" altLang="en-GB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7630"/>
            <a:ext cx="3927475" cy="807085"/>
          </a:xfrm>
        </p:spPr>
        <p:txBody>
          <a:bodyPr>
            <a:noAutofit/>
          </a:bodyPr>
          <a:p>
            <a:r>
              <a:rPr lang="en-US" altLang="en-GB" sz="3200">
                <a:highlight>
                  <a:srgbClr val="C0C0C0"/>
                </a:highlight>
              </a:rPr>
              <a:t>LUT Using ROM Style </a:t>
            </a:r>
            <a:br>
              <a:rPr lang="en-US" altLang="en-GB" sz="3200">
                <a:highlight>
                  <a:srgbClr val="C0C0C0"/>
                </a:highlight>
              </a:rPr>
            </a:br>
            <a:r>
              <a:rPr lang="en-US" altLang="en-GB" sz="3200">
                <a:highlight>
                  <a:srgbClr val="C0C0C0"/>
                </a:highlight>
              </a:rPr>
              <a:t>(ASIC-Friendly)</a:t>
            </a:r>
            <a:endParaRPr lang="en-US" altLang="en-GB" sz="3200">
              <a:highlight>
                <a:srgbClr val="C0C0C0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1052830"/>
            <a:ext cx="4572000" cy="7092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GB" sz="2000"/>
              <a:t>module lut_rom (</a:t>
            </a:r>
            <a:endParaRPr lang="en-US" altLang="en-GB" sz="2000"/>
          </a:p>
          <a:p>
            <a:r>
              <a:rPr lang="en-US" altLang="en-GB" sz="2000"/>
              <a:t>    input  [2:0] addr,</a:t>
            </a:r>
            <a:endParaRPr lang="en-US" altLang="en-GB" sz="2000"/>
          </a:p>
          <a:p>
            <a:r>
              <a:rPr lang="en-US" altLang="en-GB" sz="2000"/>
              <a:t>    output reg  Y</a:t>
            </a:r>
            <a:endParaRPr lang="en-US" altLang="en-GB" sz="2000"/>
          </a:p>
          <a:p>
            <a:r>
              <a:rPr lang="en-US" altLang="en-GB" sz="2000"/>
              <a:t>);</a:t>
            </a:r>
            <a:endParaRPr lang="en-US" altLang="en-GB" sz="2000"/>
          </a:p>
          <a:p>
            <a:r>
              <a:rPr lang="en-US" altLang="en-GB" sz="2000"/>
              <a:t>    always @(*) </a:t>
            </a:r>
            <a:endParaRPr lang="en-US" altLang="en-GB" sz="2000"/>
          </a:p>
          <a:p>
            <a:r>
              <a:rPr lang="en-US" altLang="en-GB" sz="2000"/>
              <a:t>begin</a:t>
            </a:r>
            <a:endParaRPr lang="en-US" altLang="en-GB" sz="2000"/>
          </a:p>
          <a:p>
            <a:r>
              <a:rPr lang="en-US" altLang="en-GB" sz="2000"/>
              <a:t>        case (addr)</a:t>
            </a:r>
            <a:endParaRPr lang="en-US" altLang="en-GB" sz="2000"/>
          </a:p>
          <a:p>
            <a:r>
              <a:rPr lang="en-US" altLang="en-GB" sz="2000"/>
              <a:t>            3'b000: Y = 0;</a:t>
            </a:r>
            <a:endParaRPr lang="en-US" altLang="en-GB" sz="2000"/>
          </a:p>
          <a:p>
            <a:r>
              <a:rPr lang="en-US" altLang="en-GB" sz="2000"/>
              <a:t>            3'b001: Y = 1;</a:t>
            </a:r>
            <a:endParaRPr lang="en-US" altLang="en-GB" sz="2000"/>
          </a:p>
          <a:p>
            <a:r>
              <a:rPr lang="en-US" altLang="en-GB" sz="2000"/>
              <a:t>            3'b010: Y = 0;</a:t>
            </a:r>
            <a:endParaRPr lang="en-US" altLang="en-GB" sz="2000"/>
          </a:p>
          <a:p>
            <a:r>
              <a:rPr lang="en-US" altLang="en-GB" sz="2000"/>
              <a:t>            3'b011: Y = 1;</a:t>
            </a:r>
            <a:endParaRPr lang="en-US" altLang="en-GB" sz="2000"/>
          </a:p>
          <a:p>
            <a:r>
              <a:rPr lang="en-US" altLang="en-GB" sz="2000"/>
              <a:t>            3'b100: Y = 1;</a:t>
            </a:r>
            <a:endParaRPr lang="en-US" altLang="en-GB" sz="2000"/>
          </a:p>
          <a:p>
            <a:r>
              <a:rPr lang="en-US" altLang="en-GB" sz="2000"/>
              <a:t>            3'b101: Y = 0;</a:t>
            </a:r>
            <a:endParaRPr lang="en-US" altLang="en-GB" sz="2000"/>
          </a:p>
          <a:p>
            <a:r>
              <a:rPr lang="en-US" altLang="en-GB" sz="2000"/>
              <a:t>            3'b110: Y = 1;</a:t>
            </a:r>
            <a:endParaRPr lang="en-US" altLang="en-GB" sz="2000"/>
          </a:p>
          <a:p>
            <a:r>
              <a:rPr lang="en-US" altLang="en-GB" sz="2000"/>
              <a:t>            3'b111: Y = 0;</a:t>
            </a:r>
            <a:endParaRPr lang="en-US" altLang="en-GB" sz="2000"/>
          </a:p>
          <a:p>
            <a:r>
              <a:rPr lang="en-US" altLang="en-GB" sz="2000"/>
              <a:t>        endcase</a:t>
            </a:r>
            <a:endParaRPr lang="en-US" altLang="en-GB" sz="2000"/>
          </a:p>
          <a:p>
            <a:r>
              <a:rPr lang="en-US" altLang="en-GB" sz="2000"/>
              <a:t>    end</a:t>
            </a:r>
            <a:endParaRPr lang="en-US" altLang="en-GB" sz="2000"/>
          </a:p>
          <a:p>
            <a:r>
              <a:rPr lang="en-US" altLang="en-GB" sz="2000"/>
              <a:t>endmodule</a:t>
            </a:r>
            <a:endParaRPr lang="en-US" altLang="en-GB" sz="2000"/>
          </a:p>
          <a:p>
            <a:endParaRPr lang="en-US" altLang="en-GB" sz="2000"/>
          </a:p>
        </p:txBody>
      </p:sp>
      <p:sp>
        <p:nvSpPr>
          <p:cNvPr id="6" name="Text Box 5"/>
          <p:cNvSpPr txBox="1"/>
          <p:nvPr/>
        </p:nvSpPr>
        <p:spPr>
          <a:xfrm>
            <a:off x="4352290" y="1992630"/>
            <a:ext cx="4660265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2400"/>
              <a:t>module lut_with_ff (</a:t>
            </a:r>
            <a:endParaRPr lang="en-US" altLang="en-GB" sz="2400"/>
          </a:p>
          <a:p>
            <a:r>
              <a:rPr lang="en-US" altLang="en-GB" sz="2400"/>
              <a:t>    input  clk,</a:t>
            </a:r>
            <a:endParaRPr lang="en-US" altLang="en-GB" sz="2400"/>
          </a:p>
          <a:p>
            <a:r>
              <a:rPr lang="en-US" altLang="en-GB" sz="2400"/>
              <a:t>    input  [2:0] addr,</a:t>
            </a:r>
            <a:endParaRPr lang="en-US" altLang="en-GB" sz="2400"/>
          </a:p>
          <a:p>
            <a:r>
              <a:rPr lang="en-US" altLang="en-GB" sz="2400"/>
              <a:t>    output reg  Y</a:t>
            </a:r>
            <a:endParaRPr lang="en-US" altLang="en-GB" sz="2400"/>
          </a:p>
          <a:p>
            <a:r>
              <a:rPr lang="en-US" altLang="en-GB" sz="2400"/>
              <a:t>);</a:t>
            </a:r>
            <a:endParaRPr lang="en-US" altLang="en-GB" sz="2400"/>
          </a:p>
          <a:p>
            <a:r>
              <a:rPr lang="en-US" altLang="en-GB" sz="2400"/>
              <a:t>    reg [7:0] lut_mem = 8'b11010010;</a:t>
            </a:r>
            <a:endParaRPr lang="en-US" altLang="en-GB" sz="2400"/>
          </a:p>
          <a:p>
            <a:endParaRPr lang="en-US" altLang="en-GB" sz="2400"/>
          </a:p>
          <a:p>
            <a:r>
              <a:rPr lang="en-US" altLang="en-GB" sz="2400"/>
              <a:t>    always @(posedge clk)</a:t>
            </a:r>
            <a:endParaRPr lang="en-US" altLang="en-GB" sz="2400"/>
          </a:p>
          <a:p>
            <a:r>
              <a:rPr lang="en-US" altLang="en-GB" sz="2400"/>
              <a:t>        Y &lt;= lut_mem[addr];</a:t>
            </a:r>
            <a:endParaRPr lang="en-US" altLang="en-GB" sz="2400"/>
          </a:p>
          <a:p>
            <a:r>
              <a:rPr lang="en-US" altLang="en-GB" sz="2400"/>
              <a:t>endmodule</a:t>
            </a:r>
            <a:endParaRPr lang="en-US" altLang="en-GB" sz="2400"/>
          </a:p>
          <a:p>
            <a:endParaRPr lang="en-US" altLang="en-GB" sz="2400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572000" y="73025"/>
            <a:ext cx="4572000" cy="8070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GB" sz="3200">
                <a:highlight>
                  <a:srgbClr val="C0C0C0"/>
                </a:highlight>
              </a:rPr>
              <a:t>LUT Using </a:t>
            </a:r>
            <a:r>
              <a:rPr lang="en-GB" altLang="en-US" sz="3200">
                <a:highlight>
                  <a:srgbClr val="C0C0C0"/>
                </a:highlight>
              </a:rPr>
              <a:t>output</a:t>
            </a:r>
            <a:r>
              <a:rPr lang="en-US" altLang="en-GB" sz="3200">
                <a:highlight>
                  <a:srgbClr val="C0C0C0"/>
                </a:highlight>
              </a:rPr>
              <a:t> Style </a:t>
            </a:r>
            <a:br>
              <a:rPr lang="en-US" altLang="en-GB" sz="3200">
                <a:highlight>
                  <a:srgbClr val="C0C0C0"/>
                </a:highlight>
              </a:rPr>
            </a:br>
            <a:r>
              <a:rPr lang="en-US" altLang="en-GB" sz="3200">
                <a:highlight>
                  <a:srgbClr val="C0C0C0"/>
                </a:highlight>
              </a:rPr>
              <a:t>(</a:t>
            </a:r>
            <a:r>
              <a:rPr lang="en-GB" altLang="en-US" sz="3200">
                <a:highlight>
                  <a:srgbClr val="C0C0C0"/>
                </a:highlight>
              </a:rPr>
              <a:t>FPGA</a:t>
            </a:r>
            <a:r>
              <a:rPr lang="en-US" altLang="en-GB" sz="3200">
                <a:highlight>
                  <a:srgbClr val="C0C0C0"/>
                </a:highlight>
              </a:rPr>
              <a:t>-Friendly)</a:t>
            </a:r>
            <a:endParaRPr lang="en-US" altLang="en-GB" sz="320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rPr lang="en-GB" altLang="en-US">
                <a:highlight>
                  <a:srgbClr val="FFFF00"/>
                </a:highlight>
              </a:rPr>
              <a:t>Array in Verilog</a:t>
            </a:r>
            <a:endParaRPr lang="en-GB" altLang="en-US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90" y="1172845"/>
            <a:ext cx="8949055" cy="514096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GB" sz="2000"/>
              <a:t>An array is a collection of elements of the same data type, accessed using an index.</a:t>
            </a:r>
            <a:endParaRPr lang="en-US" altLang="en-GB" sz="2000"/>
          </a:p>
          <a:p>
            <a:pPr marL="0" indent="0">
              <a:buNone/>
            </a:pPr>
            <a:endParaRPr lang="en-GB" altLang="en-US" sz="2000" b="1"/>
          </a:p>
          <a:p>
            <a:pPr marL="0" indent="0">
              <a:buNone/>
            </a:pPr>
            <a:endParaRPr lang="en-GB" altLang="en-US" sz="2000" b="1"/>
          </a:p>
          <a:p>
            <a:pPr marL="0" indent="0">
              <a:buNone/>
            </a:pPr>
            <a:r>
              <a:rPr lang="en-GB" altLang="en-US" sz="2000" b="1"/>
              <a:t>Vector</a:t>
            </a:r>
            <a:r>
              <a:rPr lang="en-GB" altLang="en-US" sz="2000"/>
              <a:t>   wire [7:0] mem    </a:t>
            </a:r>
            <a:r>
              <a:rPr lang="en-US" altLang="en-GB" sz="2000"/>
              <a:t>8-bit wide signal</a:t>
            </a:r>
            <a:endParaRPr lang="en-US" altLang="en-GB" sz="2000"/>
          </a:p>
          <a:p>
            <a:pPr marL="0" indent="0">
              <a:buNone/>
            </a:pPr>
            <a:endParaRPr lang="en-GB" altLang="en-US" sz="2000"/>
          </a:p>
          <a:p>
            <a:pPr marL="0" indent="0">
              <a:buNone/>
            </a:pPr>
            <a:endParaRPr lang="en-GB" altLang="en-US" sz="2000"/>
          </a:p>
          <a:p>
            <a:pPr marL="0" indent="0">
              <a:buNone/>
            </a:pPr>
            <a:r>
              <a:rPr lang="en-GB" altLang="en-US" sz="2000" b="1"/>
              <a:t>1D Array    </a:t>
            </a:r>
            <a:r>
              <a:rPr lang="en-GB" altLang="en-US" sz="2000"/>
              <a:t>wire</a:t>
            </a:r>
            <a:r>
              <a:rPr lang="en-US" altLang="en-GB" sz="2000"/>
              <a:t> [7:0] mem [0:15];</a:t>
            </a:r>
            <a:r>
              <a:rPr lang="en-GB" altLang="en-US" sz="2000"/>
              <a:t>         </a:t>
            </a:r>
            <a:r>
              <a:rPr lang="en-US" altLang="en-GB" sz="2000"/>
              <a:t>16 elements </a:t>
            </a:r>
            <a:r>
              <a:rPr lang="en-US" altLang="en-US" sz="2000"/>
              <a:t>→</a:t>
            </a:r>
            <a:r>
              <a:rPr lang="en-US" altLang="en-GB" sz="2000"/>
              <a:t> 0 to 15</a:t>
            </a:r>
            <a:r>
              <a:rPr lang="en-GB" altLang="en-US" sz="2000"/>
              <a:t>   </a:t>
            </a:r>
            <a:r>
              <a:rPr lang="en-US" altLang="en-GB" sz="2000"/>
              <a:t>Each element is 8 bits</a:t>
            </a:r>
            <a:endParaRPr lang="en-US" altLang="en-GB" sz="2000"/>
          </a:p>
          <a:p>
            <a:pPr marL="1371600" lvl="3" indent="457200">
              <a:buNone/>
            </a:pPr>
            <a:r>
              <a:rPr lang="en-US" altLang="en-GB" sz="2000"/>
              <a:t>mem[0] = 8'hAA;     // write</a:t>
            </a:r>
            <a:endParaRPr lang="en-US" altLang="en-GB" sz="2000"/>
          </a:p>
          <a:p>
            <a:pPr marL="1371600" lvl="3" indent="457200">
              <a:buNone/>
            </a:pPr>
            <a:r>
              <a:rPr lang="en-US" altLang="en-GB" sz="2000"/>
              <a:t>data = mem[5];     // read</a:t>
            </a:r>
            <a:endParaRPr lang="en-US" altLang="en-GB" sz="2000"/>
          </a:p>
          <a:p>
            <a:pPr marL="1371600" lvl="3" indent="457200">
              <a:buNone/>
            </a:pPr>
            <a:endParaRPr lang="en-US" altLang="en-GB" sz="2000"/>
          </a:p>
          <a:p>
            <a:pPr marL="1371600" lvl="3" indent="45720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GB" altLang="en-US" sz="2000" b="1">
                <a:sym typeface="+mn-ea"/>
              </a:rPr>
              <a:t>2D Array    </a:t>
            </a:r>
            <a:r>
              <a:rPr lang="en-GB" altLang="en-US" sz="2000">
                <a:sym typeface="+mn-ea"/>
              </a:rPr>
              <a:t>wire</a:t>
            </a:r>
            <a:r>
              <a:rPr lang="en-US" altLang="en-GB" sz="2000">
                <a:sym typeface="+mn-ea"/>
              </a:rPr>
              <a:t> [7:0] mem [0:</a:t>
            </a:r>
            <a:r>
              <a:rPr lang="en-GB" altLang="en-US" sz="2000">
                <a:sym typeface="+mn-ea"/>
              </a:rPr>
              <a:t>3</a:t>
            </a:r>
            <a:r>
              <a:rPr lang="en-US" altLang="en-GB" sz="2000">
                <a:sym typeface="+mn-ea"/>
              </a:rPr>
              <a:t>]</a:t>
            </a:r>
            <a:r>
              <a:rPr lang="en-GB" altLang="en-US" sz="2000">
                <a:sym typeface="+mn-ea"/>
              </a:rPr>
              <a:t>[0:3]</a:t>
            </a:r>
            <a:r>
              <a:rPr lang="en-US" altLang="en-GB" sz="2000">
                <a:sym typeface="+mn-ea"/>
              </a:rPr>
              <a:t>;</a:t>
            </a:r>
            <a:r>
              <a:rPr lang="en-GB" altLang="en-US" sz="2000">
                <a:sym typeface="+mn-ea"/>
              </a:rPr>
              <a:t>   </a:t>
            </a:r>
            <a:r>
              <a:rPr lang="en-US" altLang="en-GB" sz="2000"/>
              <a:t>4 </a:t>
            </a:r>
            <a:r>
              <a:rPr lang="en-US" altLang="en-US" sz="2000"/>
              <a:t>×</a:t>
            </a:r>
            <a:r>
              <a:rPr lang="en-US" altLang="en-GB" sz="2000"/>
              <a:t> 4 matrix</a:t>
            </a:r>
            <a:r>
              <a:rPr lang="en-GB" altLang="en-US" sz="2000"/>
              <a:t>  </a:t>
            </a:r>
            <a:r>
              <a:rPr lang="en-US" altLang="en-GB" sz="2000"/>
              <a:t>Each entry = 8 bits</a:t>
            </a:r>
            <a:endParaRPr lang="en-US" altLang="en-GB" sz="2000"/>
          </a:p>
          <a:p>
            <a:pPr marL="1371600" lvl="3" indent="457200">
              <a:buNone/>
            </a:pPr>
            <a:r>
              <a:rPr lang="en-US" altLang="en-GB" sz="2000"/>
              <a:t>matrix[1][2] = 8'd15;</a:t>
            </a:r>
            <a:endParaRPr lang="en-US" altLang="en-GB" sz="2000"/>
          </a:p>
          <a:p>
            <a:pPr marL="1371600" lvl="3" indent="457200">
              <a:buNone/>
            </a:pPr>
            <a:r>
              <a:rPr lang="en-US" altLang="en-GB" sz="2000"/>
              <a:t>data = matrix[row][col];</a:t>
            </a:r>
            <a:endParaRPr lang="en-US" altLang="en-GB" sz="2000"/>
          </a:p>
          <a:p>
            <a:pPr marL="1371600" lvl="3" indent="457200">
              <a:buNone/>
            </a:pPr>
            <a:endParaRPr lang="en-US" altLang="en-GB" sz="2000"/>
          </a:p>
          <a:p>
            <a:pPr marL="1371600" lvl="3" indent="457200">
              <a:buNone/>
            </a:pPr>
            <a:endParaRPr lang="en-US" altLang="en-GB" sz="2000"/>
          </a:p>
          <a:p>
            <a:pPr marL="1371600" lvl="3" indent="457200">
              <a:buNone/>
            </a:pPr>
            <a:endParaRPr lang="en-US" altLang="en-GB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80110"/>
          </a:xfrm>
        </p:spPr>
        <p:txBody>
          <a:bodyPr/>
          <a:p>
            <a:r>
              <a:rPr lang="en-GB" altLang="en-US">
                <a:highlight>
                  <a:srgbClr val="FFFF00"/>
                </a:highlight>
              </a:rPr>
              <a:t>LUT based Full Adder</a:t>
            </a:r>
            <a:endParaRPr lang="en-GB" altLang="en-US">
              <a:highlight>
                <a:srgbClr val="FFFF00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1894840"/>
            <a:ext cx="4572000" cy="4707890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spAutoFit/>
          </a:bodyPr>
          <a:p>
            <a:r>
              <a:rPr lang="en-US" altLang="en-GB" sz="2000"/>
              <a:t>module lut_full_adder (</a:t>
            </a:r>
            <a:endParaRPr lang="en-US" altLang="en-GB" sz="2000"/>
          </a:p>
          <a:p>
            <a:r>
              <a:rPr lang="en-US" altLang="en-GB" sz="2000"/>
              <a:t>    input  A,</a:t>
            </a:r>
            <a:endParaRPr lang="en-US" altLang="en-GB" sz="2000"/>
          </a:p>
          <a:p>
            <a:r>
              <a:rPr lang="en-US" altLang="en-GB" sz="2000"/>
              <a:t>    input  B,</a:t>
            </a:r>
            <a:endParaRPr lang="en-US" altLang="en-GB" sz="2000"/>
          </a:p>
          <a:p>
            <a:r>
              <a:rPr lang="en-US" altLang="en-GB" sz="2000"/>
              <a:t>    input  Cin,</a:t>
            </a:r>
            <a:endParaRPr lang="en-US" altLang="en-GB" sz="2000"/>
          </a:p>
          <a:p>
            <a:r>
              <a:rPr lang="en-US" altLang="en-GB" sz="2000"/>
              <a:t>    output</a:t>
            </a:r>
            <a:r>
              <a:rPr lang="en-GB" altLang="en-US" sz="2000"/>
              <a:t> </a:t>
            </a:r>
            <a:r>
              <a:rPr lang="en-US" altLang="en-GB" sz="2000"/>
              <a:t>Sum,</a:t>
            </a:r>
            <a:endParaRPr lang="en-US" altLang="en-GB" sz="2000"/>
          </a:p>
          <a:p>
            <a:r>
              <a:rPr lang="en-US" altLang="en-GB" sz="2000"/>
              <a:t>    output  Cout</a:t>
            </a:r>
            <a:endParaRPr lang="en-US" altLang="en-GB" sz="2000"/>
          </a:p>
          <a:p>
            <a:r>
              <a:rPr lang="en-US" altLang="en-GB" sz="2000"/>
              <a:t>);</a:t>
            </a:r>
            <a:endParaRPr lang="en-US" altLang="en-GB" sz="2000"/>
          </a:p>
          <a:p>
            <a:r>
              <a:rPr lang="en-US" altLang="en-GB" sz="2000"/>
              <a:t>    // 3-input LUTs </a:t>
            </a:r>
            <a:r>
              <a:rPr lang="en-US" altLang="en-US" sz="2000"/>
              <a:t>→</a:t>
            </a:r>
            <a:r>
              <a:rPr lang="en-US" altLang="en-GB" sz="2000"/>
              <a:t> 8 entries</a:t>
            </a:r>
            <a:endParaRPr lang="en-US" altLang="en-GB" sz="2000"/>
          </a:p>
          <a:p>
            <a:r>
              <a:rPr lang="en-US" altLang="en-GB" sz="2000"/>
              <a:t> wire [7:0] lut_sum  = 8'b01101001;</a:t>
            </a:r>
            <a:endParaRPr lang="en-US" altLang="en-GB" sz="2000"/>
          </a:p>
          <a:p>
            <a:r>
              <a:rPr lang="en-US" altLang="en-GB" sz="2000"/>
              <a:t>wire [7:0] lut_cout = 8'b00010111;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assign Sum  = lut_sum[{A,B,Cin}];</a:t>
            </a:r>
            <a:endParaRPr lang="en-US" altLang="en-GB" sz="2000"/>
          </a:p>
          <a:p>
            <a:r>
              <a:rPr lang="en-US" altLang="en-GB" sz="2000"/>
              <a:t>assign Cout = lut_cout[{A,B,Cin}];</a:t>
            </a:r>
            <a:endParaRPr lang="en-US" altLang="en-GB" sz="2000"/>
          </a:p>
          <a:p>
            <a:r>
              <a:rPr lang="en-US" altLang="en-GB" sz="2000"/>
              <a:t>endmodule</a:t>
            </a:r>
            <a:endParaRPr lang="en-US" altLang="en-GB" sz="2000"/>
          </a:p>
          <a:p>
            <a:endParaRPr lang="en-US" altLang="en-GB" sz="2000"/>
          </a:p>
        </p:txBody>
      </p:sp>
      <p:sp>
        <p:nvSpPr>
          <p:cNvPr id="5" name="Text Box 4"/>
          <p:cNvSpPr txBox="1"/>
          <p:nvPr/>
        </p:nvSpPr>
        <p:spPr>
          <a:xfrm>
            <a:off x="4572000" y="923925"/>
            <a:ext cx="457200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>
                <a:highlight>
                  <a:srgbClr val="FFFF00"/>
                </a:highlight>
              </a:rPr>
              <a:t>module lut_fa(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input  A, B, Cin,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output Sum, Cout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);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// Each entry = {Cout, Sum}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reg [1:0] lut_mem [0:7];</a:t>
            </a:r>
            <a:endParaRPr lang="en-US" altLang="en-GB">
              <a:highlight>
                <a:srgbClr val="FFFF00"/>
              </a:highlight>
            </a:endParaRPr>
          </a:p>
          <a:p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initial begin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    lut_mem[0] = 2'b00; // 000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    lut_mem[1] = 2'b01; // 001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    lut_mem[2] = 2'b01; // 010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    lut_mem[3] = 2'b10; // 011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    lut_mem[4] = 2'b01; // 100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    lut_mem[5] = 2'b10; // 101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    lut_mem[6] = 2'b10; // 110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    lut_mem[7] = 2'b11; // 111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end</a:t>
            </a:r>
            <a:endParaRPr lang="en-US" altLang="en-GB">
              <a:highlight>
                <a:srgbClr val="FFFF00"/>
              </a:highlight>
            </a:endParaRPr>
          </a:p>
          <a:p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    assign {Cout, Sum} = lut_mem[{A,B,Cin}];</a:t>
            </a:r>
            <a:endParaRPr lang="en-US" altLang="en-GB">
              <a:highlight>
                <a:srgbClr val="FFFF00"/>
              </a:highlight>
            </a:endParaRPr>
          </a:p>
          <a:p>
            <a:r>
              <a:rPr lang="en-US" altLang="en-GB">
                <a:highlight>
                  <a:srgbClr val="FFFF00"/>
                </a:highlight>
              </a:rPr>
              <a:t>endmodule</a:t>
            </a:r>
            <a:endParaRPr lang="en-US" altLang="en-GB">
              <a:highlight>
                <a:srgbClr val="FFFF00"/>
              </a:highlight>
            </a:endParaRPr>
          </a:p>
          <a:p>
            <a:endParaRPr lang="en-US" altLang="en-GB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/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rPr lang="en-US" altLang="en-GB">
                <a:highlight>
                  <a:srgbClr val="FFFF00"/>
                </a:highlight>
              </a:rPr>
              <a:t>LUT-Based 4-Bit Ripple Carry Adder</a:t>
            </a:r>
            <a:endParaRPr lang="en-US" altLang="en-GB">
              <a:highlight>
                <a:srgbClr val="FFFF00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0210" y="1416050"/>
            <a:ext cx="2975610" cy="2752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GB"/>
              <a:t>module lut_adder_4bit (</a:t>
            </a:r>
            <a:endParaRPr lang="en-US" altLang="en-GB"/>
          </a:p>
          <a:p>
            <a:r>
              <a:rPr lang="en-US" altLang="en-GB"/>
              <a:t>    input  [3:0] A, B,</a:t>
            </a:r>
            <a:endParaRPr lang="en-US" altLang="en-GB"/>
          </a:p>
          <a:p>
            <a:r>
              <a:rPr lang="en-US" altLang="en-GB"/>
              <a:t>    input  Cin,</a:t>
            </a:r>
            <a:endParaRPr lang="en-US" altLang="en-GB"/>
          </a:p>
          <a:p>
            <a:r>
              <a:rPr lang="en-US" altLang="en-GB"/>
              <a:t>    output [3:0] Sum,</a:t>
            </a:r>
            <a:endParaRPr lang="en-US" altLang="en-GB"/>
          </a:p>
          <a:p>
            <a:r>
              <a:rPr lang="en-US" altLang="en-GB"/>
              <a:t>    output Cout</a:t>
            </a:r>
            <a:endParaRPr lang="en-US" altLang="en-GB"/>
          </a:p>
          <a:p>
            <a:r>
              <a:rPr lang="en-US" altLang="en-GB"/>
              <a:t>);</a:t>
            </a:r>
            <a:endParaRPr lang="en-US" altLang="en-GB"/>
          </a:p>
          <a:p>
            <a:r>
              <a:rPr lang="en-US" altLang="en-GB"/>
              <a:t>    wire [4:0] C;</a:t>
            </a:r>
            <a:endParaRPr lang="en-US" altLang="en-GB"/>
          </a:p>
          <a:p>
            <a:r>
              <a:rPr lang="en-US" altLang="en-GB"/>
              <a:t>    assign C[0] = Cin;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   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030345" y="1313180"/>
            <a:ext cx="4572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>
                <a:sym typeface="+mn-ea"/>
              </a:rPr>
              <a:t> genvar i;</a:t>
            </a:r>
            <a:endParaRPr lang="en-US" altLang="en-GB"/>
          </a:p>
          <a:p>
            <a:r>
              <a:rPr lang="en-US" altLang="en-GB">
                <a:sym typeface="+mn-ea"/>
              </a:rPr>
              <a:t>    generate</a:t>
            </a:r>
            <a:endParaRPr lang="en-US" altLang="en-GB"/>
          </a:p>
          <a:p>
            <a:r>
              <a:rPr lang="en-US" altLang="en-GB">
                <a:sym typeface="+mn-ea"/>
              </a:rPr>
              <a:t>        for (i=0; i&lt;4; i=i+1) begin : LUT_FA</a:t>
            </a:r>
            <a:endParaRPr lang="en-US" altLang="en-GB"/>
          </a:p>
          <a:p>
            <a:r>
              <a:rPr lang="en-US" altLang="en-GB">
                <a:sym typeface="+mn-ea"/>
              </a:rPr>
              <a:t>            lut_full_adder FA (</a:t>
            </a:r>
            <a:endParaRPr lang="en-US" altLang="en-GB"/>
          </a:p>
          <a:p>
            <a:r>
              <a:rPr lang="en-US" altLang="en-GB">
                <a:sym typeface="+mn-ea"/>
              </a:rPr>
              <a:t>                .A   (A[i]),</a:t>
            </a:r>
            <a:endParaRPr lang="en-US" altLang="en-GB"/>
          </a:p>
          <a:p>
            <a:r>
              <a:rPr lang="en-US" altLang="en-GB">
                <a:sym typeface="+mn-ea"/>
              </a:rPr>
              <a:t>                .B   (B[i]),</a:t>
            </a:r>
            <a:endParaRPr lang="en-US" altLang="en-GB"/>
          </a:p>
          <a:p>
            <a:r>
              <a:rPr lang="en-US" altLang="en-GB">
                <a:sym typeface="+mn-ea"/>
              </a:rPr>
              <a:t>                .Cin (C[i]),</a:t>
            </a:r>
            <a:endParaRPr lang="en-US" altLang="en-GB"/>
          </a:p>
          <a:p>
            <a:r>
              <a:rPr lang="en-US" altLang="en-GB">
                <a:sym typeface="+mn-ea"/>
              </a:rPr>
              <a:t>                .Sum (Sum[i]),</a:t>
            </a:r>
            <a:endParaRPr lang="en-US" altLang="en-GB"/>
          </a:p>
          <a:p>
            <a:r>
              <a:rPr lang="en-US" altLang="en-GB">
                <a:sym typeface="+mn-ea"/>
              </a:rPr>
              <a:t>                .Cout(C[i+1])</a:t>
            </a:r>
            <a:endParaRPr lang="en-US" altLang="en-GB"/>
          </a:p>
          <a:p>
            <a:r>
              <a:rPr lang="en-US" altLang="en-GB">
                <a:sym typeface="+mn-ea"/>
              </a:rPr>
              <a:t>            );</a:t>
            </a:r>
            <a:endParaRPr lang="en-US" altLang="en-GB"/>
          </a:p>
          <a:p>
            <a:r>
              <a:rPr lang="en-US" altLang="en-GB">
                <a:sym typeface="+mn-ea"/>
              </a:rPr>
              <a:t>        end</a:t>
            </a:r>
            <a:endParaRPr lang="en-US" altLang="en-GB"/>
          </a:p>
          <a:p>
            <a:r>
              <a:rPr lang="en-US" altLang="en-GB">
                <a:sym typeface="+mn-ea"/>
              </a:rPr>
              <a:t>    endgenerate</a:t>
            </a:r>
            <a:endParaRPr lang="en-US" altLang="en-GB"/>
          </a:p>
          <a:p>
            <a:endParaRPr lang="en-US" altLang="en-GB"/>
          </a:p>
          <a:p>
            <a:r>
              <a:rPr lang="en-US" altLang="en-GB">
                <a:sym typeface="+mn-ea"/>
              </a:rPr>
              <a:t>    assign Cout = C[4];</a:t>
            </a:r>
            <a:endParaRPr lang="en-US" altLang="en-GB"/>
          </a:p>
          <a:p>
            <a:r>
              <a:rPr lang="en-US" altLang="en-GB">
                <a:sym typeface="+mn-ea"/>
              </a:rPr>
              <a:t>endmodule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 fontScale="90000"/>
          </a:bodyPr>
          <a:p>
            <a:r>
              <a:rPr lang="en-GB" altLang="en-US">
                <a:highlight>
                  <a:srgbClr val="FFFF00"/>
                </a:highlight>
              </a:rPr>
              <a:t>LUT based 2-bit Multiplier</a:t>
            </a:r>
            <a:endParaRPr lang="en-GB" altLang="en-US">
              <a:highlight>
                <a:srgbClr val="FFFF00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4315" y="1428115"/>
            <a:ext cx="4777105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/>
              <a:t>module lut_mul_2x2 (</a:t>
            </a:r>
            <a:endParaRPr lang="en-US" altLang="en-GB"/>
          </a:p>
          <a:p>
            <a:r>
              <a:rPr lang="en-US" altLang="en-GB"/>
              <a:t>    input  [1:0] A,</a:t>
            </a:r>
            <a:endParaRPr lang="en-US" altLang="en-GB"/>
          </a:p>
          <a:p>
            <a:r>
              <a:rPr lang="en-US" altLang="en-GB"/>
              <a:t>    input  [1:0] B,</a:t>
            </a:r>
            <a:endParaRPr lang="en-US" altLang="en-GB"/>
          </a:p>
          <a:p>
            <a:r>
              <a:rPr lang="en-US" altLang="en-GB"/>
              <a:t>    output [3:0] P</a:t>
            </a:r>
            <a:endParaRPr lang="en-US" altLang="en-GB"/>
          </a:p>
          <a:p>
            <a:r>
              <a:rPr lang="en-US" altLang="en-GB"/>
              <a:t>);</a:t>
            </a:r>
            <a:endParaRPr lang="en-US" altLang="en-GB"/>
          </a:p>
          <a:p>
            <a:r>
              <a:rPr lang="en-US" altLang="en-GB"/>
              <a:t>    // 16-entry LUT, each entry is 4-bit product</a:t>
            </a:r>
            <a:endParaRPr lang="en-US" altLang="en-GB"/>
          </a:p>
          <a:p>
            <a:r>
              <a:rPr lang="en-US" altLang="en-GB"/>
              <a:t>    reg [3:0] lut [0:15];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    initial begin</a:t>
            </a:r>
            <a:endParaRPr lang="en-US" altLang="en-GB"/>
          </a:p>
          <a:p>
            <a:r>
              <a:rPr lang="en-US" altLang="en-GB"/>
              <a:t>        lut[ 0] = 0;   // 0x0</a:t>
            </a:r>
            <a:endParaRPr lang="en-US" altLang="en-GB"/>
          </a:p>
          <a:p>
            <a:r>
              <a:rPr lang="en-US" altLang="en-GB"/>
              <a:t>        lut[ 1] = 0;</a:t>
            </a:r>
            <a:endParaRPr lang="en-US" altLang="en-GB"/>
          </a:p>
          <a:p>
            <a:r>
              <a:rPr lang="en-US" altLang="en-GB"/>
              <a:t>        lut[ 2] = 0;</a:t>
            </a:r>
            <a:endParaRPr lang="en-US" altLang="en-GB"/>
          </a:p>
          <a:p>
            <a:r>
              <a:rPr lang="en-US" altLang="en-GB"/>
              <a:t>        lut[ 3] = 0;</a:t>
            </a:r>
            <a:endParaRPr lang="en-US" altLang="en-GB"/>
          </a:p>
          <a:p>
            <a:r>
              <a:rPr lang="en-US" altLang="en-GB"/>
              <a:t>        lut[ 4] = 0;</a:t>
            </a:r>
            <a:endParaRPr lang="en-US" altLang="en-GB"/>
          </a:p>
          <a:p>
            <a:r>
              <a:rPr lang="en-US" altLang="en-GB"/>
              <a:t>        lut[ 5] = 1;</a:t>
            </a:r>
            <a:endParaRPr lang="en-US" altLang="en-GB"/>
          </a:p>
          <a:p>
            <a:r>
              <a:rPr lang="en-US" altLang="en-GB"/>
              <a:t>        lut[ 6] = 2;</a:t>
            </a:r>
            <a:endParaRPr lang="en-US" altLang="en-GB"/>
          </a:p>
          <a:p>
            <a:r>
              <a:rPr lang="en-US" altLang="en-GB"/>
              <a:t>        lut[ 7] = 3;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289550" y="2425065"/>
            <a:ext cx="301942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>
                <a:sym typeface="+mn-ea"/>
              </a:rPr>
              <a:t>        lut[ 8] = 0;</a:t>
            </a:r>
            <a:endParaRPr lang="en-US" altLang="en-GB"/>
          </a:p>
          <a:p>
            <a:r>
              <a:rPr lang="en-US" altLang="en-GB">
                <a:sym typeface="+mn-ea"/>
              </a:rPr>
              <a:t>        lut[ 9] = 2;</a:t>
            </a:r>
            <a:endParaRPr lang="en-US" altLang="en-GB"/>
          </a:p>
          <a:p>
            <a:r>
              <a:rPr lang="en-US" altLang="en-GB">
                <a:sym typeface="+mn-ea"/>
              </a:rPr>
              <a:t>        lut[10] = 4;</a:t>
            </a:r>
            <a:endParaRPr lang="en-US" altLang="en-GB"/>
          </a:p>
          <a:p>
            <a:r>
              <a:rPr lang="en-US" altLang="en-GB">
                <a:sym typeface="+mn-ea"/>
              </a:rPr>
              <a:t>        lut[11] = 6;</a:t>
            </a:r>
            <a:endParaRPr lang="en-US" altLang="en-GB"/>
          </a:p>
          <a:p>
            <a:r>
              <a:rPr lang="en-US" altLang="en-GB">
                <a:sym typeface="+mn-ea"/>
              </a:rPr>
              <a:t>        lut[12] = 0;</a:t>
            </a:r>
            <a:endParaRPr lang="en-US" altLang="en-GB"/>
          </a:p>
          <a:p>
            <a:r>
              <a:rPr lang="en-US" altLang="en-GB">
                <a:sym typeface="+mn-ea"/>
              </a:rPr>
              <a:t>        lut[13] = 3;</a:t>
            </a:r>
            <a:endParaRPr lang="en-US" altLang="en-GB"/>
          </a:p>
          <a:p>
            <a:r>
              <a:rPr lang="en-US" altLang="en-GB">
                <a:sym typeface="+mn-ea"/>
              </a:rPr>
              <a:t>        lut[14] = 6;</a:t>
            </a:r>
            <a:endParaRPr lang="en-US" altLang="en-GB"/>
          </a:p>
          <a:p>
            <a:r>
              <a:rPr lang="en-US" altLang="en-GB">
                <a:sym typeface="+mn-ea"/>
              </a:rPr>
              <a:t>        lut[15] = 9;</a:t>
            </a:r>
            <a:endParaRPr lang="en-US" altLang="en-GB"/>
          </a:p>
          <a:p>
            <a:r>
              <a:rPr lang="en-US" altLang="en-GB">
                <a:sym typeface="+mn-ea"/>
              </a:rPr>
              <a:t>    end</a:t>
            </a:r>
            <a:endParaRPr lang="en-US" altLang="en-GB"/>
          </a:p>
          <a:p>
            <a:endParaRPr lang="en-US" altLang="en-GB"/>
          </a:p>
          <a:p>
            <a:r>
              <a:rPr lang="en-US" altLang="en-GB">
                <a:sym typeface="+mn-ea"/>
              </a:rPr>
              <a:t>    assign P = lut[{A,B}];</a:t>
            </a:r>
            <a:endParaRPr lang="en-US" altLang="en-GB"/>
          </a:p>
          <a:p>
            <a:r>
              <a:rPr lang="en-US" altLang="en-GB">
                <a:sym typeface="+mn-ea"/>
              </a:rPr>
              <a:t>endmodule</a:t>
            </a:r>
            <a:endParaRPr lang="en-US" altLang="en-GB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rPr lang="en-US" altLang="en-GB">
                <a:highlight>
                  <a:srgbClr val="FFFF00"/>
                </a:highlight>
              </a:rPr>
              <a:t>3-bit </a:t>
            </a:r>
            <a:r>
              <a:rPr lang="en-US" altLang="en-US">
                <a:highlight>
                  <a:srgbClr val="FFFF00"/>
                </a:highlight>
              </a:rPr>
              <a:t>×</a:t>
            </a:r>
            <a:r>
              <a:rPr lang="en-US" altLang="en-GB">
                <a:highlight>
                  <a:srgbClr val="FFFF00"/>
                </a:highlight>
              </a:rPr>
              <a:t> 3-bit LUT-Based Multiplier</a:t>
            </a:r>
            <a:endParaRPr lang="en-US" altLang="en-GB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5595"/>
            <a:ext cx="8229600" cy="45408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1800"/>
              <a:t>module lut_mul_3x3 (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input  [2:0] A,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input   [2:0] B,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output [5:0] P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reg [5:0] lut [0:63];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integer i, j;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initial begin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    for (i = 0; i &lt; 8; i = i + 1)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        for (j = 0; j &lt; 8; j = j + 1)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            lut[{i[2:0], j[2:0]}] = i * j;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end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assign P = lut[{A,B}];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endmodule</a:t>
            </a:r>
            <a:endParaRPr lang="en-US" altLang="en-GB" sz="1800"/>
          </a:p>
          <a:p>
            <a:pPr marL="0" indent="0">
              <a:buNone/>
            </a:pPr>
            <a:endParaRPr lang="en-US" altLang="en-GB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"/>
            <a:ext cx="8229600" cy="952500"/>
          </a:xfrm>
        </p:spPr>
        <p:txBody>
          <a:bodyPr>
            <a:normAutofit fontScale="90000"/>
          </a:bodyPr>
          <a:p>
            <a:r>
              <a:rPr lang="en-US" altLang="en-GB">
                <a:highlight>
                  <a:srgbClr val="FFFF00"/>
                </a:highlight>
              </a:rPr>
              <a:t>LUT for Square function</a:t>
            </a:r>
            <a:br>
              <a:rPr lang="en-US" altLang="en-GB">
                <a:highlight>
                  <a:srgbClr val="FFFF00"/>
                </a:highlight>
              </a:rPr>
            </a:br>
            <a:r>
              <a:rPr lang="en-GB" altLang="en-US">
                <a:highlight>
                  <a:srgbClr val="FFFF00"/>
                </a:highlight>
              </a:rPr>
              <a:t>Y= x</a:t>
            </a:r>
            <a:r>
              <a:rPr lang="en-GB" altLang="en-US" baseline="30000">
                <a:highlight>
                  <a:srgbClr val="FFFF00"/>
                </a:highlight>
              </a:rPr>
              <a:t>2</a:t>
            </a:r>
            <a:endParaRPr lang="en-GB" altLang="en-US" baseline="3000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515" y="1277620"/>
            <a:ext cx="3556000" cy="452628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2000"/>
              <a:t>module square_lut (</a:t>
            </a:r>
            <a:r>
              <a:rPr lang="en-GB" altLang="en-US" sz="2000"/>
              <a:t>x,y);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   input  [3:0] x</a:t>
            </a:r>
            <a:r>
              <a:rPr lang="en-GB" altLang="en-US" sz="2000"/>
              <a:t>;</a:t>
            </a:r>
            <a:endParaRPr lang="en-GB" altLang="en-US" sz="2000"/>
          </a:p>
          <a:p>
            <a:pPr marL="0" indent="0">
              <a:buNone/>
            </a:pPr>
            <a:r>
              <a:rPr lang="en-US" altLang="en-GB" sz="2000"/>
              <a:t>    output [7:0] y;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reg [7:0] table [0:15];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integer i;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initial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begin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   for(i=0;i&lt;16;i=i+1)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       table[i] = i*i;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end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assign y = table[x];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endmodule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>
                <a:highlight>
                  <a:srgbClr val="FFFF00"/>
                </a:highlight>
              </a:rPr>
              <a:t>Applications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t>• FPGA logic</a:t>
            </a:r>
          </a:p>
          <a:p>
            <a:pPr marL="0" indent="0">
              <a:buNone/>
            </a:pPr>
            <a:r>
              <a:t>• DSP &amp; AI</a:t>
            </a:r>
          </a:p>
          <a:p>
            <a:pPr marL="0" indent="0">
              <a:buNone/>
            </a:pPr>
            <a:r>
              <a:t>• Cryptography</a:t>
            </a:r>
          </a:p>
          <a:p>
            <a:pPr marL="0" indent="0">
              <a:buNone/>
            </a:pPr>
            <a:r>
              <a:t>• Hardware obfuscation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lang="en-US" altLang="en-US">
                <a:sym typeface="+mn-ea"/>
              </a:rPr>
              <a:t>✅</a:t>
            </a:r>
            <a:r>
              <a:rPr lang="en-GB" altLang="en-US">
                <a:sym typeface="+mn-ea"/>
              </a:rPr>
              <a:t>  </a:t>
            </a:r>
            <a:r>
              <a:rPr lang="en-US" altLang="en-GB"/>
              <a:t>Fast logic evaluation</a:t>
            </a:r>
            <a:endParaRPr lang="en-US" altLang="en-GB"/>
          </a:p>
          <a:p>
            <a:pPr marL="0" indent="0">
              <a:buNone/>
            </a:pPr>
            <a:r>
              <a:rPr lang="en-US" altLang="en-US"/>
              <a:t>✅</a:t>
            </a:r>
            <a:r>
              <a:rPr lang="en-US" altLang="en-GB"/>
              <a:t> Regular layout (easy routing)</a:t>
            </a:r>
            <a:endParaRPr lang="en-US" altLang="en-GB"/>
          </a:p>
          <a:p>
            <a:pPr marL="0" indent="0">
              <a:buNone/>
            </a:pPr>
            <a:r>
              <a:rPr lang="en-US" altLang="en-US"/>
              <a:t>✅</a:t>
            </a:r>
            <a:r>
              <a:rPr lang="en-US" altLang="en-GB"/>
              <a:t> Good for complex Boolean functions</a:t>
            </a:r>
            <a:endParaRPr lang="en-US" altLang="en-GB"/>
          </a:p>
          <a:p>
            <a:pPr marL="0" indent="0">
              <a:buNone/>
            </a:pPr>
            <a:r>
              <a:rPr lang="en-US" altLang="en-US"/>
              <a:t>✅</a:t>
            </a:r>
            <a:r>
              <a:rPr lang="en-US" altLang="en-GB"/>
              <a:t> Reconfigurable (FPGA)</a:t>
            </a:r>
            <a:endParaRPr lang="en-US" altLang="en-GB"/>
          </a:p>
          <a:p>
            <a:pPr marL="0" indent="0">
              <a:buNone/>
            </a:pPr>
            <a:r>
              <a:rPr lang="en-US" altLang="en-US"/>
              <a:t>✅</a:t>
            </a:r>
            <a:r>
              <a:rPr lang="en-US" altLang="en-GB"/>
              <a:t> Power-efficient for repeated operations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rPr lang="en-US" altLang="en-GB">
                <a:highlight>
                  <a:srgbClr val="FFFF00"/>
                </a:highlight>
              </a:rPr>
              <a:t>ASIC Vs FPGA</a:t>
            </a:r>
            <a:endParaRPr lang="en-US" altLang="en-GB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75" y="1142365"/>
            <a:ext cx="8624570" cy="4984115"/>
          </a:xfrm>
        </p:spPr>
        <p:txBody>
          <a:bodyPr/>
          <a:p>
            <a:pPr marL="0" indent="0">
              <a:buNone/>
            </a:pPr>
            <a:r>
              <a:rPr lang="en-GB" altLang="en-US" sz="2000"/>
              <a:t>ASIC anf FFPGA are specialized IC</a:t>
            </a:r>
            <a:endParaRPr lang="en-GB" altLang="en-US" sz="2000"/>
          </a:p>
          <a:p>
            <a:pPr marL="0" indent="0">
              <a:buNone/>
            </a:pPr>
            <a:r>
              <a:rPr lang="en-US" altLang="en-GB" sz="2000" b="1"/>
              <a:t>ASICs</a:t>
            </a:r>
            <a:r>
              <a:rPr lang="en-US" altLang="en-GB" sz="2000"/>
              <a:t> designed for high-volume, </a:t>
            </a:r>
            <a:r>
              <a:rPr lang="en-GB" altLang="en-US" sz="2000"/>
              <a:t>high </a:t>
            </a:r>
            <a:r>
              <a:rPr lang="en-US" altLang="en-GB" sz="2000"/>
              <a:t>performance applications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 b="1"/>
              <a:t>FPGAs</a:t>
            </a:r>
            <a:r>
              <a:rPr lang="en-US" altLang="en-GB" sz="2000"/>
              <a:t> offering flexibility, reconfigurability, and rapid prototyping</a:t>
            </a:r>
            <a:endParaRPr lang="en-US" altLang="en-GB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0667" t="22628" r="28528" b="8387"/>
          <a:stretch>
            <a:fillRect/>
          </a:stretch>
        </p:blipFill>
        <p:spPr>
          <a:xfrm>
            <a:off x="695960" y="2439035"/>
            <a:ext cx="7752080" cy="43313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19229" t="18071" r="19201" b="6846"/>
          <a:stretch>
            <a:fillRect/>
          </a:stretch>
        </p:blipFill>
        <p:spPr>
          <a:xfrm>
            <a:off x="175260" y="410210"/>
            <a:ext cx="8613140" cy="63011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70" y="0"/>
            <a:ext cx="8229600" cy="776605"/>
          </a:xfrm>
        </p:spPr>
        <p:txBody>
          <a:bodyPr/>
          <a:p>
            <a:r>
              <a:rPr lang="en-GB" altLang="en-US">
                <a:highlight>
                  <a:srgbClr val="FFFF00"/>
                </a:highlight>
              </a:rPr>
              <a:t>Architecture</a:t>
            </a:r>
            <a:endParaRPr lang="en-GB" altLang="en-US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445" y="998855"/>
            <a:ext cx="8686800" cy="5127625"/>
          </a:xfrm>
        </p:spPr>
        <p:txBody>
          <a:bodyPr/>
          <a:p>
            <a:pPr marL="0" indent="0">
              <a:buNone/>
            </a:pPr>
            <a:r>
              <a:rPr lang="en-US" altLang="en-GB" sz="2400"/>
              <a:t>FPGA are semiconductor devices that can be </a:t>
            </a:r>
            <a:r>
              <a:rPr lang="en-US" altLang="en-GB" sz="2400" b="1">
                <a:solidFill>
                  <a:srgbClr val="FF0000"/>
                </a:solidFill>
              </a:rPr>
              <a:t>programmed and reprogrammed </a:t>
            </a:r>
            <a:r>
              <a:rPr lang="en-US" altLang="en-GB" sz="2400"/>
              <a:t>after manufacturing to implement digital logic functions.</a:t>
            </a:r>
            <a:endParaRPr lang="en-US" altLang="en-GB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3396" t="25482" r="33500" b="14093"/>
          <a:stretch>
            <a:fillRect/>
          </a:stretch>
        </p:blipFill>
        <p:spPr>
          <a:xfrm>
            <a:off x="1524000" y="2388235"/>
            <a:ext cx="5699760" cy="4491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0265"/>
          </a:xfrm>
        </p:spPr>
        <p:txBody>
          <a:bodyPr/>
          <a:p>
            <a:r>
              <a:rPr lang="en-US" altLang="en-GB">
                <a:highlight>
                  <a:srgbClr val="FFFF00"/>
                </a:highlight>
              </a:rPr>
              <a:t>Components of an FPGA</a:t>
            </a:r>
            <a:endParaRPr lang="en-US" altLang="en-GB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55" y="869315"/>
            <a:ext cx="8686800" cy="5257165"/>
          </a:xfrm>
        </p:spPr>
        <p:txBody>
          <a:bodyPr/>
          <a:p>
            <a:pPr marL="0" indent="0">
              <a:buNone/>
            </a:pPr>
            <a:r>
              <a:rPr lang="en-GB" altLang="en-US" sz="2000" b="1"/>
              <a:t>1. </a:t>
            </a:r>
            <a:r>
              <a:rPr lang="en-US" altLang="en-GB" sz="2000" b="1"/>
              <a:t>Configurable Logic Blocks (CLBs): </a:t>
            </a:r>
            <a:r>
              <a:rPr lang="en-US" altLang="en-GB" sz="2000"/>
              <a:t>basic building blocks of an FPGA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containing Look-Up Tables (LUTs), flip-flops, and dedicated arithmetic units.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CLBs configured to perform various combinational and sequential logic functions</a:t>
            </a:r>
            <a:endParaRPr lang="en-US" altLang="en-GB" sz="20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36854" t="40872" r="37021" b="29484"/>
          <a:stretch>
            <a:fillRect/>
          </a:stretch>
        </p:blipFill>
        <p:spPr>
          <a:xfrm>
            <a:off x="1171575" y="2402840"/>
            <a:ext cx="6623050" cy="42252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" y="589915"/>
            <a:ext cx="8843645" cy="553656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GB" altLang="en-US" sz="2000" b="1"/>
              <a:t>2. </a:t>
            </a:r>
            <a:r>
              <a:rPr lang="en-US" altLang="en-GB" sz="2000" b="1"/>
              <a:t>Programmable Interconnect Points (PIPs):</a:t>
            </a:r>
            <a:r>
              <a:rPr lang="en-US" altLang="en-GB" sz="2000"/>
              <a:t> are programmable switches and </a:t>
            </a:r>
            <a:r>
              <a:rPr lang="en-GB" altLang="en-US" sz="2000"/>
              <a:t>	</a:t>
            </a:r>
            <a:r>
              <a:rPr lang="en-US" altLang="en-GB" sz="2000"/>
              <a:t>wiring resources 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C</a:t>
            </a:r>
            <a:r>
              <a:rPr lang="en-US" altLang="en-GB" sz="2000"/>
              <a:t>onnect CLBs and other components within the FPGA.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PIPs allow for flexible routing and interconnection of signals between different elements on the chip.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GB" altLang="en-US" sz="2000" b="1"/>
              <a:t>3. </a:t>
            </a:r>
            <a:r>
              <a:rPr lang="en-US" altLang="en-GB" sz="2000" b="1"/>
              <a:t>Input/Output Blocks (IOBs):</a:t>
            </a:r>
            <a:r>
              <a:rPr lang="en-US" altLang="en-GB" sz="2000"/>
              <a:t> </a:t>
            </a:r>
            <a:r>
              <a:rPr lang="en-GB" altLang="en-US" sz="2000"/>
              <a:t>I</a:t>
            </a:r>
            <a:r>
              <a:rPr lang="en-US" altLang="en-GB" sz="2000"/>
              <a:t>nterface points between FPGA and external devices or other components on the board.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IOBs are configurable enabl</a:t>
            </a:r>
            <a:r>
              <a:rPr lang="en-GB" altLang="en-US" sz="2000"/>
              <a:t>es</a:t>
            </a:r>
            <a:r>
              <a:rPr lang="en-US" altLang="en-GB" sz="2000"/>
              <a:t> the FPGA to communicate </a:t>
            </a:r>
            <a:r>
              <a:rPr lang="en-GB" altLang="en-US" sz="2000"/>
              <a:t>with </a:t>
            </a:r>
            <a:r>
              <a:rPr lang="en-US" altLang="en-GB" sz="2000"/>
              <a:t>peripherals.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IOB select FPGA pin </a:t>
            </a:r>
            <a:r>
              <a:rPr lang="en-US" altLang="en-GB" sz="2000"/>
              <a:t>input, output or tri-state.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7528" t="38871" r="61382" b="30336"/>
          <a:stretch>
            <a:fillRect/>
          </a:stretch>
        </p:blipFill>
        <p:spPr>
          <a:xfrm>
            <a:off x="2205355" y="4191000"/>
            <a:ext cx="4556760" cy="25374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95" y="969645"/>
            <a:ext cx="8990330" cy="42481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GB" altLang="en-US" sz="2000" b="1">
                <a:sym typeface="+mn-ea"/>
              </a:rPr>
              <a:t>4. </a:t>
            </a:r>
            <a:r>
              <a:rPr lang="en-US" altLang="en-GB" sz="2000" b="1">
                <a:sym typeface="+mn-ea"/>
              </a:rPr>
              <a:t>Block RAM (BRAM):</a:t>
            </a: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is </a:t>
            </a:r>
            <a:r>
              <a:rPr lang="en-US" altLang="en-GB" sz="2000">
                <a:sym typeface="+mn-ea"/>
              </a:rPr>
              <a:t>on-chip memory available on an FPGA, used for storing data and implementing memory functions.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BRAMs are faster than off-chip memory and can be accessed with lower latency.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GB" altLang="en-US" sz="2000" b="1">
                <a:sym typeface="+mn-ea"/>
              </a:rPr>
              <a:t>5. </a:t>
            </a:r>
            <a:r>
              <a:rPr lang="en-US" altLang="en-GB" sz="2000" b="1">
                <a:sym typeface="+mn-ea"/>
              </a:rPr>
              <a:t>Configuration memory:</a:t>
            </a:r>
            <a:r>
              <a:rPr lang="en-US" altLang="en-GB" sz="2000">
                <a:sym typeface="+mn-ea"/>
              </a:rPr>
              <a:t> flash memory that stores the configuration bitstream</a:t>
            </a:r>
            <a:r>
              <a:rPr lang="en-GB" altLang="en-US" sz="2000">
                <a:sym typeface="+mn-ea"/>
              </a:rPr>
              <a:t>.</a:t>
            </a:r>
            <a:endParaRPr lang="en-GB" altLang="en-US" sz="2000"/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The bitstream is loaded into the FPGA at startup or when reprogramming required.</a:t>
            </a:r>
            <a:endParaRPr lang="en-GB" altLang="en-US" sz="2000" b="1"/>
          </a:p>
          <a:p>
            <a:pPr marL="0" indent="0">
              <a:buNone/>
            </a:pPr>
            <a:endParaRPr lang="en-GB" altLang="en-US" sz="2000" b="1"/>
          </a:p>
          <a:p>
            <a:pPr marL="0" indent="0">
              <a:buNone/>
            </a:pPr>
            <a:r>
              <a:rPr lang="en-GB" altLang="en-US" sz="2000" b="1"/>
              <a:t>6. </a:t>
            </a:r>
            <a:r>
              <a:rPr lang="en-US" altLang="en-GB" sz="2000" b="1"/>
              <a:t>Digital Signal Processing (DSP) Blocks: </a:t>
            </a:r>
            <a:r>
              <a:rPr lang="en-GB" altLang="en-US" sz="2000"/>
              <a:t>s</a:t>
            </a:r>
            <a:r>
              <a:rPr lang="en-US" altLang="en-GB" sz="2000"/>
              <a:t>pecialized hardware blocks dedicated to performing arithmetic operations, multiplication and accumulation, at high speeds. DSP blocks are commonly used in signal processing and filtering applications.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GB" altLang="en-US" sz="2000" b="1"/>
              <a:t>7. C</a:t>
            </a:r>
            <a:r>
              <a:rPr lang="en-US" altLang="en-GB" sz="2000" b="1"/>
              <a:t>lock management resources: </a:t>
            </a:r>
            <a:r>
              <a:rPr lang="en-US" altLang="en-GB" sz="2000"/>
              <a:t>Phase-Locked Loops (PLLs) and Digital Clock Managers (DCMs) used to generate, distribute, and manage clock signals within FPGA. These resources help maintain precise timing and synchronization across the device.</a:t>
            </a:r>
            <a:endParaRPr lang="en-US" altLang="en-GB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4674" t="16354" r="24883" b="5410"/>
          <a:stretch>
            <a:fillRect/>
          </a:stretch>
        </p:blipFill>
        <p:spPr>
          <a:xfrm>
            <a:off x="306705" y="88265"/>
            <a:ext cx="8140065" cy="67697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"/>
            <a:ext cx="8229600" cy="644525"/>
          </a:xfrm>
        </p:spPr>
        <p:txBody>
          <a:bodyPr>
            <a:normAutofit fontScale="90000"/>
          </a:bodyPr>
          <a:p>
            <a:r>
              <a:rPr lang="en-GB" altLang="en-US">
                <a:highlight>
                  <a:srgbClr val="FFFF00"/>
                </a:highlight>
              </a:rPr>
              <a:t>Example</a:t>
            </a:r>
            <a:endParaRPr lang="en-GB" altLang="en-US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235" y="1029335"/>
            <a:ext cx="8203565" cy="5097145"/>
          </a:xfrm>
        </p:spPr>
        <p:txBody>
          <a:bodyPr/>
          <a:p>
            <a:pPr marL="0" indent="0">
              <a:buNone/>
            </a:pPr>
            <a:r>
              <a:rPr lang="en-GB" altLang="en-US" sz="2800"/>
              <a:t>f(A,B,C) = (A.B)XOR C</a:t>
            </a:r>
            <a:endParaRPr lang="en-GB" altLang="en-US" sz="2800"/>
          </a:p>
          <a:p>
            <a:pPr marL="0" indent="0">
              <a:buNone/>
            </a:pPr>
            <a:endParaRPr lang="en-GB" altLang="en-US" sz="2800"/>
          </a:p>
          <a:p>
            <a:pPr marL="0" indent="0">
              <a:buNone/>
            </a:pPr>
            <a:r>
              <a:rPr lang="en-US" altLang="en-GB" sz="2000"/>
              <a:t>primary component within a CLB is</a:t>
            </a:r>
            <a:r>
              <a:rPr lang="en-GB" altLang="en-US" sz="2000"/>
              <a:t> </a:t>
            </a:r>
            <a:r>
              <a:rPr lang="en-US" altLang="en-GB" sz="2000"/>
              <a:t>LUT (Look-Up Table), stores pre-computed results of a Boolean function.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83235" y="3092450"/>
          <a:ext cx="288099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315"/>
                <a:gridCol w="413385"/>
                <a:gridCol w="659765"/>
                <a:gridCol w="119253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A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B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C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AB XOR C</a:t>
                      </a: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3677920" y="3255010"/>
            <a:ext cx="4572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/>
              <a:t>3-input LUT (LUT3), 2^3 = 8 memory cells</a:t>
            </a:r>
            <a:endParaRPr lang="en-US" altLang="en-GB"/>
          </a:p>
          <a:p>
            <a:r>
              <a:rPr lang="en-US" altLang="en-GB"/>
              <a:t>Memory Content = [0, 1, 0, 1, 0, 1, 1, 0]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D Flip-Flop (DFF): An edge-triggered register. The input D receives the LUT result.</a:t>
            </a:r>
            <a:endParaRPr lang="en-US" alt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" y="720725"/>
            <a:ext cx="8990330" cy="5405755"/>
          </a:xfrm>
        </p:spPr>
        <p:txBody>
          <a:bodyPr/>
          <a:p>
            <a:pPr marL="0" indent="0">
              <a:buNone/>
            </a:pPr>
            <a:r>
              <a:rPr lang="en-GB" altLang="en-US" sz="2000"/>
              <a:t>S</a:t>
            </a:r>
            <a:r>
              <a:rPr lang="en-US" altLang="en-GB" sz="2000"/>
              <a:t>ignal from a dedicated SRAM Configuration Cell located within the FPGA's configuration memory.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0 =&gt; </a:t>
            </a:r>
            <a:r>
              <a:rPr lang="en-US" altLang="en-GB" sz="2000"/>
              <a:t>Combinational Mode</a:t>
            </a:r>
            <a:r>
              <a:rPr lang="en-GB" altLang="en-US" sz="2000"/>
              <a:t>, </a:t>
            </a:r>
            <a:r>
              <a:rPr lang="en-US" altLang="en-GB" sz="2000"/>
              <a:t>Y is driven directly by the LUT.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1 =&gt;</a:t>
            </a:r>
            <a:r>
              <a:rPr lang="en-US" altLang="en-GB" sz="2000"/>
              <a:t> Sequential Mode</a:t>
            </a:r>
            <a:r>
              <a:rPr lang="en-GB" altLang="en-US" sz="2000"/>
              <a:t>, </a:t>
            </a:r>
            <a:r>
              <a:rPr lang="en-US" altLang="en-GB" sz="2000"/>
              <a:t>Y is driven by the D Flip-Flop (synchronized to the clock).</a:t>
            </a:r>
            <a:endParaRPr lang="en-US" altLang="en-GB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2111" t="24333" r="20840" b="12957"/>
          <a:stretch>
            <a:fillRect/>
          </a:stretch>
        </p:blipFill>
        <p:spPr>
          <a:xfrm>
            <a:off x="1040130" y="2360295"/>
            <a:ext cx="6755130" cy="41744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52*205"/>
  <p:tag name="TABLE_ENDDRAG_RECT" val="7*309*352*205"/>
</p:tagLst>
</file>

<file path=ppt/tags/tag2.xml><?xml version="1.0" encoding="utf-8"?>
<p:tagLst xmlns:p="http://schemas.openxmlformats.org/presentationml/2006/main">
  <p:tag name="TABLE_ENDDRAG_ORIGIN_RECT" val="226*270"/>
  <p:tag name="TABLE_ENDDRAG_RECT" val="88*225*226*27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7482</Words>
  <Application>WPS Presentation</Application>
  <PresentationFormat>On-screen Show (4:3)</PresentationFormat>
  <Paragraphs>424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Lookup Table (LUT) in VLSI</vt:lpstr>
      <vt:lpstr>What is a LUT?</vt:lpstr>
      <vt:lpstr>LUT Size</vt:lpstr>
      <vt:lpstr>Decoder-Mux based LUT</vt:lpstr>
      <vt:lpstr>PowerPoint 演示文稿</vt:lpstr>
      <vt:lpstr>2-Input LUT (XOR)</vt:lpstr>
      <vt:lpstr>3-Input LUT (Majority Function) F=AB+BC+AC</vt:lpstr>
      <vt:lpstr>4-Input LUT (Custom Boolean Function) F=(A&amp;B) ⊕(C∣D)</vt:lpstr>
      <vt:lpstr>LUT Using ROM Style  (ASIC-Friendly)</vt:lpstr>
      <vt:lpstr>Array in Verilog</vt:lpstr>
      <vt:lpstr>LUT based Full Adder</vt:lpstr>
      <vt:lpstr>LUT-Based 4-Bit Ripple Carry Adder</vt:lpstr>
      <vt:lpstr>LUT based 2-bit Multiplier</vt:lpstr>
      <vt:lpstr>3-bit × 3-bit LUT-Based Multiplier</vt:lpstr>
      <vt:lpstr>LUT for Square function Y= x2</vt:lpstr>
      <vt:lpstr>Applications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Abhishek Kumar</cp:lastModifiedBy>
  <cp:revision>46</cp:revision>
  <dcterms:created xsi:type="dcterms:W3CDTF">2013-01-27T09:14:00Z</dcterms:created>
  <dcterms:modified xsi:type="dcterms:W3CDTF">2026-02-02T17:51:01Z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751A95CEF06645B3ACCEB237360B7083_13</vt:lpwstr>
  </property>
  <property fmtid="{D5CDD505-2E9C-101B-9397-08002B2CF9AE}" pid="3" name="KSOProductBuildVer">
    <vt:lpwstr>2057-12.2.0.23196</vt:lpwstr>
  </property>
</Properties>
</file>